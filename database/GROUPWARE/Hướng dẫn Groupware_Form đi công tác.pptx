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74" r:id="rId6"/>
    <p:sldId id="258" r:id="rId7"/>
    <p:sldId id="269" r:id="rId8"/>
    <p:sldId id="272" r:id="rId9"/>
    <p:sldId id="275" r:id="rId10"/>
    <p:sldId id="276" r:id="rId11"/>
    <p:sldId id="266" r:id="rId12"/>
    <p:sldId id="279" r:id="rId13"/>
    <p:sldId id="277" r:id="rId14"/>
    <p:sldId id="278" r:id="rId15"/>
    <p:sldId id="280" r:id="rId16"/>
    <p:sldId id="262" r:id="rId17"/>
    <p:sldId id="281" r:id="rId18"/>
    <p:sldId id="282" r:id="rId19"/>
    <p:sldId id="283" r:id="rId20"/>
    <p:sldId id="284" r:id="rId21"/>
    <p:sldId id="285" r:id="rId22"/>
    <p:sldId id="286" r:id="rId23"/>
    <p:sldId id="288" r:id="rId24"/>
    <p:sldId id="289" r:id="rId25"/>
    <p:sldId id="290" r:id="rId26"/>
    <p:sldId id="291" r:id="rId27"/>
    <p:sldId id="292" r:id="rId28"/>
    <p:sldId id="294" r:id="rId29"/>
    <p:sldId id="293" r:id="rId30"/>
    <p:sldId id="26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1" d="100"/>
          <a:sy n="111"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2025-01-06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2025-01-06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2025-01-06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2025-01-06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2025-01-06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2025-01-06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2025-01-06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2025-01-06</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2025-01-06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2025-01-06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2025-01-06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2025-01-06</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1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956811"/>
            <a:ext cx="11439414" cy="897439"/>
          </a:xfrm>
        </p:spPr>
        <p:txBody>
          <a:bodyPr>
            <a:normAutofit fontScale="90000"/>
          </a:bodyPr>
          <a:lstStyle/>
          <a:p>
            <a:r>
              <a:rPr lang="en-US" sz="4400">
                <a:solidFill>
                  <a:schemeClr val="tx1"/>
                </a:solidFill>
              </a:rPr>
              <a:t>Hướng dẫn sử dụng chức năng SBC trên hệ thống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5783001"/>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dirty="0"/>
              <a:t>I</a:t>
            </a:r>
            <a:r>
              <a:rPr lang="en-US" b="1"/>
              <a:t>. Đăng nhập Groupware</a:t>
            </a:r>
            <a:endParaRPr lang="en-US" b="1" dirty="0"/>
          </a:p>
          <a:p>
            <a:pPr>
              <a:buFontTx/>
              <a:buChar char="-"/>
            </a:pPr>
            <a:r>
              <a:rPr lang="en-US"/>
              <a:t>Có hai cách để bạn đăng nhập vào hệ thống Groupware</a:t>
            </a:r>
          </a:p>
          <a:p>
            <a:pPr marL="0" indent="0">
              <a:buNone/>
            </a:pPr>
            <a:r>
              <a:rPr lang="en-US"/>
              <a:t>     + Bạn có thể truy cập bằng link sau đây: </a:t>
            </a:r>
            <a:r>
              <a:rPr lang="en-US">
                <a:solidFill>
                  <a:srgbClr val="FF0000"/>
                </a:solidFill>
              </a:rPr>
              <a:t>https://gw.vinatech.com/login</a:t>
            </a:r>
            <a:r>
              <a:rPr lang="en-US"/>
              <a:t>.</a:t>
            </a:r>
            <a:endParaRPr lang="en-US" dirty="0"/>
          </a:p>
          <a:p>
            <a:r>
              <a:rPr lang="en-US" b="1"/>
              <a:t>  + Bạn có thể chọn buổi tượng như hình dưới đây:</a:t>
            </a:r>
            <a:endParaRPr lang="en-US" b="1" dirty="0"/>
          </a:p>
          <a:p>
            <a:pPr marL="0" indent="0">
              <a:buNone/>
            </a:pPr>
            <a:r>
              <a:rPr lang="en-US"/>
              <a:t>     + Bạn mở trình duyệt lên và ỏ góc phải màn hình có biểu tượng=&gt; bạn chọn tới icon của công ty có chữ groupware click vào đó</a:t>
            </a:r>
            <a:endParaRPr lang="en-US" dirty="0"/>
          </a:p>
        </p:txBody>
      </p:sp>
      <p:pic>
        <p:nvPicPr>
          <p:cNvPr id="5" name="Picture 4">
            <a:extLst>
              <a:ext uri="{FF2B5EF4-FFF2-40B4-BE49-F238E27FC236}">
                <a16:creationId xmlns:a16="http://schemas.microsoft.com/office/drawing/2014/main" id="{A8A6CD58-D79C-277D-3509-03C77F29C2B2}"/>
              </a:ext>
            </a:extLst>
          </p:cNvPr>
          <p:cNvPicPr>
            <a:picLocks noChangeAspect="1"/>
          </p:cNvPicPr>
          <p:nvPr/>
        </p:nvPicPr>
        <p:blipFill>
          <a:blip r:embed="rId2"/>
          <a:stretch>
            <a:fillRect/>
          </a:stretch>
        </p:blipFill>
        <p:spPr>
          <a:xfrm>
            <a:off x="4612641" y="3139440"/>
            <a:ext cx="7083396" cy="3343656"/>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2.Thông tin đăng nhập vào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a:t>2. Thông tin đăng nhập</a:t>
            </a:r>
            <a:endParaRPr lang="en-US" b="1" dirty="0"/>
          </a:p>
          <a:p>
            <a:pPr marL="0" indent="0">
              <a:buNone/>
            </a:pPr>
            <a:r>
              <a:rPr lang="en-US" dirty="0"/>
              <a:t>- </a:t>
            </a:r>
            <a:r>
              <a:rPr lang="en-US" dirty="0" err="1"/>
              <a:t>Bước</a:t>
            </a:r>
            <a:r>
              <a:rPr lang="en-US" dirty="0"/>
              <a:t> 1</a:t>
            </a:r>
            <a:r>
              <a:rPr lang="en-US"/>
              <a:t>: Thông tin tài khoản cũng như mật khẩu của bạn chính là mã nhân viên trên hệ thống ERP, mật khẩu mặc định từ 1 tới 4, trong trường hợp không được bạn liên hệ lại với EA</a:t>
            </a:r>
            <a:endParaRPr lang="en-US" dirty="0"/>
          </a:p>
          <a:p>
            <a:pPr>
              <a:buFontTx/>
              <a:buChar char="-"/>
            </a:pPr>
            <a:r>
              <a:rPr lang="en-US"/>
              <a:t>Bước </a:t>
            </a:r>
            <a:r>
              <a:rPr lang="en-US" dirty="0"/>
              <a:t>2</a:t>
            </a:r>
            <a:r>
              <a:rPr lang="en-US"/>
              <a:t>: Trước khi login, bạn cần chọn Vinatech vina Co.,Ltd. </a:t>
            </a:r>
          </a:p>
          <a:p>
            <a:pPr>
              <a:buFontTx/>
              <a:buChar char="-"/>
            </a:pPr>
            <a:r>
              <a:rPr lang="en-US"/>
              <a:t>Bước 3: khi đã chọn xong, bạn nhập mã nhân viên và mật khẩu nhấn nút login để vào hệ thống. </a:t>
            </a:r>
            <a:endParaRPr lang="en-US" dirty="0"/>
          </a:p>
          <a:p>
            <a:endParaRPr lang="en-US" dirty="0"/>
          </a:p>
        </p:txBody>
      </p:sp>
      <p:pic>
        <p:nvPicPr>
          <p:cNvPr id="6" name="Picture 5">
            <a:extLst>
              <a:ext uri="{FF2B5EF4-FFF2-40B4-BE49-F238E27FC236}">
                <a16:creationId xmlns:a16="http://schemas.microsoft.com/office/drawing/2014/main" id="{AE4062FB-B594-DA1B-F4CD-4DAB58D97270}"/>
              </a:ext>
            </a:extLst>
          </p:cNvPr>
          <p:cNvPicPr>
            <a:picLocks noChangeAspect="1"/>
          </p:cNvPicPr>
          <p:nvPr/>
        </p:nvPicPr>
        <p:blipFill>
          <a:blip r:embed="rId2"/>
          <a:stretch>
            <a:fillRect/>
          </a:stretch>
        </p:blipFill>
        <p:spPr>
          <a:xfrm>
            <a:off x="4726112" y="3312203"/>
            <a:ext cx="7094032" cy="3072899"/>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846137" y="804073"/>
            <a:ext cx="4602152" cy="1345449"/>
          </a:xfrm>
        </p:spPr>
        <p:txBody>
          <a:bodyPr>
            <a:normAutofit/>
          </a:bodyPr>
          <a:lstStyle/>
          <a:p>
            <a:r>
              <a:rPr lang="en-US" sz="3700"/>
              <a:t>2.Form đăng đi công tác.</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846137" y="2303563"/>
            <a:ext cx="4602152" cy="3715424"/>
          </a:xfrm>
        </p:spPr>
        <p:txBody>
          <a:bodyPr>
            <a:normAutofit/>
          </a:bodyPr>
          <a:lstStyle/>
          <a:p>
            <a:r>
              <a:rPr lang="en-US" b="1"/>
              <a:t>1. Bạn truy cập vào phần menu chọn mục Electronic Document =&gt; Tiếp theo bạn chọn mục Holiday work request =&gt; bạn chọn chức năng “Business Trip Document”</a:t>
            </a:r>
          </a:p>
          <a:p>
            <a:pPr>
              <a:buFontTx/>
              <a:buChar char="-"/>
            </a:pPr>
            <a:r>
              <a:rPr lang="en-US"/>
              <a:t>Bước 1: Chọn đường line phê duyệt, ở đây bạn có thể chọn hai kiểu đường line phê duyệt.</a:t>
            </a:r>
          </a:p>
          <a:p>
            <a:pPr marL="0" indent="0">
              <a:buNone/>
            </a:pPr>
            <a:r>
              <a:rPr lang="en-US"/>
              <a:t>  + Một đã được cài đặt trong hệ thống, bạn chỉ cần chọn.</a:t>
            </a:r>
          </a:p>
          <a:p>
            <a:pPr marL="0" indent="0">
              <a:buNone/>
            </a:pPr>
            <a:r>
              <a:rPr lang="en-US"/>
              <a:t>  + Hai bạn có thể tự lựa chọn những ai có thể duyệt form cho bạn.</a:t>
            </a:r>
          </a:p>
          <a:p>
            <a:pPr marL="0" indent="0">
              <a:buNone/>
            </a:pPr>
            <a:endParaRPr lang="en-US" b="1" dirty="0"/>
          </a:p>
        </p:txBody>
      </p:sp>
      <p:pic>
        <p:nvPicPr>
          <p:cNvPr id="4" name="Picture 3">
            <a:extLst>
              <a:ext uri="{FF2B5EF4-FFF2-40B4-BE49-F238E27FC236}">
                <a16:creationId xmlns:a16="http://schemas.microsoft.com/office/drawing/2014/main" id="{CF5EB3CD-0C4B-1672-B930-1A15AECB8F21}"/>
              </a:ext>
            </a:extLst>
          </p:cNvPr>
          <p:cNvPicPr>
            <a:picLocks noChangeAspect="1"/>
          </p:cNvPicPr>
          <p:nvPr/>
        </p:nvPicPr>
        <p:blipFill>
          <a:blip r:embed="rId2"/>
          <a:stretch>
            <a:fillRect/>
          </a:stretch>
        </p:blipFill>
        <p:spPr>
          <a:xfrm>
            <a:off x="-1866" y="253548"/>
            <a:ext cx="6324816" cy="2696686"/>
          </a:xfrm>
          <a:prstGeom prst="rect">
            <a:avLst/>
          </a:prstGeom>
        </p:spPr>
      </p:pic>
      <p:pic>
        <p:nvPicPr>
          <p:cNvPr id="7" name="Picture 6">
            <a:extLst>
              <a:ext uri="{FF2B5EF4-FFF2-40B4-BE49-F238E27FC236}">
                <a16:creationId xmlns:a16="http://schemas.microsoft.com/office/drawing/2014/main" id="{60CDCF97-0FAC-DBDE-CD59-F8B5481BB534}"/>
              </a:ext>
            </a:extLst>
          </p:cNvPr>
          <p:cNvPicPr>
            <a:picLocks noChangeAspect="1"/>
          </p:cNvPicPr>
          <p:nvPr/>
        </p:nvPicPr>
        <p:blipFill>
          <a:blip r:embed="rId3"/>
          <a:stretch>
            <a:fillRect/>
          </a:stretch>
        </p:blipFill>
        <p:spPr>
          <a:xfrm>
            <a:off x="16759" y="3528204"/>
            <a:ext cx="6322950" cy="3076248"/>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8D88-F08F-3A10-BA4E-93F1C6B9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7C15-A046-94B1-134F-1A01DD406B5E}"/>
              </a:ext>
            </a:extLst>
          </p:cNvPr>
          <p:cNvSpPr>
            <a:spLocks noGrp="1"/>
          </p:cNvSpPr>
          <p:nvPr>
            <p:ph type="title"/>
          </p:nvPr>
        </p:nvSpPr>
        <p:spPr>
          <a:xfrm>
            <a:off x="6579450" y="727627"/>
            <a:ext cx="4957553" cy="1645920"/>
          </a:xfrm>
        </p:spPr>
        <p:txBody>
          <a:bodyPr>
            <a:normAutofit/>
          </a:bodyPr>
          <a:lstStyle/>
          <a:p>
            <a:r>
              <a:rPr lang="en-US" sz="4400"/>
              <a:t>Form đăng ký đi công tác.</a:t>
            </a:r>
          </a:p>
        </p:txBody>
      </p:sp>
      <p:sp>
        <p:nvSpPr>
          <p:cNvPr id="3" name="Content Placeholder 2">
            <a:extLst>
              <a:ext uri="{FF2B5EF4-FFF2-40B4-BE49-F238E27FC236}">
                <a16:creationId xmlns:a16="http://schemas.microsoft.com/office/drawing/2014/main" id="{041FAF7B-AF7E-7F04-9099-659FCBDA6222}"/>
              </a:ext>
            </a:extLst>
          </p:cNvPr>
          <p:cNvSpPr>
            <a:spLocks noGrp="1"/>
          </p:cNvSpPr>
          <p:nvPr>
            <p:ph idx="1"/>
          </p:nvPr>
        </p:nvSpPr>
        <p:spPr>
          <a:xfrm>
            <a:off x="6579450" y="2538919"/>
            <a:ext cx="4957554" cy="3496120"/>
          </a:xfrm>
        </p:spPr>
        <p:txBody>
          <a:bodyPr>
            <a:normAutofit/>
          </a:bodyPr>
          <a:lstStyle/>
          <a:p>
            <a:r>
              <a:rPr lang="en-US"/>
              <a:t>Đây là phần chọn để định hình form này là đi công tác trong nước hay công tác tại nước ngoài, trong trường hợp bạn chọn nước ngoài, nhưng phần dưới bạn chọn trong nước form sẽ báo sai.</a:t>
            </a:r>
            <a:endParaRPr lang="en-US" dirty="0"/>
          </a:p>
        </p:txBody>
      </p:sp>
      <p:pic>
        <p:nvPicPr>
          <p:cNvPr id="5" name="Picture 4">
            <a:extLst>
              <a:ext uri="{FF2B5EF4-FFF2-40B4-BE49-F238E27FC236}">
                <a16:creationId xmlns:a16="http://schemas.microsoft.com/office/drawing/2014/main" id="{9C5DE8F6-744C-FEB1-E960-574A85DBF322}"/>
              </a:ext>
            </a:extLst>
          </p:cNvPr>
          <p:cNvPicPr>
            <a:picLocks noChangeAspect="1"/>
          </p:cNvPicPr>
          <p:nvPr/>
        </p:nvPicPr>
        <p:blipFill>
          <a:blip r:embed="rId2"/>
          <a:stretch>
            <a:fillRect/>
          </a:stretch>
        </p:blipFill>
        <p:spPr>
          <a:xfrm>
            <a:off x="473650" y="528185"/>
            <a:ext cx="5988109" cy="2306456"/>
          </a:xfrm>
          <a:prstGeom prst="rect">
            <a:avLst/>
          </a:prstGeom>
        </p:spPr>
      </p:pic>
    </p:spTree>
    <p:extLst>
      <p:ext uri="{BB962C8B-B14F-4D97-AF65-F5344CB8AC3E}">
        <p14:creationId xmlns:p14="http://schemas.microsoft.com/office/powerpoint/2010/main" val="26488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1499738"/>
          </a:xfrm>
        </p:spPr>
        <p:txBody>
          <a:bodyPr anchor="b">
            <a:normAutofit/>
          </a:bodyPr>
          <a:lstStyle/>
          <a:p>
            <a:r>
              <a:rPr lang="en-US" sz="2800"/>
              <a:t>2.Form đăng ký đi công tác</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2149813"/>
            <a:ext cx="2312479" cy="3854197"/>
          </a:xfrm>
        </p:spPr>
        <p:txBody>
          <a:bodyPr>
            <a:normAutofit/>
          </a:bodyPr>
          <a:lstStyle/>
          <a:p>
            <a:pPr>
              <a:lnSpc>
                <a:spcPct val="100000"/>
              </a:lnSpc>
            </a:pPr>
            <a:r>
              <a:rPr lang="en-US" sz="1300" b="1">
                <a:solidFill>
                  <a:schemeClr val="tx1">
                    <a:lumMod val="85000"/>
                    <a:lumOff val="15000"/>
                  </a:schemeClr>
                </a:solidFill>
              </a:rPr>
              <a:t>Tiêu đề</a:t>
            </a:r>
            <a:r>
              <a:rPr lang="en-US" sz="1300">
                <a:solidFill>
                  <a:schemeClr val="tx1">
                    <a:lumMod val="85000"/>
                    <a:lumOff val="15000"/>
                  </a:schemeClr>
                </a:solidFill>
              </a:rPr>
              <a:t>: Bạn cũng có thể đặt tiêu đề cho form đăng ký đi công tác của mình như hình ở bên.</a:t>
            </a:r>
          </a:p>
          <a:p>
            <a:pPr>
              <a:lnSpc>
                <a:spcPct val="100000"/>
              </a:lnSpc>
            </a:pPr>
            <a:r>
              <a:rPr lang="en-US" sz="1300">
                <a:solidFill>
                  <a:schemeClr val="tx1">
                    <a:lumMod val="85000"/>
                    <a:lumOff val="15000"/>
                  </a:schemeClr>
                </a:solidFill>
              </a:rPr>
              <a:t>Ngoài ra trong trường hợp bạn làm hộ ai đó, bạn vẫn có thể đưa tên người đó vào như hình dưới bên cạnh</a:t>
            </a:r>
          </a:p>
          <a:p>
            <a:pPr>
              <a:lnSpc>
                <a:spcPct val="100000"/>
              </a:lnSpc>
            </a:pPr>
            <a:r>
              <a:rPr lang="en-US" sz="1400"/>
              <a:t>Ngoài ra bạn cũng có thể upload một file hoặc nhiều file cùng một lúc</a:t>
            </a:r>
          </a:p>
          <a:p>
            <a:pPr>
              <a:lnSpc>
                <a:spcPct val="100000"/>
              </a:lnSpc>
            </a:pPr>
            <a:endParaRPr lang="en-US" sz="1300" dirty="0">
              <a:solidFill>
                <a:schemeClr val="tx1">
                  <a:lumMod val="85000"/>
                  <a:lumOff val="15000"/>
                </a:schemeClr>
              </a:solidFill>
            </a:endParaRPr>
          </a:p>
        </p:txBody>
      </p:sp>
      <p:pic>
        <p:nvPicPr>
          <p:cNvPr id="5" name="Picture 4">
            <a:extLst>
              <a:ext uri="{FF2B5EF4-FFF2-40B4-BE49-F238E27FC236}">
                <a16:creationId xmlns:a16="http://schemas.microsoft.com/office/drawing/2014/main" id="{8753DF47-D9CA-D6D6-6225-BE4359CA1711}"/>
              </a:ext>
            </a:extLst>
          </p:cNvPr>
          <p:cNvPicPr>
            <a:picLocks noChangeAspect="1"/>
          </p:cNvPicPr>
          <p:nvPr/>
        </p:nvPicPr>
        <p:blipFill>
          <a:blip r:embed="rId2"/>
          <a:stretch>
            <a:fillRect/>
          </a:stretch>
        </p:blipFill>
        <p:spPr>
          <a:xfrm>
            <a:off x="387372" y="435893"/>
            <a:ext cx="8212114" cy="6041756"/>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F13E-FB38-FE99-4042-33B45D945F58}"/>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4" name="Content Placeholder 8">
            <a:extLst>
              <a:ext uri="{FF2B5EF4-FFF2-40B4-BE49-F238E27FC236}">
                <a16:creationId xmlns:a16="http://schemas.microsoft.com/office/drawing/2014/main" id="{0825DAB4-0A8A-40F6-1DCD-2F323D126DE1}"/>
              </a:ext>
            </a:extLst>
          </p:cNvPr>
          <p:cNvSpPr>
            <a:spLocks noGrp="1"/>
          </p:cNvSpPr>
          <p:nvPr>
            <p:ph idx="1"/>
          </p:nvPr>
        </p:nvSpPr>
        <p:spPr>
          <a:xfrm>
            <a:off x="6579450" y="2373547"/>
            <a:ext cx="4957554" cy="3496120"/>
          </a:xfrm>
        </p:spPr>
        <p:txBody>
          <a:bodyPr>
            <a:normAutofit/>
          </a:bodyPr>
          <a:lstStyle/>
          <a:p>
            <a:r>
              <a:rPr lang="en-US"/>
              <a:t>Số 1 là yêu cầu bạn phải nhập tên địa điểm khi bạn tới công tác:</a:t>
            </a:r>
          </a:p>
          <a:p>
            <a:r>
              <a:rPr lang="en-US"/>
              <a:t>Số2: Chọn tên quốc gia khi bạn tới công tác, nếu công tác trong nước bạn có thể chọn là Việt Nam</a:t>
            </a:r>
          </a:p>
          <a:p>
            <a:r>
              <a:rPr lang="en-US"/>
              <a:t>Số 3: Trường hợp bạn chọn tên quốc gia nó hiển thị ra thành phố thì bạn chọn nếu trường hợp nó không hiển thị ra thành phố thì bạn không cần phải chọn nữa.</a:t>
            </a:r>
          </a:p>
        </p:txBody>
      </p:sp>
      <p:pic>
        <p:nvPicPr>
          <p:cNvPr id="4" name="Picture 3">
            <a:extLst>
              <a:ext uri="{FF2B5EF4-FFF2-40B4-BE49-F238E27FC236}">
                <a16:creationId xmlns:a16="http://schemas.microsoft.com/office/drawing/2014/main" id="{B9A327F6-8989-8630-21CA-A0C38E7C3865}"/>
              </a:ext>
            </a:extLst>
          </p:cNvPr>
          <p:cNvPicPr>
            <a:picLocks noChangeAspect="1"/>
          </p:cNvPicPr>
          <p:nvPr/>
        </p:nvPicPr>
        <p:blipFill>
          <a:blip r:embed="rId2"/>
          <a:stretch>
            <a:fillRect/>
          </a:stretch>
        </p:blipFill>
        <p:spPr>
          <a:xfrm>
            <a:off x="983350" y="948100"/>
            <a:ext cx="4956384" cy="5017680"/>
          </a:xfrm>
          <a:prstGeom prst="rect">
            <a:avLst/>
          </a:prstGeom>
        </p:spPr>
      </p:pic>
    </p:spTree>
    <p:extLst>
      <p:ext uri="{BB962C8B-B14F-4D97-AF65-F5344CB8AC3E}">
        <p14:creationId xmlns:p14="http://schemas.microsoft.com/office/powerpoint/2010/main" val="2116149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C450-9A12-63E2-A5BB-73709C48C275}"/>
              </a:ext>
            </a:extLst>
          </p:cNvPr>
          <p:cNvSpPr>
            <a:spLocks noGrp="1"/>
          </p:cNvSpPr>
          <p:nvPr>
            <p:ph type="title"/>
          </p:nvPr>
        </p:nvSpPr>
        <p:spPr>
          <a:xfrm>
            <a:off x="6579450" y="727627"/>
            <a:ext cx="4957553" cy="1645920"/>
          </a:xfrm>
        </p:spPr>
        <p:txBody>
          <a:bodyPr>
            <a:normAutofit/>
          </a:bodyPr>
          <a:lstStyle/>
          <a:p>
            <a:r>
              <a:rPr lang="en-US" sz="4400"/>
              <a:t>Form đăng ký đi công tác.</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32E1A9D1-237E-6E27-310F-EA76F2B91DD0}"/>
              </a:ext>
            </a:extLst>
          </p:cNvPr>
          <p:cNvSpPr>
            <a:spLocks noGrp="1"/>
          </p:cNvSpPr>
          <p:nvPr>
            <p:ph idx="1"/>
          </p:nvPr>
        </p:nvSpPr>
        <p:spPr>
          <a:xfrm>
            <a:off x="6579450" y="2538919"/>
            <a:ext cx="4957554" cy="3496120"/>
          </a:xfrm>
        </p:spPr>
        <p:txBody>
          <a:bodyPr>
            <a:normAutofit/>
          </a:bodyPr>
          <a:lstStyle/>
          <a:p>
            <a:r>
              <a:rPr lang="en-US"/>
              <a:t>Số 1: theo mặc định form sẽ tự động lấy tên người đăng ký, trường hợp bạn không đi công tác mà làm hộ người khác bạn có thể xóa để thêm người mới vào.</a:t>
            </a:r>
          </a:p>
          <a:p>
            <a:r>
              <a:rPr lang="en-US"/>
              <a:t>Số 2: bạn có thể chọn nhiều người dùng trong một form.</a:t>
            </a:r>
            <a:endParaRPr lang="en-US" dirty="0"/>
          </a:p>
        </p:txBody>
      </p:sp>
      <p:pic>
        <p:nvPicPr>
          <p:cNvPr id="5" name="Picture 4">
            <a:extLst>
              <a:ext uri="{FF2B5EF4-FFF2-40B4-BE49-F238E27FC236}">
                <a16:creationId xmlns:a16="http://schemas.microsoft.com/office/drawing/2014/main" id="{504196C8-5916-D2A8-F50E-A5DD8E19B091}"/>
              </a:ext>
            </a:extLst>
          </p:cNvPr>
          <p:cNvPicPr>
            <a:picLocks noChangeAspect="1"/>
          </p:cNvPicPr>
          <p:nvPr/>
        </p:nvPicPr>
        <p:blipFill>
          <a:blip r:embed="rId2"/>
          <a:stretch>
            <a:fillRect/>
          </a:stretch>
        </p:blipFill>
        <p:spPr>
          <a:xfrm>
            <a:off x="885217" y="868695"/>
            <a:ext cx="5038301" cy="5020828"/>
          </a:xfrm>
          <a:prstGeom prst="rect">
            <a:avLst/>
          </a:prstGeom>
        </p:spPr>
      </p:pic>
    </p:spTree>
    <p:extLst>
      <p:ext uri="{BB962C8B-B14F-4D97-AF65-F5344CB8AC3E}">
        <p14:creationId xmlns:p14="http://schemas.microsoft.com/office/powerpoint/2010/main" val="3051464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26E9-E357-5F39-F7A0-FC88D7C6C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459B0-EA19-A175-E674-BC4FC6ED1BE5}"/>
              </a:ext>
            </a:extLst>
          </p:cNvPr>
          <p:cNvSpPr>
            <a:spLocks noGrp="1"/>
          </p:cNvSpPr>
          <p:nvPr>
            <p:ph type="title"/>
          </p:nvPr>
        </p:nvSpPr>
        <p:spPr>
          <a:xfrm>
            <a:off x="6579450" y="727627"/>
            <a:ext cx="4957553" cy="1645920"/>
          </a:xfrm>
        </p:spPr>
        <p:txBody>
          <a:bodyPr>
            <a:normAutofit/>
          </a:bodyPr>
          <a:lstStyle/>
          <a:p>
            <a:r>
              <a:rPr lang="en-US" sz="4400"/>
              <a:t>Form đăng ký đi công tác</a:t>
            </a:r>
          </a:p>
        </p:txBody>
      </p:sp>
      <p:sp>
        <p:nvSpPr>
          <p:cNvPr id="3" name="Content Placeholder 2">
            <a:extLst>
              <a:ext uri="{FF2B5EF4-FFF2-40B4-BE49-F238E27FC236}">
                <a16:creationId xmlns:a16="http://schemas.microsoft.com/office/drawing/2014/main" id="{FB23ED4C-FF15-5B59-4420-0077670A1B64}"/>
              </a:ext>
            </a:extLst>
          </p:cNvPr>
          <p:cNvSpPr>
            <a:spLocks noGrp="1"/>
          </p:cNvSpPr>
          <p:nvPr>
            <p:ph idx="1"/>
          </p:nvPr>
        </p:nvSpPr>
        <p:spPr>
          <a:xfrm>
            <a:off x="6579450" y="2538919"/>
            <a:ext cx="4957554" cy="3496120"/>
          </a:xfrm>
        </p:spPr>
        <p:txBody>
          <a:bodyPr>
            <a:normAutofit/>
          </a:bodyPr>
          <a:lstStyle/>
          <a:p>
            <a:r>
              <a:rPr lang="en-US"/>
              <a:t>Sau khi bạn click vào </a:t>
            </a:r>
            <a:r>
              <a:rPr lang="en-US" b="1" i="1"/>
              <a:t>thêm nhiều người hơn</a:t>
            </a:r>
            <a:r>
              <a:rPr lang="en-US"/>
              <a:t>: một cửa số mới sẽ mở ra và ở đó bạn sẽ có 3 lựa chọn để tìm kiếm người</a:t>
            </a:r>
            <a:endParaRPr lang="en-US" dirty="0"/>
          </a:p>
          <a:p>
            <a:pPr>
              <a:buFontTx/>
              <a:buChar char="-"/>
            </a:pPr>
            <a:r>
              <a:rPr lang="en-US"/>
              <a:t>Số 1: tìm kiếm người theo phòng ban, sau đó chọn ai thì tick vào</a:t>
            </a:r>
            <a:endParaRPr lang="en-US" dirty="0"/>
          </a:p>
          <a:p>
            <a:pPr>
              <a:buFontTx/>
              <a:buChar char="-"/>
            </a:pPr>
            <a:r>
              <a:rPr lang="en-US"/>
              <a:t>Số 2: chọn theo tên nhân viên, rồi tick vào.</a:t>
            </a:r>
          </a:p>
          <a:p>
            <a:pPr>
              <a:buFontTx/>
              <a:buChar char="-"/>
            </a:pPr>
            <a:r>
              <a:rPr lang="en-US"/>
              <a:t>Số 3:  tìm theo mã nhân viên cũng tương tự hai số ở trên.</a:t>
            </a:r>
            <a:endParaRPr lang="en-US" dirty="0"/>
          </a:p>
        </p:txBody>
      </p:sp>
      <p:pic>
        <p:nvPicPr>
          <p:cNvPr id="5" name="Picture 4">
            <a:extLst>
              <a:ext uri="{FF2B5EF4-FFF2-40B4-BE49-F238E27FC236}">
                <a16:creationId xmlns:a16="http://schemas.microsoft.com/office/drawing/2014/main" id="{A52A64F1-BB1F-9678-2BAC-FF8EA273C218}"/>
              </a:ext>
            </a:extLst>
          </p:cNvPr>
          <p:cNvPicPr>
            <a:picLocks noChangeAspect="1"/>
          </p:cNvPicPr>
          <p:nvPr/>
        </p:nvPicPr>
        <p:blipFill>
          <a:blip r:embed="rId2"/>
          <a:stretch>
            <a:fillRect/>
          </a:stretch>
        </p:blipFill>
        <p:spPr>
          <a:xfrm>
            <a:off x="492251" y="458398"/>
            <a:ext cx="5731569" cy="5775254"/>
          </a:xfrm>
          <a:prstGeom prst="rect">
            <a:avLst/>
          </a:prstGeom>
        </p:spPr>
      </p:pic>
    </p:spTree>
    <p:extLst>
      <p:ext uri="{BB962C8B-B14F-4D97-AF65-F5344CB8AC3E}">
        <p14:creationId xmlns:p14="http://schemas.microsoft.com/office/powerpoint/2010/main" val="1934041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D2048-664E-F137-FE91-92DD8CB75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4D768-67F1-9B76-0B21-3717149AB285}"/>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 name="Content Placeholder 2">
            <a:extLst>
              <a:ext uri="{FF2B5EF4-FFF2-40B4-BE49-F238E27FC236}">
                <a16:creationId xmlns:a16="http://schemas.microsoft.com/office/drawing/2014/main" id="{C679F82A-471C-51C9-9C6D-B8E77CB10A53}"/>
              </a:ext>
            </a:extLst>
          </p:cNvPr>
          <p:cNvSpPr>
            <a:spLocks noGrp="1"/>
          </p:cNvSpPr>
          <p:nvPr>
            <p:ph idx="1"/>
          </p:nvPr>
        </p:nvSpPr>
        <p:spPr>
          <a:xfrm>
            <a:off x="6579449" y="2148501"/>
            <a:ext cx="4957554" cy="3496120"/>
          </a:xfrm>
        </p:spPr>
        <p:txBody>
          <a:bodyPr>
            <a:normAutofit fontScale="92500"/>
          </a:bodyPr>
          <a:lstStyle/>
          <a:p>
            <a:r>
              <a:rPr lang="en-US"/>
              <a:t>Số 1: là tổng số tiền được trợ cấp theo chức vụ tiền trợ cấp tiêu chuẩn của nhân sự.</a:t>
            </a:r>
          </a:p>
          <a:p>
            <a:r>
              <a:rPr lang="en-US"/>
              <a:t>Số 2: Tiền ăn mỗi ngày theo tiêu chuẩn của nhân sự.</a:t>
            </a:r>
          </a:p>
          <a:p>
            <a:r>
              <a:rPr lang="en-US"/>
              <a:t>Số 3: chọn thời gian đi công tác từ ngày nào tới ngày nào.</a:t>
            </a:r>
          </a:p>
          <a:p>
            <a:r>
              <a:rPr lang="en-US"/>
              <a:t>Số 4: Ngày của hộ chiếu, thời hạn của hộ chiếu hoặc visa.</a:t>
            </a:r>
          </a:p>
          <a:p>
            <a:r>
              <a:rPr lang="en-US"/>
              <a:t>Số 5: là nhập tổng số bữa ăn trên tổng ngày đi công tác.</a:t>
            </a:r>
          </a:p>
          <a:p>
            <a:r>
              <a:rPr lang="en-US"/>
              <a:t>Số 6: là hiển thị tổng số tiền chung của mọi người đi công tác trong form đó.</a:t>
            </a:r>
            <a:endParaRPr lang="en-US" dirty="0"/>
          </a:p>
          <a:p>
            <a:endParaRPr lang="en-US" dirty="0"/>
          </a:p>
        </p:txBody>
      </p:sp>
      <p:pic>
        <p:nvPicPr>
          <p:cNvPr id="5" name="Picture 4">
            <a:extLst>
              <a:ext uri="{FF2B5EF4-FFF2-40B4-BE49-F238E27FC236}">
                <a16:creationId xmlns:a16="http://schemas.microsoft.com/office/drawing/2014/main" id="{22FE5B0A-E5AC-E437-57B4-4EB0E7C28D98}"/>
              </a:ext>
            </a:extLst>
          </p:cNvPr>
          <p:cNvPicPr>
            <a:picLocks noChangeAspect="1"/>
          </p:cNvPicPr>
          <p:nvPr/>
        </p:nvPicPr>
        <p:blipFill>
          <a:blip r:embed="rId2"/>
          <a:stretch>
            <a:fillRect/>
          </a:stretch>
        </p:blipFill>
        <p:spPr>
          <a:xfrm>
            <a:off x="403123" y="453780"/>
            <a:ext cx="6176325" cy="5956852"/>
          </a:xfrm>
          <a:prstGeom prst="rect">
            <a:avLst/>
          </a:prstGeom>
        </p:spPr>
      </p:pic>
    </p:spTree>
    <p:extLst>
      <p:ext uri="{BB962C8B-B14F-4D97-AF65-F5344CB8AC3E}">
        <p14:creationId xmlns:p14="http://schemas.microsoft.com/office/powerpoint/2010/main" val="343834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06B6C-224F-442C-AE08-16B00B4002A6}"/>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7D9A796C-6488-4308-A88B-4A281EA673BB}"/>
              </a:ext>
            </a:extLst>
          </p:cNvPr>
          <p:cNvSpPr>
            <a:spLocks noGrp="1"/>
          </p:cNvSpPr>
          <p:nvPr>
            <p:ph idx="1"/>
          </p:nvPr>
        </p:nvSpPr>
        <p:spPr>
          <a:xfrm>
            <a:off x="6579449" y="2148501"/>
            <a:ext cx="4957554" cy="3496120"/>
          </a:xfrm>
        </p:spPr>
        <p:txBody>
          <a:bodyPr>
            <a:normAutofit/>
          </a:bodyPr>
          <a:lstStyle/>
          <a:p>
            <a:r>
              <a:rPr lang="en-US"/>
              <a:t>Đây là phần bạn miêu tả nội dung. Trong phần này bạn có thể đưa các video vào, hình ảnh, cũng như, các loại font chữ, đồng, thời bạn cũng có thể tạo các bảng , bạn cũng có thể thêm các link vào trực tiếp nội dung.</a:t>
            </a:r>
            <a:endParaRPr lang="en-US" dirty="0"/>
          </a:p>
          <a:p>
            <a:endParaRPr lang="en-US" dirty="0"/>
          </a:p>
        </p:txBody>
      </p:sp>
      <p:pic>
        <p:nvPicPr>
          <p:cNvPr id="6" name="Picture 5">
            <a:extLst>
              <a:ext uri="{FF2B5EF4-FFF2-40B4-BE49-F238E27FC236}">
                <a16:creationId xmlns:a16="http://schemas.microsoft.com/office/drawing/2014/main" id="{C2C33AAB-3EA8-681F-E418-D8A701FAF325}"/>
              </a:ext>
            </a:extLst>
          </p:cNvPr>
          <p:cNvPicPr>
            <a:picLocks noChangeAspect="1"/>
          </p:cNvPicPr>
          <p:nvPr/>
        </p:nvPicPr>
        <p:blipFill>
          <a:blip r:embed="rId2"/>
          <a:stretch>
            <a:fillRect/>
          </a:stretch>
        </p:blipFill>
        <p:spPr>
          <a:xfrm>
            <a:off x="965771" y="942916"/>
            <a:ext cx="4746660" cy="4944175"/>
          </a:xfrm>
          <a:prstGeom prst="rect">
            <a:avLst/>
          </a:prstGeom>
        </p:spPr>
      </p:pic>
    </p:spTree>
    <p:extLst>
      <p:ext uri="{BB962C8B-B14F-4D97-AF65-F5344CB8AC3E}">
        <p14:creationId xmlns:p14="http://schemas.microsoft.com/office/powerpoint/2010/main" val="213889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33D8-BCC2-6874-16CF-654845813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25116-7C90-7621-D74B-7F5248D68573}"/>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 name="Content Placeholder 2">
            <a:extLst>
              <a:ext uri="{FF2B5EF4-FFF2-40B4-BE49-F238E27FC236}">
                <a16:creationId xmlns:a16="http://schemas.microsoft.com/office/drawing/2014/main" id="{437A0062-2B61-7B07-3843-48FE2E95D8A4}"/>
              </a:ext>
            </a:extLst>
          </p:cNvPr>
          <p:cNvSpPr>
            <a:spLocks noGrp="1"/>
          </p:cNvSpPr>
          <p:nvPr>
            <p:ph idx="1"/>
          </p:nvPr>
        </p:nvSpPr>
        <p:spPr>
          <a:xfrm>
            <a:off x="6579449" y="2148501"/>
            <a:ext cx="4957554" cy="3496120"/>
          </a:xfrm>
        </p:spPr>
        <p:txBody>
          <a:bodyPr>
            <a:normAutofit/>
          </a:bodyPr>
          <a:lstStyle/>
          <a:p>
            <a:r>
              <a:rPr lang="en-US"/>
              <a:t>Số 1: bạn có thể gửi form tới người duyệt.</a:t>
            </a:r>
          </a:p>
          <a:p>
            <a:r>
              <a:rPr lang="en-US"/>
              <a:t>Số 2: là bạn có thể lưu lại tạm thời, để khi nào cần thì bạn có thể dùng.</a:t>
            </a:r>
          </a:p>
          <a:p>
            <a:r>
              <a:rPr lang="en-US"/>
              <a:t>Số 3: là bạn có thể xóa nhớ tạm thời đi để làm lại</a:t>
            </a:r>
          </a:p>
          <a:p>
            <a:r>
              <a:rPr lang="en-US"/>
              <a:t>Số 4: bạn có thể xem lại tổng thể form một lần nữa</a:t>
            </a:r>
          </a:p>
          <a:p>
            <a:r>
              <a:rPr lang="en-US"/>
              <a:t>Số 5: là reset lại form làm mới và nhập mới thông tin lại từ đầu.</a:t>
            </a:r>
            <a:endParaRPr lang="en-US" dirty="0"/>
          </a:p>
          <a:p>
            <a:endParaRPr lang="en-US" dirty="0"/>
          </a:p>
        </p:txBody>
      </p:sp>
      <p:pic>
        <p:nvPicPr>
          <p:cNvPr id="5" name="Picture 4">
            <a:extLst>
              <a:ext uri="{FF2B5EF4-FFF2-40B4-BE49-F238E27FC236}">
                <a16:creationId xmlns:a16="http://schemas.microsoft.com/office/drawing/2014/main" id="{6FB10792-FED3-45B6-B28B-EC8A5C6151A4}"/>
              </a:ext>
            </a:extLst>
          </p:cNvPr>
          <p:cNvPicPr>
            <a:picLocks noChangeAspect="1"/>
          </p:cNvPicPr>
          <p:nvPr/>
        </p:nvPicPr>
        <p:blipFill>
          <a:blip r:embed="rId2"/>
          <a:stretch>
            <a:fillRect/>
          </a:stretch>
        </p:blipFill>
        <p:spPr>
          <a:xfrm>
            <a:off x="393291" y="399253"/>
            <a:ext cx="5997678" cy="6059493"/>
          </a:xfrm>
          <a:prstGeom prst="rect">
            <a:avLst/>
          </a:prstGeom>
        </p:spPr>
      </p:pic>
    </p:spTree>
    <p:extLst>
      <p:ext uri="{BB962C8B-B14F-4D97-AF65-F5344CB8AC3E}">
        <p14:creationId xmlns:p14="http://schemas.microsoft.com/office/powerpoint/2010/main" val="776473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E6DD5-0EA7-F18F-6629-81F7F2540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B0BC6-DBE5-FD47-16ED-7374BEB2A0DD}"/>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 name="Content Placeholder 2">
            <a:extLst>
              <a:ext uri="{FF2B5EF4-FFF2-40B4-BE49-F238E27FC236}">
                <a16:creationId xmlns:a16="http://schemas.microsoft.com/office/drawing/2014/main" id="{C90119C3-CE75-DBAC-1EF5-1BF5A07B6E9A}"/>
              </a:ext>
            </a:extLst>
          </p:cNvPr>
          <p:cNvSpPr>
            <a:spLocks noGrp="1"/>
          </p:cNvSpPr>
          <p:nvPr>
            <p:ph idx="1"/>
          </p:nvPr>
        </p:nvSpPr>
        <p:spPr>
          <a:xfrm>
            <a:off x="6579449" y="2148501"/>
            <a:ext cx="4957554" cy="3496120"/>
          </a:xfrm>
        </p:spPr>
        <p:txBody>
          <a:bodyPr>
            <a:normAutofit/>
          </a:bodyPr>
          <a:lstStyle/>
          <a:p>
            <a:r>
              <a:rPr lang="en-US"/>
              <a:t>Trong trường hợp bạn đã đăng ký form đi công tác thành công và được duyệt, để chánh mất thời gian bạn có thể copy lại form và sửa thông tin và gửi đi như một form mới.</a:t>
            </a:r>
          </a:p>
          <a:p>
            <a:r>
              <a:rPr lang="en-US"/>
              <a:t>Bạn vào menu Electronic Document =&gt; My Documents.=&gt; và bạn tìm form của mình như hình minh họa dưới đây</a:t>
            </a:r>
            <a:endParaRPr lang="en-US" dirty="0"/>
          </a:p>
          <a:p>
            <a:endParaRPr lang="en-US" dirty="0"/>
          </a:p>
        </p:txBody>
      </p:sp>
      <p:pic>
        <p:nvPicPr>
          <p:cNvPr id="5" name="Picture 4">
            <a:extLst>
              <a:ext uri="{FF2B5EF4-FFF2-40B4-BE49-F238E27FC236}">
                <a16:creationId xmlns:a16="http://schemas.microsoft.com/office/drawing/2014/main" id="{B692B3B8-B7E3-70A5-4BD3-A66362C3EE07}"/>
              </a:ext>
            </a:extLst>
          </p:cNvPr>
          <p:cNvPicPr>
            <a:picLocks noChangeAspect="1"/>
          </p:cNvPicPr>
          <p:nvPr/>
        </p:nvPicPr>
        <p:blipFill>
          <a:blip r:embed="rId2"/>
          <a:stretch>
            <a:fillRect/>
          </a:stretch>
        </p:blipFill>
        <p:spPr>
          <a:xfrm>
            <a:off x="389623" y="399603"/>
            <a:ext cx="5980458" cy="2714765"/>
          </a:xfrm>
          <a:prstGeom prst="rect">
            <a:avLst/>
          </a:prstGeom>
        </p:spPr>
      </p:pic>
      <p:pic>
        <p:nvPicPr>
          <p:cNvPr id="7" name="Picture 6">
            <a:extLst>
              <a:ext uri="{FF2B5EF4-FFF2-40B4-BE49-F238E27FC236}">
                <a16:creationId xmlns:a16="http://schemas.microsoft.com/office/drawing/2014/main" id="{05F12796-9562-FE92-DE19-60F7254872F7}"/>
              </a:ext>
            </a:extLst>
          </p:cNvPr>
          <p:cNvPicPr>
            <a:picLocks noChangeAspect="1"/>
          </p:cNvPicPr>
          <p:nvPr/>
        </p:nvPicPr>
        <p:blipFill>
          <a:blip r:embed="rId3"/>
          <a:stretch>
            <a:fillRect/>
          </a:stretch>
        </p:blipFill>
        <p:spPr>
          <a:xfrm>
            <a:off x="389623" y="3342241"/>
            <a:ext cx="5980458" cy="3116156"/>
          </a:xfrm>
          <a:prstGeom prst="rect">
            <a:avLst/>
          </a:prstGeom>
        </p:spPr>
      </p:pic>
    </p:spTree>
    <p:extLst>
      <p:ext uri="{BB962C8B-B14F-4D97-AF65-F5344CB8AC3E}">
        <p14:creationId xmlns:p14="http://schemas.microsoft.com/office/powerpoint/2010/main" val="3522953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6C745-BE59-CC79-6890-CA47B527C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FDD70-2DF3-3D38-0A2C-DB61C56AD72A}"/>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 name="Content Placeholder 2">
            <a:extLst>
              <a:ext uri="{FF2B5EF4-FFF2-40B4-BE49-F238E27FC236}">
                <a16:creationId xmlns:a16="http://schemas.microsoft.com/office/drawing/2014/main" id="{0E044050-08D6-387A-804E-E9CA0ABBD228}"/>
              </a:ext>
            </a:extLst>
          </p:cNvPr>
          <p:cNvSpPr>
            <a:spLocks noGrp="1"/>
          </p:cNvSpPr>
          <p:nvPr>
            <p:ph idx="1"/>
          </p:nvPr>
        </p:nvSpPr>
        <p:spPr>
          <a:xfrm>
            <a:off x="6579449" y="2148501"/>
            <a:ext cx="4957554" cy="3496120"/>
          </a:xfrm>
        </p:spPr>
        <p:txBody>
          <a:bodyPr>
            <a:normAutofit/>
          </a:bodyPr>
          <a:lstStyle/>
          <a:p>
            <a:r>
              <a:rPr lang="en-US"/>
              <a:t>Một form đã được duyệt hết, khi bạn nhấn vào “Sao chép tài liệu điều ấy có nghĩa là bạn đã sao chép lại toàn bộ dữ liệu của form cũ, và bạn có thể hay đổi lại một số thông tin nếu cần và gửi đi như một form mới.</a:t>
            </a:r>
            <a:endParaRPr lang="en-US" dirty="0"/>
          </a:p>
          <a:p>
            <a:endParaRPr lang="en-US" dirty="0"/>
          </a:p>
        </p:txBody>
      </p:sp>
      <p:pic>
        <p:nvPicPr>
          <p:cNvPr id="5" name="Picture 4">
            <a:extLst>
              <a:ext uri="{FF2B5EF4-FFF2-40B4-BE49-F238E27FC236}">
                <a16:creationId xmlns:a16="http://schemas.microsoft.com/office/drawing/2014/main" id="{3F53B98F-DE6B-E365-A783-98691139548D}"/>
              </a:ext>
            </a:extLst>
          </p:cNvPr>
          <p:cNvPicPr>
            <a:picLocks noChangeAspect="1"/>
          </p:cNvPicPr>
          <p:nvPr/>
        </p:nvPicPr>
        <p:blipFill>
          <a:blip r:embed="rId2"/>
          <a:stretch>
            <a:fillRect/>
          </a:stretch>
        </p:blipFill>
        <p:spPr>
          <a:xfrm>
            <a:off x="430879" y="404834"/>
            <a:ext cx="6148569" cy="5986134"/>
          </a:xfrm>
          <a:prstGeom prst="rect">
            <a:avLst/>
          </a:prstGeom>
        </p:spPr>
      </p:pic>
    </p:spTree>
    <p:extLst>
      <p:ext uri="{BB962C8B-B14F-4D97-AF65-F5344CB8AC3E}">
        <p14:creationId xmlns:p14="http://schemas.microsoft.com/office/powerpoint/2010/main" val="1003881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1E37-2CE3-A0FB-F448-765BE29FB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50123-EFD5-E94E-B037-C042F38C8847}"/>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 name="Content Placeholder 2">
            <a:extLst>
              <a:ext uri="{FF2B5EF4-FFF2-40B4-BE49-F238E27FC236}">
                <a16:creationId xmlns:a16="http://schemas.microsoft.com/office/drawing/2014/main" id="{5CF2DDAF-9678-3E2C-9BCC-FB7D476D7ED0}"/>
              </a:ext>
            </a:extLst>
          </p:cNvPr>
          <p:cNvSpPr>
            <a:spLocks noGrp="1"/>
          </p:cNvSpPr>
          <p:nvPr>
            <p:ph idx="1"/>
          </p:nvPr>
        </p:nvSpPr>
        <p:spPr>
          <a:xfrm>
            <a:off x="6579449" y="2148501"/>
            <a:ext cx="4957554" cy="3496120"/>
          </a:xfrm>
        </p:spPr>
        <p:txBody>
          <a:bodyPr>
            <a:normAutofit/>
          </a:bodyPr>
          <a:lstStyle/>
          <a:p>
            <a:r>
              <a:rPr lang="en-US"/>
              <a:t>Ở màn hình bên trai trường hợp form đã gửi đi rồi, nhưng chưa được duyệt hết tới người cuối cùng thì bạn có thể “Hủy đơn đăng ký” điều ấy có nghĩa là form sẽ được gọi lại để bạn sửa hoặc cập nhật thông tin nào đó, sau đó bạn có thể gửi đi tiếp.</a:t>
            </a:r>
            <a:endParaRPr lang="en-US" dirty="0"/>
          </a:p>
          <a:p>
            <a:endParaRPr lang="en-US" dirty="0"/>
          </a:p>
        </p:txBody>
      </p:sp>
      <p:pic>
        <p:nvPicPr>
          <p:cNvPr id="5" name="Picture 4">
            <a:extLst>
              <a:ext uri="{FF2B5EF4-FFF2-40B4-BE49-F238E27FC236}">
                <a16:creationId xmlns:a16="http://schemas.microsoft.com/office/drawing/2014/main" id="{D426243E-74C4-9C34-2D4C-8DE6FE3EEABE}"/>
              </a:ext>
            </a:extLst>
          </p:cNvPr>
          <p:cNvPicPr>
            <a:picLocks noChangeAspect="1"/>
          </p:cNvPicPr>
          <p:nvPr/>
        </p:nvPicPr>
        <p:blipFill>
          <a:blip r:embed="rId2"/>
          <a:stretch>
            <a:fillRect/>
          </a:stretch>
        </p:blipFill>
        <p:spPr>
          <a:xfrm>
            <a:off x="442453" y="491614"/>
            <a:ext cx="5837578" cy="5610874"/>
          </a:xfrm>
          <a:prstGeom prst="rect">
            <a:avLst/>
          </a:prstGeom>
        </p:spPr>
      </p:pic>
    </p:spTree>
    <p:extLst>
      <p:ext uri="{BB962C8B-B14F-4D97-AF65-F5344CB8AC3E}">
        <p14:creationId xmlns:p14="http://schemas.microsoft.com/office/powerpoint/2010/main" val="547379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C33D1-061C-4DA9-96ED-83E935B286C0}"/>
              </a:ext>
            </a:extLst>
          </p:cNvPr>
          <p:cNvSpPr>
            <a:spLocks noGrp="1"/>
          </p:cNvSpPr>
          <p:nvPr>
            <p:ph idx="1"/>
          </p:nvPr>
        </p:nvSpPr>
        <p:spPr>
          <a:xfrm>
            <a:off x="0" y="0"/>
            <a:ext cx="12192000" cy="6839744"/>
          </a:xfrm>
        </p:spPr>
        <p:txBody>
          <a:bodyPr>
            <a:normAutofit/>
          </a:bodyPr>
          <a:lstStyle/>
          <a:p>
            <a:pPr marL="0" indent="0">
              <a:buNone/>
            </a:pPr>
            <a:endParaRPr lang="en-US" sz="3000" b="1">
              <a:latin typeface="Times New Roman" panose="02020603050405020304" pitchFamily="18" charset="0"/>
              <a:cs typeface="Times New Roman" panose="02020603050405020304" pitchFamily="18" charset="0"/>
            </a:endParaRPr>
          </a:p>
          <a:p>
            <a:pPr marL="0" indent="0">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r>
              <a:rPr lang="en-US" sz="4800" b="1">
                <a:latin typeface="Times New Roman" panose="02020603050405020304" pitchFamily="18" charset="0"/>
                <a:cs typeface="Times New Roman" panose="02020603050405020304" pitchFamily="18" charset="0"/>
              </a:rPr>
              <a:t>CHỨC NĂNG VIẾT BÁO CÁO KHI</a:t>
            </a:r>
          </a:p>
          <a:p>
            <a:pPr marL="0" indent="0" algn="ctr">
              <a:buNone/>
            </a:pPr>
            <a:r>
              <a:rPr lang="en-US" sz="4800" b="1">
                <a:latin typeface="Times New Roman" panose="02020603050405020304" pitchFamily="18" charset="0"/>
                <a:cs typeface="Times New Roman" panose="02020603050405020304" pitchFamily="18" charset="0"/>
              </a:rPr>
              <a:t> ĐI CÔNG TÁC VỀ.</a:t>
            </a:r>
          </a:p>
        </p:txBody>
      </p:sp>
    </p:spTree>
    <p:extLst>
      <p:ext uri="{BB962C8B-B14F-4D97-AF65-F5344CB8AC3E}">
        <p14:creationId xmlns:p14="http://schemas.microsoft.com/office/powerpoint/2010/main" val="2406122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6C034-81C2-6ACF-24E3-21823EBB9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F98AA-B3E5-8DB1-5301-69FBEE34C20F}"/>
              </a:ext>
            </a:extLst>
          </p:cNvPr>
          <p:cNvSpPr>
            <a:spLocks noGrp="1"/>
          </p:cNvSpPr>
          <p:nvPr>
            <p:ph type="title"/>
          </p:nvPr>
        </p:nvSpPr>
        <p:spPr>
          <a:xfrm>
            <a:off x="6579450" y="727627"/>
            <a:ext cx="4957553" cy="1645920"/>
          </a:xfrm>
        </p:spPr>
        <p:txBody>
          <a:bodyPr>
            <a:normAutofit/>
          </a:bodyPr>
          <a:lstStyle/>
          <a:p>
            <a:r>
              <a:rPr lang="en-US"/>
              <a:t>2.Form báo cáo khi đi công tác về.</a:t>
            </a:r>
            <a:endParaRPr lang="en-US" dirty="0"/>
          </a:p>
        </p:txBody>
      </p:sp>
      <p:sp>
        <p:nvSpPr>
          <p:cNvPr id="3" name="Content Placeholder 2">
            <a:extLst>
              <a:ext uri="{FF2B5EF4-FFF2-40B4-BE49-F238E27FC236}">
                <a16:creationId xmlns:a16="http://schemas.microsoft.com/office/drawing/2014/main" id="{8489904A-00B7-3FE4-0B59-A37B92F0240E}"/>
              </a:ext>
            </a:extLst>
          </p:cNvPr>
          <p:cNvSpPr>
            <a:spLocks noGrp="1"/>
          </p:cNvSpPr>
          <p:nvPr>
            <p:ph idx="1"/>
          </p:nvPr>
        </p:nvSpPr>
        <p:spPr>
          <a:xfrm>
            <a:off x="6579449" y="2312403"/>
            <a:ext cx="4957554" cy="3496120"/>
          </a:xfrm>
        </p:spPr>
        <p:txBody>
          <a:bodyPr>
            <a:normAutofit/>
          </a:bodyPr>
          <a:lstStyle/>
          <a:p>
            <a:r>
              <a:rPr lang="en-US"/>
              <a:t>Sau khi bạn đi công tác về dù nước ngoài , hay trong nước bạn đều cần phải có form báo cáo, ở đây phần hình ảnh bên trái, bạn vào Business Trip =&gt; Business Trip Report.</a:t>
            </a:r>
            <a:endParaRPr lang="en-US" dirty="0"/>
          </a:p>
          <a:p>
            <a:endParaRPr lang="en-US" dirty="0"/>
          </a:p>
        </p:txBody>
      </p:sp>
      <p:pic>
        <p:nvPicPr>
          <p:cNvPr id="5" name="Picture 4">
            <a:extLst>
              <a:ext uri="{FF2B5EF4-FFF2-40B4-BE49-F238E27FC236}">
                <a16:creationId xmlns:a16="http://schemas.microsoft.com/office/drawing/2014/main" id="{566CA985-5CAA-6B45-6FD8-8DD5E600B713}"/>
              </a:ext>
            </a:extLst>
          </p:cNvPr>
          <p:cNvPicPr>
            <a:picLocks noChangeAspect="1"/>
          </p:cNvPicPr>
          <p:nvPr/>
        </p:nvPicPr>
        <p:blipFill>
          <a:blip r:embed="rId2"/>
          <a:stretch>
            <a:fillRect/>
          </a:stretch>
        </p:blipFill>
        <p:spPr>
          <a:xfrm>
            <a:off x="432619" y="540774"/>
            <a:ext cx="6146829" cy="5919020"/>
          </a:xfrm>
          <a:prstGeom prst="rect">
            <a:avLst/>
          </a:prstGeom>
        </p:spPr>
      </p:pic>
    </p:spTree>
    <p:extLst>
      <p:ext uri="{BB962C8B-B14F-4D97-AF65-F5344CB8AC3E}">
        <p14:creationId xmlns:p14="http://schemas.microsoft.com/office/powerpoint/2010/main" val="2333904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1FFD-A282-71B7-AE2D-CDB01C3E0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A5112-98BA-01E2-F8C1-806585F341BF}"/>
              </a:ext>
            </a:extLst>
          </p:cNvPr>
          <p:cNvSpPr>
            <a:spLocks noGrp="1"/>
          </p:cNvSpPr>
          <p:nvPr>
            <p:ph type="title"/>
          </p:nvPr>
        </p:nvSpPr>
        <p:spPr>
          <a:xfrm>
            <a:off x="6579450" y="727627"/>
            <a:ext cx="4957553" cy="1645920"/>
          </a:xfrm>
        </p:spPr>
        <p:txBody>
          <a:bodyPr>
            <a:normAutofit/>
          </a:bodyPr>
          <a:lstStyle/>
          <a:p>
            <a:r>
              <a:rPr lang="en-US"/>
              <a:t>2. Form báo cáo khi đi công tác về.</a:t>
            </a:r>
            <a:endParaRPr lang="en-US" dirty="0"/>
          </a:p>
        </p:txBody>
      </p:sp>
      <p:sp>
        <p:nvSpPr>
          <p:cNvPr id="3" name="Content Placeholder 2">
            <a:extLst>
              <a:ext uri="{FF2B5EF4-FFF2-40B4-BE49-F238E27FC236}">
                <a16:creationId xmlns:a16="http://schemas.microsoft.com/office/drawing/2014/main" id="{AAC80B6E-B8CF-5046-DE15-8A85E5E81C0C}"/>
              </a:ext>
            </a:extLst>
          </p:cNvPr>
          <p:cNvSpPr>
            <a:spLocks noGrp="1"/>
          </p:cNvSpPr>
          <p:nvPr>
            <p:ph idx="1"/>
          </p:nvPr>
        </p:nvSpPr>
        <p:spPr>
          <a:xfrm>
            <a:off x="6579449" y="2148501"/>
            <a:ext cx="4957554" cy="3496120"/>
          </a:xfrm>
        </p:spPr>
        <p:txBody>
          <a:bodyPr>
            <a:normAutofit/>
          </a:bodyPr>
          <a:lstStyle/>
          <a:p>
            <a:r>
              <a:rPr lang="en-US"/>
              <a:t>Số 1: chọn người phê duyệt cho form của bạn.</a:t>
            </a:r>
          </a:p>
          <a:p>
            <a:r>
              <a:rPr lang="en-US"/>
              <a:t>Số 2: Viết tiêu đề cho form của bạn</a:t>
            </a:r>
          </a:p>
          <a:p>
            <a:r>
              <a:rPr lang="en-US"/>
              <a:t>Số 3: tệp đính kèm, thường là file báo cáo của bạn bằng, word, excel, powerpoint..etc..</a:t>
            </a:r>
          </a:p>
          <a:p>
            <a:r>
              <a:rPr lang="en-US"/>
              <a:t>Số 4: chọn người mà mình làm form giúp.</a:t>
            </a:r>
          </a:p>
          <a:p>
            <a:r>
              <a:rPr lang="en-US"/>
              <a:t>Số 5: chọn loại đi công tác, công tác trong nước, hay công tác nước ngoài.</a:t>
            </a:r>
            <a:endParaRPr lang="en-US" dirty="0"/>
          </a:p>
          <a:p>
            <a:endParaRPr lang="en-US" dirty="0"/>
          </a:p>
        </p:txBody>
      </p:sp>
      <p:pic>
        <p:nvPicPr>
          <p:cNvPr id="5" name="Picture 4">
            <a:extLst>
              <a:ext uri="{FF2B5EF4-FFF2-40B4-BE49-F238E27FC236}">
                <a16:creationId xmlns:a16="http://schemas.microsoft.com/office/drawing/2014/main" id="{484E184C-2558-1F8E-9E7A-3C506CA16B96}"/>
              </a:ext>
            </a:extLst>
          </p:cNvPr>
          <p:cNvPicPr>
            <a:picLocks noChangeAspect="1"/>
          </p:cNvPicPr>
          <p:nvPr/>
        </p:nvPicPr>
        <p:blipFill>
          <a:blip r:embed="rId2"/>
          <a:stretch>
            <a:fillRect/>
          </a:stretch>
        </p:blipFill>
        <p:spPr>
          <a:xfrm>
            <a:off x="412955" y="393290"/>
            <a:ext cx="6166494" cy="6066504"/>
          </a:xfrm>
          <a:prstGeom prst="rect">
            <a:avLst/>
          </a:prstGeom>
        </p:spPr>
      </p:pic>
    </p:spTree>
    <p:extLst>
      <p:ext uri="{BB962C8B-B14F-4D97-AF65-F5344CB8AC3E}">
        <p14:creationId xmlns:p14="http://schemas.microsoft.com/office/powerpoint/2010/main" val="1110592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C19C3-D4D8-CABF-500B-840779A5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B447A-EFAD-A31A-A69F-4D64B91FAB74}"/>
              </a:ext>
            </a:extLst>
          </p:cNvPr>
          <p:cNvSpPr>
            <a:spLocks noGrp="1"/>
          </p:cNvSpPr>
          <p:nvPr>
            <p:ph type="title"/>
          </p:nvPr>
        </p:nvSpPr>
        <p:spPr>
          <a:xfrm>
            <a:off x="6579450" y="727627"/>
            <a:ext cx="4957553" cy="1645920"/>
          </a:xfrm>
        </p:spPr>
        <p:txBody>
          <a:bodyPr>
            <a:normAutofit/>
          </a:bodyPr>
          <a:lstStyle/>
          <a:p>
            <a:r>
              <a:rPr lang="en-US"/>
              <a:t>2. Form báo cáo khi đi công tác về.</a:t>
            </a:r>
            <a:endParaRPr lang="en-US" dirty="0"/>
          </a:p>
        </p:txBody>
      </p:sp>
      <p:sp>
        <p:nvSpPr>
          <p:cNvPr id="3" name="Content Placeholder 2">
            <a:extLst>
              <a:ext uri="{FF2B5EF4-FFF2-40B4-BE49-F238E27FC236}">
                <a16:creationId xmlns:a16="http://schemas.microsoft.com/office/drawing/2014/main" id="{F596B6D4-6893-CF48-B4C0-613E6192B0E3}"/>
              </a:ext>
            </a:extLst>
          </p:cNvPr>
          <p:cNvSpPr>
            <a:spLocks noGrp="1"/>
          </p:cNvSpPr>
          <p:nvPr>
            <p:ph idx="1"/>
          </p:nvPr>
        </p:nvSpPr>
        <p:spPr>
          <a:xfrm>
            <a:off x="6579449" y="2148501"/>
            <a:ext cx="4957554" cy="3496120"/>
          </a:xfrm>
        </p:spPr>
        <p:txBody>
          <a:bodyPr>
            <a:normAutofit/>
          </a:bodyPr>
          <a:lstStyle/>
          <a:p>
            <a:r>
              <a:rPr lang="en-US"/>
              <a:t>Số 1: bạn click vào đó thì một cửa số mới sẽ hiển thị ra.</a:t>
            </a:r>
          </a:p>
          <a:p>
            <a:r>
              <a:rPr lang="en-US"/>
              <a:t>Số 2: bạn có rất nhiều lựa chọn nhưng bạn chỉ cần tập chúng vào phần “tài liệu của tôi”.</a:t>
            </a:r>
          </a:p>
          <a:p>
            <a:r>
              <a:rPr lang="en-US"/>
              <a:t>Số 3: Nhấn kiểm tra, thì lập tức một cửa số mới sẽ hiển thị ra.</a:t>
            </a:r>
            <a:endParaRPr lang="en-US" dirty="0"/>
          </a:p>
          <a:p>
            <a:endParaRPr lang="en-US" dirty="0"/>
          </a:p>
        </p:txBody>
      </p:sp>
      <p:pic>
        <p:nvPicPr>
          <p:cNvPr id="5" name="Picture 4">
            <a:extLst>
              <a:ext uri="{FF2B5EF4-FFF2-40B4-BE49-F238E27FC236}">
                <a16:creationId xmlns:a16="http://schemas.microsoft.com/office/drawing/2014/main" id="{50D3FFB2-F46A-4F7B-041F-DA3017845F74}"/>
              </a:ext>
            </a:extLst>
          </p:cNvPr>
          <p:cNvPicPr>
            <a:picLocks noChangeAspect="1"/>
          </p:cNvPicPr>
          <p:nvPr/>
        </p:nvPicPr>
        <p:blipFill>
          <a:blip r:embed="rId2"/>
          <a:stretch>
            <a:fillRect/>
          </a:stretch>
        </p:blipFill>
        <p:spPr>
          <a:xfrm>
            <a:off x="554666" y="462098"/>
            <a:ext cx="6024782" cy="5791217"/>
          </a:xfrm>
          <a:prstGeom prst="rect">
            <a:avLst/>
          </a:prstGeom>
        </p:spPr>
      </p:pic>
    </p:spTree>
    <p:extLst>
      <p:ext uri="{BB962C8B-B14F-4D97-AF65-F5344CB8AC3E}">
        <p14:creationId xmlns:p14="http://schemas.microsoft.com/office/powerpoint/2010/main" val="4209582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B521-87E9-C121-E118-BEAB1D655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AB90C-2B18-4885-2B5D-AF8561F67407}"/>
              </a:ext>
            </a:extLst>
          </p:cNvPr>
          <p:cNvSpPr>
            <a:spLocks noGrp="1"/>
          </p:cNvSpPr>
          <p:nvPr>
            <p:ph type="title"/>
          </p:nvPr>
        </p:nvSpPr>
        <p:spPr>
          <a:xfrm>
            <a:off x="6802908" y="428530"/>
            <a:ext cx="4957553" cy="1645920"/>
          </a:xfrm>
        </p:spPr>
        <p:txBody>
          <a:bodyPr>
            <a:normAutofit/>
          </a:bodyPr>
          <a:lstStyle/>
          <a:p>
            <a:r>
              <a:rPr lang="en-US"/>
              <a:t>Form báo cáo khi đi công tác về.</a:t>
            </a:r>
            <a:endParaRPr lang="en-US" dirty="0"/>
          </a:p>
        </p:txBody>
      </p:sp>
      <p:sp>
        <p:nvSpPr>
          <p:cNvPr id="3" name="Content Placeholder 2">
            <a:extLst>
              <a:ext uri="{FF2B5EF4-FFF2-40B4-BE49-F238E27FC236}">
                <a16:creationId xmlns:a16="http://schemas.microsoft.com/office/drawing/2014/main" id="{0BFBFBDE-327F-6AE4-0F07-0D980FC8603D}"/>
              </a:ext>
            </a:extLst>
          </p:cNvPr>
          <p:cNvSpPr>
            <a:spLocks noGrp="1"/>
          </p:cNvSpPr>
          <p:nvPr>
            <p:ph idx="1"/>
          </p:nvPr>
        </p:nvSpPr>
        <p:spPr>
          <a:xfrm>
            <a:off x="6677025" y="2148501"/>
            <a:ext cx="4859978" cy="4052274"/>
          </a:xfrm>
        </p:spPr>
        <p:txBody>
          <a:bodyPr>
            <a:normAutofit lnSpcReduction="10000"/>
          </a:bodyPr>
          <a:lstStyle/>
          <a:p>
            <a:r>
              <a:rPr lang="en-US"/>
              <a:t>Ở hình ảnh trên đầu bên trái, sau khi bạn chọn xong form đi công tác đã được duyệt, bạn sẽ thấy thông tin chi tiết hiển thị.</a:t>
            </a:r>
          </a:p>
          <a:p>
            <a:r>
              <a:rPr lang="en-US"/>
              <a:t>Ở hình ảnh thứ hai, bạn cần chọn một số thôn tin</a:t>
            </a:r>
          </a:p>
          <a:p>
            <a:r>
              <a:rPr lang="en-US"/>
              <a:t>Số 1: đây là những người thực tế đi công tác, khi bạn lick chọn vào thì các thông tin khác sẽ hiển thị cùng.</a:t>
            </a:r>
          </a:p>
          <a:p>
            <a:r>
              <a:rPr lang="en-US"/>
              <a:t>Số 2: là ngày thực tế bạn đi về, nếu không thay đổi gì hệ thống sẽ tự động lấy ngày mà đã đăng ký đi.</a:t>
            </a:r>
          </a:p>
          <a:p>
            <a:r>
              <a:rPr lang="en-US"/>
              <a:t>Số 3: bạn phải chọn hãng máy bay nào bạn đi.</a:t>
            </a:r>
          </a:p>
          <a:p>
            <a:r>
              <a:rPr lang="en-US"/>
              <a:t>Số 4 bạn cần chọn file hình ảnh là cuốn máy bay của bạn để upload lên, hoặc vé tàu xe của bạn</a:t>
            </a:r>
            <a:endParaRPr lang="en-US" dirty="0"/>
          </a:p>
          <a:p>
            <a:endParaRPr lang="en-US" dirty="0"/>
          </a:p>
        </p:txBody>
      </p:sp>
      <p:pic>
        <p:nvPicPr>
          <p:cNvPr id="5" name="Picture 4">
            <a:extLst>
              <a:ext uri="{FF2B5EF4-FFF2-40B4-BE49-F238E27FC236}">
                <a16:creationId xmlns:a16="http://schemas.microsoft.com/office/drawing/2014/main" id="{F8FBBD30-D422-E286-961C-0F134D35375D}"/>
              </a:ext>
            </a:extLst>
          </p:cNvPr>
          <p:cNvPicPr>
            <a:picLocks noChangeAspect="1"/>
          </p:cNvPicPr>
          <p:nvPr/>
        </p:nvPicPr>
        <p:blipFill>
          <a:blip r:embed="rId2"/>
          <a:stretch>
            <a:fillRect/>
          </a:stretch>
        </p:blipFill>
        <p:spPr>
          <a:xfrm>
            <a:off x="431539" y="428530"/>
            <a:ext cx="6245486" cy="2667095"/>
          </a:xfrm>
          <a:prstGeom prst="rect">
            <a:avLst/>
          </a:prstGeom>
        </p:spPr>
      </p:pic>
      <p:pic>
        <p:nvPicPr>
          <p:cNvPr id="7" name="Picture 6">
            <a:extLst>
              <a:ext uri="{FF2B5EF4-FFF2-40B4-BE49-F238E27FC236}">
                <a16:creationId xmlns:a16="http://schemas.microsoft.com/office/drawing/2014/main" id="{6C8FE5B1-22B3-719C-2250-E5AD2D1DFC52}"/>
              </a:ext>
            </a:extLst>
          </p:cNvPr>
          <p:cNvPicPr>
            <a:picLocks noChangeAspect="1"/>
          </p:cNvPicPr>
          <p:nvPr/>
        </p:nvPicPr>
        <p:blipFill>
          <a:blip r:embed="rId3"/>
          <a:stretch>
            <a:fillRect/>
          </a:stretch>
        </p:blipFill>
        <p:spPr>
          <a:xfrm>
            <a:off x="431540" y="3267075"/>
            <a:ext cx="6245486" cy="3162395"/>
          </a:xfrm>
          <a:prstGeom prst="rect">
            <a:avLst/>
          </a:prstGeom>
        </p:spPr>
      </p:pic>
    </p:spTree>
    <p:extLst>
      <p:ext uri="{BB962C8B-B14F-4D97-AF65-F5344CB8AC3E}">
        <p14:creationId xmlns:p14="http://schemas.microsoft.com/office/powerpoint/2010/main" val="3673487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2C072-6C8B-0595-9ACD-51BC1B23A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EFE20-1751-C44F-BCFF-B3EFAB7F8744}"/>
              </a:ext>
            </a:extLst>
          </p:cNvPr>
          <p:cNvSpPr>
            <a:spLocks noGrp="1"/>
          </p:cNvSpPr>
          <p:nvPr>
            <p:ph type="title"/>
          </p:nvPr>
        </p:nvSpPr>
        <p:spPr>
          <a:xfrm>
            <a:off x="6579450" y="727627"/>
            <a:ext cx="4957553" cy="1645920"/>
          </a:xfrm>
        </p:spPr>
        <p:txBody>
          <a:bodyPr>
            <a:normAutofit/>
          </a:bodyPr>
          <a:lstStyle/>
          <a:p>
            <a:r>
              <a:rPr lang="en-US"/>
              <a:t>2. Form báo cáo khi đi công tác về.</a:t>
            </a:r>
            <a:endParaRPr lang="en-US" dirty="0"/>
          </a:p>
        </p:txBody>
      </p:sp>
      <p:sp>
        <p:nvSpPr>
          <p:cNvPr id="3" name="Content Placeholder 2">
            <a:extLst>
              <a:ext uri="{FF2B5EF4-FFF2-40B4-BE49-F238E27FC236}">
                <a16:creationId xmlns:a16="http://schemas.microsoft.com/office/drawing/2014/main" id="{396EB4C8-07DA-58A0-8FFE-B31F08B64A74}"/>
              </a:ext>
            </a:extLst>
          </p:cNvPr>
          <p:cNvSpPr>
            <a:spLocks noGrp="1"/>
          </p:cNvSpPr>
          <p:nvPr>
            <p:ph idx="1"/>
          </p:nvPr>
        </p:nvSpPr>
        <p:spPr>
          <a:xfrm>
            <a:off x="6579449" y="2148501"/>
            <a:ext cx="4957554" cy="3496120"/>
          </a:xfrm>
        </p:spPr>
        <p:txBody>
          <a:bodyPr>
            <a:normAutofit/>
          </a:bodyPr>
          <a:lstStyle/>
          <a:p>
            <a:r>
              <a:rPr lang="en-US"/>
              <a:t>Ở đây tất cả các form bạn đã được duyệt khi đi công tác sẽ hiển thị ra, trong trường hợp rất nhiều vào thí số 1 là bạn có thể tìm kiếm.</a:t>
            </a:r>
          </a:p>
          <a:p>
            <a:r>
              <a:rPr lang="en-US"/>
              <a:t>Số 2: sau khi tìm kiếm xong thì bạn có thể chọn 1 form bạn cần làm báo cáo</a:t>
            </a:r>
            <a:endParaRPr lang="en-US" dirty="0"/>
          </a:p>
          <a:p>
            <a:endParaRPr lang="en-US" dirty="0"/>
          </a:p>
        </p:txBody>
      </p:sp>
      <p:pic>
        <p:nvPicPr>
          <p:cNvPr id="5" name="Picture 4">
            <a:extLst>
              <a:ext uri="{FF2B5EF4-FFF2-40B4-BE49-F238E27FC236}">
                <a16:creationId xmlns:a16="http://schemas.microsoft.com/office/drawing/2014/main" id="{5AEBB540-A232-1467-FB31-2A503E7AA7E0}"/>
              </a:ext>
            </a:extLst>
          </p:cNvPr>
          <p:cNvPicPr>
            <a:picLocks noChangeAspect="1"/>
          </p:cNvPicPr>
          <p:nvPr/>
        </p:nvPicPr>
        <p:blipFill>
          <a:blip r:embed="rId2"/>
          <a:stretch>
            <a:fillRect/>
          </a:stretch>
        </p:blipFill>
        <p:spPr>
          <a:xfrm>
            <a:off x="447675" y="453916"/>
            <a:ext cx="6131773" cy="5908784"/>
          </a:xfrm>
          <a:prstGeom prst="rect">
            <a:avLst/>
          </a:prstGeom>
        </p:spPr>
      </p:pic>
    </p:spTree>
    <p:extLst>
      <p:ext uri="{BB962C8B-B14F-4D97-AF65-F5344CB8AC3E}">
        <p14:creationId xmlns:p14="http://schemas.microsoft.com/office/powerpoint/2010/main" val="837240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DCAC-6533-619F-5A35-BF97600E2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DA13A-535F-F18C-537F-4D422F2D800E}"/>
              </a:ext>
            </a:extLst>
          </p:cNvPr>
          <p:cNvSpPr>
            <a:spLocks noGrp="1"/>
          </p:cNvSpPr>
          <p:nvPr>
            <p:ph type="title"/>
          </p:nvPr>
        </p:nvSpPr>
        <p:spPr>
          <a:xfrm>
            <a:off x="6579450" y="727627"/>
            <a:ext cx="4957553" cy="1645920"/>
          </a:xfrm>
        </p:spPr>
        <p:txBody>
          <a:bodyPr>
            <a:normAutofit/>
          </a:bodyPr>
          <a:lstStyle/>
          <a:p>
            <a:r>
              <a:rPr lang="en-US"/>
              <a:t>2. Form báo cáo khi đi công tác về.</a:t>
            </a:r>
            <a:endParaRPr lang="en-US" dirty="0"/>
          </a:p>
        </p:txBody>
      </p:sp>
      <p:sp>
        <p:nvSpPr>
          <p:cNvPr id="3" name="Content Placeholder 2">
            <a:extLst>
              <a:ext uri="{FF2B5EF4-FFF2-40B4-BE49-F238E27FC236}">
                <a16:creationId xmlns:a16="http://schemas.microsoft.com/office/drawing/2014/main" id="{6CC74627-14CD-C0D7-8C53-3F02CA1F987D}"/>
              </a:ext>
            </a:extLst>
          </p:cNvPr>
          <p:cNvSpPr>
            <a:spLocks noGrp="1"/>
          </p:cNvSpPr>
          <p:nvPr>
            <p:ph idx="1"/>
          </p:nvPr>
        </p:nvSpPr>
        <p:spPr>
          <a:xfrm>
            <a:off x="6579449" y="2148501"/>
            <a:ext cx="4957554" cy="3496120"/>
          </a:xfrm>
        </p:spPr>
        <p:txBody>
          <a:bodyPr>
            <a:normAutofit/>
          </a:bodyPr>
          <a:lstStyle/>
          <a:p>
            <a:r>
              <a:rPr lang="en-US"/>
              <a:t>Đây là phần bạn miêu tả nội dung. Trong phần này bạn có thể đưa các video vào, hình ảnh, cũng như, các loại font chữ, đồng, thời bạn cũng có thể tạo các bảng , bạn cũng có thể thêm các link vào trực tiếp nội dung.</a:t>
            </a:r>
            <a:endParaRPr lang="en-US" dirty="0"/>
          </a:p>
          <a:p>
            <a:endParaRPr lang="en-US" dirty="0"/>
          </a:p>
        </p:txBody>
      </p:sp>
      <p:pic>
        <p:nvPicPr>
          <p:cNvPr id="5" name="Picture 4">
            <a:extLst>
              <a:ext uri="{FF2B5EF4-FFF2-40B4-BE49-F238E27FC236}">
                <a16:creationId xmlns:a16="http://schemas.microsoft.com/office/drawing/2014/main" id="{2DE80358-051A-F603-73C9-BF306CF16144}"/>
              </a:ext>
            </a:extLst>
          </p:cNvPr>
          <p:cNvPicPr>
            <a:picLocks noChangeAspect="1"/>
          </p:cNvPicPr>
          <p:nvPr/>
        </p:nvPicPr>
        <p:blipFill>
          <a:blip r:embed="rId2"/>
          <a:stretch>
            <a:fillRect/>
          </a:stretch>
        </p:blipFill>
        <p:spPr>
          <a:xfrm>
            <a:off x="485775" y="430350"/>
            <a:ext cx="6093672" cy="5944571"/>
          </a:xfrm>
          <a:prstGeom prst="rect">
            <a:avLst/>
          </a:prstGeom>
        </p:spPr>
      </p:pic>
    </p:spTree>
    <p:extLst>
      <p:ext uri="{BB962C8B-B14F-4D97-AF65-F5344CB8AC3E}">
        <p14:creationId xmlns:p14="http://schemas.microsoft.com/office/powerpoint/2010/main" val="218883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40AF-C485-257A-C142-F49FBDCC68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6A871-B792-9A60-77B6-E122B1AFA666}"/>
              </a:ext>
            </a:extLst>
          </p:cNvPr>
          <p:cNvSpPr>
            <a:spLocks noGrp="1"/>
          </p:cNvSpPr>
          <p:nvPr>
            <p:ph idx="1"/>
          </p:nvPr>
        </p:nvSpPr>
        <p:spPr>
          <a:xfrm>
            <a:off x="0" y="0"/>
            <a:ext cx="12192000" cy="6839744"/>
          </a:xfrm>
        </p:spPr>
        <p:txBody>
          <a:bodyPr>
            <a:normAutofit/>
          </a:bodyPr>
          <a:lstStyle/>
          <a:p>
            <a:pPr marL="0" indent="0">
              <a:buNone/>
            </a:pPr>
            <a:endParaRPr lang="en-US" sz="3000" b="1">
              <a:latin typeface="Times New Roman" panose="02020603050405020304" pitchFamily="18" charset="0"/>
              <a:cs typeface="Times New Roman" panose="02020603050405020304" pitchFamily="18" charset="0"/>
            </a:endParaRPr>
          </a:p>
          <a:p>
            <a:pPr marL="0" indent="0">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r>
              <a:rPr lang="en-US" sz="4800" b="1">
                <a:latin typeface="Times New Roman" panose="02020603050405020304" pitchFamily="18" charset="0"/>
                <a:cs typeface="Times New Roman" panose="02020603050405020304" pitchFamily="18" charset="0"/>
              </a:rPr>
              <a:t>THAY ĐỔI THÔNG TIN FORM</a:t>
            </a:r>
          </a:p>
          <a:p>
            <a:pPr marL="0" indent="0" algn="ctr">
              <a:buNone/>
            </a:pPr>
            <a:r>
              <a:rPr lang="en-US" sz="4800" b="1">
                <a:latin typeface="Times New Roman" panose="02020603050405020304" pitchFamily="18" charset="0"/>
                <a:cs typeface="Times New Roman" panose="02020603050405020304" pitchFamily="18" charset="0"/>
              </a:rPr>
              <a:t> ĐI CÔNG TÁC.</a:t>
            </a:r>
          </a:p>
        </p:txBody>
      </p:sp>
    </p:spTree>
    <p:extLst>
      <p:ext uri="{BB962C8B-B14F-4D97-AF65-F5344CB8AC3E}">
        <p14:creationId xmlns:p14="http://schemas.microsoft.com/office/powerpoint/2010/main" val="2316712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4C196-4E5A-EA48-A7CE-82D1937C4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970C5-193B-90E2-8FE1-087FDC85CBBD}"/>
              </a:ext>
            </a:extLst>
          </p:cNvPr>
          <p:cNvSpPr>
            <a:spLocks noGrp="1"/>
          </p:cNvSpPr>
          <p:nvPr>
            <p:ph type="title"/>
          </p:nvPr>
        </p:nvSpPr>
        <p:spPr>
          <a:xfrm>
            <a:off x="9321801" y="612843"/>
            <a:ext cx="2312480" cy="1499738"/>
          </a:xfrm>
        </p:spPr>
        <p:txBody>
          <a:bodyPr anchor="b">
            <a:normAutofit/>
          </a:bodyPr>
          <a:lstStyle/>
          <a:p>
            <a:r>
              <a:rPr lang="en-US" sz="2800"/>
              <a:t>2.Thay đổi form đăng ký đi công tác</a:t>
            </a:r>
            <a:endParaRPr lang="en-US" sz="2800" dirty="0"/>
          </a:p>
        </p:txBody>
      </p:sp>
      <p:sp>
        <p:nvSpPr>
          <p:cNvPr id="3" name="Content Placeholder 2">
            <a:extLst>
              <a:ext uri="{FF2B5EF4-FFF2-40B4-BE49-F238E27FC236}">
                <a16:creationId xmlns:a16="http://schemas.microsoft.com/office/drawing/2014/main" id="{6F7DC768-32B4-CDCF-5BB1-5EBD7E42090B}"/>
              </a:ext>
            </a:extLst>
          </p:cNvPr>
          <p:cNvSpPr>
            <a:spLocks noGrp="1"/>
          </p:cNvSpPr>
          <p:nvPr>
            <p:ph idx="1"/>
          </p:nvPr>
        </p:nvSpPr>
        <p:spPr>
          <a:xfrm>
            <a:off x="9321801" y="2149813"/>
            <a:ext cx="2312479" cy="3854197"/>
          </a:xfrm>
        </p:spPr>
        <p:txBody>
          <a:bodyPr>
            <a:normAutofit/>
          </a:bodyPr>
          <a:lstStyle/>
          <a:p>
            <a:pPr>
              <a:lnSpc>
                <a:spcPct val="100000"/>
              </a:lnSpc>
            </a:pPr>
            <a:r>
              <a:rPr lang="en-US" sz="1300" b="1">
                <a:solidFill>
                  <a:schemeClr val="tx1">
                    <a:lumMod val="85000"/>
                    <a:lumOff val="15000"/>
                  </a:schemeClr>
                </a:solidFill>
              </a:rPr>
              <a:t>Trong trường hợp form của bạn đã được duyệt, nhưng bạn chưa làm form báo cáo, bạn có thể sử dụng chức năng này để thay đổi, cấp nhật thêm thông tin, để làm báo cáo.</a:t>
            </a:r>
          </a:p>
          <a:p>
            <a:pPr>
              <a:lnSpc>
                <a:spcPct val="100000"/>
              </a:lnSpc>
            </a:pPr>
            <a:r>
              <a:rPr lang="en-US" sz="1300" b="1">
                <a:solidFill>
                  <a:schemeClr val="tx1">
                    <a:lumMod val="85000"/>
                    <a:lumOff val="15000"/>
                  </a:schemeClr>
                </a:solidFill>
              </a:rPr>
              <a:t>Bạn vào menu Electronice Document =&gt;Business Trip =&gt; Business Trip Change Document.</a:t>
            </a:r>
            <a:endParaRPr lang="en-US" sz="1400"/>
          </a:p>
          <a:p>
            <a:pPr>
              <a:lnSpc>
                <a:spcPct val="100000"/>
              </a:lnSpc>
            </a:pPr>
            <a:endParaRPr lang="en-US" sz="1300" dirty="0">
              <a:solidFill>
                <a:schemeClr val="tx1">
                  <a:lumMod val="85000"/>
                  <a:lumOff val="15000"/>
                </a:schemeClr>
              </a:solidFill>
            </a:endParaRPr>
          </a:p>
        </p:txBody>
      </p:sp>
      <p:pic>
        <p:nvPicPr>
          <p:cNvPr id="6" name="Picture 5">
            <a:extLst>
              <a:ext uri="{FF2B5EF4-FFF2-40B4-BE49-F238E27FC236}">
                <a16:creationId xmlns:a16="http://schemas.microsoft.com/office/drawing/2014/main" id="{9403BD32-D007-4AA2-E92A-D52C4B6B6686}"/>
              </a:ext>
            </a:extLst>
          </p:cNvPr>
          <p:cNvPicPr>
            <a:picLocks noChangeAspect="1"/>
          </p:cNvPicPr>
          <p:nvPr/>
        </p:nvPicPr>
        <p:blipFill>
          <a:blip r:embed="rId2"/>
          <a:stretch>
            <a:fillRect/>
          </a:stretch>
        </p:blipFill>
        <p:spPr>
          <a:xfrm>
            <a:off x="428625" y="695326"/>
            <a:ext cx="8893176" cy="5572124"/>
          </a:xfrm>
          <a:prstGeom prst="rect">
            <a:avLst/>
          </a:prstGeom>
        </p:spPr>
      </p:pic>
    </p:spTree>
    <p:extLst>
      <p:ext uri="{BB962C8B-B14F-4D97-AF65-F5344CB8AC3E}">
        <p14:creationId xmlns:p14="http://schemas.microsoft.com/office/powerpoint/2010/main" val="2188523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A5C1F-2AEC-E1B3-D36E-FAA7DF20F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7BDE7-21C4-A446-5168-8A9F1D087AB5}"/>
              </a:ext>
            </a:extLst>
          </p:cNvPr>
          <p:cNvSpPr>
            <a:spLocks noGrp="1"/>
          </p:cNvSpPr>
          <p:nvPr>
            <p:ph type="title"/>
          </p:nvPr>
        </p:nvSpPr>
        <p:spPr>
          <a:xfrm>
            <a:off x="6579450" y="727627"/>
            <a:ext cx="4957553" cy="1645920"/>
          </a:xfrm>
        </p:spPr>
        <p:txBody>
          <a:bodyPr>
            <a:normAutofit fontScale="90000"/>
          </a:bodyPr>
          <a:lstStyle/>
          <a:p>
            <a:r>
              <a:rPr lang="en-US"/>
              <a:t>2. Form thay đổi báo cáo khi đi công tác về.</a:t>
            </a:r>
            <a:endParaRPr lang="en-US" dirty="0"/>
          </a:p>
        </p:txBody>
      </p:sp>
      <p:sp>
        <p:nvSpPr>
          <p:cNvPr id="3" name="Content Placeholder 2">
            <a:extLst>
              <a:ext uri="{FF2B5EF4-FFF2-40B4-BE49-F238E27FC236}">
                <a16:creationId xmlns:a16="http://schemas.microsoft.com/office/drawing/2014/main" id="{D840003C-0C70-8DA8-7263-16A5AEF0DEF1}"/>
              </a:ext>
            </a:extLst>
          </p:cNvPr>
          <p:cNvSpPr>
            <a:spLocks noGrp="1"/>
          </p:cNvSpPr>
          <p:nvPr>
            <p:ph idx="1"/>
          </p:nvPr>
        </p:nvSpPr>
        <p:spPr>
          <a:xfrm>
            <a:off x="6579449" y="2148501"/>
            <a:ext cx="4957554" cy="3496120"/>
          </a:xfrm>
        </p:spPr>
        <p:txBody>
          <a:bodyPr>
            <a:normAutofit/>
          </a:bodyPr>
          <a:lstStyle/>
          <a:p>
            <a:r>
              <a:rPr lang="en-US"/>
              <a:t>Tương tự như các form ở trên, form này hình ảnh đầu tiên là bạn chọn đường line phê duyệt.</a:t>
            </a:r>
          </a:p>
          <a:p>
            <a:r>
              <a:rPr lang="en-US"/>
              <a:t>Tiếp theo hình ảnh thứ hai bạn có thể đặt tên cho form, sau đó nếu có file  đính kèm bạn có thể đính kèm, bạn cũng có thể chọn người làm hộ form.</a:t>
            </a:r>
          </a:p>
          <a:p>
            <a:r>
              <a:rPr lang="en-US"/>
              <a:t>Bạn cũng phải cần chọn loại form đi công tác là form trong nước, hay form nước ngoài.</a:t>
            </a:r>
            <a:endParaRPr lang="en-US" dirty="0"/>
          </a:p>
          <a:p>
            <a:endParaRPr lang="en-US" dirty="0"/>
          </a:p>
        </p:txBody>
      </p:sp>
      <p:pic>
        <p:nvPicPr>
          <p:cNvPr id="4" name="Picture 3">
            <a:extLst>
              <a:ext uri="{FF2B5EF4-FFF2-40B4-BE49-F238E27FC236}">
                <a16:creationId xmlns:a16="http://schemas.microsoft.com/office/drawing/2014/main" id="{874CE02F-922C-DC11-AEF4-C8EFE34547F9}"/>
              </a:ext>
            </a:extLst>
          </p:cNvPr>
          <p:cNvPicPr>
            <a:picLocks noChangeAspect="1"/>
          </p:cNvPicPr>
          <p:nvPr/>
        </p:nvPicPr>
        <p:blipFill>
          <a:blip r:embed="rId2"/>
          <a:stretch>
            <a:fillRect/>
          </a:stretch>
        </p:blipFill>
        <p:spPr>
          <a:xfrm>
            <a:off x="447676" y="409575"/>
            <a:ext cx="6131772" cy="2588284"/>
          </a:xfrm>
          <a:prstGeom prst="rect">
            <a:avLst/>
          </a:prstGeom>
        </p:spPr>
      </p:pic>
      <p:pic>
        <p:nvPicPr>
          <p:cNvPr id="6" name="Picture 5">
            <a:extLst>
              <a:ext uri="{FF2B5EF4-FFF2-40B4-BE49-F238E27FC236}">
                <a16:creationId xmlns:a16="http://schemas.microsoft.com/office/drawing/2014/main" id="{15C64343-1D6E-7A1F-5F11-38127F81FCAB}"/>
              </a:ext>
            </a:extLst>
          </p:cNvPr>
          <p:cNvPicPr>
            <a:picLocks noChangeAspect="1"/>
          </p:cNvPicPr>
          <p:nvPr/>
        </p:nvPicPr>
        <p:blipFill>
          <a:blip r:embed="rId3"/>
          <a:stretch>
            <a:fillRect/>
          </a:stretch>
        </p:blipFill>
        <p:spPr>
          <a:xfrm>
            <a:off x="447676" y="3164959"/>
            <a:ext cx="6131772" cy="1541707"/>
          </a:xfrm>
          <a:prstGeom prst="rect">
            <a:avLst/>
          </a:prstGeom>
        </p:spPr>
      </p:pic>
      <p:pic>
        <p:nvPicPr>
          <p:cNvPr id="7" name="Picture 6">
            <a:extLst>
              <a:ext uri="{FF2B5EF4-FFF2-40B4-BE49-F238E27FC236}">
                <a16:creationId xmlns:a16="http://schemas.microsoft.com/office/drawing/2014/main" id="{AE5244CD-CCEB-0451-FB70-219F39041121}"/>
              </a:ext>
            </a:extLst>
          </p:cNvPr>
          <p:cNvPicPr>
            <a:picLocks noChangeAspect="1"/>
          </p:cNvPicPr>
          <p:nvPr/>
        </p:nvPicPr>
        <p:blipFill>
          <a:blip r:embed="rId4"/>
          <a:stretch>
            <a:fillRect/>
          </a:stretch>
        </p:blipFill>
        <p:spPr>
          <a:xfrm>
            <a:off x="447676" y="4873767"/>
            <a:ext cx="6131772" cy="1541707"/>
          </a:xfrm>
          <a:prstGeom prst="rect">
            <a:avLst/>
          </a:prstGeom>
        </p:spPr>
      </p:pic>
    </p:spTree>
    <p:extLst>
      <p:ext uri="{BB962C8B-B14F-4D97-AF65-F5344CB8AC3E}">
        <p14:creationId xmlns:p14="http://schemas.microsoft.com/office/powerpoint/2010/main" val="949560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7D098-12EB-7216-E6B8-1568AFF95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D21CA-4F60-71CD-1FFF-A37B7D6CD64B}"/>
              </a:ext>
            </a:extLst>
          </p:cNvPr>
          <p:cNvSpPr>
            <a:spLocks noGrp="1"/>
          </p:cNvSpPr>
          <p:nvPr>
            <p:ph type="title"/>
          </p:nvPr>
        </p:nvSpPr>
        <p:spPr>
          <a:xfrm>
            <a:off x="6579450" y="727627"/>
            <a:ext cx="4957553" cy="1645920"/>
          </a:xfrm>
        </p:spPr>
        <p:txBody>
          <a:bodyPr>
            <a:normAutofit fontScale="90000"/>
          </a:bodyPr>
          <a:lstStyle/>
          <a:p>
            <a:r>
              <a:rPr lang="en-US"/>
              <a:t>2. Form thay đổi báo cáo khi đi công tác về.</a:t>
            </a:r>
            <a:endParaRPr lang="en-US" dirty="0"/>
          </a:p>
        </p:txBody>
      </p:sp>
      <p:sp>
        <p:nvSpPr>
          <p:cNvPr id="3" name="Content Placeholder 2">
            <a:extLst>
              <a:ext uri="{FF2B5EF4-FFF2-40B4-BE49-F238E27FC236}">
                <a16:creationId xmlns:a16="http://schemas.microsoft.com/office/drawing/2014/main" id="{254E659A-FF13-56DD-4CED-EE24ADF72C58}"/>
              </a:ext>
            </a:extLst>
          </p:cNvPr>
          <p:cNvSpPr>
            <a:spLocks noGrp="1"/>
          </p:cNvSpPr>
          <p:nvPr>
            <p:ph idx="1"/>
          </p:nvPr>
        </p:nvSpPr>
        <p:spPr>
          <a:xfrm>
            <a:off x="6579449" y="2148501"/>
            <a:ext cx="4957554" cy="3496120"/>
          </a:xfrm>
        </p:spPr>
        <p:txBody>
          <a:bodyPr>
            <a:normAutofit/>
          </a:bodyPr>
          <a:lstStyle/>
          <a:p>
            <a:r>
              <a:rPr lang="en-US"/>
              <a:t>Ở hình ảnh đâu tiên bạn có thể tìm kiếm các form đã được duyệt rồi như hình ảnh bên trai, khi bạn click nó sẽ mở ra cho bạn một giao diện, bạn chọn loại tài liệu cần tìm kiếm, sau khi chọn xong bạn kiểm tra, và nó sẽ hiển thị toàn bộ các dữ liệu các form mà bạn đã đang ký và được duyệt, tiếp đó bạn có thể chọn bất kỳ form nào để thay đổi, trước khi làm báo cáo.</a:t>
            </a:r>
            <a:endParaRPr lang="en-US" dirty="0"/>
          </a:p>
          <a:p>
            <a:endParaRPr lang="en-US" dirty="0"/>
          </a:p>
        </p:txBody>
      </p:sp>
      <p:pic>
        <p:nvPicPr>
          <p:cNvPr id="5" name="Picture 4">
            <a:extLst>
              <a:ext uri="{FF2B5EF4-FFF2-40B4-BE49-F238E27FC236}">
                <a16:creationId xmlns:a16="http://schemas.microsoft.com/office/drawing/2014/main" id="{77CF91E1-FAF6-05DB-EFA1-59A8E3DABC98}"/>
              </a:ext>
            </a:extLst>
          </p:cNvPr>
          <p:cNvPicPr>
            <a:picLocks noChangeAspect="1"/>
          </p:cNvPicPr>
          <p:nvPr/>
        </p:nvPicPr>
        <p:blipFill>
          <a:blip r:embed="rId2"/>
          <a:stretch>
            <a:fillRect/>
          </a:stretch>
        </p:blipFill>
        <p:spPr>
          <a:xfrm>
            <a:off x="428390" y="451272"/>
            <a:ext cx="6151057" cy="1922275"/>
          </a:xfrm>
          <a:prstGeom prst="rect">
            <a:avLst/>
          </a:prstGeom>
        </p:spPr>
      </p:pic>
      <p:pic>
        <p:nvPicPr>
          <p:cNvPr id="7" name="Picture 6">
            <a:extLst>
              <a:ext uri="{FF2B5EF4-FFF2-40B4-BE49-F238E27FC236}">
                <a16:creationId xmlns:a16="http://schemas.microsoft.com/office/drawing/2014/main" id="{E0BBEFB9-A7D1-5333-34FE-4A03BE58A522}"/>
              </a:ext>
            </a:extLst>
          </p:cNvPr>
          <p:cNvPicPr>
            <a:picLocks noChangeAspect="1"/>
          </p:cNvPicPr>
          <p:nvPr/>
        </p:nvPicPr>
        <p:blipFill>
          <a:blip r:embed="rId3"/>
          <a:stretch>
            <a:fillRect/>
          </a:stretch>
        </p:blipFill>
        <p:spPr>
          <a:xfrm>
            <a:off x="428391" y="2545289"/>
            <a:ext cx="6151056" cy="1958215"/>
          </a:xfrm>
          <a:prstGeom prst="rect">
            <a:avLst/>
          </a:prstGeom>
        </p:spPr>
      </p:pic>
      <p:pic>
        <p:nvPicPr>
          <p:cNvPr id="9" name="Picture 8">
            <a:extLst>
              <a:ext uri="{FF2B5EF4-FFF2-40B4-BE49-F238E27FC236}">
                <a16:creationId xmlns:a16="http://schemas.microsoft.com/office/drawing/2014/main" id="{E595C996-A62C-BA9F-CB34-0E9E72E9C742}"/>
              </a:ext>
            </a:extLst>
          </p:cNvPr>
          <p:cNvPicPr>
            <a:picLocks noChangeAspect="1"/>
          </p:cNvPicPr>
          <p:nvPr/>
        </p:nvPicPr>
        <p:blipFill>
          <a:blip r:embed="rId4"/>
          <a:stretch>
            <a:fillRect/>
          </a:stretch>
        </p:blipFill>
        <p:spPr>
          <a:xfrm>
            <a:off x="428390" y="4620255"/>
            <a:ext cx="6151056" cy="1786473"/>
          </a:xfrm>
          <a:prstGeom prst="rect">
            <a:avLst/>
          </a:prstGeom>
        </p:spPr>
      </p:pic>
    </p:spTree>
    <p:extLst>
      <p:ext uri="{BB962C8B-B14F-4D97-AF65-F5344CB8AC3E}">
        <p14:creationId xmlns:p14="http://schemas.microsoft.com/office/powerpoint/2010/main" val="3923613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36CD4-9033-1515-1E15-F47F97173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B5642-BC54-CC21-2149-397F587F03A5}"/>
              </a:ext>
            </a:extLst>
          </p:cNvPr>
          <p:cNvSpPr>
            <a:spLocks noGrp="1"/>
          </p:cNvSpPr>
          <p:nvPr>
            <p:ph type="title"/>
          </p:nvPr>
        </p:nvSpPr>
        <p:spPr>
          <a:xfrm>
            <a:off x="6579450" y="727627"/>
            <a:ext cx="4957553" cy="1645920"/>
          </a:xfrm>
        </p:spPr>
        <p:txBody>
          <a:bodyPr>
            <a:normAutofit fontScale="90000"/>
          </a:bodyPr>
          <a:lstStyle/>
          <a:p>
            <a:r>
              <a:rPr lang="en-US"/>
              <a:t>2. Form thay đổi báo cáo khi đi công tác về.</a:t>
            </a:r>
            <a:endParaRPr lang="en-US" dirty="0"/>
          </a:p>
        </p:txBody>
      </p:sp>
      <p:sp>
        <p:nvSpPr>
          <p:cNvPr id="3" name="Content Placeholder 2">
            <a:extLst>
              <a:ext uri="{FF2B5EF4-FFF2-40B4-BE49-F238E27FC236}">
                <a16:creationId xmlns:a16="http://schemas.microsoft.com/office/drawing/2014/main" id="{6943AFB4-3A82-4CDE-CA97-EC922EED4000}"/>
              </a:ext>
            </a:extLst>
          </p:cNvPr>
          <p:cNvSpPr>
            <a:spLocks noGrp="1"/>
          </p:cNvSpPr>
          <p:nvPr>
            <p:ph idx="1"/>
          </p:nvPr>
        </p:nvSpPr>
        <p:spPr>
          <a:xfrm>
            <a:off x="6579449" y="2148501"/>
            <a:ext cx="4957554" cy="3496120"/>
          </a:xfrm>
        </p:spPr>
        <p:txBody>
          <a:bodyPr>
            <a:normAutofit/>
          </a:bodyPr>
          <a:lstStyle/>
          <a:p>
            <a:r>
              <a:rPr lang="en-US"/>
              <a:t>Ở màn hình bên trái bạn sẽ thấy nút them người, ở đây bạn có thể thêm bất kỳ ai trong chuyến công tác và vẫn cần làm các bước như lúc bạn làm form đi công tác.</a:t>
            </a:r>
            <a:endParaRPr lang="en-US" dirty="0"/>
          </a:p>
          <a:p>
            <a:endParaRPr lang="en-US" dirty="0"/>
          </a:p>
        </p:txBody>
      </p:sp>
      <p:pic>
        <p:nvPicPr>
          <p:cNvPr id="5" name="Picture 4">
            <a:extLst>
              <a:ext uri="{FF2B5EF4-FFF2-40B4-BE49-F238E27FC236}">
                <a16:creationId xmlns:a16="http://schemas.microsoft.com/office/drawing/2014/main" id="{D75F41A2-9DB5-B59C-3F01-87F3DF7F2403}"/>
              </a:ext>
            </a:extLst>
          </p:cNvPr>
          <p:cNvPicPr>
            <a:picLocks noChangeAspect="1"/>
          </p:cNvPicPr>
          <p:nvPr/>
        </p:nvPicPr>
        <p:blipFill>
          <a:blip r:embed="rId2"/>
          <a:stretch>
            <a:fillRect/>
          </a:stretch>
        </p:blipFill>
        <p:spPr>
          <a:xfrm>
            <a:off x="424332" y="485670"/>
            <a:ext cx="5947893" cy="3105255"/>
          </a:xfrm>
          <a:prstGeom prst="rect">
            <a:avLst/>
          </a:prstGeom>
        </p:spPr>
      </p:pic>
      <p:pic>
        <p:nvPicPr>
          <p:cNvPr id="7" name="Picture 6">
            <a:extLst>
              <a:ext uri="{FF2B5EF4-FFF2-40B4-BE49-F238E27FC236}">
                <a16:creationId xmlns:a16="http://schemas.microsoft.com/office/drawing/2014/main" id="{6344C8A5-F189-0C0A-7A9B-4345A1BA9898}"/>
              </a:ext>
            </a:extLst>
          </p:cNvPr>
          <p:cNvPicPr>
            <a:picLocks noChangeAspect="1"/>
          </p:cNvPicPr>
          <p:nvPr/>
        </p:nvPicPr>
        <p:blipFill>
          <a:blip r:embed="rId3"/>
          <a:stretch>
            <a:fillRect/>
          </a:stretch>
        </p:blipFill>
        <p:spPr>
          <a:xfrm>
            <a:off x="424332" y="3772736"/>
            <a:ext cx="5947892" cy="2599594"/>
          </a:xfrm>
          <a:prstGeom prst="rect">
            <a:avLst/>
          </a:prstGeom>
        </p:spPr>
      </p:pic>
    </p:spTree>
    <p:extLst>
      <p:ext uri="{BB962C8B-B14F-4D97-AF65-F5344CB8AC3E}">
        <p14:creationId xmlns:p14="http://schemas.microsoft.com/office/powerpoint/2010/main" val="251477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2F3E-B27C-97EE-9845-4EF14524C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D0460-BEFB-5021-F485-4B619EE2A24A}"/>
              </a:ext>
            </a:extLst>
          </p:cNvPr>
          <p:cNvSpPr>
            <a:spLocks noGrp="1"/>
          </p:cNvSpPr>
          <p:nvPr>
            <p:ph type="title"/>
          </p:nvPr>
        </p:nvSpPr>
        <p:spPr>
          <a:xfrm>
            <a:off x="6579450" y="727627"/>
            <a:ext cx="4957553" cy="1645920"/>
          </a:xfrm>
        </p:spPr>
        <p:txBody>
          <a:bodyPr>
            <a:normAutofit/>
          </a:bodyPr>
          <a:lstStyle/>
          <a:p>
            <a:r>
              <a:rPr lang="en-US"/>
              <a:t>2.Form đăng ký đi công tác</a:t>
            </a:r>
            <a:endParaRPr lang="en-US" dirty="0"/>
          </a:p>
        </p:txBody>
      </p:sp>
      <p:sp>
        <p:nvSpPr>
          <p:cNvPr id="3" name="Content Placeholder 2">
            <a:extLst>
              <a:ext uri="{FF2B5EF4-FFF2-40B4-BE49-F238E27FC236}">
                <a16:creationId xmlns:a16="http://schemas.microsoft.com/office/drawing/2014/main" id="{EC43DEC3-93E8-5BC7-9885-D98F0FFFAE16}"/>
              </a:ext>
            </a:extLst>
          </p:cNvPr>
          <p:cNvSpPr>
            <a:spLocks noGrp="1"/>
          </p:cNvSpPr>
          <p:nvPr>
            <p:ph idx="1"/>
          </p:nvPr>
        </p:nvSpPr>
        <p:spPr>
          <a:xfrm>
            <a:off x="6579449" y="2148501"/>
            <a:ext cx="4957554" cy="3496120"/>
          </a:xfrm>
        </p:spPr>
        <p:txBody>
          <a:bodyPr>
            <a:normAutofit fontScale="92500"/>
          </a:bodyPr>
          <a:lstStyle/>
          <a:p>
            <a:r>
              <a:rPr lang="en-US"/>
              <a:t>Số 1: là tổng số tiền được trợ cấp theo chức vụ tiền trợ cấp tiêu chuẩn của nhân sự.</a:t>
            </a:r>
          </a:p>
          <a:p>
            <a:r>
              <a:rPr lang="en-US"/>
              <a:t>Số 2: Tiền ăn mỗi ngày theo tiêu chuẩn của nhân sự.</a:t>
            </a:r>
          </a:p>
          <a:p>
            <a:r>
              <a:rPr lang="en-US"/>
              <a:t>Số 3: chọn thời gian đi công tác từ ngày nào tới ngày nào.</a:t>
            </a:r>
          </a:p>
          <a:p>
            <a:r>
              <a:rPr lang="en-US"/>
              <a:t>Số 4: Ngày của hộ chiếu, thời hạn của hộ chiếu hoặc visa.</a:t>
            </a:r>
          </a:p>
          <a:p>
            <a:r>
              <a:rPr lang="en-US"/>
              <a:t>Số 5: là nhập tổng số bữa ăn trên tổng ngày đi công tác.</a:t>
            </a:r>
          </a:p>
          <a:p>
            <a:r>
              <a:rPr lang="en-US"/>
              <a:t>Số 6: là hiển thị tổng số tiền chung của mọi người đi công tác trong form đó.</a:t>
            </a:r>
            <a:endParaRPr lang="en-US" dirty="0"/>
          </a:p>
          <a:p>
            <a:endParaRPr lang="en-US" dirty="0"/>
          </a:p>
        </p:txBody>
      </p:sp>
      <p:pic>
        <p:nvPicPr>
          <p:cNvPr id="5" name="Picture 4">
            <a:extLst>
              <a:ext uri="{FF2B5EF4-FFF2-40B4-BE49-F238E27FC236}">
                <a16:creationId xmlns:a16="http://schemas.microsoft.com/office/drawing/2014/main" id="{F6170B8F-F5B0-EE77-E8DC-E5A4F9877B97}"/>
              </a:ext>
            </a:extLst>
          </p:cNvPr>
          <p:cNvPicPr>
            <a:picLocks noChangeAspect="1"/>
          </p:cNvPicPr>
          <p:nvPr/>
        </p:nvPicPr>
        <p:blipFill>
          <a:blip r:embed="rId2"/>
          <a:stretch>
            <a:fillRect/>
          </a:stretch>
        </p:blipFill>
        <p:spPr>
          <a:xfrm>
            <a:off x="403123" y="453780"/>
            <a:ext cx="6176325" cy="5956852"/>
          </a:xfrm>
          <a:prstGeom prst="rect">
            <a:avLst/>
          </a:prstGeom>
        </p:spPr>
      </p:pic>
    </p:spTree>
    <p:extLst>
      <p:ext uri="{BB962C8B-B14F-4D97-AF65-F5344CB8AC3E}">
        <p14:creationId xmlns:p14="http://schemas.microsoft.com/office/powerpoint/2010/main" val="2496943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89771-E970-786B-90B1-D5E9756F2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6A8D5-5B8E-40E7-1775-E23BFA2E6625}"/>
              </a:ext>
            </a:extLst>
          </p:cNvPr>
          <p:cNvSpPr>
            <a:spLocks noGrp="1"/>
          </p:cNvSpPr>
          <p:nvPr>
            <p:ph type="title"/>
          </p:nvPr>
        </p:nvSpPr>
        <p:spPr>
          <a:xfrm>
            <a:off x="6579450" y="727627"/>
            <a:ext cx="4957553" cy="1645920"/>
          </a:xfrm>
        </p:spPr>
        <p:txBody>
          <a:bodyPr>
            <a:normAutofit/>
          </a:bodyPr>
          <a:lstStyle/>
          <a:p>
            <a:r>
              <a:rPr lang="en-US"/>
              <a:t>2. Form báo cáo khi đi công tác về.</a:t>
            </a:r>
            <a:endParaRPr lang="en-US" dirty="0"/>
          </a:p>
        </p:txBody>
      </p:sp>
      <p:sp>
        <p:nvSpPr>
          <p:cNvPr id="3" name="Content Placeholder 2">
            <a:extLst>
              <a:ext uri="{FF2B5EF4-FFF2-40B4-BE49-F238E27FC236}">
                <a16:creationId xmlns:a16="http://schemas.microsoft.com/office/drawing/2014/main" id="{1752CB83-D0F0-1004-26B5-48E77CBF2AE4}"/>
              </a:ext>
            </a:extLst>
          </p:cNvPr>
          <p:cNvSpPr>
            <a:spLocks noGrp="1"/>
          </p:cNvSpPr>
          <p:nvPr>
            <p:ph idx="1"/>
          </p:nvPr>
        </p:nvSpPr>
        <p:spPr>
          <a:xfrm>
            <a:off x="6579449" y="2148501"/>
            <a:ext cx="4957554" cy="3496120"/>
          </a:xfrm>
        </p:spPr>
        <p:txBody>
          <a:bodyPr>
            <a:normAutofit/>
          </a:bodyPr>
          <a:lstStyle/>
          <a:p>
            <a:r>
              <a:rPr lang="en-US"/>
              <a:t>Đây là phần bạn miêu tả nội dung. Trong phần này bạn có thể đưa các video vào, hình ảnh, cũng như, các loại font chữ, đồng, thời bạn cũng có thể tạo các bảng , bạn cũng có thể thêm các link vào trực tiếp nội dung.</a:t>
            </a:r>
          </a:p>
          <a:p>
            <a:r>
              <a:rPr lang="en-US"/>
              <a:t>Ngoài ra bạn cũng có thể chọn ngày cần thanh toán, và chọn chi phí này sẽ được tính vào phòng ban nào</a:t>
            </a:r>
            <a:endParaRPr lang="en-US" dirty="0"/>
          </a:p>
          <a:p>
            <a:endParaRPr lang="en-US" dirty="0"/>
          </a:p>
        </p:txBody>
      </p:sp>
      <p:pic>
        <p:nvPicPr>
          <p:cNvPr id="5" name="Picture 4">
            <a:extLst>
              <a:ext uri="{FF2B5EF4-FFF2-40B4-BE49-F238E27FC236}">
                <a16:creationId xmlns:a16="http://schemas.microsoft.com/office/drawing/2014/main" id="{BFFFC29C-6517-A78F-1265-BC7DB7C6FE63}"/>
              </a:ext>
            </a:extLst>
          </p:cNvPr>
          <p:cNvPicPr>
            <a:picLocks noChangeAspect="1"/>
          </p:cNvPicPr>
          <p:nvPr/>
        </p:nvPicPr>
        <p:blipFill>
          <a:blip r:embed="rId2"/>
          <a:stretch>
            <a:fillRect/>
          </a:stretch>
        </p:blipFill>
        <p:spPr>
          <a:xfrm>
            <a:off x="437037" y="4825412"/>
            <a:ext cx="6142412" cy="1362111"/>
          </a:xfrm>
          <a:prstGeom prst="rect">
            <a:avLst/>
          </a:prstGeom>
        </p:spPr>
      </p:pic>
      <p:pic>
        <p:nvPicPr>
          <p:cNvPr id="7" name="Picture 6">
            <a:extLst>
              <a:ext uri="{FF2B5EF4-FFF2-40B4-BE49-F238E27FC236}">
                <a16:creationId xmlns:a16="http://schemas.microsoft.com/office/drawing/2014/main" id="{6A24E95F-61EF-31AC-63FC-D10871E24CD0}"/>
              </a:ext>
            </a:extLst>
          </p:cNvPr>
          <p:cNvPicPr>
            <a:picLocks noChangeAspect="1"/>
          </p:cNvPicPr>
          <p:nvPr/>
        </p:nvPicPr>
        <p:blipFill>
          <a:blip r:embed="rId3"/>
          <a:stretch>
            <a:fillRect/>
          </a:stretch>
        </p:blipFill>
        <p:spPr>
          <a:xfrm>
            <a:off x="437038" y="384759"/>
            <a:ext cx="6142412" cy="2063766"/>
          </a:xfrm>
          <a:prstGeom prst="rect">
            <a:avLst/>
          </a:prstGeom>
        </p:spPr>
      </p:pic>
      <p:pic>
        <p:nvPicPr>
          <p:cNvPr id="9" name="Picture 8">
            <a:extLst>
              <a:ext uri="{FF2B5EF4-FFF2-40B4-BE49-F238E27FC236}">
                <a16:creationId xmlns:a16="http://schemas.microsoft.com/office/drawing/2014/main" id="{2192011E-2CA2-413D-12F4-486DB967543A}"/>
              </a:ext>
            </a:extLst>
          </p:cNvPr>
          <p:cNvPicPr>
            <a:picLocks noChangeAspect="1"/>
          </p:cNvPicPr>
          <p:nvPr/>
        </p:nvPicPr>
        <p:blipFill>
          <a:blip r:embed="rId4"/>
          <a:stretch>
            <a:fillRect/>
          </a:stretch>
        </p:blipFill>
        <p:spPr>
          <a:xfrm>
            <a:off x="437037" y="2645368"/>
            <a:ext cx="6142412" cy="1983201"/>
          </a:xfrm>
          <a:prstGeom prst="rect">
            <a:avLst/>
          </a:prstGeom>
        </p:spPr>
      </p:pic>
    </p:spTree>
    <p:extLst>
      <p:ext uri="{BB962C8B-B14F-4D97-AF65-F5344CB8AC3E}">
        <p14:creationId xmlns:p14="http://schemas.microsoft.com/office/powerpoint/2010/main" val="1556516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endParaRPr lang="en-US"/>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4726</TotalTime>
  <Words>2140</Words>
  <Application>Microsoft Office PowerPoint</Application>
  <PresentationFormat>Widescreen</PresentationFormat>
  <Paragraphs>115</Paragraphs>
  <Slides>30</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Garamond</vt:lpstr>
      <vt:lpstr>Goudy Old Style</vt:lpstr>
      <vt:lpstr>Times New Roman</vt:lpstr>
      <vt:lpstr>SavonVTI</vt:lpstr>
      <vt:lpstr>Hướng dẫn sử dụng chức năng SBC trên hệ thống Groupware</vt:lpstr>
      <vt:lpstr>1.Đăng nhập hệ thống Groupware</vt:lpstr>
      <vt:lpstr>2.Thông tin đăng nhập vào Groupware</vt:lpstr>
      <vt:lpstr>2.Form đăng đi công tác.</vt:lpstr>
      <vt:lpstr>Form đăng ký đi công tác.</vt:lpstr>
      <vt:lpstr>2.Form đăng ký đi công tác</vt:lpstr>
      <vt:lpstr>2.Form đăng ký đi công tác.</vt:lpstr>
      <vt:lpstr>Form đăng ký đi công tác.</vt:lpstr>
      <vt:lpstr>Form đăng ký đi công tác</vt:lpstr>
      <vt:lpstr>2.Form đăng ký đi công tác</vt:lpstr>
      <vt:lpstr>2.Form đăng ký đi công tác</vt:lpstr>
      <vt:lpstr>2.Form đăng ký đi công tác</vt:lpstr>
      <vt:lpstr>2.Form đăng ký đi công tác</vt:lpstr>
      <vt:lpstr>2.Form đăng ký đi công tác</vt:lpstr>
      <vt:lpstr>2.Form đăng ký đi công tác</vt:lpstr>
      <vt:lpstr>PowerPoint Presentation</vt:lpstr>
      <vt:lpstr>2.Form báo cáo khi đi công tác về.</vt:lpstr>
      <vt:lpstr>2. Form báo cáo khi đi công tác về.</vt:lpstr>
      <vt:lpstr>2. Form báo cáo khi đi công tác về.</vt:lpstr>
      <vt:lpstr>Form báo cáo khi đi công tác về.</vt:lpstr>
      <vt:lpstr>2. Form báo cáo khi đi công tác về.</vt:lpstr>
      <vt:lpstr>2. Form báo cáo khi đi công tác về.</vt:lpstr>
      <vt:lpstr>PowerPoint Presentation</vt:lpstr>
      <vt:lpstr>2.Thay đổi form đăng ký đi công tác</vt:lpstr>
      <vt:lpstr>2. Form thay đổi báo cáo khi đi công tác về.</vt:lpstr>
      <vt:lpstr>2. Form thay đổi báo cáo khi đi công tác về.</vt:lpstr>
      <vt:lpstr>2. Form thay đổi báo cáo khi đi công tác về.</vt:lpstr>
      <vt:lpstr>2.Form đăng ký đi công tác</vt:lpstr>
      <vt:lpstr>2. Form báo cáo khi đi công tác về.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Vina Tech06</cp:lastModifiedBy>
  <cp:revision>132</cp:revision>
  <dcterms:created xsi:type="dcterms:W3CDTF">2022-04-13T01:56:23Z</dcterms:created>
  <dcterms:modified xsi:type="dcterms:W3CDTF">2025-01-06T03:15:18Z</dcterms:modified>
</cp:coreProperties>
</file>