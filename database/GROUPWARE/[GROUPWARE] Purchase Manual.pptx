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1234" r:id="rId2"/>
    <p:sldId id="642" r:id="rId3"/>
    <p:sldId id="1235" r:id="rId4"/>
    <p:sldId id="643" r:id="rId5"/>
    <p:sldId id="644" r:id="rId6"/>
    <p:sldId id="645" r:id="rId7"/>
    <p:sldId id="646" r:id="rId8"/>
    <p:sldId id="647" r:id="rId9"/>
    <p:sldId id="648" r:id="rId10"/>
    <p:sldId id="649" r:id="rId11"/>
    <p:sldId id="650" r:id="rId12"/>
    <p:sldId id="651" r:id="rId13"/>
    <p:sldId id="652" r:id="rId14"/>
    <p:sldId id="653" r:id="rId15"/>
    <p:sldId id="654" r:id="rId16"/>
    <p:sldId id="659" r:id="rId17"/>
    <p:sldId id="661" r:id="rId18"/>
    <p:sldId id="660" r:id="rId19"/>
    <p:sldId id="662" r:id="rId20"/>
    <p:sldId id="663" r:id="rId21"/>
    <p:sldId id="658" r:id="rId22"/>
    <p:sldId id="655" r:id="rId23"/>
    <p:sldId id="657" r:id="rId24"/>
    <p:sldId id="656" r:id="rId25"/>
    <p:sldId id="665" r:id="rId26"/>
    <p:sldId id="664" r:id="rId27"/>
    <p:sldId id="666" r:id="rId28"/>
  </p:sldIdLst>
  <p:sldSz cx="9144000" cy="6858000" type="screen4x3"/>
  <p:notesSz cx="6797675" cy="9926638"/>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14">
          <p15:clr>
            <a:srgbClr val="A4A3A4"/>
          </p15:clr>
        </p15:guide>
        <p15:guide id="2" pos="9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hmgBabTVjYgljl/YpeSWaUKkA/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4E79"/>
    <a:srgbClr val="006600"/>
    <a:srgbClr val="7AAC57"/>
    <a:srgbClr val="F7F7F7"/>
    <a:srgbClr val="0000FF"/>
    <a:srgbClr val="496176"/>
    <a:srgbClr val="E6ECA6"/>
    <a:srgbClr val="CC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252A743-B17F-4D31-AFF4-C2BEFB2EC5D0}">
  <a:tblStyle styleId="{1252A743-B17F-4D31-AFF4-C2BEFB2EC5D0}"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C083E6E3-FA7D-4D7B-A595-EF9225AFEA82}" styleName="밝은 스타일 1 - 강조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15" autoAdjust="0"/>
    <p:restoredTop sz="96230" autoAdjust="0"/>
  </p:normalViewPr>
  <p:slideViewPr>
    <p:cSldViewPr snapToGrid="0">
      <p:cViewPr varScale="1">
        <p:scale>
          <a:sx n="110" d="100"/>
          <a:sy n="110" d="100"/>
        </p:scale>
        <p:origin x="2124" y="114"/>
      </p:cViewPr>
      <p:guideLst>
        <p:guide orient="horz" pos="414"/>
        <p:guide pos="9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customschemas.google.com/relationships/presentationmetadata" Target="meta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5766" cy="497047"/>
          </a:xfrm>
          <a:prstGeom prst="rect">
            <a:avLst/>
          </a:prstGeom>
          <a:noFill/>
          <a:ln>
            <a:noFill/>
          </a:ln>
        </p:spPr>
        <p:txBody>
          <a:bodyPr spcFirstLastPara="1" wrap="square" lIns="91475" tIns="45750" rIns="91475" bIns="4575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algun Gothic"/>
                <a:ea typeface="Malgun Gothic"/>
                <a:cs typeface="Malgun Gothic"/>
                <a:sym typeface="Malgun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4" name="Google Shape;4;n"/>
          <p:cNvSpPr txBox="1">
            <a:spLocks noGrp="1"/>
          </p:cNvSpPr>
          <p:nvPr>
            <p:ph type="dt" idx="10"/>
          </p:nvPr>
        </p:nvSpPr>
        <p:spPr>
          <a:xfrm>
            <a:off x="3850320" y="0"/>
            <a:ext cx="2945766" cy="497047"/>
          </a:xfrm>
          <a:prstGeom prst="rect">
            <a:avLst/>
          </a:prstGeom>
          <a:noFill/>
          <a:ln>
            <a:noFill/>
          </a:ln>
        </p:spPr>
        <p:txBody>
          <a:bodyPr spcFirstLastPara="1" wrap="square" lIns="91475" tIns="45750" rIns="91475" bIns="4575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algun Gothic"/>
                <a:ea typeface="Malgun Gothic"/>
                <a:cs typeface="Malgun Gothic"/>
                <a:sym typeface="Malgun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5" name="Google Shape;5;n"/>
          <p:cNvSpPr>
            <a:spLocks noGrp="1" noRot="1" noChangeAspect="1"/>
          </p:cNvSpPr>
          <p:nvPr>
            <p:ph type="sldImg" idx="3"/>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0404" y="4714797"/>
            <a:ext cx="5436868" cy="4467066"/>
          </a:xfrm>
          <a:prstGeom prst="rect">
            <a:avLst/>
          </a:prstGeom>
          <a:noFill/>
          <a:ln>
            <a:noFill/>
          </a:ln>
        </p:spPr>
        <p:txBody>
          <a:bodyPr spcFirstLastPara="1" wrap="square" lIns="91475" tIns="45750" rIns="91475" bIns="4575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algun Gothic"/>
                <a:ea typeface="Malgun Gothic"/>
                <a:cs typeface="Malgun Gothic"/>
                <a:sym typeface="Malgun Gothic"/>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algun Gothic"/>
                <a:ea typeface="Malgun Gothic"/>
                <a:cs typeface="Malgun Gothic"/>
                <a:sym typeface="Malgun Gothic"/>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algun Gothic"/>
                <a:ea typeface="Malgun Gothic"/>
                <a:cs typeface="Malgun Gothic"/>
                <a:sym typeface="Malgun Gothic"/>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algun Gothic"/>
                <a:ea typeface="Malgun Gothic"/>
                <a:cs typeface="Malgun Gothic"/>
                <a:sym typeface="Malgun Gothic"/>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algun Gothic"/>
                <a:ea typeface="Malgun Gothic"/>
                <a:cs typeface="Malgun Gothic"/>
                <a:sym typeface="Malgun Gothic"/>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algun Gothic"/>
                <a:ea typeface="Malgun Gothic"/>
                <a:cs typeface="Malgun Gothic"/>
                <a:sym typeface="Malgun Gothic"/>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algun Gothic"/>
                <a:ea typeface="Malgun Gothic"/>
                <a:cs typeface="Malgun Gothic"/>
                <a:sym typeface="Malgun Gothic"/>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algun Gothic"/>
                <a:ea typeface="Malgun Gothic"/>
                <a:cs typeface="Malgun Gothic"/>
                <a:sym typeface="Malgun Gothic"/>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algun Gothic"/>
                <a:ea typeface="Malgun Gothic"/>
                <a:cs typeface="Malgun Gothic"/>
                <a:sym typeface="Malgun Gothic"/>
              </a:defRPr>
            </a:lvl9pPr>
          </a:lstStyle>
          <a:p>
            <a:endParaRPr/>
          </a:p>
        </p:txBody>
      </p:sp>
      <p:sp>
        <p:nvSpPr>
          <p:cNvPr id="7" name="Google Shape;7;n"/>
          <p:cNvSpPr txBox="1">
            <a:spLocks noGrp="1"/>
          </p:cNvSpPr>
          <p:nvPr>
            <p:ph type="ftr" idx="11"/>
          </p:nvPr>
        </p:nvSpPr>
        <p:spPr>
          <a:xfrm>
            <a:off x="0" y="9428004"/>
            <a:ext cx="2945766" cy="497046"/>
          </a:xfrm>
          <a:prstGeom prst="rect">
            <a:avLst/>
          </a:prstGeom>
          <a:noFill/>
          <a:ln>
            <a:noFill/>
          </a:ln>
        </p:spPr>
        <p:txBody>
          <a:bodyPr spcFirstLastPara="1" wrap="square" lIns="91475" tIns="45750" rIns="91475" bIns="4575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algun Gothic"/>
                <a:ea typeface="Malgun Gothic"/>
                <a:cs typeface="Malgun Gothic"/>
                <a:sym typeface="Malgun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8" name="Google Shape;8;n"/>
          <p:cNvSpPr txBox="1">
            <a:spLocks noGrp="1"/>
          </p:cNvSpPr>
          <p:nvPr>
            <p:ph type="sldNum" idx="12"/>
          </p:nvPr>
        </p:nvSpPr>
        <p:spPr>
          <a:xfrm>
            <a:off x="3850320" y="9428004"/>
            <a:ext cx="2945766" cy="497046"/>
          </a:xfrm>
          <a:prstGeom prst="rect">
            <a:avLst/>
          </a:prstGeom>
          <a:noFill/>
          <a:ln>
            <a:noFill/>
          </a:ln>
        </p:spPr>
        <p:txBody>
          <a:bodyPr spcFirstLastPara="1" wrap="square" lIns="91475" tIns="45750" rIns="91475" bIns="457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ko-KR" sz="1200" b="0" i="0" u="none" strike="noStrike" cap="none">
                <a:solidFill>
                  <a:schemeClr val="dk1"/>
                </a:solidFill>
                <a:latin typeface="Malgun Gothic"/>
                <a:ea typeface="Malgun Gothic"/>
                <a:cs typeface="Malgun Gothic"/>
                <a:sym typeface="Malgun Gothic"/>
              </a:rPr>
              <a:t>‹#›</a:t>
            </a:fld>
            <a:endParaRPr sz="1200" b="0" i="0" u="none" strike="noStrike" cap="none">
              <a:solidFill>
                <a:schemeClr val="dk1"/>
              </a:solidFill>
              <a:latin typeface="Malgun Gothic"/>
              <a:ea typeface="Malgun Gothic"/>
              <a:cs typeface="Malgun Gothic"/>
              <a:sym typeface="Malgun Gothic"/>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87DC3D76-EF40-464B-84F7-0B954BD4C6FE}" type="slidenum">
              <a:rPr lang="ko-KR" altLang="en-US" smtClean="0"/>
              <a:pPr/>
              <a:t>1</a:t>
            </a:fld>
            <a:endParaRPr lang="ko-KR" altLang="en-US"/>
          </a:p>
        </p:txBody>
      </p:sp>
    </p:spTree>
    <p:extLst>
      <p:ext uri="{BB962C8B-B14F-4D97-AF65-F5344CB8AC3E}">
        <p14:creationId xmlns:p14="http://schemas.microsoft.com/office/powerpoint/2010/main" val="2616137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2</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706216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F569D-B50A-016A-9850-11F84B104EB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7F71978-87B9-ABED-AD7C-7A9ECCAEF6E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E3CF7BC-C1C7-9F47-82F2-A9C7756C9B71}"/>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5B5FA328-305D-F7FE-5F42-660B663A2C8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3</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20794745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29A35-29BD-2163-7A0B-226E44D4A57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9632B70-ADF6-7592-AE74-BF86821A7FD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AEFE8AA-1445-DF25-8CEC-33CD8EC5B69B}"/>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025FE414-F961-D1DE-D400-F53273B419F1}"/>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4</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737065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5741C-8142-F545-2925-4998FB92F58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81C2F5E-6FE2-13AD-C576-E5341682AEA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FC82EF1-B6EE-2085-0AE6-67F301E8D9A3}"/>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0720BA0F-FDCE-18C2-16F8-95CB8E0F639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5</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307327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E7FB0-3A81-BF0B-CC79-22361AB46DC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42F4787-F2F4-08D8-B72A-D72BAD80ECD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F24C652-0B09-02DE-26EC-6ED59D86AB59}"/>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ED408F5A-E34E-601C-FE6D-2281D2E56838}"/>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6</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2096555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3B08F-FE11-65E2-0FE9-EBBC3D09826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33ACBEF-4795-1320-6EF7-DB56B73263E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AC911F9-F509-A241-019E-F7CB73140453}"/>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52EF2C87-4FF7-8919-D120-D962E0D8B22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7</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4684106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DC35A-9FD7-3965-6677-2D272986433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6CC8272-0738-81C5-7B82-3AB58415426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406E081-88D6-329B-0553-FFC451634866}"/>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8B02435A-CC5F-5969-A4D1-E044F4E2FADF}"/>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8</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1766241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F7031-5F10-5D00-C2CB-DCB90FADF12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C40DFAD-6C56-9AA9-91A3-CB50D59E21A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73B4877-8C4B-8245-1189-092722A450FC}"/>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1A65D4C1-7BD4-CEEF-1B29-D7F2F3D1560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9</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39331247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EDA1F-DF09-2231-08D7-E6A618F3D5F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A510B12-7D2E-C329-7A40-691193F87EC3}"/>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28AFB1A-8A77-41F1-DE36-DDD69E2EA338}"/>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F32BF54D-A462-A464-A3E1-BF75DD1955DA}"/>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10</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1085754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9C8CD-BBC5-AF17-025A-B72D00B0B7F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E8D8EB9-6341-ED9D-9E22-EBC4BA5D040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EE65F05-7B2E-9651-2DDC-853C54D92535}"/>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FFB90E31-1384-65BA-4E77-A94E08E5C4F1}"/>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11</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37191008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7F150-5A35-9A93-368C-225081F709A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8D97264-6FD3-6B69-A426-E076045F235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A624538-6F95-30A3-22F8-7A8DCDD8D60C}"/>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2FA792A5-3544-A2D7-0AAF-9B0AE83AF829}"/>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12</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14855340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8AE12-174E-2AAA-12C0-E3ADA046CF0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E803E54-516E-83EB-BE46-3667C6AD004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6E2E22A-1A79-66F1-40DB-D1ACB01A3047}"/>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9ACB602E-9933-3F83-33C6-E10864E6757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13</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14531485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5C688-CEF4-1783-D309-2225528E9B0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B3C8D6F-52C7-6CA1-B897-F306C157E59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FF30676-D21C-0543-2AC4-0D1F9E4111C9}"/>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EBCA48AE-C76E-AD1A-521B-DEDCB83D4A94}"/>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14</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21041247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DA210-2668-C855-27B4-3D926C48A55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F79DC95-CC20-063C-F2B4-B2DF74165AF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9A2FB11-4440-BCD7-EB95-E5D1DFA4079E}"/>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56C38A45-1170-C2BD-80D3-AED9507AEDB1}"/>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15</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36642468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89C9D-C34D-1B7D-1889-418E2D08BA5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59788FB-98CF-182D-7AD3-1835A771905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3F32472-B04C-4F9B-D235-7B182067DEFE}"/>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9C9C688B-37D1-DB26-08F0-F17691AD7960}"/>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16</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37419415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A1CBE-744D-AEFC-E532-4E2BAAED8BD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10C9972-2827-DAD6-C822-CD2EE91139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CC2CDDD-BC80-7DF8-A1FB-F9BA8001DBA9}"/>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58BCEA2F-427A-5E61-F0FF-DD945CB6D086}"/>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17</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27025527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36ECB-FBBC-3CDF-3DF5-002F5E099C8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6164D1A-375F-C7CC-632A-710F8F37D0E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5987DC9-0CAB-BC54-2D5F-18B3A138BD8D}"/>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954F0714-9BA6-020A-913D-E8E92A9ED34B}"/>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18</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29685173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70891-780A-13AF-5DB6-6579CBCC7CF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81D28B2-FD29-2E51-D6D4-3B86C493633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7B85D0B-E919-31C8-5544-035EEE7C5D82}"/>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54A49C8C-681E-7432-CC1A-C16F749D35DB}"/>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19</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367770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EAE61-97F0-CB53-8748-C55F8618AC7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714337B-4DD8-2D30-1399-BD04CF3176E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A627ABA-043B-0889-84BC-C6CCB40311D1}"/>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6F6A9261-1180-BF89-EC46-C627D9C15380}"/>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20</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27144409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2A567-E3CA-ECEE-2D23-0C4CB45A7BF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2E6E665-699D-9BD7-13E0-AE2C883F6B8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110BFB0-1209-2847-D2AE-5364E1703012}"/>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F9365ABF-811B-7F0B-C1A0-E48F4307004A}"/>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21</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35256130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B68E3-5F42-9CC1-0508-2830CD73A18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A66CF03-5E53-4EE6-DAB3-D9C4820A054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DE36997-7F04-FE53-6EC1-0A5158811F8D}"/>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7A89D529-4F78-DB12-680B-C90993B9DBAA}"/>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22</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7888766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04218-52D3-E42F-3F98-DEA5948913A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E35D042-271B-BFBA-3FD2-06B9E3A8B20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5FCB454-F706-4169-9FBA-38D8966DCBEE}"/>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45557DC8-A2A6-CC9B-3E49-BA3E20504BB6}"/>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23</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10968378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60D73-60B3-931B-2330-95D77F7C311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D1BF316-B8FD-7B3E-8A24-B22565949A6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056499F-DE7F-7FE7-1123-FD4D78794B45}"/>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95B26892-24B4-C5F3-2E69-5FFE834037D9}"/>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24</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561639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34457-DF16-BC82-F61C-195CE23F26D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0D32A1B-6924-F8D0-988E-2A4D799FEDD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5EAEAD4-2803-5429-1EC3-AED034E36A63}"/>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6DD78D2A-560C-FC02-1985-17E5340BF5D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25</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23232457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ADFC1-E280-605F-C27E-DCFF85F3CAB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5730FCF-FB98-734C-0CD5-8F607FE82B1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DC42A37-6C56-312F-9535-661802A31293}"/>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3186A2B5-3E77-1666-F9C9-48913A672C95}"/>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26</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37509506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908B9-024E-6035-993E-7FBED25097B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7D9814D-011D-1147-F688-0CF5C835559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8A56B03-DFAE-E155-0440-D4CF4CD3BB69}"/>
              </a:ext>
            </a:extLst>
          </p:cNvPr>
          <p:cNvSpPr>
            <a:spLocks noGrp="1"/>
          </p:cNvSpPr>
          <p:nvPr>
            <p:ph type="body" idx="1"/>
          </p:nvPr>
        </p:nvSpPr>
        <p:spPr/>
        <p:txBody>
          <a:bodyPr/>
          <a:lstStyle/>
          <a:p>
            <a:r>
              <a:rPr lang="en-US" altLang="ko-KR" dirty="0"/>
              <a:t>Bosch : </a:t>
            </a:r>
            <a:r>
              <a:rPr lang="ko-KR" altLang="en-US" dirty="0" err="1"/>
              <a:t>스텔란티스</a:t>
            </a:r>
            <a:r>
              <a:rPr lang="en-US" altLang="ko-KR" dirty="0"/>
              <a:t>, 3</a:t>
            </a:r>
            <a:r>
              <a:rPr lang="ko-KR" altLang="en-US" dirty="0"/>
              <a:t>월</a:t>
            </a:r>
            <a:r>
              <a:rPr lang="en-US" altLang="ko-KR" dirty="0"/>
              <a:t>3-4</a:t>
            </a:r>
            <a:r>
              <a:rPr lang="ko-KR" altLang="en-US" dirty="0"/>
              <a:t>주</a:t>
            </a:r>
            <a:r>
              <a:rPr lang="en-US" altLang="ko-KR" dirty="0"/>
              <a:t>, 5</a:t>
            </a:r>
            <a:r>
              <a:rPr lang="ko-KR" altLang="en-US" dirty="0"/>
              <a:t>월말</a:t>
            </a:r>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794BA784-F8CD-E162-7557-40F20F31DB8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ko-KR" sz="1200" b="0" i="0" u="none" strike="noStrike" cap="none" smtClean="0">
                <a:solidFill>
                  <a:schemeClr val="dk1"/>
                </a:solidFill>
                <a:latin typeface="Malgun Gothic"/>
                <a:ea typeface="Malgun Gothic"/>
                <a:cs typeface="Malgun Gothic"/>
                <a:sym typeface="Malgun Gothic"/>
              </a:rPr>
              <a:t>27</a:t>
            </a:fld>
            <a:endParaRPr lang="ko-KR" alt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22307615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제목 및 내용" type="obj">
  <p:cSld name="OBJECT">
    <p:spTree>
      <p:nvGrpSpPr>
        <p:cNvPr id="1" name="Shape 15"/>
        <p:cNvGrpSpPr/>
        <p:nvPr/>
      </p:nvGrpSpPr>
      <p:grpSpPr>
        <a:xfrm>
          <a:off x="0" y="0"/>
          <a:ext cx="0" cy="0"/>
          <a:chOff x="0" y="0"/>
          <a:chExt cx="0" cy="0"/>
        </a:xfrm>
      </p:grpSpPr>
      <p:sp>
        <p:nvSpPr>
          <p:cNvPr id="16" name="Google Shape;16;p6"/>
          <p:cNvSpPr txBox="1">
            <a:spLocks noGrp="1"/>
          </p:cNvSpPr>
          <p:nvPr>
            <p:ph type="title"/>
          </p:nvPr>
        </p:nvSpPr>
        <p:spPr>
          <a:xfrm>
            <a:off x="0" y="71414"/>
            <a:ext cx="7643834" cy="57148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8000"/>
              </a:buClr>
              <a:buSzPts val="2000"/>
              <a:buNone/>
              <a:defRPr i="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7" name="Google Shape;17;p6"/>
          <p:cNvSpPr txBox="1">
            <a:spLocks noGrp="1"/>
          </p:cNvSpPr>
          <p:nvPr>
            <p:ph type="body" idx="1"/>
          </p:nvPr>
        </p:nvSpPr>
        <p:spPr>
          <a:xfrm>
            <a:off x="107504" y="714356"/>
            <a:ext cx="8928992" cy="5686444"/>
          </a:xfrm>
          <a:prstGeom prst="rect">
            <a:avLst/>
          </a:prstGeom>
          <a:noFill/>
          <a:ln>
            <a:noFill/>
          </a:ln>
        </p:spPr>
        <p:txBody>
          <a:bodyPr spcFirstLastPara="1" wrap="square" lIns="91425" tIns="45700" rIns="91425" bIns="45700" anchor="t" anchorCtr="0">
            <a:normAutofit/>
          </a:bodyPr>
          <a:lstStyle>
            <a:lvl1pPr marL="457200" lvl="0" indent="-342900" algn="l">
              <a:lnSpc>
                <a:spcPct val="150000"/>
              </a:lnSpc>
              <a:spcBef>
                <a:spcPts val="360"/>
              </a:spcBef>
              <a:spcAft>
                <a:spcPts val="0"/>
              </a:spcAft>
              <a:buClr>
                <a:schemeClr val="dk1"/>
              </a:buClr>
              <a:buSzPts val="1800"/>
              <a:buFont typeface="Malgun Gothic"/>
              <a:buChar char="□"/>
              <a:defRPr/>
            </a:lvl1pPr>
            <a:lvl2pPr marL="914400" lvl="1" indent="-330200" algn="l">
              <a:lnSpc>
                <a:spcPct val="150000"/>
              </a:lnSpc>
              <a:spcBef>
                <a:spcPts val="320"/>
              </a:spcBef>
              <a:spcAft>
                <a:spcPts val="0"/>
              </a:spcAft>
              <a:buClr>
                <a:schemeClr val="dk1"/>
              </a:buClr>
              <a:buSzPts val="1600"/>
              <a:buChar char="–"/>
              <a:defRPr/>
            </a:lvl2pPr>
            <a:lvl3pPr marL="1371600" lvl="2" indent="-330200" algn="l">
              <a:lnSpc>
                <a:spcPct val="150000"/>
              </a:lnSpc>
              <a:spcBef>
                <a:spcPts val="320"/>
              </a:spcBef>
              <a:spcAft>
                <a:spcPts val="0"/>
              </a:spcAft>
              <a:buClr>
                <a:schemeClr val="dk1"/>
              </a:buClr>
              <a:buSzPts val="1600"/>
              <a:buChar char="•"/>
              <a:defRPr/>
            </a:lvl3pPr>
            <a:lvl4pPr marL="1828800" lvl="3" indent="-330200" algn="l">
              <a:lnSpc>
                <a:spcPct val="150000"/>
              </a:lnSpc>
              <a:spcBef>
                <a:spcPts val="320"/>
              </a:spcBef>
              <a:spcAft>
                <a:spcPts val="0"/>
              </a:spcAft>
              <a:buClr>
                <a:schemeClr val="dk1"/>
              </a:buClr>
              <a:buSzPts val="1600"/>
              <a:buFont typeface="Noto Sans Symbols"/>
              <a:buChar char="▪"/>
              <a:defRPr/>
            </a:lvl4pPr>
            <a:lvl5pPr marL="2286000" lvl="4" indent="-330200" algn="l">
              <a:lnSpc>
                <a:spcPct val="150000"/>
              </a:lnSpc>
              <a:spcBef>
                <a:spcPts val="320"/>
              </a:spcBef>
              <a:spcAft>
                <a:spcPts val="0"/>
              </a:spcAft>
              <a:buClr>
                <a:schemeClr val="dk1"/>
              </a:buClr>
              <a:buSzPts val="16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dirty="0"/>
          </a:p>
        </p:txBody>
      </p:sp>
      <p:pic>
        <p:nvPicPr>
          <p:cNvPr id="19" name="Google Shape;19;p6"/>
          <p:cNvPicPr preferRelativeResize="0"/>
          <p:nvPr/>
        </p:nvPicPr>
        <p:blipFill rotWithShape="1">
          <a:blip r:embed="rId2">
            <a:alphaModFix/>
          </a:blip>
          <a:srcRect b="98131"/>
          <a:stretch/>
        </p:blipFill>
        <p:spPr>
          <a:xfrm>
            <a:off x="0" y="0"/>
            <a:ext cx="9144000" cy="128187"/>
          </a:xfrm>
          <a:prstGeom prst="rect">
            <a:avLst/>
          </a:prstGeom>
          <a:noFill/>
          <a:ln>
            <a:noFill/>
          </a:ln>
        </p:spPr>
      </p:pic>
      <p:cxnSp>
        <p:nvCxnSpPr>
          <p:cNvPr id="2" name="직선 연결선 1">
            <a:extLst>
              <a:ext uri="{FF2B5EF4-FFF2-40B4-BE49-F238E27FC236}">
                <a16:creationId xmlns:a16="http://schemas.microsoft.com/office/drawing/2014/main" id="{88DBF877-235D-1068-9192-6099A1E51E68}"/>
              </a:ext>
            </a:extLst>
          </p:cNvPr>
          <p:cNvCxnSpPr>
            <a:cxnSpLocks/>
          </p:cNvCxnSpPr>
          <p:nvPr userDrawn="1"/>
        </p:nvCxnSpPr>
        <p:spPr>
          <a:xfrm>
            <a:off x="0" y="658120"/>
            <a:ext cx="9144000" cy="0"/>
          </a:xfrm>
          <a:prstGeom prst="line">
            <a:avLst/>
          </a:prstGeom>
          <a:ln w="12700" cmpd="thickThin">
            <a:solidFill>
              <a:srgbClr val="92D050"/>
            </a:solidFill>
          </a:ln>
        </p:spPr>
        <p:style>
          <a:lnRef idx="1">
            <a:schemeClr val="accent1"/>
          </a:lnRef>
          <a:fillRef idx="0">
            <a:schemeClr val="accent1"/>
          </a:fillRef>
          <a:effectRef idx="0">
            <a:schemeClr val="accent1"/>
          </a:effectRef>
          <a:fontRef idx="minor">
            <a:schemeClr val="tx1"/>
          </a:fontRef>
        </p:style>
      </p:cxnSp>
      <p:pic>
        <p:nvPicPr>
          <p:cNvPr id="3" name="Google Shape;18;p6">
            <a:extLst>
              <a:ext uri="{FF2B5EF4-FFF2-40B4-BE49-F238E27FC236}">
                <a16:creationId xmlns:a16="http://schemas.microsoft.com/office/drawing/2014/main" id="{6F5264D4-CDF9-8A86-B0BF-AA9C57577741}"/>
              </a:ext>
            </a:extLst>
          </p:cNvPr>
          <p:cNvPicPr preferRelativeResize="0"/>
          <p:nvPr userDrawn="1"/>
        </p:nvPicPr>
        <p:blipFill rotWithShape="1">
          <a:blip r:embed="rId3">
            <a:alphaModFix/>
          </a:blip>
          <a:srcRect/>
          <a:stretch/>
        </p:blipFill>
        <p:spPr>
          <a:xfrm>
            <a:off x="7972966" y="126787"/>
            <a:ext cx="1004779" cy="22684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구역 머리글" type="secHead">
  <p:cSld name="SECTION_HEADER">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08000"/>
              </a:buClr>
              <a:buSzPts val="4000"/>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480"/>
              </a:spcBef>
              <a:spcAft>
                <a:spcPts val="0"/>
              </a:spcAft>
              <a:buClr>
                <a:srgbClr val="888888"/>
              </a:buClr>
              <a:buSzPts val="2400"/>
              <a:buNone/>
              <a:defRPr sz="24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3" name="Google Shape;33;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Malgun Gothic"/>
                <a:ea typeface="Malgun Gothic"/>
                <a:cs typeface="Malgun Gothic"/>
                <a:sym typeface="Malgun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Malgun Gothic"/>
                <a:ea typeface="Malgun Gothic"/>
                <a:cs typeface="Malgun Gothic"/>
                <a:sym typeface="Malgun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Malgun Gothic"/>
                <a:ea typeface="Malgun Gothic"/>
                <a:cs typeface="Malgun Gothic"/>
                <a:sym typeface="Malgun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Malgun Gothic"/>
                <a:ea typeface="Malgun Gothic"/>
                <a:cs typeface="Malgun Gothic"/>
                <a:sym typeface="Malgun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Malgun Gothic"/>
                <a:ea typeface="Malgun Gothic"/>
                <a:cs typeface="Malgun Gothic"/>
                <a:sym typeface="Malgun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Malgun Gothic"/>
                <a:ea typeface="Malgun Gothic"/>
                <a:cs typeface="Malgun Gothic"/>
                <a:sym typeface="Malgun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Malgun Gothic"/>
                <a:ea typeface="Malgun Gothic"/>
                <a:cs typeface="Malgun Gothic"/>
                <a:sym typeface="Malgun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Malgun Gothic"/>
                <a:ea typeface="Malgun Gothic"/>
                <a:cs typeface="Malgun Gothic"/>
                <a:sym typeface="Malgun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콘텐츠 2개" type="twoObj">
  <p:cSld name="TWO_OBJECTS">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0" y="0"/>
            <a:ext cx="7643834" cy="57148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8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9" name="Google Shape;39;p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0" name="Google Shape;40;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비교" type="twoTxTwoObj">
  <p:cSld name="TWO_OBJECTS_WITH_TEXT">
    <p:spTree>
      <p:nvGrpSpPr>
        <p:cNvPr id="1" name="Shape 43"/>
        <p:cNvGrpSpPr/>
        <p:nvPr/>
      </p:nvGrpSpPr>
      <p:grpSpPr>
        <a:xfrm>
          <a:off x="0" y="0"/>
          <a:ext cx="0" cy="0"/>
          <a:chOff x="0" y="0"/>
          <a:chExt cx="0" cy="0"/>
        </a:xfrm>
      </p:grpSpPr>
      <p:sp>
        <p:nvSpPr>
          <p:cNvPr id="44" name="Google Shape;44;p10"/>
          <p:cNvSpPr txBox="1">
            <a:spLocks noGrp="1"/>
          </p:cNvSpPr>
          <p:nvPr>
            <p:ph type="title"/>
          </p:nvPr>
        </p:nvSpPr>
        <p:spPr>
          <a:xfrm>
            <a:off x="0" y="0"/>
            <a:ext cx="7643834" cy="57148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8000"/>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6" name="Google Shape;46;p1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7" name="Google Shape;47;p1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8" name="Google Shape;48;p1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9" name="Google Shape;4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제목만" type="titleOnly">
  <p:cSld name="TITLE_ONLY">
    <p:spTree>
      <p:nvGrpSpPr>
        <p:cNvPr id="1" name="Shape 52"/>
        <p:cNvGrpSpPr/>
        <p:nvPr/>
      </p:nvGrpSpPr>
      <p:grpSpPr>
        <a:xfrm>
          <a:off x="0" y="0"/>
          <a:ext cx="0" cy="0"/>
          <a:chOff x="0" y="0"/>
          <a:chExt cx="0" cy="0"/>
        </a:xfrm>
      </p:grpSpPr>
      <p:sp>
        <p:nvSpPr>
          <p:cNvPr id="53" name="Google Shape;53;p11"/>
          <p:cNvSpPr txBox="1">
            <a:spLocks noGrp="1"/>
          </p:cNvSpPr>
          <p:nvPr>
            <p:ph type="title"/>
          </p:nvPr>
        </p:nvSpPr>
        <p:spPr>
          <a:xfrm>
            <a:off x="0" y="0"/>
            <a:ext cx="7643834" cy="57148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8000"/>
              </a:buClr>
              <a:buSzPts val="2000"/>
              <a:buNone/>
              <a:defRPr i="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빈 화면"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chemeClr val="dk1"/>
                </a:solidFill>
                <a:latin typeface="Malgun Gothic"/>
                <a:ea typeface="Malgun Gothic"/>
                <a:cs typeface="Malgun Gothic"/>
                <a:sym typeface="Malgun Gothic"/>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chemeClr val="dk1"/>
                </a:solidFill>
                <a:latin typeface="Malgun Gothic"/>
                <a:ea typeface="Malgun Gothic"/>
                <a:cs typeface="Malgun Gothic"/>
                <a:sym typeface="Malgun Gothic"/>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chemeClr val="dk1"/>
                </a:solidFill>
                <a:latin typeface="Malgun Gothic"/>
                <a:ea typeface="Malgun Gothic"/>
                <a:cs typeface="Malgun Gothic"/>
                <a:sym typeface="Malgun Gothic"/>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chemeClr val="dk1"/>
                </a:solidFill>
                <a:latin typeface="Malgun Gothic"/>
                <a:ea typeface="Malgun Gothic"/>
                <a:cs typeface="Malgun Gothic"/>
                <a:sym typeface="Malgun Gothic"/>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chemeClr val="dk1"/>
                </a:solidFill>
                <a:latin typeface="Malgun Gothic"/>
                <a:ea typeface="Malgun Gothic"/>
                <a:cs typeface="Malgun Gothic"/>
                <a:sym typeface="Malgun Gothic"/>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chemeClr val="dk1"/>
                </a:solidFill>
                <a:latin typeface="Malgun Gothic"/>
                <a:ea typeface="Malgun Gothic"/>
                <a:cs typeface="Malgun Gothic"/>
                <a:sym typeface="Malgun Gothic"/>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chemeClr val="dk1"/>
                </a:solidFill>
                <a:latin typeface="Malgun Gothic"/>
                <a:ea typeface="Malgun Gothic"/>
                <a:cs typeface="Malgun Gothic"/>
                <a:sym typeface="Malgun Gothic"/>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chemeClr val="dk1"/>
                </a:solidFill>
                <a:latin typeface="Malgun Gothic"/>
                <a:ea typeface="Malgun Gothic"/>
                <a:cs typeface="Malgun Gothic"/>
                <a:sym typeface="Malgun Gothic"/>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chemeClr val="dk1"/>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ko-KR"/>
              <a:t>‹#›</a:t>
            </a:fld>
            <a:endParaRPr/>
          </a:p>
        </p:txBody>
      </p:sp>
      <p:pic>
        <p:nvPicPr>
          <p:cNvPr id="61" name="Google Shape;61;p12"/>
          <p:cNvPicPr preferRelativeResize="0"/>
          <p:nvPr/>
        </p:nvPicPr>
        <p:blipFill rotWithShape="1">
          <a:blip r:embed="rId2">
            <a:alphaModFix/>
          </a:blip>
          <a:srcRect b="98131"/>
          <a:stretch/>
        </p:blipFill>
        <p:spPr>
          <a:xfrm>
            <a:off x="0" y="0"/>
            <a:ext cx="9144000" cy="128187"/>
          </a:xfrm>
          <a:prstGeom prst="rect">
            <a:avLst/>
          </a:prstGeom>
          <a:noFill/>
          <a:ln>
            <a:noFill/>
          </a:ln>
        </p:spPr>
      </p:pic>
      <p:sp>
        <p:nvSpPr>
          <p:cNvPr id="62" name="Google Shape;62;p12"/>
          <p:cNvSpPr txBox="1"/>
          <p:nvPr/>
        </p:nvSpPr>
        <p:spPr>
          <a:xfrm>
            <a:off x="8629679" y="6356350"/>
            <a:ext cx="514321" cy="365125"/>
          </a:xfrm>
          <a:prstGeom prst="rect">
            <a:avLst/>
          </a:prstGeom>
          <a:noFill/>
          <a:ln>
            <a:noFill/>
          </a:ln>
        </p:spPr>
        <p:txBody>
          <a:bodyPr spcFirstLastPara="1" wrap="square" lIns="0" tIns="45700" rIns="0" bIns="45700" anchor="ctr" anchorCtr="0">
            <a:noAutofit/>
          </a:bodyPr>
          <a:lstStyle/>
          <a:p>
            <a:pPr marL="0" marR="0" lvl="0" indent="0" algn="l" rtl="0">
              <a:lnSpc>
                <a:spcPct val="100000"/>
              </a:lnSpc>
              <a:spcBef>
                <a:spcPts val="0"/>
              </a:spcBef>
              <a:spcAft>
                <a:spcPts val="0"/>
              </a:spcAft>
              <a:buClr>
                <a:schemeClr val="dk1"/>
              </a:buClr>
              <a:buSzPts val="1200"/>
              <a:buFont typeface="Malgun Gothic"/>
              <a:buNone/>
            </a:pPr>
            <a:r>
              <a:rPr lang="ko-KR" sz="1200" b="1" i="0" u="none" strike="noStrike" cap="none">
                <a:solidFill>
                  <a:schemeClr val="dk1"/>
                </a:solidFill>
                <a:latin typeface="Malgun Gothic"/>
                <a:ea typeface="Malgun Gothic"/>
                <a:cs typeface="Malgun Gothic"/>
                <a:sym typeface="Malgun Gothic"/>
              </a:rPr>
              <a:t>| 18</a:t>
            </a:r>
            <a:endParaRPr sz="1200" b="1" i="0" u="none" strike="noStrike" cap="none">
              <a:solidFill>
                <a:schemeClr val="dk1"/>
              </a:solidFill>
              <a:latin typeface="Malgun Gothic"/>
              <a:ea typeface="Malgun Gothic"/>
              <a:cs typeface="Malgun Gothic"/>
              <a:sym typeface="Malgun Gothic"/>
            </a:endParaRPr>
          </a:p>
        </p:txBody>
      </p:sp>
      <p:pic>
        <p:nvPicPr>
          <p:cNvPr id="2" name="Google Shape;18;p6">
            <a:extLst>
              <a:ext uri="{FF2B5EF4-FFF2-40B4-BE49-F238E27FC236}">
                <a16:creationId xmlns:a16="http://schemas.microsoft.com/office/drawing/2014/main" id="{97AAC33D-679A-17EC-28B3-EEF3200D722F}"/>
              </a:ext>
            </a:extLst>
          </p:cNvPr>
          <p:cNvPicPr preferRelativeResize="0"/>
          <p:nvPr userDrawn="1"/>
        </p:nvPicPr>
        <p:blipFill rotWithShape="1">
          <a:blip r:embed="rId3">
            <a:alphaModFix/>
          </a:blip>
          <a:srcRect/>
          <a:stretch/>
        </p:blipFill>
        <p:spPr>
          <a:xfrm>
            <a:off x="7972966" y="126787"/>
            <a:ext cx="1004779" cy="22684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캡션 있는 콘텐츠" type="objTx">
  <p:cSld name="OBJECT_WITH_CAPTION_TEXT">
    <p:spTree>
      <p:nvGrpSpPr>
        <p:cNvPr id="1" name="Shape 64"/>
        <p:cNvGrpSpPr/>
        <p:nvPr/>
      </p:nvGrpSpPr>
      <p:grpSpPr>
        <a:xfrm>
          <a:off x="0" y="0"/>
          <a:ext cx="0" cy="0"/>
          <a:chOff x="0" y="0"/>
          <a:chExt cx="0" cy="0"/>
        </a:xfrm>
      </p:grpSpPr>
      <p:sp>
        <p:nvSpPr>
          <p:cNvPr id="65" name="Google Shape;65;p13"/>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8000"/>
              </a:buClr>
              <a:buSzPts val="2000"/>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3"/>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7" name="Google Shape;67;p13"/>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8" name="Google Shape;68;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캡션 있는 그림" type="picTx">
  <p:cSld name="PICTURE_WITH_CAPTION_TEXT">
    <p:spTree>
      <p:nvGrpSpPr>
        <p:cNvPr id="1" name="Shape 71"/>
        <p:cNvGrpSpPr/>
        <p:nvPr/>
      </p:nvGrpSpPr>
      <p:grpSpPr>
        <a:xfrm>
          <a:off x="0" y="0"/>
          <a:ext cx="0" cy="0"/>
          <a:chOff x="0" y="0"/>
          <a:chExt cx="0" cy="0"/>
        </a:xfrm>
      </p:grpSpPr>
      <p:sp>
        <p:nvSpPr>
          <p:cNvPr id="72" name="Google Shape;72;p14"/>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8000"/>
              </a:buClr>
              <a:buSzPts val="2000"/>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4"/>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640"/>
              </a:spcBef>
              <a:spcAft>
                <a:spcPts val="0"/>
              </a:spcAft>
              <a:buClr>
                <a:schemeClr val="dk1"/>
              </a:buClr>
              <a:buSzPts val="3200"/>
              <a:buFont typeface="Arial"/>
              <a:buNone/>
              <a:defRPr sz="3200" b="1" i="0" u="none" strike="noStrike" cap="none">
                <a:solidFill>
                  <a:schemeClr val="dk1"/>
                </a:solidFill>
                <a:latin typeface="Malgun Gothic"/>
                <a:ea typeface="Malgun Gothic"/>
                <a:cs typeface="Malgun Gothic"/>
                <a:sym typeface="Malgun Gothic"/>
              </a:defRPr>
            </a:lvl1pPr>
            <a:lvl2pPr marR="0" lvl="1" algn="l" rtl="0">
              <a:lnSpc>
                <a:spcPct val="100000"/>
              </a:lnSpc>
              <a:spcBef>
                <a:spcPts val="560"/>
              </a:spcBef>
              <a:spcAft>
                <a:spcPts val="0"/>
              </a:spcAft>
              <a:buClr>
                <a:schemeClr val="dk1"/>
              </a:buClr>
              <a:buSzPts val="2800"/>
              <a:buFont typeface="Arial"/>
              <a:buNone/>
              <a:defRPr sz="2800" b="0" i="0" u="none" strike="noStrike" cap="none">
                <a:solidFill>
                  <a:schemeClr val="dk1"/>
                </a:solidFill>
                <a:latin typeface="Malgun Gothic"/>
                <a:ea typeface="Malgun Gothic"/>
                <a:cs typeface="Malgun Gothic"/>
                <a:sym typeface="Malgun Gothic"/>
              </a:defRPr>
            </a:lvl2pPr>
            <a:lvl3pPr marR="0" lvl="2" algn="l"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Malgun Gothic"/>
                <a:ea typeface="Malgun Gothic"/>
                <a:cs typeface="Malgun Gothic"/>
                <a:sym typeface="Malgun Gothic"/>
              </a:defRPr>
            </a:lvl3pPr>
            <a:lvl4pPr marR="0" lvl="3"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Malgun Gothic"/>
                <a:ea typeface="Malgun Gothic"/>
                <a:cs typeface="Malgun Gothic"/>
                <a:sym typeface="Malgun Gothic"/>
              </a:defRPr>
            </a:lvl4pPr>
            <a:lvl5pPr marR="0" lvl="4"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Malgun Gothic"/>
                <a:ea typeface="Malgun Gothic"/>
                <a:cs typeface="Malgun Gothic"/>
                <a:sym typeface="Malgun Gothic"/>
              </a:defRPr>
            </a:lvl5pPr>
            <a:lvl6pPr marR="0" lvl="5"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Malgun Gothic"/>
                <a:ea typeface="Malgun Gothic"/>
                <a:cs typeface="Malgun Gothic"/>
                <a:sym typeface="Malgun Gothic"/>
              </a:defRPr>
            </a:lvl6pPr>
            <a:lvl7pPr marR="0" lvl="6"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Malgun Gothic"/>
                <a:ea typeface="Malgun Gothic"/>
                <a:cs typeface="Malgun Gothic"/>
                <a:sym typeface="Malgun Gothic"/>
              </a:defRPr>
            </a:lvl7pPr>
            <a:lvl8pPr marR="0" lvl="7"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Malgun Gothic"/>
                <a:ea typeface="Malgun Gothic"/>
                <a:cs typeface="Malgun Gothic"/>
                <a:sym typeface="Malgun Gothic"/>
              </a:defRPr>
            </a:lvl8pPr>
            <a:lvl9pPr marR="0" lvl="8"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Malgun Gothic"/>
                <a:ea typeface="Malgun Gothic"/>
                <a:cs typeface="Malgun Gothic"/>
                <a:sym typeface="Malgun Gothic"/>
              </a:defRPr>
            </a:lvl9pPr>
          </a:lstStyle>
          <a:p>
            <a:endParaRPr/>
          </a:p>
        </p:txBody>
      </p:sp>
      <p:sp>
        <p:nvSpPr>
          <p:cNvPr id="74" name="Google Shape;74;p14"/>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75" name="Google Shape;75;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시작페이지">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pic>
        <p:nvPicPr>
          <p:cNvPr id="5" name="그래픽 4">
            <a:extLst>
              <a:ext uri="{FF2B5EF4-FFF2-40B4-BE49-F238E27FC236}">
                <a16:creationId xmlns:a16="http://schemas.microsoft.com/office/drawing/2014/main" id="{27858AA4-5281-C948-0F8C-B61B65E1CF8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39553" y="2492896"/>
            <a:ext cx="3312368" cy="759524"/>
          </a:xfrm>
          <a:prstGeom prst="rect">
            <a:avLst/>
          </a:prstGeom>
        </p:spPr>
      </p:pic>
      <p:cxnSp>
        <p:nvCxnSpPr>
          <p:cNvPr id="7" name="직선 연결선 6">
            <a:extLst>
              <a:ext uri="{FF2B5EF4-FFF2-40B4-BE49-F238E27FC236}">
                <a16:creationId xmlns:a16="http://schemas.microsoft.com/office/drawing/2014/main" id="{660D0472-CAB4-463B-4307-535F992E8580}"/>
              </a:ext>
            </a:extLst>
          </p:cNvPr>
          <p:cNvCxnSpPr/>
          <p:nvPr userDrawn="1"/>
        </p:nvCxnSpPr>
        <p:spPr>
          <a:xfrm>
            <a:off x="611560" y="3429000"/>
            <a:ext cx="853244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제목 1">
            <a:extLst>
              <a:ext uri="{FF2B5EF4-FFF2-40B4-BE49-F238E27FC236}">
                <a16:creationId xmlns:a16="http://schemas.microsoft.com/office/drawing/2014/main" id="{0F18F55C-4821-5AC9-A050-2042ADE80955}"/>
              </a:ext>
            </a:extLst>
          </p:cNvPr>
          <p:cNvSpPr>
            <a:spLocks noGrp="1"/>
          </p:cNvSpPr>
          <p:nvPr>
            <p:ph type="title"/>
          </p:nvPr>
        </p:nvSpPr>
        <p:spPr>
          <a:xfrm>
            <a:off x="645071" y="3605581"/>
            <a:ext cx="6447209" cy="648072"/>
          </a:xfrm>
        </p:spPr>
        <p:txBody>
          <a:bodyPr/>
          <a:lstStyle>
            <a:lvl1pPr algn="l">
              <a:defRPr sz="2100" b="1"/>
            </a:lvl1pPr>
          </a:lstStyle>
          <a:p>
            <a:r>
              <a:rPr lang="ko-KR" altLang="en-US"/>
              <a:t>마스터 제목 스타일 편집</a:t>
            </a:r>
          </a:p>
        </p:txBody>
      </p:sp>
      <p:sp>
        <p:nvSpPr>
          <p:cNvPr id="9" name="날짜 개체 틀 2">
            <a:extLst>
              <a:ext uri="{FF2B5EF4-FFF2-40B4-BE49-F238E27FC236}">
                <a16:creationId xmlns:a16="http://schemas.microsoft.com/office/drawing/2014/main" id="{15BD3A3D-8970-3055-2DA7-50D4523F29B4}"/>
              </a:ext>
            </a:extLst>
          </p:cNvPr>
          <p:cNvSpPr>
            <a:spLocks noGrp="1"/>
          </p:cNvSpPr>
          <p:nvPr>
            <p:ph type="dt" sz="half" idx="10"/>
          </p:nvPr>
        </p:nvSpPr>
        <p:spPr>
          <a:xfrm>
            <a:off x="645071" y="4325665"/>
            <a:ext cx="2057400" cy="365125"/>
          </a:xfrm>
        </p:spPr>
        <p:txBody>
          <a:bodyPr/>
          <a:lstStyle>
            <a:lvl1pPr algn="l">
              <a:defRPr/>
            </a:lvl1pPr>
          </a:lstStyle>
          <a:p>
            <a:fld id="{39AB394B-32A5-4A29-9E34-F193BCC6C0D8}" type="datetimeFigureOut">
              <a:rPr lang="ko-KR" altLang="en-US" smtClean="0"/>
              <a:pPr/>
              <a:t>2025-09-09</a:t>
            </a:fld>
            <a:endParaRPr lang="ko-KR" altLang="en-US"/>
          </a:p>
        </p:txBody>
      </p:sp>
    </p:spTree>
    <p:extLst>
      <p:ext uri="{BB962C8B-B14F-4D97-AF65-F5344CB8AC3E}">
        <p14:creationId xmlns:p14="http://schemas.microsoft.com/office/powerpoint/2010/main" val="3122985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
          <p:cNvSpPr txBox="1">
            <a:spLocks noGrp="1"/>
          </p:cNvSpPr>
          <p:nvPr>
            <p:ph type="title"/>
          </p:nvPr>
        </p:nvSpPr>
        <p:spPr>
          <a:xfrm>
            <a:off x="0" y="0"/>
            <a:ext cx="7643834" cy="57148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08000"/>
              </a:buClr>
              <a:buSzPts val="2000"/>
              <a:buFont typeface="Arial"/>
              <a:buNone/>
              <a:defRPr sz="2000" b="1" i="1" u="none" strike="noStrike" cap="none">
                <a:solidFill>
                  <a:srgbClr val="008000"/>
                </a:solidFill>
                <a:latin typeface="Malgun Gothic"/>
                <a:ea typeface="Malgun Gothic"/>
                <a:cs typeface="Malgun Gothic"/>
                <a:sym typeface="Malgun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
          <p:cNvSpPr txBox="1">
            <a:spLocks noGrp="1"/>
          </p:cNvSpPr>
          <p:nvPr>
            <p:ph type="body" idx="1"/>
          </p:nvPr>
        </p:nvSpPr>
        <p:spPr>
          <a:xfrm>
            <a:off x="457200" y="714356"/>
            <a:ext cx="8229600" cy="5411807"/>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360"/>
              </a:spcBef>
              <a:spcAft>
                <a:spcPts val="0"/>
              </a:spcAft>
              <a:buClr>
                <a:schemeClr val="dk1"/>
              </a:buClr>
              <a:buSzPts val="1800"/>
              <a:buFont typeface="Arial"/>
              <a:buChar char="•"/>
              <a:defRPr sz="1800" b="1" i="0" u="none" strike="noStrike" cap="none">
                <a:solidFill>
                  <a:schemeClr val="dk1"/>
                </a:solidFill>
                <a:latin typeface="Malgun Gothic"/>
                <a:ea typeface="Malgun Gothic"/>
                <a:cs typeface="Malgun Gothic"/>
                <a:sym typeface="Malgun Gothic"/>
              </a:defRPr>
            </a:lvl1pPr>
            <a:lvl2pPr marL="914400" marR="0" lvl="1"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Malgun Gothic"/>
                <a:ea typeface="Malgun Gothic"/>
                <a:cs typeface="Malgun Gothic"/>
                <a:sym typeface="Malgun Gothic"/>
              </a:defRPr>
            </a:lvl2pPr>
            <a:lvl3pPr marL="1371600" marR="0" lvl="2"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Malgun Gothic"/>
                <a:ea typeface="Malgun Gothic"/>
                <a:cs typeface="Malgun Gothic"/>
                <a:sym typeface="Malgun Gothic"/>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Malgun Gothic"/>
                <a:ea typeface="Malgun Gothic"/>
                <a:cs typeface="Malgun Gothic"/>
                <a:sym typeface="Malgun Gothic"/>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Malgun Gothic"/>
                <a:ea typeface="Malgun Gothic"/>
                <a:cs typeface="Malgun Gothic"/>
                <a:sym typeface="Malgun Gothic"/>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Malgun Gothic"/>
                <a:ea typeface="Malgun Gothic"/>
                <a:cs typeface="Malgun Gothic"/>
                <a:sym typeface="Malgun Gothic"/>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Malgun Gothic"/>
                <a:ea typeface="Malgun Gothic"/>
                <a:cs typeface="Malgun Gothic"/>
                <a:sym typeface="Malgun Gothic"/>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Malgun Gothic"/>
                <a:ea typeface="Malgun Gothic"/>
                <a:cs typeface="Malgun Gothic"/>
                <a:sym typeface="Malgun Gothic"/>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Malgun Gothic"/>
                <a:ea typeface="Malgun Gothic"/>
                <a:cs typeface="Malgun Gothic"/>
                <a:sym typeface="Malgun Gothic"/>
              </a:defRPr>
            </a:lvl9pPr>
          </a:lstStyle>
          <a:p>
            <a:endParaRPr/>
          </a:p>
        </p:txBody>
      </p:sp>
      <p:sp>
        <p:nvSpPr>
          <p:cNvPr id="12" name="Google Shape;12;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algun Gothic"/>
                <a:ea typeface="Malgun Gothic"/>
                <a:cs typeface="Malgun Gothic"/>
                <a:sym typeface="Malgun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13" name="Google Shape;13;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algun Gothic"/>
                <a:ea typeface="Malgun Gothic"/>
                <a:cs typeface="Malgun Gothic"/>
                <a:sym typeface="Malgun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14" name="Google Shape;14;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ko-K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8CFE6EA6-1282-FCE1-6BA8-98DF9F754AA1}"/>
              </a:ext>
            </a:extLst>
          </p:cNvPr>
          <p:cNvSpPr>
            <a:spLocks noGrp="1"/>
          </p:cNvSpPr>
          <p:nvPr>
            <p:ph type="title"/>
          </p:nvPr>
        </p:nvSpPr>
        <p:spPr>
          <a:xfrm>
            <a:off x="1626802" y="3537012"/>
            <a:ext cx="5861522" cy="486054"/>
          </a:xfrm>
        </p:spPr>
        <p:txBody>
          <a:bodyPr/>
          <a:lstStyle/>
          <a:p>
            <a:r>
              <a:rPr lang="en-US" altLang="ko-KR" i="0" dirty="0">
                <a:solidFill>
                  <a:schemeClr val="bg1"/>
                </a:solidFill>
              </a:rPr>
              <a:t>Groupware Purchase Process</a:t>
            </a:r>
            <a:endParaRPr lang="ko-KR" altLang="en-US" i="0" dirty="0">
              <a:solidFill>
                <a:schemeClr val="bg1"/>
              </a:solidFill>
            </a:endParaRPr>
          </a:p>
        </p:txBody>
      </p:sp>
      <p:sp>
        <p:nvSpPr>
          <p:cNvPr id="2" name="제목 2">
            <a:extLst>
              <a:ext uri="{FF2B5EF4-FFF2-40B4-BE49-F238E27FC236}">
                <a16:creationId xmlns:a16="http://schemas.microsoft.com/office/drawing/2014/main" id="{9C2974C9-1BCD-EF58-8C55-31D52FC0B60D}"/>
              </a:ext>
            </a:extLst>
          </p:cNvPr>
          <p:cNvSpPr txBox="1">
            <a:spLocks/>
          </p:cNvSpPr>
          <p:nvPr/>
        </p:nvSpPr>
        <p:spPr>
          <a:xfrm>
            <a:off x="1781027" y="4127568"/>
            <a:ext cx="6274402" cy="1332705"/>
          </a:xfrm>
          <a:prstGeom prst="rect">
            <a:avLst/>
          </a:prstGeom>
        </p:spPr>
        <p:txBody>
          <a:bodyPr vert="horz" lIns="68580" tIns="34290" rIns="68580" bIns="34290" rtlCol="0" anchor="t">
            <a:noAutofit/>
          </a:bodyPr>
          <a:lstStyle>
            <a:lvl1pPr algn="l" defTabSz="914400" rtl="0" eaLnBrk="1" latinLnBrk="1" hangingPunct="1">
              <a:lnSpc>
                <a:spcPct val="90000"/>
              </a:lnSpc>
              <a:spcBef>
                <a:spcPct val="0"/>
              </a:spcBef>
              <a:buNone/>
              <a:defRPr sz="2800" b="1" kern="1200">
                <a:solidFill>
                  <a:schemeClr val="bg1"/>
                </a:solidFill>
                <a:latin typeface="+mj-lt"/>
                <a:ea typeface="+mj-ea"/>
                <a:cs typeface="+mj-cs"/>
              </a:defRPr>
            </a:lvl1pPr>
          </a:lstStyle>
          <a:p>
            <a:pPr>
              <a:spcBef>
                <a:spcPts val="750"/>
              </a:spcBef>
            </a:pPr>
            <a:r>
              <a:rPr lang="en-US" altLang="ko-KR" sz="1400" dirty="0"/>
              <a:t>1. Overview of the Groupware Purchase Process </a:t>
            </a:r>
          </a:p>
          <a:p>
            <a:pPr>
              <a:spcBef>
                <a:spcPts val="750"/>
              </a:spcBef>
            </a:pPr>
            <a:r>
              <a:rPr lang="en-US" altLang="ko-KR" sz="1400" dirty="0"/>
              <a:t>2. Process Flow for Groupware Document (Purchase)</a:t>
            </a:r>
          </a:p>
          <a:p>
            <a:pPr>
              <a:spcBef>
                <a:spcPts val="750"/>
              </a:spcBef>
            </a:pPr>
            <a:r>
              <a:rPr lang="en-US" altLang="ko-KR" sz="1400" dirty="0"/>
              <a:t>3. Process Flow for Groupware Document (Purchase Closing)</a:t>
            </a:r>
          </a:p>
          <a:p>
            <a:pPr>
              <a:spcBef>
                <a:spcPts val="750"/>
              </a:spcBef>
            </a:pPr>
            <a:r>
              <a:rPr lang="en-US" altLang="ko-KR" sz="1400" dirty="0"/>
              <a:t>4. Purchase Management for Groupware Document</a:t>
            </a:r>
          </a:p>
          <a:p>
            <a:pPr>
              <a:spcBef>
                <a:spcPts val="750"/>
              </a:spcBef>
            </a:pPr>
            <a:endParaRPr lang="en-US" altLang="ko-KR" sz="1400" dirty="0"/>
          </a:p>
        </p:txBody>
      </p:sp>
    </p:spTree>
    <p:extLst>
      <p:ext uri="{BB962C8B-B14F-4D97-AF65-F5344CB8AC3E}">
        <p14:creationId xmlns:p14="http://schemas.microsoft.com/office/powerpoint/2010/main" val="2655282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0CD9D5D-15AC-1E9B-F2C9-C594BF506182}"/>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Overview of the Groupware Purchase Process</a:t>
            </a:r>
          </a:p>
        </p:txBody>
      </p:sp>
      <p:cxnSp>
        <p:nvCxnSpPr>
          <p:cNvPr id="26" name="직선 화살표 연결선 25">
            <a:extLst>
              <a:ext uri="{FF2B5EF4-FFF2-40B4-BE49-F238E27FC236}">
                <a16:creationId xmlns:a16="http://schemas.microsoft.com/office/drawing/2014/main" id="{D1973BE7-8031-25B3-F70E-70EA8CAFFEB1}"/>
              </a:ext>
            </a:extLst>
          </p:cNvPr>
          <p:cNvCxnSpPr>
            <a:cxnSpLocks/>
            <a:stCxn id="40" idx="0"/>
            <a:endCxn id="27" idx="2"/>
          </p:cNvCxnSpPr>
          <p:nvPr/>
        </p:nvCxnSpPr>
        <p:spPr>
          <a:xfrm flipH="1" flipV="1">
            <a:off x="3316453" y="1562982"/>
            <a:ext cx="1" cy="457301"/>
          </a:xfrm>
          <a:prstGeom prst="straightConnector1">
            <a:avLst/>
          </a:prstGeom>
          <a:ln w="57150">
            <a:solidFill>
              <a:srgbClr val="1E4E79"/>
            </a:solidFill>
            <a:tailEnd type="triangle"/>
          </a:ln>
        </p:spPr>
        <p:style>
          <a:lnRef idx="1">
            <a:schemeClr val="accent1"/>
          </a:lnRef>
          <a:fillRef idx="0">
            <a:schemeClr val="accent1"/>
          </a:fillRef>
          <a:effectRef idx="0">
            <a:schemeClr val="accent1"/>
          </a:effectRef>
          <a:fontRef idx="minor">
            <a:schemeClr val="tx1"/>
          </a:fontRef>
        </p:style>
      </p:cxnSp>
      <p:sp>
        <p:nvSpPr>
          <p:cNvPr id="27" name="사각형: 둥근 모서리 26">
            <a:extLst>
              <a:ext uri="{FF2B5EF4-FFF2-40B4-BE49-F238E27FC236}">
                <a16:creationId xmlns:a16="http://schemas.microsoft.com/office/drawing/2014/main" id="{899935F8-3ED9-5A1A-DC24-8D4A6CE48D88}"/>
              </a:ext>
            </a:extLst>
          </p:cNvPr>
          <p:cNvSpPr/>
          <p:nvPr/>
        </p:nvSpPr>
        <p:spPr>
          <a:xfrm>
            <a:off x="2179984" y="1179805"/>
            <a:ext cx="2272937" cy="383177"/>
          </a:xfrm>
          <a:prstGeom prst="roundRect">
            <a:avLst/>
          </a:prstGeom>
          <a:ln>
            <a:solidFill>
              <a:srgbClr val="1E4E7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dirty="0"/>
              <a:t>[MES] - [C220] </a:t>
            </a:r>
          </a:p>
          <a:p>
            <a:pPr algn="ctr"/>
            <a:r>
              <a:rPr lang="en-US" altLang="ko-KR" sz="1200" dirty="0"/>
              <a:t>IQC Inspection</a:t>
            </a:r>
            <a:endParaRPr lang="ko-KR" altLang="en-US" sz="1200" dirty="0"/>
          </a:p>
        </p:txBody>
      </p:sp>
      <p:cxnSp>
        <p:nvCxnSpPr>
          <p:cNvPr id="45" name="직선 화살표 연결선 44">
            <a:extLst>
              <a:ext uri="{FF2B5EF4-FFF2-40B4-BE49-F238E27FC236}">
                <a16:creationId xmlns:a16="http://schemas.microsoft.com/office/drawing/2014/main" id="{F72AB135-1A00-E6B8-42BA-F5D018C211FC}"/>
              </a:ext>
            </a:extLst>
          </p:cNvPr>
          <p:cNvCxnSpPr>
            <a:cxnSpLocks/>
            <a:stCxn id="15" idx="0"/>
            <a:endCxn id="40" idx="2"/>
          </p:cNvCxnSpPr>
          <p:nvPr/>
        </p:nvCxnSpPr>
        <p:spPr>
          <a:xfrm flipH="1" flipV="1">
            <a:off x="3316454" y="2403460"/>
            <a:ext cx="8709" cy="748256"/>
          </a:xfrm>
          <a:prstGeom prst="straightConnector1">
            <a:avLst/>
          </a:prstGeom>
          <a:ln w="57150">
            <a:solidFill>
              <a:srgbClr val="1E4E79"/>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2B51739-553F-9584-0902-8658BBFC233B}"/>
              </a:ext>
            </a:extLst>
          </p:cNvPr>
          <p:cNvSpPr txBox="1"/>
          <p:nvPr/>
        </p:nvSpPr>
        <p:spPr>
          <a:xfrm>
            <a:off x="4572000" y="892401"/>
            <a:ext cx="3516900" cy="430887"/>
          </a:xfrm>
          <a:prstGeom prst="rect">
            <a:avLst/>
          </a:prstGeom>
          <a:noFill/>
        </p:spPr>
        <p:txBody>
          <a:bodyPr wrap="square" rtlCol="0">
            <a:spAutoFit/>
          </a:bodyPr>
          <a:lstStyle/>
          <a:p>
            <a:r>
              <a:rPr lang="en-US" altLang="ko-KR" sz="1100" b="1" dirty="0">
                <a:solidFill>
                  <a:srgbClr val="FF0000"/>
                </a:solidFill>
              </a:rPr>
              <a:t> * IQC Pass</a:t>
            </a:r>
            <a:br>
              <a:rPr lang="en-US" altLang="ko-KR" sz="1100" b="1" dirty="0">
                <a:solidFill>
                  <a:srgbClr val="FF0000"/>
                </a:solidFill>
              </a:rPr>
            </a:br>
            <a:r>
              <a:rPr lang="en-US" altLang="ko-KR" sz="1100" b="1" dirty="0"/>
              <a:t>Can proceed only after the inspection is passed.</a:t>
            </a:r>
            <a:endParaRPr lang="ko-KR" altLang="en-US" sz="1100" b="1" dirty="0">
              <a:solidFill>
                <a:srgbClr val="FF0000"/>
              </a:solidFill>
            </a:endParaRPr>
          </a:p>
        </p:txBody>
      </p:sp>
      <p:sp>
        <p:nvSpPr>
          <p:cNvPr id="5" name="TextBox 4">
            <a:extLst>
              <a:ext uri="{FF2B5EF4-FFF2-40B4-BE49-F238E27FC236}">
                <a16:creationId xmlns:a16="http://schemas.microsoft.com/office/drawing/2014/main" id="{239AB859-49AE-9856-C177-FBC4ADD6637B}"/>
              </a:ext>
            </a:extLst>
          </p:cNvPr>
          <p:cNvSpPr txBox="1"/>
          <p:nvPr/>
        </p:nvSpPr>
        <p:spPr>
          <a:xfrm>
            <a:off x="7327965" y="2777588"/>
            <a:ext cx="1288868" cy="307777"/>
          </a:xfrm>
          <a:prstGeom prst="rect">
            <a:avLst/>
          </a:prstGeom>
          <a:noFill/>
        </p:spPr>
        <p:txBody>
          <a:bodyPr wrap="square" rtlCol="0">
            <a:spAutoFit/>
          </a:bodyPr>
          <a:lstStyle/>
          <a:p>
            <a:r>
              <a:rPr lang="en-US" altLang="ko-KR" b="1" dirty="0"/>
              <a:t>Need Return </a:t>
            </a:r>
            <a:endParaRPr lang="ko-KR" altLang="en-US" b="1" dirty="0"/>
          </a:p>
        </p:txBody>
      </p:sp>
      <p:grpSp>
        <p:nvGrpSpPr>
          <p:cNvPr id="35" name="그룹 34">
            <a:extLst>
              <a:ext uri="{FF2B5EF4-FFF2-40B4-BE49-F238E27FC236}">
                <a16:creationId xmlns:a16="http://schemas.microsoft.com/office/drawing/2014/main" id="{A75EE7FB-CC57-34CC-D423-5EDB61B49153}"/>
              </a:ext>
            </a:extLst>
          </p:cNvPr>
          <p:cNvGrpSpPr/>
          <p:nvPr/>
        </p:nvGrpSpPr>
        <p:grpSpPr>
          <a:xfrm>
            <a:off x="5706830" y="4020346"/>
            <a:ext cx="2308645" cy="1595236"/>
            <a:chOff x="5651910" y="4507581"/>
            <a:chExt cx="2308645" cy="1595236"/>
          </a:xfrm>
        </p:grpSpPr>
        <p:sp>
          <p:nvSpPr>
            <p:cNvPr id="30" name="사각형: 둥근 모서리 29">
              <a:extLst>
                <a:ext uri="{FF2B5EF4-FFF2-40B4-BE49-F238E27FC236}">
                  <a16:creationId xmlns:a16="http://schemas.microsoft.com/office/drawing/2014/main" id="{B9018F0D-70E1-C7AD-8CB7-4835A82EEBF6}"/>
                </a:ext>
              </a:extLst>
            </p:cNvPr>
            <p:cNvSpPr/>
            <p:nvPr/>
          </p:nvSpPr>
          <p:spPr>
            <a:xfrm>
              <a:off x="5687618" y="4507581"/>
              <a:ext cx="2272937" cy="383177"/>
            </a:xfrm>
            <a:prstGeom prst="round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dirty="0"/>
                <a:t>[GROUP WARE]</a:t>
              </a:r>
              <a:br>
                <a:rPr lang="en-US" altLang="ko-KR" sz="1200" dirty="0"/>
              </a:br>
              <a:r>
                <a:rPr lang="en-US" altLang="ko-KR" sz="1200" dirty="0"/>
                <a:t>PURCHASE RESOLUTION</a:t>
              </a:r>
              <a:endParaRPr lang="ko-KR" altLang="en-US" sz="1200" dirty="0"/>
            </a:p>
          </p:txBody>
        </p:sp>
        <p:sp>
          <p:nvSpPr>
            <p:cNvPr id="31" name="직사각형 30">
              <a:extLst>
                <a:ext uri="{FF2B5EF4-FFF2-40B4-BE49-F238E27FC236}">
                  <a16:creationId xmlns:a16="http://schemas.microsoft.com/office/drawing/2014/main" id="{55466C98-8B6F-615D-E300-B09E53199BCE}"/>
                </a:ext>
              </a:extLst>
            </p:cNvPr>
            <p:cNvSpPr/>
            <p:nvPr/>
          </p:nvSpPr>
          <p:spPr>
            <a:xfrm>
              <a:off x="5651910" y="4905724"/>
              <a:ext cx="2308645" cy="1197093"/>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사각형: 둥근 모서리 31">
              <a:extLst>
                <a:ext uri="{FF2B5EF4-FFF2-40B4-BE49-F238E27FC236}">
                  <a16:creationId xmlns:a16="http://schemas.microsoft.com/office/drawing/2014/main" id="{E789EBED-D733-B907-39FD-1A758D3F94D1}"/>
                </a:ext>
              </a:extLst>
            </p:cNvPr>
            <p:cNvSpPr/>
            <p:nvPr/>
          </p:nvSpPr>
          <p:spPr>
            <a:xfrm>
              <a:off x="5826034" y="5040371"/>
              <a:ext cx="1998069" cy="209373"/>
            </a:xfrm>
            <a:prstGeom prst="roundRect">
              <a:avLst/>
            </a:prstGeom>
            <a:solidFill>
              <a:srgbClr val="92D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t>Domestic Purchase Closing</a:t>
              </a:r>
              <a:endParaRPr lang="ko-KR" altLang="en-US" sz="1100" dirty="0"/>
            </a:p>
          </p:txBody>
        </p:sp>
        <p:sp>
          <p:nvSpPr>
            <p:cNvPr id="33" name="사각형: 둥근 모서리 32">
              <a:extLst>
                <a:ext uri="{FF2B5EF4-FFF2-40B4-BE49-F238E27FC236}">
                  <a16:creationId xmlns:a16="http://schemas.microsoft.com/office/drawing/2014/main" id="{8FABE77F-69C0-F4C9-AE94-1BE1EA15548E}"/>
                </a:ext>
              </a:extLst>
            </p:cNvPr>
            <p:cNvSpPr/>
            <p:nvPr/>
          </p:nvSpPr>
          <p:spPr>
            <a:xfrm>
              <a:off x="5826034" y="5384391"/>
              <a:ext cx="1998069" cy="209373"/>
            </a:xfrm>
            <a:prstGeom prst="roundRect">
              <a:avLst/>
            </a:prstGeom>
            <a:solidFill>
              <a:srgbClr val="92D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t>Overseas Purchase Closing</a:t>
              </a:r>
              <a:endParaRPr lang="ko-KR" altLang="en-US" sz="1100" dirty="0"/>
            </a:p>
          </p:txBody>
        </p:sp>
        <p:sp>
          <p:nvSpPr>
            <p:cNvPr id="34" name="사각형: 둥근 모서리 33">
              <a:extLst>
                <a:ext uri="{FF2B5EF4-FFF2-40B4-BE49-F238E27FC236}">
                  <a16:creationId xmlns:a16="http://schemas.microsoft.com/office/drawing/2014/main" id="{799427F4-C4D6-2E8C-1FE4-42AD03697755}"/>
                </a:ext>
              </a:extLst>
            </p:cNvPr>
            <p:cNvSpPr/>
            <p:nvPr/>
          </p:nvSpPr>
          <p:spPr>
            <a:xfrm>
              <a:off x="5826034" y="5724271"/>
              <a:ext cx="1998069" cy="209373"/>
            </a:xfrm>
            <a:prstGeom prst="roundRect">
              <a:avLst/>
            </a:prstGeom>
            <a:solidFill>
              <a:srgbClr val="92D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t>Extra Cost</a:t>
              </a:r>
              <a:endParaRPr lang="ko-KR" altLang="en-US" sz="1100" dirty="0"/>
            </a:p>
          </p:txBody>
        </p:sp>
      </p:grpSp>
      <p:sp>
        <p:nvSpPr>
          <p:cNvPr id="40" name="사각형: 둥근 모서리 39">
            <a:extLst>
              <a:ext uri="{FF2B5EF4-FFF2-40B4-BE49-F238E27FC236}">
                <a16:creationId xmlns:a16="http://schemas.microsoft.com/office/drawing/2014/main" id="{A349EDF7-D44C-5F64-67C4-F7E9FC2BCEE2}"/>
              </a:ext>
            </a:extLst>
          </p:cNvPr>
          <p:cNvSpPr/>
          <p:nvPr/>
        </p:nvSpPr>
        <p:spPr>
          <a:xfrm>
            <a:off x="2179986" y="2020283"/>
            <a:ext cx="2272935" cy="383177"/>
          </a:xfrm>
          <a:prstGeom prst="roundRect">
            <a:avLst/>
          </a:prstGeom>
          <a:ln>
            <a:solidFill>
              <a:srgbClr val="1E4E7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t>[MES] - [F330] </a:t>
            </a:r>
          </a:p>
          <a:p>
            <a:pPr algn="ctr"/>
            <a:r>
              <a:rPr lang="en-US" altLang="ko-KR" sz="1100" dirty="0"/>
              <a:t>Material Receipt And Print Label</a:t>
            </a:r>
            <a:endParaRPr lang="ko-KR" altLang="en-US" sz="1100" dirty="0"/>
          </a:p>
        </p:txBody>
      </p:sp>
      <p:sp>
        <p:nvSpPr>
          <p:cNvPr id="46" name="TextBox 45">
            <a:extLst>
              <a:ext uri="{FF2B5EF4-FFF2-40B4-BE49-F238E27FC236}">
                <a16:creationId xmlns:a16="http://schemas.microsoft.com/office/drawing/2014/main" id="{84CC80C8-C4FC-29BA-4A3E-B2D8D66BE74F}"/>
              </a:ext>
            </a:extLst>
          </p:cNvPr>
          <p:cNvSpPr txBox="1"/>
          <p:nvPr/>
        </p:nvSpPr>
        <p:spPr>
          <a:xfrm>
            <a:off x="147555" y="2619737"/>
            <a:ext cx="2957861" cy="430887"/>
          </a:xfrm>
          <a:prstGeom prst="rect">
            <a:avLst/>
          </a:prstGeom>
          <a:noFill/>
        </p:spPr>
        <p:txBody>
          <a:bodyPr wrap="none" rtlCol="0">
            <a:spAutoFit/>
          </a:bodyPr>
          <a:lstStyle/>
          <a:p>
            <a:r>
              <a:rPr lang="en-US" altLang="ko-KR" sz="1100" b="1" dirty="0"/>
              <a:t>Upon completion of Arrival Confirmation,</a:t>
            </a:r>
          </a:p>
          <a:p>
            <a:r>
              <a:rPr lang="en-US" altLang="ko-KR" sz="1100" b="1" dirty="0"/>
              <a:t>the receipt data will be registered in </a:t>
            </a:r>
            <a:r>
              <a:rPr lang="en-US" altLang="ko-KR" sz="1100" b="1" dirty="0">
                <a:solidFill>
                  <a:srgbClr val="FF0000"/>
                </a:solidFill>
              </a:rPr>
              <a:t>MES.</a:t>
            </a:r>
            <a:endParaRPr lang="ko-KR" altLang="en-US" sz="1100" b="1" dirty="0">
              <a:solidFill>
                <a:srgbClr val="FF0000"/>
              </a:solidFill>
            </a:endParaRPr>
          </a:p>
        </p:txBody>
      </p:sp>
      <p:grpSp>
        <p:nvGrpSpPr>
          <p:cNvPr id="83" name="그룹 82">
            <a:extLst>
              <a:ext uri="{FF2B5EF4-FFF2-40B4-BE49-F238E27FC236}">
                <a16:creationId xmlns:a16="http://schemas.microsoft.com/office/drawing/2014/main" id="{E5C9F6B4-2C32-9982-D2D6-62D66B706CDB}"/>
              </a:ext>
            </a:extLst>
          </p:cNvPr>
          <p:cNvGrpSpPr/>
          <p:nvPr/>
        </p:nvGrpSpPr>
        <p:grpSpPr>
          <a:xfrm>
            <a:off x="159154" y="3146417"/>
            <a:ext cx="8746563" cy="388476"/>
            <a:chOff x="159154" y="855203"/>
            <a:chExt cx="8746563" cy="388476"/>
          </a:xfrm>
        </p:grpSpPr>
        <p:sp>
          <p:nvSpPr>
            <p:cNvPr id="12" name="사각형: 둥근 모서리 11">
              <a:extLst>
                <a:ext uri="{FF2B5EF4-FFF2-40B4-BE49-F238E27FC236}">
                  <a16:creationId xmlns:a16="http://schemas.microsoft.com/office/drawing/2014/main" id="{32E74DD2-F6BF-B1E5-8DF5-C6B0B62A8022}"/>
                </a:ext>
              </a:extLst>
            </p:cNvPr>
            <p:cNvSpPr/>
            <p:nvPr/>
          </p:nvSpPr>
          <p:spPr>
            <a:xfrm>
              <a:off x="159154" y="855205"/>
              <a:ext cx="1951158" cy="383177"/>
            </a:xfrm>
            <a:prstGeom prst="round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000" b="1" dirty="0"/>
                <a:t>[GROUP WARE] </a:t>
              </a:r>
              <a:br>
                <a:rPr lang="en-US" altLang="ko-KR" sz="1000" b="1" dirty="0"/>
              </a:br>
              <a:r>
                <a:rPr lang="en-US" altLang="ko-KR" sz="1000" b="1" dirty="0"/>
                <a:t>Purchase Order Registration</a:t>
              </a:r>
              <a:endParaRPr lang="ko-KR" altLang="en-US" sz="1000" b="1" dirty="0"/>
            </a:p>
          </p:txBody>
        </p:sp>
        <p:sp>
          <p:nvSpPr>
            <p:cNvPr id="15" name="사각형: 둥근 모서리 14">
              <a:extLst>
                <a:ext uri="{FF2B5EF4-FFF2-40B4-BE49-F238E27FC236}">
                  <a16:creationId xmlns:a16="http://schemas.microsoft.com/office/drawing/2014/main" id="{51F4157C-B95B-F4F8-EED6-09347016656A}"/>
                </a:ext>
              </a:extLst>
            </p:cNvPr>
            <p:cNvSpPr/>
            <p:nvPr/>
          </p:nvSpPr>
          <p:spPr>
            <a:xfrm>
              <a:off x="2385933" y="860502"/>
              <a:ext cx="1878460" cy="383177"/>
            </a:xfrm>
            <a:prstGeom prst="round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000" b="1" dirty="0"/>
                <a:t>[GROUP WARE]</a:t>
              </a:r>
              <a:br>
                <a:rPr lang="en-US" altLang="ko-KR" sz="1000" b="1" dirty="0"/>
              </a:br>
              <a:r>
                <a:rPr lang="en-US" altLang="ko-KR" sz="1000" b="1" dirty="0"/>
                <a:t>Arrival Confirmation</a:t>
              </a:r>
              <a:endParaRPr lang="ko-KR" altLang="en-US" sz="1000" b="1" dirty="0"/>
            </a:p>
          </p:txBody>
        </p:sp>
        <p:sp>
          <p:nvSpPr>
            <p:cNvPr id="20" name="사각형: 둥근 모서리 19">
              <a:extLst>
                <a:ext uri="{FF2B5EF4-FFF2-40B4-BE49-F238E27FC236}">
                  <a16:creationId xmlns:a16="http://schemas.microsoft.com/office/drawing/2014/main" id="{DA372917-1643-8C9E-5D8D-74CEF3FE5E1F}"/>
                </a:ext>
              </a:extLst>
            </p:cNvPr>
            <p:cNvSpPr/>
            <p:nvPr/>
          </p:nvSpPr>
          <p:spPr>
            <a:xfrm>
              <a:off x="4859501" y="855204"/>
              <a:ext cx="1878460" cy="383177"/>
            </a:xfrm>
            <a:prstGeom prst="round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000" b="1" dirty="0"/>
                <a:t>[GROUP WARE]</a:t>
              </a:r>
            </a:p>
            <a:p>
              <a:pPr algn="ctr"/>
              <a:r>
                <a:rPr lang="en-US" altLang="ko-KR" sz="1000" b="1" dirty="0"/>
                <a:t>Receiving Confirmation</a:t>
              </a:r>
              <a:endParaRPr lang="ko-KR" altLang="en-US" sz="1000" b="1" dirty="0"/>
            </a:p>
          </p:txBody>
        </p:sp>
        <p:sp>
          <p:nvSpPr>
            <p:cNvPr id="21" name="사각형: 둥근 모서리 20">
              <a:extLst>
                <a:ext uri="{FF2B5EF4-FFF2-40B4-BE49-F238E27FC236}">
                  <a16:creationId xmlns:a16="http://schemas.microsoft.com/office/drawing/2014/main" id="{964E6C3B-F01B-571E-76D1-FCD0EACBC078}"/>
                </a:ext>
              </a:extLst>
            </p:cNvPr>
            <p:cNvSpPr/>
            <p:nvPr/>
          </p:nvSpPr>
          <p:spPr>
            <a:xfrm>
              <a:off x="7027257" y="855203"/>
              <a:ext cx="1878460" cy="383177"/>
            </a:xfrm>
            <a:prstGeom prst="round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050" b="1" dirty="0"/>
                <a:t>[GROUP WARE]</a:t>
              </a:r>
              <a:br>
                <a:rPr lang="en-US" altLang="ko-KR" sz="1050" b="1" dirty="0"/>
              </a:br>
              <a:r>
                <a:rPr lang="en-US" altLang="ko-KR" sz="1050" b="1" dirty="0"/>
                <a:t>Return Product</a:t>
              </a:r>
              <a:endParaRPr lang="ko-KR" altLang="en-US" sz="1050" b="1" dirty="0"/>
            </a:p>
          </p:txBody>
        </p:sp>
        <p:cxnSp>
          <p:nvCxnSpPr>
            <p:cNvPr id="23" name="직선 화살표 연결선 22">
              <a:extLst>
                <a:ext uri="{FF2B5EF4-FFF2-40B4-BE49-F238E27FC236}">
                  <a16:creationId xmlns:a16="http://schemas.microsoft.com/office/drawing/2014/main" id="{3A847B72-6EE7-A1B4-96C2-A6CCEEAC0794}"/>
                </a:ext>
              </a:extLst>
            </p:cNvPr>
            <p:cNvCxnSpPr>
              <a:cxnSpLocks/>
              <a:stCxn id="12" idx="3"/>
              <a:endCxn id="15" idx="1"/>
            </p:cNvCxnSpPr>
            <p:nvPr/>
          </p:nvCxnSpPr>
          <p:spPr>
            <a:xfrm>
              <a:off x="2110312" y="1046794"/>
              <a:ext cx="275621" cy="5297"/>
            </a:xfrm>
            <a:prstGeom prst="straightConnector1">
              <a:avLst/>
            </a:prstGeom>
            <a:ln w="57150">
              <a:solidFill>
                <a:srgbClr val="00660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직선 화살표 연결선 75">
              <a:extLst>
                <a:ext uri="{FF2B5EF4-FFF2-40B4-BE49-F238E27FC236}">
                  <a16:creationId xmlns:a16="http://schemas.microsoft.com/office/drawing/2014/main" id="{214E2703-F49B-0261-7655-204F241A8D0D}"/>
                </a:ext>
              </a:extLst>
            </p:cNvPr>
            <p:cNvCxnSpPr>
              <a:cxnSpLocks/>
            </p:cNvCxnSpPr>
            <p:nvPr/>
          </p:nvCxnSpPr>
          <p:spPr>
            <a:xfrm flipV="1">
              <a:off x="6757319" y="1046793"/>
              <a:ext cx="269938" cy="5298"/>
            </a:xfrm>
            <a:prstGeom prst="straightConnector1">
              <a:avLst/>
            </a:prstGeom>
            <a:ln w="57150">
              <a:solidFill>
                <a:srgbClr val="0066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92" name="연결선: 꺾임 91">
            <a:extLst>
              <a:ext uri="{FF2B5EF4-FFF2-40B4-BE49-F238E27FC236}">
                <a16:creationId xmlns:a16="http://schemas.microsoft.com/office/drawing/2014/main" id="{B27267EE-0E70-C650-E2B7-9AC8DCA9FD46}"/>
              </a:ext>
            </a:extLst>
          </p:cNvPr>
          <p:cNvCxnSpPr>
            <a:cxnSpLocks/>
            <a:stCxn id="27" idx="3"/>
          </p:cNvCxnSpPr>
          <p:nvPr/>
        </p:nvCxnSpPr>
        <p:spPr>
          <a:xfrm>
            <a:off x="4452921" y="1371394"/>
            <a:ext cx="1498898" cy="1682685"/>
          </a:xfrm>
          <a:prstGeom prst="bentConnector2">
            <a:avLst/>
          </a:prstGeom>
          <a:ln w="57150">
            <a:solidFill>
              <a:srgbClr val="1E4E79"/>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연결선: 꺾임 107">
            <a:extLst>
              <a:ext uri="{FF2B5EF4-FFF2-40B4-BE49-F238E27FC236}">
                <a16:creationId xmlns:a16="http://schemas.microsoft.com/office/drawing/2014/main" id="{574A0FEA-D880-1090-8CC2-16B2A298E76B}"/>
              </a:ext>
            </a:extLst>
          </p:cNvPr>
          <p:cNvCxnSpPr>
            <a:cxnSpLocks/>
            <a:endCxn id="30" idx="0"/>
          </p:cNvCxnSpPr>
          <p:nvPr/>
        </p:nvCxnSpPr>
        <p:spPr>
          <a:xfrm rot="16200000" flipH="1">
            <a:off x="6684355" y="3825693"/>
            <a:ext cx="388869" cy="436"/>
          </a:xfrm>
          <a:prstGeom prst="bentConnector3">
            <a:avLst>
              <a:gd name="adj1" fmla="val 50000"/>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BC089F8B-6C5E-ABC4-3F7B-EF55D71039D4}"/>
              </a:ext>
            </a:extLst>
          </p:cNvPr>
          <p:cNvSpPr txBox="1"/>
          <p:nvPr/>
        </p:nvSpPr>
        <p:spPr>
          <a:xfrm>
            <a:off x="5132698" y="5746089"/>
            <a:ext cx="3599910" cy="461665"/>
          </a:xfrm>
          <a:prstGeom prst="rect">
            <a:avLst/>
          </a:prstGeom>
          <a:noFill/>
        </p:spPr>
        <p:txBody>
          <a:bodyPr wrap="square">
            <a:spAutoFit/>
          </a:bodyPr>
          <a:lstStyle/>
          <a:p>
            <a:pPr algn="ctr"/>
            <a:r>
              <a:rPr lang="en-US" altLang="ko-KR" sz="1200" b="1" dirty="0">
                <a:solidFill>
                  <a:srgbClr val="FF0000"/>
                </a:solidFill>
              </a:rPr>
              <a:t>Write a Purchase Resolution </a:t>
            </a:r>
          </a:p>
          <a:p>
            <a:pPr algn="ctr"/>
            <a:r>
              <a:rPr lang="en-US" altLang="ko-KR" sz="1200" b="1" dirty="0">
                <a:solidFill>
                  <a:srgbClr val="FF0000"/>
                </a:solidFill>
              </a:rPr>
              <a:t>by retrieving Receiving and Return Documents.</a:t>
            </a:r>
            <a:endParaRPr lang="ko-KR" altLang="en-US" sz="1200" b="1" dirty="0">
              <a:solidFill>
                <a:srgbClr val="FF0000"/>
              </a:solidFill>
            </a:endParaRPr>
          </a:p>
        </p:txBody>
      </p:sp>
      <p:sp>
        <p:nvSpPr>
          <p:cNvPr id="119" name="사각형: 둥근 모서리 118">
            <a:extLst>
              <a:ext uri="{FF2B5EF4-FFF2-40B4-BE49-F238E27FC236}">
                <a16:creationId xmlns:a16="http://schemas.microsoft.com/office/drawing/2014/main" id="{9EC476F2-C9D1-6626-B8DE-CB29F814CF57}"/>
              </a:ext>
            </a:extLst>
          </p:cNvPr>
          <p:cNvSpPr/>
          <p:nvPr/>
        </p:nvSpPr>
        <p:spPr>
          <a:xfrm>
            <a:off x="159154" y="5361586"/>
            <a:ext cx="1878460" cy="507991"/>
          </a:xfrm>
          <a:prstGeom prst="round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000" b="1" dirty="0"/>
              <a:t>[GROUP WARE] </a:t>
            </a:r>
            <a:br>
              <a:rPr lang="en-US" altLang="ko-KR" sz="1000" b="1" dirty="0"/>
            </a:br>
            <a:r>
              <a:rPr lang="en-US" altLang="ko-KR" sz="1000" b="1" dirty="0"/>
              <a:t>Sales Order Document (headquarter)</a:t>
            </a:r>
            <a:endParaRPr lang="ko-KR" altLang="en-US" sz="1000" b="1" dirty="0"/>
          </a:p>
        </p:txBody>
      </p:sp>
      <p:cxnSp>
        <p:nvCxnSpPr>
          <p:cNvPr id="120" name="직선 화살표 연결선 119">
            <a:extLst>
              <a:ext uri="{FF2B5EF4-FFF2-40B4-BE49-F238E27FC236}">
                <a16:creationId xmlns:a16="http://schemas.microsoft.com/office/drawing/2014/main" id="{3C992B70-BF73-8F26-9394-99004640C577}"/>
              </a:ext>
            </a:extLst>
          </p:cNvPr>
          <p:cNvCxnSpPr>
            <a:cxnSpLocks/>
          </p:cNvCxnSpPr>
          <p:nvPr/>
        </p:nvCxnSpPr>
        <p:spPr>
          <a:xfrm>
            <a:off x="601996" y="3529596"/>
            <a:ext cx="0" cy="1831990"/>
          </a:xfrm>
          <a:prstGeom prst="straightConnector1">
            <a:avLst/>
          </a:prstGeom>
          <a:ln w="57150">
            <a:solidFill>
              <a:srgbClr val="006600"/>
            </a:solidFill>
            <a:tailEnd type="triangle"/>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E2C277F2-DC41-2FF6-CCDB-59D619622D3D}"/>
              </a:ext>
            </a:extLst>
          </p:cNvPr>
          <p:cNvSpPr txBox="1"/>
          <p:nvPr/>
        </p:nvSpPr>
        <p:spPr>
          <a:xfrm>
            <a:off x="627483" y="3955765"/>
            <a:ext cx="3516900" cy="1107996"/>
          </a:xfrm>
          <a:prstGeom prst="rect">
            <a:avLst/>
          </a:prstGeom>
          <a:noFill/>
        </p:spPr>
        <p:txBody>
          <a:bodyPr wrap="square" rtlCol="0">
            <a:spAutoFit/>
          </a:bodyPr>
          <a:lstStyle/>
          <a:p>
            <a:r>
              <a:rPr lang="en-US" altLang="ko-KR" sz="1100" b="1" dirty="0">
                <a:solidFill>
                  <a:srgbClr val="FF0000"/>
                </a:solidFill>
              </a:rPr>
              <a:t> * Direct Import via HQ</a:t>
            </a:r>
            <a:br>
              <a:rPr lang="en-US" altLang="ko-KR" sz="1100" b="1" dirty="0">
                <a:solidFill>
                  <a:srgbClr val="FF0000"/>
                </a:solidFill>
              </a:rPr>
            </a:br>
            <a:r>
              <a:rPr lang="en-US" altLang="ko-KR" sz="1100" b="1" dirty="0">
                <a:solidFill>
                  <a:schemeClr val="tx1"/>
                </a:solidFill>
              </a:rPr>
              <a:t>  - </a:t>
            </a:r>
            <a:r>
              <a:rPr lang="en-US" altLang="ko-KR" sz="1100" b="1" dirty="0"/>
              <a:t>When the vendor is HQ, </a:t>
            </a:r>
            <a:br>
              <a:rPr lang="en-US" altLang="ko-KR" sz="1100" b="1" dirty="0"/>
            </a:br>
            <a:r>
              <a:rPr lang="en-US" altLang="ko-KR" sz="1100" b="1" dirty="0"/>
              <a:t>     a sales order is automatically created in HQ</a:t>
            </a:r>
            <a:br>
              <a:rPr lang="en-US" altLang="ko-KR" sz="1100" b="1" dirty="0"/>
            </a:br>
            <a:br>
              <a:rPr lang="en-US" altLang="ko-KR" sz="1100" dirty="0"/>
            </a:br>
            <a:r>
              <a:rPr lang="en-US" altLang="ko-KR" sz="1100" b="1" dirty="0"/>
              <a:t>  - This process is applied </a:t>
            </a:r>
          </a:p>
          <a:p>
            <a:r>
              <a:rPr lang="en-US" altLang="ko-KR" sz="1100" b="1" dirty="0"/>
              <a:t>     when HQ purchases items, equipment, etc.</a:t>
            </a:r>
            <a:endParaRPr lang="ko-KR" altLang="en-US" sz="1100" b="1" dirty="0">
              <a:solidFill>
                <a:srgbClr val="FF0000"/>
              </a:solidFill>
            </a:endParaRPr>
          </a:p>
        </p:txBody>
      </p:sp>
      <p:cxnSp>
        <p:nvCxnSpPr>
          <p:cNvPr id="128" name="직선 연결선 127">
            <a:extLst>
              <a:ext uri="{FF2B5EF4-FFF2-40B4-BE49-F238E27FC236}">
                <a16:creationId xmlns:a16="http://schemas.microsoft.com/office/drawing/2014/main" id="{CF72D7F3-797F-23CD-414F-5863D7815F5B}"/>
              </a:ext>
            </a:extLst>
          </p:cNvPr>
          <p:cNvCxnSpPr/>
          <p:nvPr/>
        </p:nvCxnSpPr>
        <p:spPr>
          <a:xfrm>
            <a:off x="4859501" y="3631476"/>
            <a:ext cx="404621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1834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D1DA9-B12D-C8D3-B659-CF5CB7F642BD}"/>
            </a:ext>
          </a:extLst>
        </p:cNvPr>
        <p:cNvGrpSpPr/>
        <p:nvPr/>
      </p:nvGrpSpPr>
      <p:grpSpPr>
        <a:xfrm>
          <a:off x="0" y="0"/>
          <a:ext cx="0" cy="0"/>
          <a:chOff x="0" y="0"/>
          <a:chExt cx="0" cy="0"/>
        </a:xfrm>
      </p:grpSpPr>
      <p:grpSp>
        <p:nvGrpSpPr>
          <p:cNvPr id="16" name="그룹 15">
            <a:extLst>
              <a:ext uri="{FF2B5EF4-FFF2-40B4-BE49-F238E27FC236}">
                <a16:creationId xmlns:a16="http://schemas.microsoft.com/office/drawing/2014/main" id="{1F9FE1D3-42A8-9094-CE9F-922EC22FDD14}"/>
              </a:ext>
            </a:extLst>
          </p:cNvPr>
          <p:cNvGrpSpPr/>
          <p:nvPr/>
        </p:nvGrpSpPr>
        <p:grpSpPr>
          <a:xfrm>
            <a:off x="159154" y="1484873"/>
            <a:ext cx="8793257" cy="846181"/>
            <a:chOff x="471462" y="1302795"/>
            <a:chExt cx="8201075" cy="1838636"/>
          </a:xfrm>
        </p:grpSpPr>
        <p:pic>
          <p:nvPicPr>
            <p:cNvPr id="4" name="그림 3">
              <a:extLst>
                <a:ext uri="{FF2B5EF4-FFF2-40B4-BE49-F238E27FC236}">
                  <a16:creationId xmlns:a16="http://schemas.microsoft.com/office/drawing/2014/main" id="{B84918CA-B77C-7917-E972-8E0C35E98A8B}"/>
                </a:ext>
              </a:extLst>
            </p:cNvPr>
            <p:cNvPicPr>
              <a:picLocks noChangeAspect="1"/>
            </p:cNvPicPr>
            <p:nvPr/>
          </p:nvPicPr>
          <p:blipFill>
            <a:blip r:embed="rId3"/>
            <a:stretch>
              <a:fillRect/>
            </a:stretch>
          </p:blipFill>
          <p:spPr>
            <a:xfrm>
              <a:off x="471462" y="1302795"/>
              <a:ext cx="8201075" cy="1838636"/>
            </a:xfrm>
            <a:prstGeom prst="rect">
              <a:avLst/>
            </a:prstGeom>
          </p:spPr>
        </p:pic>
        <p:sp>
          <p:nvSpPr>
            <p:cNvPr id="5" name="직사각형 4">
              <a:extLst>
                <a:ext uri="{FF2B5EF4-FFF2-40B4-BE49-F238E27FC236}">
                  <a16:creationId xmlns:a16="http://schemas.microsoft.com/office/drawing/2014/main" id="{E6C2B2B2-6F3D-1A2A-778E-2D4339694361}"/>
                </a:ext>
              </a:extLst>
            </p:cNvPr>
            <p:cNvSpPr/>
            <p:nvPr/>
          </p:nvSpPr>
          <p:spPr>
            <a:xfrm>
              <a:off x="1907177" y="2558144"/>
              <a:ext cx="1271452" cy="2547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42" name="직사각형 41">
              <a:extLst>
                <a:ext uri="{FF2B5EF4-FFF2-40B4-BE49-F238E27FC236}">
                  <a16:creationId xmlns:a16="http://schemas.microsoft.com/office/drawing/2014/main" id="{EB3D2422-ED1D-91E8-51E0-7843B39EC62D}"/>
                </a:ext>
              </a:extLst>
            </p:cNvPr>
            <p:cNvSpPr/>
            <p:nvPr/>
          </p:nvSpPr>
          <p:spPr>
            <a:xfrm>
              <a:off x="6168537" y="2391810"/>
              <a:ext cx="879581" cy="254725"/>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grpSp>
      <p:cxnSp>
        <p:nvCxnSpPr>
          <p:cNvPr id="8" name="연결선: 꺾임 7">
            <a:extLst>
              <a:ext uri="{FF2B5EF4-FFF2-40B4-BE49-F238E27FC236}">
                <a16:creationId xmlns:a16="http://schemas.microsoft.com/office/drawing/2014/main" id="{27B4C965-AE2F-2383-DF18-E0E1C7FB8485}"/>
              </a:ext>
            </a:extLst>
          </p:cNvPr>
          <p:cNvCxnSpPr>
            <a:cxnSpLocks/>
            <a:stCxn id="5" idx="2"/>
            <a:endCxn id="10" idx="0"/>
          </p:cNvCxnSpPr>
          <p:nvPr/>
        </p:nvCxnSpPr>
        <p:spPr>
          <a:xfrm rot="5400000">
            <a:off x="1833658" y="2302540"/>
            <a:ext cx="669211" cy="423814"/>
          </a:xfrm>
          <a:prstGeom prst="bentConnector3">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그림 9">
            <a:extLst>
              <a:ext uri="{FF2B5EF4-FFF2-40B4-BE49-F238E27FC236}">
                <a16:creationId xmlns:a16="http://schemas.microsoft.com/office/drawing/2014/main" id="{7764E6EA-4628-61BF-1531-70990DEF137C}"/>
              </a:ext>
            </a:extLst>
          </p:cNvPr>
          <p:cNvPicPr>
            <a:picLocks noChangeAspect="1"/>
          </p:cNvPicPr>
          <p:nvPr/>
        </p:nvPicPr>
        <p:blipFill>
          <a:blip r:embed="rId4"/>
          <a:stretch>
            <a:fillRect/>
          </a:stretch>
        </p:blipFill>
        <p:spPr>
          <a:xfrm>
            <a:off x="194070" y="2849053"/>
            <a:ext cx="3524572" cy="2643051"/>
          </a:xfrm>
          <a:prstGeom prst="rect">
            <a:avLst/>
          </a:prstGeom>
          <a:ln w="22225">
            <a:solidFill>
              <a:srgbClr val="FF0000"/>
            </a:solidFill>
          </a:ln>
        </p:spPr>
      </p:pic>
      <p:sp>
        <p:nvSpPr>
          <p:cNvPr id="14" name="TextBox 13">
            <a:extLst>
              <a:ext uri="{FF2B5EF4-FFF2-40B4-BE49-F238E27FC236}">
                <a16:creationId xmlns:a16="http://schemas.microsoft.com/office/drawing/2014/main" id="{96C846EA-7795-7E11-698B-683BF9F0ACD1}"/>
              </a:ext>
            </a:extLst>
          </p:cNvPr>
          <p:cNvSpPr txBox="1"/>
          <p:nvPr/>
        </p:nvSpPr>
        <p:spPr>
          <a:xfrm>
            <a:off x="867784" y="5748493"/>
            <a:ext cx="2177143" cy="261610"/>
          </a:xfrm>
          <a:prstGeom prst="rect">
            <a:avLst/>
          </a:prstGeom>
          <a:noFill/>
        </p:spPr>
        <p:txBody>
          <a:bodyPr wrap="square" rtlCol="0">
            <a:spAutoFit/>
          </a:bodyPr>
          <a:lstStyle/>
          <a:p>
            <a:r>
              <a:rPr lang="en-US" altLang="ko-KR" sz="1100" b="1" dirty="0"/>
              <a:t>1. </a:t>
            </a:r>
            <a:r>
              <a:rPr lang="en-US" altLang="ko-KR" sz="1100" b="1" dirty="0" err="1"/>
              <a:t>Lựa</a:t>
            </a:r>
            <a:r>
              <a:rPr lang="en-US" altLang="ko-KR" sz="1100" b="1" dirty="0"/>
              <a:t> </a:t>
            </a:r>
            <a:r>
              <a:rPr lang="en-US" altLang="ko-KR" sz="1100" b="1" dirty="0" err="1"/>
              <a:t>chọn</a:t>
            </a:r>
            <a:r>
              <a:rPr lang="en-US" altLang="ko-KR" sz="1100" b="1" dirty="0"/>
              <a:t> </a:t>
            </a:r>
            <a:r>
              <a:rPr lang="en-US" altLang="ko-KR" sz="1100" b="1" dirty="0" err="1"/>
              <a:t>đối</a:t>
            </a:r>
            <a:r>
              <a:rPr lang="en-US" altLang="ko-KR" sz="1100" b="1" dirty="0"/>
              <a:t> </a:t>
            </a:r>
            <a:r>
              <a:rPr lang="en-US" altLang="ko-KR" sz="1100" b="1" dirty="0" err="1"/>
              <a:t>tác</a:t>
            </a:r>
            <a:r>
              <a:rPr lang="en-US" altLang="ko-KR" sz="1100" b="1" dirty="0"/>
              <a:t> </a:t>
            </a:r>
            <a:r>
              <a:rPr lang="en-US" altLang="ko-KR" sz="1100" b="1" dirty="0" err="1"/>
              <a:t>đặt</a:t>
            </a:r>
            <a:r>
              <a:rPr lang="en-US" altLang="ko-KR" sz="1100" b="1" dirty="0"/>
              <a:t> </a:t>
            </a:r>
            <a:r>
              <a:rPr lang="en-US" altLang="ko-KR" sz="1100" b="1" dirty="0" err="1"/>
              <a:t>hàng</a:t>
            </a:r>
            <a:endParaRPr lang="ko-KR" altLang="en-US" sz="1100" b="1" dirty="0"/>
          </a:p>
        </p:txBody>
      </p:sp>
      <p:pic>
        <p:nvPicPr>
          <p:cNvPr id="36" name="그림 35">
            <a:extLst>
              <a:ext uri="{FF2B5EF4-FFF2-40B4-BE49-F238E27FC236}">
                <a16:creationId xmlns:a16="http://schemas.microsoft.com/office/drawing/2014/main" id="{45BCFAA1-40F6-ADF4-CD4E-323C568FDC3C}"/>
              </a:ext>
            </a:extLst>
          </p:cNvPr>
          <p:cNvPicPr>
            <a:picLocks noChangeAspect="1"/>
          </p:cNvPicPr>
          <p:nvPr/>
        </p:nvPicPr>
        <p:blipFill>
          <a:blip r:embed="rId5"/>
          <a:stretch>
            <a:fillRect/>
          </a:stretch>
        </p:blipFill>
        <p:spPr>
          <a:xfrm>
            <a:off x="4280442" y="2810817"/>
            <a:ext cx="2133176" cy="2681287"/>
          </a:xfrm>
          <a:prstGeom prst="rect">
            <a:avLst/>
          </a:prstGeom>
          <a:ln w="22225">
            <a:solidFill>
              <a:srgbClr val="00B050"/>
            </a:solidFill>
          </a:ln>
        </p:spPr>
      </p:pic>
      <p:pic>
        <p:nvPicPr>
          <p:cNvPr id="38" name="그림 37">
            <a:extLst>
              <a:ext uri="{FF2B5EF4-FFF2-40B4-BE49-F238E27FC236}">
                <a16:creationId xmlns:a16="http://schemas.microsoft.com/office/drawing/2014/main" id="{561DB9CD-5A9F-6F06-6989-7775BAB2E9DD}"/>
              </a:ext>
            </a:extLst>
          </p:cNvPr>
          <p:cNvPicPr>
            <a:picLocks noChangeAspect="1"/>
          </p:cNvPicPr>
          <p:nvPr/>
        </p:nvPicPr>
        <p:blipFill>
          <a:blip r:embed="rId6"/>
          <a:stretch>
            <a:fillRect/>
          </a:stretch>
        </p:blipFill>
        <p:spPr>
          <a:xfrm>
            <a:off x="7007731" y="2796004"/>
            <a:ext cx="1942199" cy="2696099"/>
          </a:xfrm>
          <a:prstGeom prst="rect">
            <a:avLst/>
          </a:prstGeom>
          <a:ln w="22225">
            <a:solidFill>
              <a:srgbClr val="00B050"/>
            </a:solidFill>
          </a:ln>
        </p:spPr>
      </p:pic>
      <p:cxnSp>
        <p:nvCxnSpPr>
          <p:cNvPr id="43" name="연결선: 꺾임 42">
            <a:extLst>
              <a:ext uri="{FF2B5EF4-FFF2-40B4-BE49-F238E27FC236}">
                <a16:creationId xmlns:a16="http://schemas.microsoft.com/office/drawing/2014/main" id="{1FCA48E7-C6C2-9F3E-5FAF-0D455629AB1A}"/>
              </a:ext>
            </a:extLst>
          </p:cNvPr>
          <p:cNvCxnSpPr>
            <a:cxnSpLocks/>
            <a:stCxn id="42" idx="2"/>
            <a:endCxn id="36" idx="0"/>
          </p:cNvCxnSpPr>
          <p:nvPr/>
        </p:nvCxnSpPr>
        <p:spPr>
          <a:xfrm rot="5400000">
            <a:off x="5689328" y="1760994"/>
            <a:ext cx="707525" cy="1392120"/>
          </a:xfrm>
          <a:prstGeom prst="bent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8" name="화살표: 오른쪽 47">
            <a:extLst>
              <a:ext uri="{FF2B5EF4-FFF2-40B4-BE49-F238E27FC236}">
                <a16:creationId xmlns:a16="http://schemas.microsoft.com/office/drawing/2014/main" id="{C155316C-87F5-2D30-58C0-5F7C271B21EE}"/>
              </a:ext>
            </a:extLst>
          </p:cNvPr>
          <p:cNvSpPr/>
          <p:nvPr/>
        </p:nvSpPr>
        <p:spPr>
          <a:xfrm>
            <a:off x="6571337" y="3839979"/>
            <a:ext cx="278675" cy="917593"/>
          </a:xfrm>
          <a:prstGeom prst="rightArrow">
            <a:avLst/>
          </a:prstGeom>
          <a:solidFill>
            <a:srgbClr val="00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TextBox 48">
            <a:extLst>
              <a:ext uri="{FF2B5EF4-FFF2-40B4-BE49-F238E27FC236}">
                <a16:creationId xmlns:a16="http://schemas.microsoft.com/office/drawing/2014/main" id="{7064E75F-8CD8-7CDB-EA29-BD7DAD8CDB50}"/>
              </a:ext>
            </a:extLst>
          </p:cNvPr>
          <p:cNvSpPr txBox="1"/>
          <p:nvPr/>
        </p:nvSpPr>
        <p:spPr>
          <a:xfrm>
            <a:off x="5396917" y="5746725"/>
            <a:ext cx="2569570" cy="246221"/>
          </a:xfrm>
          <a:prstGeom prst="rect">
            <a:avLst/>
          </a:prstGeom>
          <a:noFill/>
        </p:spPr>
        <p:txBody>
          <a:bodyPr wrap="square" rtlCol="0">
            <a:spAutoFit/>
          </a:bodyPr>
          <a:lstStyle/>
          <a:p>
            <a:r>
              <a:rPr lang="en-US" altLang="ko-KR" sz="1000" b="1" dirty="0"/>
              <a:t>1. </a:t>
            </a:r>
            <a:r>
              <a:rPr lang="en-US" altLang="ko-KR" sz="1000" b="1" dirty="0" err="1"/>
              <a:t>Chọn</a:t>
            </a:r>
            <a:r>
              <a:rPr lang="en-US" altLang="ko-KR" sz="1000" b="1" dirty="0"/>
              <a:t> </a:t>
            </a:r>
            <a:r>
              <a:rPr lang="en-US" altLang="ko-KR" sz="1000" b="1" dirty="0" err="1"/>
              <a:t>định</a:t>
            </a:r>
            <a:r>
              <a:rPr lang="en-US" altLang="ko-KR" sz="1000" b="1" dirty="0"/>
              <a:t> </a:t>
            </a:r>
            <a:r>
              <a:rPr lang="en-US" altLang="ko-KR" sz="1000" b="1" dirty="0" err="1"/>
              <a:t>dạng</a:t>
            </a:r>
            <a:r>
              <a:rPr lang="en-US" altLang="ko-KR" sz="1000" b="1" dirty="0"/>
              <a:t> </a:t>
            </a:r>
            <a:r>
              <a:rPr lang="en-US" altLang="ko-KR" sz="1000" b="1" dirty="0" err="1"/>
              <a:t>tài</a:t>
            </a:r>
            <a:r>
              <a:rPr lang="en-US" altLang="ko-KR" sz="1000" b="1" dirty="0"/>
              <a:t> </a:t>
            </a:r>
            <a:r>
              <a:rPr lang="en-US" altLang="ko-KR" sz="1000" b="1" dirty="0" err="1"/>
              <a:t>liệu</a:t>
            </a:r>
            <a:r>
              <a:rPr lang="en-US" altLang="ko-KR" sz="1000" b="1" dirty="0"/>
              <a:t> </a:t>
            </a:r>
            <a:r>
              <a:rPr lang="en-US" altLang="ko-KR" sz="1000" b="1" dirty="0" err="1"/>
              <a:t>muốn</a:t>
            </a:r>
            <a:r>
              <a:rPr lang="en-US" altLang="ko-KR" sz="1000" b="1" dirty="0"/>
              <a:t> </a:t>
            </a:r>
            <a:r>
              <a:rPr lang="en-US" altLang="ko-KR" sz="1000" b="1" dirty="0" err="1"/>
              <a:t>kết</a:t>
            </a:r>
            <a:r>
              <a:rPr lang="en-US" altLang="ko-KR" sz="1000" b="1" dirty="0"/>
              <a:t> </a:t>
            </a:r>
            <a:r>
              <a:rPr lang="en-US" altLang="ko-KR" sz="1000" b="1" dirty="0" err="1"/>
              <a:t>nối</a:t>
            </a:r>
            <a:endParaRPr lang="ko-KR" altLang="en-US" sz="1000" b="1" dirty="0"/>
          </a:p>
        </p:txBody>
      </p:sp>
      <p:sp>
        <p:nvSpPr>
          <p:cNvPr id="53" name="TextBox 52">
            <a:extLst>
              <a:ext uri="{FF2B5EF4-FFF2-40B4-BE49-F238E27FC236}">
                <a16:creationId xmlns:a16="http://schemas.microsoft.com/office/drawing/2014/main" id="{6A7C3988-78F7-9240-5F1D-0600A721460C}"/>
              </a:ext>
            </a:extLst>
          </p:cNvPr>
          <p:cNvSpPr txBox="1"/>
          <p:nvPr/>
        </p:nvSpPr>
        <p:spPr>
          <a:xfrm>
            <a:off x="4422497" y="5973315"/>
            <a:ext cx="4576354" cy="246221"/>
          </a:xfrm>
          <a:prstGeom prst="rect">
            <a:avLst/>
          </a:prstGeom>
          <a:noFill/>
        </p:spPr>
        <p:txBody>
          <a:bodyPr wrap="square">
            <a:spAutoFit/>
          </a:bodyPr>
          <a:lstStyle/>
          <a:p>
            <a:r>
              <a:rPr lang="vi-VN" altLang="ko-KR" sz="1000" dirty="0"/>
              <a:t>Kết nối tài liệu nhóm cần chứng từ khi đặt hàng (ví dụ: đơn yêu cầu mua hàng)</a:t>
            </a:r>
            <a:endParaRPr lang="ko-KR" altLang="en-US" sz="1000" dirty="0"/>
          </a:p>
        </p:txBody>
      </p:sp>
      <p:sp>
        <p:nvSpPr>
          <p:cNvPr id="2" name="제목 1">
            <a:extLst>
              <a:ext uri="{FF2B5EF4-FFF2-40B4-BE49-F238E27FC236}">
                <a16:creationId xmlns:a16="http://schemas.microsoft.com/office/drawing/2014/main" id="{83B39ACB-09A9-14D0-F9CC-FE05E9D89627}"/>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Process Flow for Groupware Document (Purchase)</a:t>
            </a:r>
          </a:p>
        </p:txBody>
      </p:sp>
      <p:sp>
        <p:nvSpPr>
          <p:cNvPr id="11" name="Google Shape;100;p7">
            <a:extLst>
              <a:ext uri="{FF2B5EF4-FFF2-40B4-BE49-F238E27FC236}">
                <a16:creationId xmlns:a16="http://schemas.microsoft.com/office/drawing/2014/main" id="{D7764706-5B69-B48D-1630-2B6D1FA6E432}"/>
              </a:ext>
            </a:extLst>
          </p:cNvPr>
          <p:cNvSpPr/>
          <p:nvPr/>
        </p:nvSpPr>
        <p:spPr>
          <a:xfrm>
            <a:off x="159154" y="789126"/>
            <a:ext cx="8655120"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dirty="0">
                <a:solidFill>
                  <a:schemeClr val="tx1"/>
                </a:solidFill>
                <a:highlight>
                  <a:srgbClr val="FFFF00"/>
                </a:highlight>
                <a:latin typeface="+mn-ea"/>
                <a:ea typeface="+mn-ea"/>
                <a:cs typeface="Calibri"/>
                <a:sym typeface="Calibri"/>
              </a:rPr>
              <a:t>Purchase Order Registration Document ( Electronic document - Purchase )</a:t>
            </a:r>
            <a:endParaRPr sz="1200" b="1" i="0" u="none" strike="noStrike" cap="none" dirty="0">
              <a:solidFill>
                <a:schemeClr val="tx1"/>
              </a:solidFill>
              <a:highlight>
                <a:srgbClr val="FFFF00"/>
              </a:highlight>
              <a:latin typeface="+mn-ea"/>
              <a:ea typeface="+mn-ea"/>
              <a:cs typeface="Calibri"/>
              <a:sym typeface="Calibri"/>
            </a:endParaRPr>
          </a:p>
        </p:txBody>
      </p:sp>
      <p:sp>
        <p:nvSpPr>
          <p:cNvPr id="3" name="TextBox 2">
            <a:extLst>
              <a:ext uri="{FF2B5EF4-FFF2-40B4-BE49-F238E27FC236}">
                <a16:creationId xmlns:a16="http://schemas.microsoft.com/office/drawing/2014/main" id="{DBD50AEB-F63F-B788-8668-967F6E75AC46}"/>
              </a:ext>
            </a:extLst>
          </p:cNvPr>
          <p:cNvSpPr txBox="1"/>
          <p:nvPr/>
        </p:nvSpPr>
        <p:spPr>
          <a:xfrm>
            <a:off x="16256" y="5958855"/>
            <a:ext cx="4348297" cy="261610"/>
          </a:xfrm>
          <a:prstGeom prst="rect">
            <a:avLst/>
          </a:prstGeom>
          <a:noFill/>
        </p:spPr>
        <p:txBody>
          <a:bodyPr wrap="square" rtlCol="0">
            <a:spAutoFit/>
          </a:bodyPr>
          <a:lstStyle/>
          <a:p>
            <a:pPr algn="ctr"/>
            <a:r>
              <a:rPr lang="en-US" altLang="ko-KR" sz="1050" b="1" dirty="0" err="1">
                <a:solidFill>
                  <a:srgbClr val="FF0000"/>
                </a:solidFill>
              </a:rPr>
              <a:t>Đối</a:t>
            </a:r>
            <a:r>
              <a:rPr lang="en-US" altLang="ko-KR" sz="1050" b="1" dirty="0">
                <a:solidFill>
                  <a:srgbClr val="FF0000"/>
                </a:solidFill>
              </a:rPr>
              <a:t> </a:t>
            </a:r>
            <a:r>
              <a:rPr lang="en-US" altLang="ko-KR" sz="1050" b="1" dirty="0" err="1">
                <a:solidFill>
                  <a:srgbClr val="FF0000"/>
                </a:solidFill>
              </a:rPr>
              <a:t>với</a:t>
            </a:r>
            <a:r>
              <a:rPr lang="en-US" altLang="ko-KR" sz="1050" b="1" dirty="0">
                <a:solidFill>
                  <a:srgbClr val="FF0000"/>
                </a:solidFill>
              </a:rPr>
              <a:t> </a:t>
            </a:r>
            <a:r>
              <a:rPr lang="en-US" altLang="ko-KR" sz="1050" b="1" dirty="0" err="1">
                <a:solidFill>
                  <a:srgbClr val="FF0000"/>
                </a:solidFill>
              </a:rPr>
              <a:t>nhập</a:t>
            </a:r>
            <a:r>
              <a:rPr lang="en-US" altLang="ko-KR" sz="1050" b="1" dirty="0">
                <a:solidFill>
                  <a:srgbClr val="FF0000"/>
                </a:solidFill>
              </a:rPr>
              <a:t> </a:t>
            </a:r>
            <a:r>
              <a:rPr lang="en-US" altLang="ko-KR" sz="1050" b="1" dirty="0" err="1">
                <a:solidFill>
                  <a:srgbClr val="FF0000"/>
                </a:solidFill>
              </a:rPr>
              <a:t>trực</a:t>
            </a:r>
            <a:r>
              <a:rPr lang="en-US" altLang="ko-KR" sz="1050" b="1" dirty="0">
                <a:solidFill>
                  <a:srgbClr val="FF0000"/>
                </a:solidFill>
              </a:rPr>
              <a:t> </a:t>
            </a:r>
            <a:r>
              <a:rPr lang="en-US" altLang="ko-KR" sz="1050" b="1" dirty="0" err="1">
                <a:solidFill>
                  <a:srgbClr val="FF0000"/>
                </a:solidFill>
              </a:rPr>
              <a:t>tiếp</a:t>
            </a:r>
            <a:r>
              <a:rPr lang="en-US" altLang="ko-KR" sz="1050" b="1" dirty="0">
                <a:solidFill>
                  <a:srgbClr val="FF0000"/>
                </a:solidFill>
              </a:rPr>
              <a:t> </a:t>
            </a:r>
            <a:r>
              <a:rPr lang="en-US" altLang="ko-KR" sz="1050" b="1" dirty="0" err="1">
                <a:solidFill>
                  <a:srgbClr val="FF0000"/>
                </a:solidFill>
              </a:rPr>
              <a:t>từ</a:t>
            </a:r>
            <a:r>
              <a:rPr lang="en-US" altLang="ko-KR" sz="1050" b="1" dirty="0">
                <a:solidFill>
                  <a:srgbClr val="FF0000"/>
                </a:solidFill>
              </a:rPr>
              <a:t> HQ, </a:t>
            </a:r>
            <a:r>
              <a:rPr lang="en-US" altLang="ko-KR" sz="1050" b="1" dirty="0" err="1">
                <a:solidFill>
                  <a:srgbClr val="FF0000"/>
                </a:solidFill>
              </a:rPr>
              <a:t>cần</a:t>
            </a:r>
            <a:r>
              <a:rPr lang="en-US" altLang="ko-KR" sz="1050" b="1" dirty="0">
                <a:solidFill>
                  <a:srgbClr val="FF0000"/>
                </a:solidFill>
              </a:rPr>
              <a:t> </a:t>
            </a:r>
            <a:r>
              <a:rPr lang="en-US" altLang="ko-KR" sz="1050" b="1" dirty="0" err="1">
                <a:solidFill>
                  <a:srgbClr val="FF0000"/>
                </a:solidFill>
              </a:rPr>
              <a:t>chọn</a:t>
            </a:r>
            <a:r>
              <a:rPr lang="en-US" altLang="ko-KR" sz="1050" b="1" dirty="0">
                <a:solidFill>
                  <a:srgbClr val="FF0000"/>
                </a:solidFill>
              </a:rPr>
              <a:t> </a:t>
            </a:r>
            <a:r>
              <a:rPr lang="en-US" altLang="ko-KR" sz="1050" b="1" dirty="0" err="1">
                <a:solidFill>
                  <a:srgbClr val="FF0000"/>
                </a:solidFill>
              </a:rPr>
              <a:t>mã</a:t>
            </a:r>
            <a:r>
              <a:rPr lang="en-US" altLang="ko-KR" sz="1050" b="1" dirty="0">
                <a:solidFill>
                  <a:srgbClr val="FF0000"/>
                </a:solidFill>
              </a:rPr>
              <a:t> </a:t>
            </a:r>
            <a:r>
              <a:rPr lang="en-US" altLang="ko-KR" sz="1050" b="1" dirty="0" err="1">
                <a:solidFill>
                  <a:srgbClr val="FF0000"/>
                </a:solidFill>
              </a:rPr>
              <a:t>nhà</a:t>
            </a:r>
            <a:r>
              <a:rPr lang="en-US" altLang="ko-KR" sz="1050" b="1" dirty="0">
                <a:solidFill>
                  <a:srgbClr val="FF0000"/>
                </a:solidFill>
              </a:rPr>
              <a:t> </a:t>
            </a:r>
            <a:r>
              <a:rPr lang="en-US" altLang="ko-KR" sz="1050" b="1" dirty="0" err="1">
                <a:solidFill>
                  <a:srgbClr val="FF0000"/>
                </a:solidFill>
              </a:rPr>
              <a:t>cung</a:t>
            </a:r>
            <a:r>
              <a:rPr lang="en-US" altLang="ko-KR" sz="1050" b="1" dirty="0">
                <a:solidFill>
                  <a:srgbClr val="FF0000"/>
                </a:solidFill>
              </a:rPr>
              <a:t> </a:t>
            </a:r>
            <a:r>
              <a:rPr lang="en-US" altLang="ko-KR" sz="1050" b="1" dirty="0" err="1">
                <a:solidFill>
                  <a:srgbClr val="FF0000"/>
                </a:solidFill>
              </a:rPr>
              <a:t>cấp</a:t>
            </a:r>
            <a:r>
              <a:rPr lang="en-US" altLang="ko-KR" sz="1050" b="1" dirty="0">
                <a:solidFill>
                  <a:srgbClr val="FF0000"/>
                </a:solidFill>
              </a:rPr>
              <a:t> HQ.</a:t>
            </a:r>
            <a:endParaRPr lang="ko-KR" altLang="en-US" sz="1050" b="1" dirty="0">
              <a:solidFill>
                <a:srgbClr val="FF0000"/>
              </a:solidFill>
            </a:endParaRPr>
          </a:p>
        </p:txBody>
      </p:sp>
    </p:spTree>
    <p:extLst>
      <p:ext uri="{BB962C8B-B14F-4D97-AF65-F5344CB8AC3E}">
        <p14:creationId xmlns:p14="http://schemas.microsoft.com/office/powerpoint/2010/main" val="2686959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058A1-E21E-0AD4-9CE8-F7C338A26B6E}"/>
            </a:ext>
          </a:extLst>
        </p:cNvPr>
        <p:cNvGrpSpPr/>
        <p:nvPr/>
      </p:nvGrpSpPr>
      <p:grpSpPr>
        <a:xfrm>
          <a:off x="0" y="0"/>
          <a:ext cx="0" cy="0"/>
          <a:chOff x="0" y="0"/>
          <a:chExt cx="0" cy="0"/>
        </a:xfrm>
      </p:grpSpPr>
      <p:grpSp>
        <p:nvGrpSpPr>
          <p:cNvPr id="3" name="그룹 2">
            <a:extLst>
              <a:ext uri="{FF2B5EF4-FFF2-40B4-BE49-F238E27FC236}">
                <a16:creationId xmlns:a16="http://schemas.microsoft.com/office/drawing/2014/main" id="{E6B8B4F3-1C3E-794F-F88E-8105D87212D9}"/>
              </a:ext>
            </a:extLst>
          </p:cNvPr>
          <p:cNvGrpSpPr/>
          <p:nvPr/>
        </p:nvGrpSpPr>
        <p:grpSpPr>
          <a:xfrm>
            <a:off x="175372" y="1882677"/>
            <a:ext cx="8655120" cy="1844392"/>
            <a:chOff x="2286203" y="2662645"/>
            <a:chExt cx="6403752" cy="2584152"/>
          </a:xfrm>
        </p:grpSpPr>
        <p:pic>
          <p:nvPicPr>
            <p:cNvPr id="20" name="그림 19">
              <a:extLst>
                <a:ext uri="{FF2B5EF4-FFF2-40B4-BE49-F238E27FC236}">
                  <a16:creationId xmlns:a16="http://schemas.microsoft.com/office/drawing/2014/main" id="{4A3F1350-2C81-BE8F-B36B-C21DDF0839D6}"/>
                </a:ext>
              </a:extLst>
            </p:cNvPr>
            <p:cNvPicPr>
              <a:picLocks noChangeAspect="1"/>
            </p:cNvPicPr>
            <p:nvPr/>
          </p:nvPicPr>
          <p:blipFill>
            <a:blip r:embed="rId3"/>
            <a:stretch>
              <a:fillRect/>
            </a:stretch>
          </p:blipFill>
          <p:spPr>
            <a:xfrm>
              <a:off x="2286203" y="2662645"/>
              <a:ext cx="6403752" cy="2584152"/>
            </a:xfrm>
            <a:prstGeom prst="rect">
              <a:avLst/>
            </a:prstGeom>
          </p:spPr>
        </p:pic>
        <p:sp>
          <p:nvSpPr>
            <p:cNvPr id="25" name="타원 24">
              <a:extLst>
                <a:ext uri="{FF2B5EF4-FFF2-40B4-BE49-F238E27FC236}">
                  <a16:creationId xmlns:a16="http://schemas.microsoft.com/office/drawing/2014/main" id="{6FDD9E0C-19D0-51FC-6CAA-B894047BAE25}"/>
                </a:ext>
              </a:extLst>
            </p:cNvPr>
            <p:cNvSpPr/>
            <p:nvPr/>
          </p:nvSpPr>
          <p:spPr>
            <a:xfrm>
              <a:off x="2786743" y="3914501"/>
              <a:ext cx="174172" cy="17547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1</a:t>
              </a:r>
              <a:endParaRPr lang="ko-KR" altLang="en-US" sz="900" dirty="0"/>
            </a:p>
          </p:txBody>
        </p:sp>
        <p:sp>
          <p:nvSpPr>
            <p:cNvPr id="26" name="타원 25">
              <a:extLst>
                <a:ext uri="{FF2B5EF4-FFF2-40B4-BE49-F238E27FC236}">
                  <a16:creationId xmlns:a16="http://schemas.microsoft.com/office/drawing/2014/main" id="{E061B101-B155-5172-37DA-93B4D9B917C3}"/>
                </a:ext>
              </a:extLst>
            </p:cNvPr>
            <p:cNvSpPr/>
            <p:nvPr/>
          </p:nvSpPr>
          <p:spPr>
            <a:xfrm>
              <a:off x="4397828" y="3914501"/>
              <a:ext cx="174172" cy="17547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2</a:t>
              </a:r>
              <a:endParaRPr lang="ko-KR" altLang="en-US" sz="900" dirty="0"/>
            </a:p>
          </p:txBody>
        </p:sp>
        <p:sp>
          <p:nvSpPr>
            <p:cNvPr id="27" name="타원 26">
              <a:extLst>
                <a:ext uri="{FF2B5EF4-FFF2-40B4-BE49-F238E27FC236}">
                  <a16:creationId xmlns:a16="http://schemas.microsoft.com/office/drawing/2014/main" id="{7742BCB4-0162-65DB-A1F2-43C1A8F1CA2A}"/>
                </a:ext>
              </a:extLst>
            </p:cNvPr>
            <p:cNvSpPr/>
            <p:nvPr/>
          </p:nvSpPr>
          <p:spPr>
            <a:xfrm>
              <a:off x="5921827" y="3914501"/>
              <a:ext cx="174172" cy="17547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3</a:t>
              </a:r>
              <a:endParaRPr lang="ko-KR" altLang="en-US" sz="900" dirty="0"/>
            </a:p>
          </p:txBody>
        </p:sp>
        <p:sp>
          <p:nvSpPr>
            <p:cNvPr id="28" name="타원 27">
              <a:extLst>
                <a:ext uri="{FF2B5EF4-FFF2-40B4-BE49-F238E27FC236}">
                  <a16:creationId xmlns:a16="http://schemas.microsoft.com/office/drawing/2014/main" id="{23817885-C2EB-EDF4-E6D8-56C9472FA5D0}"/>
                </a:ext>
              </a:extLst>
            </p:cNvPr>
            <p:cNvSpPr/>
            <p:nvPr/>
          </p:nvSpPr>
          <p:spPr>
            <a:xfrm>
              <a:off x="7741918" y="3914501"/>
              <a:ext cx="174172" cy="17547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4</a:t>
              </a:r>
              <a:endParaRPr lang="ko-KR" altLang="en-US" sz="900" dirty="0"/>
            </a:p>
          </p:txBody>
        </p:sp>
        <p:sp>
          <p:nvSpPr>
            <p:cNvPr id="29" name="타원 28">
              <a:extLst>
                <a:ext uri="{FF2B5EF4-FFF2-40B4-BE49-F238E27FC236}">
                  <a16:creationId xmlns:a16="http://schemas.microsoft.com/office/drawing/2014/main" id="{61D38104-671B-F4F8-F1AD-63C232116732}"/>
                </a:ext>
              </a:extLst>
            </p:cNvPr>
            <p:cNvSpPr/>
            <p:nvPr/>
          </p:nvSpPr>
          <p:spPr>
            <a:xfrm>
              <a:off x="2786743" y="4492910"/>
              <a:ext cx="174172" cy="17547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5</a:t>
              </a:r>
              <a:endParaRPr lang="ko-KR" altLang="en-US" sz="900" dirty="0"/>
            </a:p>
          </p:txBody>
        </p:sp>
        <p:sp>
          <p:nvSpPr>
            <p:cNvPr id="30" name="타원 29">
              <a:extLst>
                <a:ext uri="{FF2B5EF4-FFF2-40B4-BE49-F238E27FC236}">
                  <a16:creationId xmlns:a16="http://schemas.microsoft.com/office/drawing/2014/main" id="{FB783E9A-C011-14B6-5136-0D855D0EDB34}"/>
                </a:ext>
              </a:extLst>
            </p:cNvPr>
            <p:cNvSpPr/>
            <p:nvPr/>
          </p:nvSpPr>
          <p:spPr>
            <a:xfrm>
              <a:off x="4397828" y="4492910"/>
              <a:ext cx="174172" cy="17547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6</a:t>
              </a:r>
              <a:endParaRPr lang="ko-KR" altLang="en-US" sz="900" dirty="0"/>
            </a:p>
          </p:txBody>
        </p:sp>
        <p:sp>
          <p:nvSpPr>
            <p:cNvPr id="31" name="타원 30">
              <a:extLst>
                <a:ext uri="{FF2B5EF4-FFF2-40B4-BE49-F238E27FC236}">
                  <a16:creationId xmlns:a16="http://schemas.microsoft.com/office/drawing/2014/main" id="{B1F09073-796F-8B1A-32D0-F3517BF69706}"/>
                </a:ext>
              </a:extLst>
            </p:cNvPr>
            <p:cNvSpPr/>
            <p:nvPr/>
          </p:nvSpPr>
          <p:spPr>
            <a:xfrm>
              <a:off x="5921827" y="4492910"/>
              <a:ext cx="174172" cy="17547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7</a:t>
              </a:r>
              <a:endParaRPr lang="ko-KR" altLang="en-US" sz="900" dirty="0"/>
            </a:p>
          </p:txBody>
        </p:sp>
        <p:sp>
          <p:nvSpPr>
            <p:cNvPr id="32" name="타원 31">
              <a:extLst>
                <a:ext uri="{FF2B5EF4-FFF2-40B4-BE49-F238E27FC236}">
                  <a16:creationId xmlns:a16="http://schemas.microsoft.com/office/drawing/2014/main" id="{E249A0F6-70A8-A55F-3015-83CB00B7E01F}"/>
                </a:ext>
              </a:extLst>
            </p:cNvPr>
            <p:cNvSpPr/>
            <p:nvPr/>
          </p:nvSpPr>
          <p:spPr>
            <a:xfrm>
              <a:off x="7358740" y="4492910"/>
              <a:ext cx="174172" cy="17547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8</a:t>
              </a:r>
              <a:endParaRPr lang="ko-KR" altLang="en-US" sz="900" dirty="0"/>
            </a:p>
          </p:txBody>
        </p:sp>
      </p:grpSp>
      <p:sp>
        <p:nvSpPr>
          <p:cNvPr id="11" name="직사각형 10">
            <a:extLst>
              <a:ext uri="{FF2B5EF4-FFF2-40B4-BE49-F238E27FC236}">
                <a16:creationId xmlns:a16="http://schemas.microsoft.com/office/drawing/2014/main" id="{F35AAFA9-1F27-D42E-2524-64D64C0962A9}"/>
              </a:ext>
            </a:extLst>
          </p:cNvPr>
          <p:cNvSpPr/>
          <p:nvPr/>
        </p:nvSpPr>
        <p:spPr>
          <a:xfrm>
            <a:off x="6444343" y="2176943"/>
            <a:ext cx="696686" cy="182880"/>
          </a:xfrm>
          <a:prstGeom prst="rect">
            <a:avLst/>
          </a:prstGeom>
          <a:noFill/>
          <a:ln w="28575">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 name="연결선: 꺾임 14">
            <a:extLst>
              <a:ext uri="{FF2B5EF4-FFF2-40B4-BE49-F238E27FC236}">
                <a16:creationId xmlns:a16="http://schemas.microsoft.com/office/drawing/2014/main" id="{1A2266DB-4A8E-5722-6E25-E35D15CB9FD7}"/>
              </a:ext>
            </a:extLst>
          </p:cNvPr>
          <p:cNvCxnSpPr>
            <a:cxnSpLocks/>
            <a:stCxn id="11" idx="0"/>
          </p:cNvCxnSpPr>
          <p:nvPr/>
        </p:nvCxnSpPr>
        <p:spPr>
          <a:xfrm rot="16200000" flipV="1">
            <a:off x="6701701" y="2085958"/>
            <a:ext cx="175621" cy="6350"/>
          </a:xfrm>
          <a:prstGeom prst="bentConnector3">
            <a:avLst>
              <a:gd name="adj1" fmla="val 50000"/>
            </a:avLst>
          </a:prstGeom>
          <a:ln w="2222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6" name="Google Shape;100;p7">
            <a:extLst>
              <a:ext uri="{FF2B5EF4-FFF2-40B4-BE49-F238E27FC236}">
                <a16:creationId xmlns:a16="http://schemas.microsoft.com/office/drawing/2014/main" id="{83FCDE76-A448-88B3-E2E2-F52A79D7B04C}"/>
              </a:ext>
            </a:extLst>
          </p:cNvPr>
          <p:cNvSpPr/>
          <p:nvPr/>
        </p:nvSpPr>
        <p:spPr>
          <a:xfrm>
            <a:off x="159154" y="789126"/>
            <a:ext cx="8655120"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dirty="0">
                <a:solidFill>
                  <a:schemeClr val="tx1"/>
                </a:solidFill>
                <a:highlight>
                  <a:srgbClr val="FFFF00"/>
                </a:highlight>
                <a:latin typeface="+mn-ea"/>
                <a:ea typeface="+mn-ea"/>
                <a:cs typeface="Calibri"/>
                <a:sym typeface="Calibri"/>
              </a:rPr>
              <a:t>Purchase Order Registration Document ( Electronic document - Purchase )</a:t>
            </a:r>
            <a:endParaRPr sz="1200" b="1" i="0" u="none" strike="noStrike" cap="none" dirty="0">
              <a:solidFill>
                <a:schemeClr val="tx1"/>
              </a:solidFill>
              <a:highlight>
                <a:srgbClr val="FFFF00"/>
              </a:highlight>
              <a:latin typeface="+mn-ea"/>
              <a:ea typeface="+mn-ea"/>
              <a:cs typeface="Calibri"/>
              <a:sym typeface="Calibri"/>
            </a:endParaRPr>
          </a:p>
        </p:txBody>
      </p:sp>
      <p:grpSp>
        <p:nvGrpSpPr>
          <p:cNvPr id="24" name="그룹 23">
            <a:extLst>
              <a:ext uri="{FF2B5EF4-FFF2-40B4-BE49-F238E27FC236}">
                <a16:creationId xmlns:a16="http://schemas.microsoft.com/office/drawing/2014/main" id="{107A0097-A8DC-AD5F-02C5-EE35CB2B8DD8}"/>
              </a:ext>
            </a:extLst>
          </p:cNvPr>
          <p:cNvGrpSpPr/>
          <p:nvPr/>
        </p:nvGrpSpPr>
        <p:grpSpPr>
          <a:xfrm>
            <a:off x="175372" y="3809009"/>
            <a:ext cx="8679718" cy="2488301"/>
            <a:chOff x="2286204" y="5514736"/>
            <a:chExt cx="5751555" cy="1193263"/>
          </a:xfrm>
        </p:grpSpPr>
        <p:sp>
          <p:nvSpPr>
            <p:cNvPr id="21" name="TextBox 20">
              <a:extLst>
                <a:ext uri="{FF2B5EF4-FFF2-40B4-BE49-F238E27FC236}">
                  <a16:creationId xmlns:a16="http://schemas.microsoft.com/office/drawing/2014/main" id="{84D4E1E6-2330-9462-4FAC-6395AEB3D016}"/>
                </a:ext>
              </a:extLst>
            </p:cNvPr>
            <p:cNvSpPr txBox="1"/>
            <p:nvPr/>
          </p:nvSpPr>
          <p:spPr>
            <a:xfrm>
              <a:off x="2286204" y="5514736"/>
              <a:ext cx="1972288" cy="147594"/>
            </a:xfrm>
            <a:prstGeom prst="rect">
              <a:avLst/>
            </a:prstGeom>
            <a:noFill/>
          </p:spPr>
          <p:txBody>
            <a:bodyPr wrap="square" rtlCol="0">
              <a:spAutoFit/>
            </a:bodyPr>
            <a:lstStyle/>
            <a:p>
              <a:r>
                <a:rPr lang="en-US" altLang="ko-KR" b="1" dirty="0"/>
                <a:t>2. </a:t>
              </a:r>
              <a:r>
                <a:rPr lang="en-US" altLang="ko-KR" b="1" dirty="0" err="1"/>
                <a:t>Nhập</a:t>
              </a:r>
              <a:r>
                <a:rPr lang="en-US" altLang="ko-KR" b="1" dirty="0"/>
                <a:t> </a:t>
              </a:r>
              <a:r>
                <a:rPr lang="en-US" altLang="ko-KR" b="1" dirty="0" err="1"/>
                <a:t>thông</a:t>
              </a:r>
              <a:r>
                <a:rPr lang="en-US" altLang="ko-KR" b="1" dirty="0"/>
                <a:t> tin </a:t>
              </a:r>
              <a:r>
                <a:rPr lang="en-US" altLang="ko-KR" b="1" dirty="0" err="1"/>
                <a:t>đặt</a:t>
              </a:r>
              <a:r>
                <a:rPr lang="en-US" altLang="ko-KR" b="1" dirty="0"/>
                <a:t> </a:t>
              </a:r>
              <a:r>
                <a:rPr lang="en-US" altLang="ko-KR" b="1" dirty="0" err="1"/>
                <a:t>hàng</a:t>
              </a:r>
              <a:endParaRPr lang="ko-KR" altLang="en-US" b="1" dirty="0"/>
            </a:p>
          </p:txBody>
        </p:sp>
        <p:sp>
          <p:nvSpPr>
            <p:cNvPr id="23" name="TextBox 22">
              <a:extLst>
                <a:ext uri="{FF2B5EF4-FFF2-40B4-BE49-F238E27FC236}">
                  <a16:creationId xmlns:a16="http://schemas.microsoft.com/office/drawing/2014/main" id="{619FE748-D79E-2C2C-FA55-E31661094A15}"/>
                </a:ext>
              </a:extLst>
            </p:cNvPr>
            <p:cNvSpPr txBox="1"/>
            <p:nvPr/>
          </p:nvSpPr>
          <p:spPr>
            <a:xfrm>
              <a:off x="2380169" y="5678315"/>
              <a:ext cx="5657590" cy="1029684"/>
            </a:xfrm>
            <a:prstGeom prst="rect">
              <a:avLst/>
            </a:prstGeom>
            <a:noFill/>
          </p:spPr>
          <p:txBody>
            <a:bodyPr wrap="none" rtlCol="0">
              <a:spAutoFit/>
            </a:bodyPr>
            <a:lstStyle/>
            <a:p>
              <a:pPr>
                <a:lnSpc>
                  <a:spcPts val="1800"/>
                </a:lnSpc>
              </a:pPr>
              <a:r>
                <a:rPr lang="en-US" altLang="ko-KR" sz="1200" b="1" dirty="0"/>
                <a:t>1) </a:t>
              </a:r>
              <a:r>
                <a:rPr lang="en-US" altLang="ko-KR" sz="1200" b="1" dirty="0" err="1"/>
                <a:t>Ngày</a:t>
              </a:r>
              <a:r>
                <a:rPr lang="en-US" altLang="ko-KR" sz="1200" b="1" dirty="0"/>
                <a:t> </a:t>
              </a:r>
              <a:r>
                <a:rPr lang="en-US" altLang="ko-KR" sz="1200" b="1" dirty="0" err="1"/>
                <a:t>đặt</a:t>
              </a:r>
              <a:r>
                <a:rPr lang="en-US" altLang="ko-KR" sz="1200" b="1" dirty="0"/>
                <a:t> hang : </a:t>
              </a:r>
              <a:r>
                <a:rPr lang="en-US" altLang="ko-KR" sz="1200" dirty="0" err="1"/>
                <a:t>Ngày</a:t>
              </a:r>
              <a:r>
                <a:rPr lang="en-US" altLang="ko-KR" sz="1200" dirty="0"/>
                <a:t> </a:t>
              </a:r>
              <a:r>
                <a:rPr lang="en-US" altLang="ko-KR" sz="1200" dirty="0" err="1"/>
                <a:t>mua</a:t>
              </a:r>
              <a:r>
                <a:rPr lang="en-US" altLang="ko-KR" sz="1200" dirty="0"/>
                <a:t> </a:t>
              </a:r>
              <a:r>
                <a:rPr lang="en-US" altLang="ko-KR" sz="1200" dirty="0" err="1"/>
                <a:t>hàng</a:t>
              </a:r>
              <a:r>
                <a:rPr lang="en-US" altLang="ko-KR" sz="1200" dirty="0"/>
                <a:t> </a:t>
              </a:r>
              <a:r>
                <a:rPr lang="en-US" altLang="ko-KR" sz="1200" dirty="0" err="1"/>
                <a:t>từ</a:t>
              </a:r>
              <a:r>
                <a:rPr lang="en-US" altLang="ko-KR" sz="1200" dirty="0"/>
                <a:t> </a:t>
              </a:r>
              <a:r>
                <a:rPr lang="en-US" altLang="ko-KR" sz="1200" dirty="0" err="1"/>
                <a:t>đối</a:t>
              </a:r>
              <a:r>
                <a:rPr lang="en-US" altLang="ko-KR" sz="1200" dirty="0"/>
                <a:t> </a:t>
              </a:r>
              <a:r>
                <a:rPr lang="en-US" altLang="ko-KR" sz="1200" dirty="0" err="1"/>
                <a:t>tác</a:t>
              </a:r>
              <a:br>
                <a:rPr lang="en-US" altLang="ko-KR" sz="1200" dirty="0"/>
              </a:br>
              <a:r>
                <a:rPr lang="en-US" altLang="ko-KR" sz="1200" b="1" dirty="0"/>
                <a:t>2) </a:t>
              </a:r>
              <a:r>
                <a:rPr lang="en-US" altLang="ko-KR" sz="1200" b="1" dirty="0" err="1"/>
                <a:t>Hình</a:t>
              </a:r>
              <a:r>
                <a:rPr lang="en-US" altLang="ko-KR" sz="1200" b="1" dirty="0"/>
                <a:t> </a:t>
              </a:r>
              <a:r>
                <a:rPr lang="en-US" altLang="ko-KR" sz="1200" b="1" dirty="0" err="1"/>
                <a:t>thức</a:t>
              </a:r>
              <a:r>
                <a:rPr lang="en-US" altLang="ko-KR" sz="1200" b="1" dirty="0"/>
                <a:t> </a:t>
              </a:r>
              <a:r>
                <a:rPr lang="en-US" altLang="ko-KR" sz="1200" b="1" dirty="0" err="1"/>
                <a:t>đặt</a:t>
              </a:r>
              <a:r>
                <a:rPr lang="en-US" altLang="ko-KR" sz="1200" b="1" dirty="0"/>
                <a:t> hang : </a:t>
              </a:r>
              <a:br>
                <a:rPr lang="en-US" altLang="ko-KR" sz="1200" b="1" dirty="0"/>
              </a:br>
              <a:r>
                <a:rPr lang="en-US" altLang="ko-KR" sz="1200" b="1" dirty="0"/>
                <a:t>    - </a:t>
              </a:r>
              <a:r>
                <a:rPr lang="vi-VN" altLang="ko-KR" sz="1200" dirty="0"/>
                <a:t>Chọn giao dịch trong nước, giao dịch quốc tế, bao gồm thuế GTGT, v.v.</a:t>
              </a:r>
              <a:br>
                <a:rPr lang="en-US" altLang="ko-KR" sz="1200" dirty="0"/>
              </a:br>
              <a:r>
                <a:rPr lang="en-US" altLang="ko-KR" sz="1200" dirty="0"/>
                <a:t>    - </a:t>
              </a:r>
              <a:r>
                <a:rPr lang="vi-VN" altLang="ko-KR" sz="1200" dirty="0"/>
                <a:t>Tùy theo giao dịch trong nước hay nhập khẩu, quá trình nhập kho, nhập hàng và hoàn tất sẽ được áp dụng khác nhau.</a:t>
              </a:r>
              <a:br>
                <a:rPr lang="en-US" altLang="ko-KR" sz="1200" dirty="0"/>
              </a:br>
              <a:r>
                <a:rPr lang="en-US" altLang="ko-KR" sz="1200" b="1" dirty="0"/>
                <a:t>3) </a:t>
              </a:r>
              <a:r>
                <a:rPr lang="en-US" altLang="ko-KR" sz="1200" b="1" dirty="0" err="1"/>
                <a:t>Phân</a:t>
              </a:r>
              <a:r>
                <a:rPr lang="en-US" altLang="ko-KR" sz="1200" b="1" dirty="0"/>
                <a:t> </a:t>
              </a:r>
              <a:r>
                <a:rPr lang="en-US" altLang="ko-KR" sz="1200" b="1" dirty="0" err="1"/>
                <a:t>loại</a:t>
              </a:r>
              <a:r>
                <a:rPr lang="en-US" altLang="ko-KR" sz="1200" b="1" dirty="0"/>
                <a:t> </a:t>
              </a:r>
              <a:r>
                <a:rPr lang="en-US" altLang="ko-KR" sz="1200" b="1" dirty="0" err="1"/>
                <a:t>mua</a:t>
              </a:r>
              <a:r>
                <a:rPr lang="en-US" altLang="ko-KR" sz="1200" b="1" dirty="0"/>
                <a:t> hang :</a:t>
              </a:r>
              <a:r>
                <a:rPr lang="en-US" altLang="ko-KR" sz="1200" dirty="0"/>
                <a:t> </a:t>
              </a:r>
              <a:r>
                <a:rPr lang="en-US" altLang="ko-KR" sz="1200" dirty="0" err="1"/>
                <a:t>Chọn</a:t>
              </a:r>
              <a:r>
                <a:rPr lang="en-US" altLang="ko-KR" sz="1200" dirty="0"/>
                <a:t> </a:t>
              </a:r>
              <a:r>
                <a:rPr lang="en-US" altLang="ko-KR" sz="1200" dirty="0" err="1"/>
                <a:t>mua</a:t>
              </a:r>
              <a:r>
                <a:rPr lang="en-US" altLang="ko-KR" sz="1200" dirty="0"/>
                <a:t> </a:t>
              </a:r>
              <a:r>
                <a:rPr lang="en-US" altLang="ko-KR" sz="1200" dirty="0" err="1"/>
                <a:t>nguyên</a:t>
              </a:r>
              <a:r>
                <a:rPr lang="en-US" altLang="ko-KR" sz="1200" dirty="0"/>
                <a:t> </a:t>
              </a:r>
              <a:r>
                <a:rPr lang="en-US" altLang="ko-KR" sz="1200" dirty="0" err="1"/>
                <a:t>vật</a:t>
              </a:r>
              <a:r>
                <a:rPr lang="en-US" altLang="ko-KR" sz="1200" dirty="0"/>
                <a:t> </a:t>
              </a:r>
              <a:r>
                <a:rPr lang="en-US" altLang="ko-KR" sz="1200" dirty="0" err="1"/>
                <a:t>liệu</a:t>
              </a:r>
              <a:r>
                <a:rPr lang="en-US" altLang="ko-KR" sz="1200" dirty="0"/>
                <a:t> hay </a:t>
              </a:r>
              <a:r>
                <a:rPr lang="en-US" altLang="ko-KR" sz="1200" dirty="0" err="1"/>
                <a:t>mua</a:t>
              </a:r>
              <a:r>
                <a:rPr lang="en-US" altLang="ko-KR" sz="1200" dirty="0"/>
                <a:t> </a:t>
              </a:r>
              <a:r>
                <a:rPr lang="en-US" altLang="ko-KR" sz="1200" dirty="0" err="1"/>
                <a:t>gia</a:t>
              </a:r>
              <a:r>
                <a:rPr lang="en-US" altLang="ko-KR" sz="1200" dirty="0"/>
                <a:t> </a:t>
              </a:r>
              <a:r>
                <a:rPr lang="en-US" altLang="ko-KR" sz="1200" dirty="0" err="1"/>
                <a:t>công</a:t>
              </a:r>
              <a:r>
                <a:rPr lang="en-US" altLang="ko-KR" sz="1200" dirty="0"/>
                <a:t> </a:t>
              </a:r>
              <a:r>
                <a:rPr lang="en-US" altLang="ko-KR" sz="1200" dirty="0" err="1"/>
                <a:t>ngoài</a:t>
              </a:r>
              <a:br>
                <a:rPr lang="en-US" altLang="ko-KR" sz="1200" dirty="0"/>
              </a:br>
              <a:r>
                <a:rPr lang="en-US" altLang="ko-KR" sz="1200" b="1" dirty="0"/>
                <a:t>4) </a:t>
              </a:r>
              <a:r>
                <a:rPr lang="en-US" altLang="ko-KR" sz="1200" b="1" dirty="0" err="1"/>
                <a:t>Loại</a:t>
              </a:r>
              <a:r>
                <a:rPr lang="en-US" altLang="ko-KR" sz="1200" b="1" dirty="0"/>
                <a:t> </a:t>
              </a:r>
              <a:r>
                <a:rPr lang="en-US" altLang="ko-KR" sz="1200" b="1" dirty="0" err="1"/>
                <a:t>hình</a:t>
              </a:r>
              <a:r>
                <a:rPr lang="en-US" altLang="ko-KR" sz="1200" b="1" dirty="0"/>
                <a:t> </a:t>
              </a:r>
              <a:r>
                <a:rPr lang="en-US" altLang="ko-KR" sz="1200" b="1" dirty="0" err="1"/>
                <a:t>thanh</a:t>
              </a:r>
              <a:r>
                <a:rPr lang="en-US" altLang="ko-KR" sz="1200" b="1" dirty="0"/>
                <a:t> </a:t>
              </a:r>
              <a:r>
                <a:rPr lang="en-US" altLang="ko-KR" sz="1200" b="1" dirty="0" err="1"/>
                <a:t>toán</a:t>
              </a:r>
              <a:r>
                <a:rPr lang="en-US" altLang="ko-KR" sz="1200" b="1" dirty="0"/>
                <a:t> :</a:t>
              </a:r>
              <a:r>
                <a:rPr lang="en-US" altLang="ko-KR" sz="1200" dirty="0"/>
                <a:t> </a:t>
              </a:r>
              <a:r>
                <a:rPr lang="en-US" altLang="ko-KR" sz="1200" dirty="0" err="1"/>
                <a:t>Chọn</a:t>
              </a:r>
              <a:r>
                <a:rPr lang="en-US" altLang="ko-KR" sz="1200" dirty="0"/>
                <a:t> </a:t>
              </a:r>
              <a:r>
                <a:rPr lang="en-US" altLang="ko-KR" sz="1200" dirty="0" err="1"/>
                <a:t>hình</a:t>
              </a:r>
              <a:r>
                <a:rPr lang="en-US" altLang="ko-KR" sz="1200" dirty="0"/>
                <a:t> </a:t>
              </a:r>
              <a:r>
                <a:rPr lang="en-US" altLang="ko-KR" sz="1200" dirty="0" err="1"/>
                <a:t>thức</a:t>
              </a:r>
              <a:r>
                <a:rPr lang="en-US" altLang="ko-KR" sz="1200" dirty="0"/>
                <a:t> </a:t>
              </a:r>
              <a:r>
                <a:rPr lang="en-US" altLang="ko-KR" sz="1200" dirty="0" err="1"/>
                <a:t>thanh</a:t>
              </a:r>
              <a:r>
                <a:rPr lang="en-US" altLang="ko-KR" sz="1200" dirty="0"/>
                <a:t> </a:t>
              </a:r>
              <a:r>
                <a:rPr lang="en-US" altLang="ko-KR" sz="1200" dirty="0" err="1"/>
                <a:t>toán</a:t>
              </a:r>
              <a:br>
                <a:rPr lang="en-US" altLang="ko-KR" sz="1200" dirty="0"/>
              </a:br>
              <a:r>
                <a:rPr lang="en-US" altLang="ko-KR" sz="1200" b="1" dirty="0"/>
                <a:t>5) </a:t>
              </a:r>
              <a:r>
                <a:rPr lang="vi-VN" altLang="ko-KR" sz="1200" b="1" dirty="0"/>
                <a:t>Phân loại đơn giá</a:t>
              </a:r>
              <a:r>
                <a:rPr lang="en-US" altLang="ko-KR" sz="1200" b="1" dirty="0"/>
                <a:t> :</a:t>
              </a:r>
              <a:r>
                <a:rPr lang="en-US" altLang="ko-KR" sz="1200" dirty="0"/>
                <a:t> </a:t>
              </a:r>
              <a:r>
                <a:rPr lang="vi-VN" altLang="ko-KR" sz="1200" dirty="0"/>
                <a:t>Chọn đơn giá của mặt hàng mua là giá bình thường hay giá giảm</a:t>
              </a:r>
              <a:br>
                <a:rPr lang="en-US" altLang="ko-KR" sz="1200" dirty="0"/>
              </a:br>
              <a:r>
                <a:rPr lang="en-US" altLang="ko-KR" sz="1200" b="1" dirty="0"/>
                <a:t>6) </a:t>
              </a:r>
              <a:r>
                <a:rPr lang="en-US" altLang="ko-KR" sz="1200" b="1" dirty="0" err="1"/>
                <a:t>Thuế</a:t>
              </a:r>
              <a:r>
                <a:rPr lang="en-US" altLang="ko-KR" sz="1200" b="1" dirty="0"/>
                <a:t> </a:t>
              </a:r>
              <a:r>
                <a:rPr lang="en-US" altLang="ko-KR" sz="1200" b="1" dirty="0" err="1"/>
                <a:t>giá</a:t>
              </a:r>
              <a:r>
                <a:rPr lang="en-US" altLang="ko-KR" sz="1200" b="1" dirty="0"/>
                <a:t> </a:t>
              </a:r>
              <a:r>
                <a:rPr lang="en-US" altLang="ko-KR" sz="1200" b="1" dirty="0" err="1"/>
                <a:t>trị</a:t>
              </a:r>
              <a:r>
                <a:rPr lang="en-US" altLang="ko-KR" sz="1200" b="1" dirty="0"/>
                <a:t> </a:t>
              </a:r>
              <a:r>
                <a:rPr lang="en-US" altLang="ko-KR" sz="1200" b="1" dirty="0" err="1"/>
                <a:t>gia</a:t>
              </a:r>
              <a:r>
                <a:rPr lang="en-US" altLang="ko-KR" sz="1200" b="1" dirty="0"/>
                <a:t> </a:t>
              </a:r>
              <a:r>
                <a:rPr lang="en-US" altLang="ko-KR" sz="1200" b="1" dirty="0" err="1"/>
                <a:t>tăng</a:t>
              </a:r>
              <a:r>
                <a:rPr lang="en-US" altLang="ko-KR" sz="1200" b="1" dirty="0"/>
                <a:t> (VAT)</a:t>
              </a:r>
              <a:br>
                <a:rPr lang="en-US" altLang="ko-KR" sz="1200" b="1" dirty="0"/>
              </a:br>
              <a:r>
                <a:rPr lang="en-US" altLang="ko-KR" sz="1200" b="1" dirty="0"/>
                <a:t>7) </a:t>
              </a:r>
              <a:r>
                <a:rPr lang="vi-VN" altLang="ko-KR" sz="1200" b="1" dirty="0"/>
                <a:t>Đơn vị tiền tệ, tỷ giá hối đoái</a:t>
              </a:r>
              <a:r>
                <a:rPr lang="en-US" altLang="ko-KR" sz="1200" b="1" dirty="0"/>
                <a:t> :</a:t>
              </a:r>
              <a:r>
                <a:rPr lang="en-US" altLang="ko-KR" sz="1200" dirty="0"/>
                <a:t> </a:t>
              </a:r>
              <a:r>
                <a:rPr lang="en-US" altLang="ko-KR" sz="1200" dirty="0" err="1"/>
                <a:t>Tự</a:t>
              </a:r>
              <a:r>
                <a:rPr lang="en-US" altLang="ko-KR" sz="1200" dirty="0"/>
                <a:t> </a:t>
              </a:r>
              <a:r>
                <a:rPr lang="en-US" altLang="ko-KR" sz="1200" dirty="0" err="1"/>
                <a:t>động</a:t>
              </a:r>
              <a:r>
                <a:rPr lang="en-US" altLang="ko-KR" sz="1200" dirty="0"/>
                <a:t> </a:t>
              </a:r>
              <a:r>
                <a:rPr lang="en-US" altLang="ko-KR" sz="1200" dirty="0" err="1"/>
                <a:t>tra</a:t>
              </a:r>
              <a:r>
                <a:rPr lang="en-US" altLang="ko-KR" sz="1200" dirty="0"/>
                <a:t> </a:t>
              </a:r>
              <a:r>
                <a:rPr lang="en-US" altLang="ko-KR" sz="1200" dirty="0" err="1"/>
                <a:t>cứu</a:t>
              </a:r>
              <a:r>
                <a:rPr lang="en-US" altLang="ko-KR" sz="1200" dirty="0"/>
                <a:t> </a:t>
              </a:r>
              <a:r>
                <a:rPr lang="en-US" altLang="ko-KR" sz="1200" dirty="0" err="1"/>
                <a:t>tỷ</a:t>
              </a:r>
              <a:r>
                <a:rPr lang="en-US" altLang="ko-KR" sz="1200" dirty="0"/>
                <a:t> </a:t>
              </a:r>
              <a:r>
                <a:rPr lang="en-US" altLang="ko-KR" sz="1200" dirty="0" err="1"/>
                <a:t>giá</a:t>
              </a:r>
              <a:r>
                <a:rPr lang="en-US" altLang="ko-KR" sz="1200" dirty="0"/>
                <a:t> </a:t>
              </a:r>
              <a:r>
                <a:rPr lang="en-US" altLang="ko-KR" sz="1200" dirty="0" err="1"/>
                <a:t>hối</a:t>
              </a:r>
              <a:r>
                <a:rPr lang="en-US" altLang="ko-KR" sz="1200" dirty="0"/>
                <a:t> </a:t>
              </a:r>
              <a:r>
                <a:rPr lang="en-US" altLang="ko-KR" sz="1200" dirty="0" err="1"/>
                <a:t>đoái</a:t>
              </a:r>
              <a:r>
                <a:rPr lang="en-US" altLang="ko-KR" sz="1200" dirty="0"/>
                <a:t> </a:t>
              </a:r>
              <a:r>
                <a:rPr lang="en-US" altLang="ko-KR" sz="1200" dirty="0" err="1"/>
                <a:t>theo</a:t>
              </a:r>
              <a:r>
                <a:rPr lang="en-US" altLang="ko-KR" sz="1200" dirty="0"/>
                <a:t> </a:t>
              </a:r>
              <a:r>
                <a:rPr lang="en-US" altLang="ko-KR" sz="1200" dirty="0" err="1"/>
                <a:t>ngày</a:t>
              </a:r>
              <a:r>
                <a:rPr lang="en-US" altLang="ko-KR" sz="1200" dirty="0"/>
                <a:t> </a:t>
              </a:r>
              <a:r>
                <a:rPr lang="en-US" altLang="ko-KR" sz="1200" dirty="0" err="1"/>
                <a:t>đặt</a:t>
              </a:r>
              <a:r>
                <a:rPr lang="en-US" altLang="ko-KR" sz="1200" dirty="0"/>
                <a:t> </a:t>
              </a:r>
              <a:r>
                <a:rPr lang="en-US" altLang="ko-KR" sz="1200" dirty="0" err="1"/>
                <a:t>hàng</a:t>
              </a:r>
              <a:endParaRPr lang="ko-KR" altLang="en-US" sz="1200" dirty="0"/>
            </a:p>
          </p:txBody>
        </p:sp>
      </p:grpSp>
      <p:sp>
        <p:nvSpPr>
          <p:cNvPr id="9" name="TextBox 8">
            <a:extLst>
              <a:ext uri="{FF2B5EF4-FFF2-40B4-BE49-F238E27FC236}">
                <a16:creationId xmlns:a16="http://schemas.microsoft.com/office/drawing/2014/main" id="{A189EB38-D886-9492-FAF2-38DAB59F802E}"/>
              </a:ext>
            </a:extLst>
          </p:cNvPr>
          <p:cNvSpPr txBox="1"/>
          <p:nvPr/>
        </p:nvSpPr>
        <p:spPr>
          <a:xfrm>
            <a:off x="4724400" y="1247269"/>
            <a:ext cx="4136572" cy="754053"/>
          </a:xfrm>
          <a:prstGeom prst="rect">
            <a:avLst/>
          </a:prstGeom>
          <a:noFill/>
          <a:ln w="15875">
            <a:solidFill>
              <a:srgbClr val="0000FF"/>
            </a:solidFill>
          </a:ln>
        </p:spPr>
        <p:txBody>
          <a:bodyPr wrap="square">
            <a:spAutoFit/>
          </a:bodyPr>
          <a:lstStyle/>
          <a:p>
            <a:r>
              <a:rPr lang="en-US" altLang="ko-KR" sz="1100" b="1" dirty="0"/>
              <a:t>Giao </a:t>
            </a:r>
            <a:r>
              <a:rPr lang="en-US" altLang="ko-KR" sz="1100" b="1" dirty="0" err="1"/>
              <a:t>dịch</a:t>
            </a:r>
            <a:r>
              <a:rPr lang="en-US" altLang="ko-KR" sz="1100" b="1" dirty="0"/>
              <a:t> </a:t>
            </a:r>
            <a:r>
              <a:rPr lang="en-US" altLang="ko-KR" sz="1100" b="1" dirty="0" err="1"/>
              <a:t>phân</a:t>
            </a:r>
            <a:r>
              <a:rPr lang="en-US" altLang="ko-KR" sz="1100" b="1" dirty="0"/>
              <a:t> </a:t>
            </a:r>
            <a:r>
              <a:rPr lang="en-US" altLang="ko-KR" sz="1100" b="1" dirty="0" err="1"/>
              <a:t>phối</a:t>
            </a:r>
            <a:br>
              <a:rPr lang="en-US" altLang="ko-KR" sz="1100" b="1" dirty="0"/>
            </a:br>
            <a:r>
              <a:rPr lang="en-US" altLang="ko-KR" sz="1100" b="1" dirty="0"/>
              <a:t>- </a:t>
            </a:r>
            <a:r>
              <a:rPr lang="en-US" altLang="ko-KR" sz="1050" dirty="0"/>
              <a:t>Giao </a:t>
            </a:r>
            <a:r>
              <a:rPr lang="en-US" altLang="ko-KR" sz="1050" dirty="0" err="1"/>
              <a:t>dịch</a:t>
            </a:r>
            <a:r>
              <a:rPr lang="en-US" altLang="ko-KR" sz="1050" dirty="0"/>
              <a:t> </a:t>
            </a:r>
            <a:r>
              <a:rPr lang="en-US" altLang="ko-KR" sz="1050" dirty="0" err="1"/>
              <a:t>mua</a:t>
            </a:r>
            <a:r>
              <a:rPr lang="en-US" altLang="ko-KR" sz="1050" dirty="0"/>
              <a:t> </a:t>
            </a:r>
            <a:r>
              <a:rPr lang="en-US" altLang="ko-KR" sz="1050" dirty="0" err="1"/>
              <a:t>hàng</a:t>
            </a:r>
            <a:r>
              <a:rPr lang="en-US" altLang="ko-KR" sz="1050" dirty="0"/>
              <a:t> </a:t>
            </a:r>
            <a:r>
              <a:rPr lang="en-US" altLang="ko-KR" sz="1050" dirty="0" err="1"/>
              <a:t>không</a:t>
            </a:r>
            <a:r>
              <a:rPr lang="en-US" altLang="ko-KR" sz="1050" dirty="0"/>
              <a:t> </a:t>
            </a:r>
            <a:r>
              <a:rPr lang="en-US" altLang="ko-KR" sz="1050" dirty="0" err="1"/>
              <a:t>phải</a:t>
            </a:r>
            <a:r>
              <a:rPr lang="en-US" altLang="ko-KR" sz="1050" dirty="0"/>
              <a:t> </a:t>
            </a:r>
            <a:r>
              <a:rPr lang="en-US" altLang="ko-KR" sz="1050" dirty="0" err="1"/>
              <a:t>để</a:t>
            </a:r>
            <a:r>
              <a:rPr lang="en-US" altLang="ko-KR" sz="1050" dirty="0"/>
              <a:t> </a:t>
            </a:r>
            <a:r>
              <a:rPr lang="en-US" altLang="ko-KR" sz="1050" dirty="0" err="1"/>
              <a:t>nhập</a:t>
            </a:r>
            <a:r>
              <a:rPr lang="en-US" altLang="ko-KR" sz="1050" dirty="0"/>
              <a:t> </a:t>
            </a:r>
            <a:r>
              <a:rPr lang="en-US" altLang="ko-KR" sz="1050" dirty="0" err="1"/>
              <a:t>kho</a:t>
            </a:r>
            <a:r>
              <a:rPr lang="en-US" altLang="ko-KR" sz="1050" dirty="0"/>
              <a:t> </a:t>
            </a:r>
            <a:r>
              <a:rPr lang="en-US" altLang="ko-KR" sz="1050" dirty="0" err="1"/>
              <a:t>mà</a:t>
            </a:r>
            <a:r>
              <a:rPr lang="en-US" altLang="ko-KR" sz="1050" dirty="0"/>
              <a:t> </a:t>
            </a:r>
            <a:r>
              <a:rPr lang="en-US" altLang="ko-KR" sz="1050" dirty="0" err="1"/>
              <a:t>để</a:t>
            </a:r>
            <a:r>
              <a:rPr lang="en-US" altLang="ko-KR" sz="1050" dirty="0"/>
              <a:t> </a:t>
            </a:r>
            <a:r>
              <a:rPr lang="en-US" altLang="ko-KR" sz="1050" dirty="0" err="1"/>
              <a:t>phân</a:t>
            </a:r>
            <a:r>
              <a:rPr lang="en-US" altLang="ko-KR" sz="1050" dirty="0"/>
              <a:t> </a:t>
            </a:r>
            <a:r>
              <a:rPr lang="en-US" altLang="ko-KR" sz="1050" dirty="0" err="1"/>
              <a:t>phối</a:t>
            </a:r>
            <a:br>
              <a:rPr lang="en-US" altLang="ko-KR" sz="1050" dirty="0"/>
            </a:br>
            <a:r>
              <a:rPr lang="en-US" altLang="ko-KR" sz="1050" dirty="0"/>
              <a:t>- </a:t>
            </a:r>
            <a:r>
              <a:rPr lang="vi-VN" altLang="ko-KR" sz="1050" dirty="0"/>
              <a:t>Khi nhấn nút này, quá trình nhập kho và xử lý nhập kho liên quan đến MES sẽ không được thực hiện.</a:t>
            </a:r>
            <a:endParaRPr lang="ko-KR" altLang="en-US" sz="1050" b="1" dirty="0"/>
          </a:p>
        </p:txBody>
      </p:sp>
      <p:sp>
        <p:nvSpPr>
          <p:cNvPr id="37" name="TextBox 36">
            <a:extLst>
              <a:ext uri="{FF2B5EF4-FFF2-40B4-BE49-F238E27FC236}">
                <a16:creationId xmlns:a16="http://schemas.microsoft.com/office/drawing/2014/main" id="{6973A579-20B3-BC81-BD65-B9CC0B3458EE}"/>
              </a:ext>
            </a:extLst>
          </p:cNvPr>
          <p:cNvSpPr txBox="1"/>
          <p:nvPr/>
        </p:nvSpPr>
        <p:spPr>
          <a:xfrm>
            <a:off x="317175" y="6412583"/>
            <a:ext cx="8225934" cy="307777"/>
          </a:xfrm>
          <a:prstGeom prst="rect">
            <a:avLst/>
          </a:prstGeom>
          <a:noFill/>
        </p:spPr>
        <p:txBody>
          <a:bodyPr wrap="square">
            <a:spAutoFit/>
          </a:bodyPr>
          <a:lstStyle/>
          <a:p>
            <a:pPr algn="ctr"/>
            <a:r>
              <a:rPr lang="vi-VN" altLang="ko-KR" b="1" dirty="0">
                <a:solidFill>
                  <a:srgbClr val="FF0000"/>
                </a:solidFill>
              </a:rPr>
              <a:t>Khi phê duyệt tài liệu này xong, dữ liệu sẽ tự động được đăng ký vào hệ thống ERP.</a:t>
            </a:r>
            <a:endParaRPr lang="ko-KR" altLang="en-US" b="1" dirty="0">
              <a:solidFill>
                <a:srgbClr val="FF0000"/>
              </a:solidFill>
            </a:endParaRPr>
          </a:p>
        </p:txBody>
      </p:sp>
      <p:sp>
        <p:nvSpPr>
          <p:cNvPr id="2" name="제목 1">
            <a:extLst>
              <a:ext uri="{FF2B5EF4-FFF2-40B4-BE49-F238E27FC236}">
                <a16:creationId xmlns:a16="http://schemas.microsoft.com/office/drawing/2014/main" id="{6690D901-53EC-85EC-5196-DB476B73BB46}"/>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Process Flow for Groupware Document (Purchase)</a:t>
            </a:r>
          </a:p>
        </p:txBody>
      </p:sp>
    </p:spTree>
    <p:extLst>
      <p:ext uri="{BB962C8B-B14F-4D97-AF65-F5344CB8AC3E}">
        <p14:creationId xmlns:p14="http://schemas.microsoft.com/office/powerpoint/2010/main" val="2833282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232AD-9FA3-4532-9ACC-2B683C9A871F}"/>
            </a:ext>
          </a:extLst>
        </p:cNvPr>
        <p:cNvGrpSpPr/>
        <p:nvPr/>
      </p:nvGrpSpPr>
      <p:grpSpPr>
        <a:xfrm>
          <a:off x="0" y="0"/>
          <a:ext cx="0" cy="0"/>
          <a:chOff x="0" y="0"/>
          <a:chExt cx="0" cy="0"/>
        </a:xfrm>
      </p:grpSpPr>
      <p:sp>
        <p:nvSpPr>
          <p:cNvPr id="6" name="Google Shape;100;p7">
            <a:extLst>
              <a:ext uri="{FF2B5EF4-FFF2-40B4-BE49-F238E27FC236}">
                <a16:creationId xmlns:a16="http://schemas.microsoft.com/office/drawing/2014/main" id="{57C141FC-E780-42CF-0C84-F93EEF1F99F6}"/>
              </a:ext>
            </a:extLst>
          </p:cNvPr>
          <p:cNvSpPr/>
          <p:nvPr/>
        </p:nvSpPr>
        <p:spPr>
          <a:xfrm>
            <a:off x="159154" y="789126"/>
            <a:ext cx="8418789"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dirty="0">
                <a:solidFill>
                  <a:schemeClr val="tx1"/>
                </a:solidFill>
                <a:highlight>
                  <a:srgbClr val="FFFF00"/>
                </a:highlight>
                <a:latin typeface="+mn-ea"/>
                <a:ea typeface="+mn-ea"/>
                <a:cs typeface="Calibri"/>
                <a:sym typeface="Calibri"/>
              </a:rPr>
              <a:t>Purchase Order Registration Document (Electronic document - Purchase )</a:t>
            </a:r>
            <a:endParaRPr sz="1200" b="1" i="0" u="none" strike="noStrike" cap="none" dirty="0">
              <a:solidFill>
                <a:schemeClr val="tx1"/>
              </a:solidFill>
              <a:highlight>
                <a:srgbClr val="FFFF00"/>
              </a:highlight>
              <a:latin typeface="+mn-ea"/>
              <a:ea typeface="+mn-ea"/>
              <a:cs typeface="Calibri"/>
              <a:sym typeface="Calibri"/>
            </a:endParaRPr>
          </a:p>
        </p:txBody>
      </p:sp>
      <p:grpSp>
        <p:nvGrpSpPr>
          <p:cNvPr id="39" name="그룹 38">
            <a:extLst>
              <a:ext uri="{FF2B5EF4-FFF2-40B4-BE49-F238E27FC236}">
                <a16:creationId xmlns:a16="http://schemas.microsoft.com/office/drawing/2014/main" id="{7F8E1908-03D6-C206-9782-343B22EB1AE8}"/>
              </a:ext>
            </a:extLst>
          </p:cNvPr>
          <p:cNvGrpSpPr/>
          <p:nvPr/>
        </p:nvGrpSpPr>
        <p:grpSpPr>
          <a:xfrm>
            <a:off x="263657" y="1302795"/>
            <a:ext cx="8627794" cy="787685"/>
            <a:chOff x="263657" y="1302795"/>
            <a:chExt cx="8627794" cy="1092679"/>
          </a:xfrm>
        </p:grpSpPr>
        <p:pic>
          <p:nvPicPr>
            <p:cNvPr id="5" name="그림 4">
              <a:extLst>
                <a:ext uri="{FF2B5EF4-FFF2-40B4-BE49-F238E27FC236}">
                  <a16:creationId xmlns:a16="http://schemas.microsoft.com/office/drawing/2014/main" id="{D7FD0AA9-1509-36DF-9248-A0989EEDFA33}"/>
                </a:ext>
              </a:extLst>
            </p:cNvPr>
            <p:cNvPicPr>
              <a:picLocks noChangeAspect="1"/>
            </p:cNvPicPr>
            <p:nvPr/>
          </p:nvPicPr>
          <p:blipFill>
            <a:blip r:embed="rId3"/>
            <a:stretch>
              <a:fillRect/>
            </a:stretch>
          </p:blipFill>
          <p:spPr>
            <a:xfrm>
              <a:off x="263657" y="1302795"/>
              <a:ext cx="8627794" cy="1092679"/>
            </a:xfrm>
            <a:prstGeom prst="rect">
              <a:avLst/>
            </a:prstGeom>
          </p:spPr>
        </p:pic>
        <p:sp>
          <p:nvSpPr>
            <p:cNvPr id="7" name="직사각형 6">
              <a:extLst>
                <a:ext uri="{FF2B5EF4-FFF2-40B4-BE49-F238E27FC236}">
                  <a16:creationId xmlns:a16="http://schemas.microsoft.com/office/drawing/2014/main" id="{37C7A0B5-B56C-2A28-23AE-950325950841}"/>
                </a:ext>
              </a:extLst>
            </p:cNvPr>
            <p:cNvSpPr/>
            <p:nvPr/>
          </p:nvSpPr>
          <p:spPr>
            <a:xfrm>
              <a:off x="4262845" y="2055023"/>
              <a:ext cx="618309" cy="21791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8" name="연결선: 꺾임 7">
            <a:extLst>
              <a:ext uri="{FF2B5EF4-FFF2-40B4-BE49-F238E27FC236}">
                <a16:creationId xmlns:a16="http://schemas.microsoft.com/office/drawing/2014/main" id="{922268EC-3EFD-6624-4E45-BB0CE7713DF2}"/>
              </a:ext>
            </a:extLst>
          </p:cNvPr>
          <p:cNvCxnSpPr>
            <a:cxnSpLocks/>
            <a:stCxn id="7" idx="2"/>
            <a:endCxn id="16" idx="0"/>
          </p:cNvCxnSpPr>
          <p:nvPr/>
        </p:nvCxnSpPr>
        <p:spPr>
          <a:xfrm rot="16200000" flipH="1">
            <a:off x="4469965" y="2104180"/>
            <a:ext cx="209625" cy="5555"/>
          </a:xfrm>
          <a:prstGeom prst="bentConnector3">
            <a:avLst>
              <a:gd name="adj1" fmla="val 50000"/>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6" name="그림 15">
            <a:extLst>
              <a:ext uri="{FF2B5EF4-FFF2-40B4-BE49-F238E27FC236}">
                <a16:creationId xmlns:a16="http://schemas.microsoft.com/office/drawing/2014/main" id="{EB8881FF-87EB-54D0-9F56-42D050878536}"/>
              </a:ext>
            </a:extLst>
          </p:cNvPr>
          <p:cNvPicPr>
            <a:picLocks noChangeAspect="1"/>
          </p:cNvPicPr>
          <p:nvPr/>
        </p:nvPicPr>
        <p:blipFill>
          <a:blip r:embed="rId4"/>
          <a:stretch>
            <a:fillRect/>
          </a:stretch>
        </p:blipFill>
        <p:spPr>
          <a:xfrm>
            <a:off x="263658" y="2211771"/>
            <a:ext cx="8627793" cy="2001026"/>
          </a:xfrm>
          <a:prstGeom prst="rect">
            <a:avLst/>
          </a:prstGeom>
          <a:ln w="19050">
            <a:solidFill>
              <a:srgbClr val="FF0000"/>
            </a:solidFill>
          </a:ln>
        </p:spPr>
      </p:pic>
      <p:sp>
        <p:nvSpPr>
          <p:cNvPr id="38" name="TextBox 37">
            <a:extLst>
              <a:ext uri="{FF2B5EF4-FFF2-40B4-BE49-F238E27FC236}">
                <a16:creationId xmlns:a16="http://schemas.microsoft.com/office/drawing/2014/main" id="{82B65336-274E-DCF0-E062-394527BE8C9D}"/>
              </a:ext>
            </a:extLst>
          </p:cNvPr>
          <p:cNvSpPr txBox="1"/>
          <p:nvPr/>
        </p:nvSpPr>
        <p:spPr>
          <a:xfrm>
            <a:off x="3344398" y="4238625"/>
            <a:ext cx="2691470" cy="276999"/>
          </a:xfrm>
          <a:prstGeom prst="rect">
            <a:avLst/>
          </a:prstGeom>
          <a:noFill/>
        </p:spPr>
        <p:txBody>
          <a:bodyPr wrap="square">
            <a:spAutoFit/>
          </a:bodyPr>
          <a:lstStyle/>
          <a:p>
            <a:r>
              <a:rPr lang="en-US" altLang="ko-KR" sz="1200" b="1" dirty="0"/>
              <a:t>1. </a:t>
            </a:r>
            <a:r>
              <a:rPr lang="en-US" altLang="ko-KR" sz="1200" b="1" dirty="0" err="1"/>
              <a:t>Chọn</a:t>
            </a:r>
            <a:r>
              <a:rPr lang="en-US" altLang="ko-KR" sz="1200" b="1" dirty="0"/>
              <a:t> </a:t>
            </a:r>
            <a:r>
              <a:rPr lang="en-US" altLang="ko-KR" sz="1200" b="1" dirty="0" err="1"/>
              <a:t>mặt</a:t>
            </a:r>
            <a:r>
              <a:rPr lang="en-US" altLang="ko-KR" sz="1200" b="1" dirty="0"/>
              <a:t> </a:t>
            </a:r>
            <a:r>
              <a:rPr lang="en-US" altLang="ko-KR" sz="1200" b="1" dirty="0" err="1"/>
              <a:t>hàng</a:t>
            </a:r>
            <a:r>
              <a:rPr lang="en-US" altLang="ko-KR" sz="1200" b="1" dirty="0"/>
              <a:t> </a:t>
            </a:r>
            <a:r>
              <a:rPr lang="en-US" altLang="ko-KR" sz="1200" b="1" dirty="0" err="1"/>
              <a:t>muốn</a:t>
            </a:r>
            <a:r>
              <a:rPr lang="en-US" altLang="ko-KR" sz="1200" b="1" dirty="0"/>
              <a:t> </a:t>
            </a:r>
            <a:r>
              <a:rPr lang="en-US" altLang="ko-KR" sz="1200" b="1" dirty="0" err="1"/>
              <a:t>mua</a:t>
            </a:r>
            <a:endParaRPr lang="ko-KR" altLang="en-US" sz="1200" b="1" dirty="0"/>
          </a:p>
        </p:txBody>
      </p:sp>
      <p:pic>
        <p:nvPicPr>
          <p:cNvPr id="47" name="그림 46">
            <a:extLst>
              <a:ext uri="{FF2B5EF4-FFF2-40B4-BE49-F238E27FC236}">
                <a16:creationId xmlns:a16="http://schemas.microsoft.com/office/drawing/2014/main" id="{8AC0FA9C-703E-EE99-B2B0-6FC634188256}"/>
              </a:ext>
            </a:extLst>
          </p:cNvPr>
          <p:cNvPicPr>
            <a:picLocks noChangeAspect="1"/>
          </p:cNvPicPr>
          <p:nvPr/>
        </p:nvPicPr>
        <p:blipFill>
          <a:blip r:embed="rId5"/>
          <a:stretch>
            <a:fillRect/>
          </a:stretch>
        </p:blipFill>
        <p:spPr>
          <a:xfrm>
            <a:off x="228945" y="4696736"/>
            <a:ext cx="8627793" cy="1310232"/>
          </a:xfrm>
          <a:prstGeom prst="rect">
            <a:avLst/>
          </a:prstGeom>
        </p:spPr>
      </p:pic>
      <p:sp>
        <p:nvSpPr>
          <p:cNvPr id="48" name="화살표: 아래쪽 47">
            <a:extLst>
              <a:ext uri="{FF2B5EF4-FFF2-40B4-BE49-F238E27FC236}">
                <a16:creationId xmlns:a16="http://schemas.microsoft.com/office/drawing/2014/main" id="{C3375939-1F82-5157-7893-B889E3612A7A}"/>
              </a:ext>
            </a:extLst>
          </p:cNvPr>
          <p:cNvSpPr/>
          <p:nvPr/>
        </p:nvSpPr>
        <p:spPr>
          <a:xfrm>
            <a:off x="3824384" y="4575231"/>
            <a:ext cx="1436914" cy="214209"/>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TextBox 48">
            <a:extLst>
              <a:ext uri="{FF2B5EF4-FFF2-40B4-BE49-F238E27FC236}">
                <a16:creationId xmlns:a16="http://schemas.microsoft.com/office/drawing/2014/main" id="{0F4A7CBF-CAFA-BB05-82D5-03A9FA156C9F}"/>
              </a:ext>
            </a:extLst>
          </p:cNvPr>
          <p:cNvSpPr txBox="1"/>
          <p:nvPr/>
        </p:nvSpPr>
        <p:spPr>
          <a:xfrm>
            <a:off x="709901" y="6128473"/>
            <a:ext cx="7724196" cy="461665"/>
          </a:xfrm>
          <a:prstGeom prst="rect">
            <a:avLst/>
          </a:prstGeom>
          <a:noFill/>
        </p:spPr>
        <p:txBody>
          <a:bodyPr wrap="square">
            <a:spAutoFit/>
          </a:bodyPr>
          <a:lstStyle/>
          <a:p>
            <a:pPr algn="ctr"/>
            <a:r>
              <a:rPr lang="en-US" altLang="ko-KR" sz="1200" b="1" dirty="0"/>
              <a:t>2. </a:t>
            </a:r>
            <a:r>
              <a:rPr lang="vi-VN" altLang="ko-KR" sz="1200" b="1" dirty="0"/>
              <a:t>Nhập đơn giá, số lượng, giá trị, </a:t>
            </a:r>
            <a:r>
              <a:rPr lang="en-US" altLang="ko-KR" sz="1200" b="1" dirty="0"/>
              <a:t>VAT</a:t>
            </a:r>
            <a:r>
              <a:rPr lang="vi-VN" altLang="ko-KR" sz="1200" b="1" dirty="0"/>
              <a:t>, ngày giao hàng, kho, và trung tâm chi phí của từng mặt hang</a:t>
            </a:r>
            <a:br>
              <a:rPr lang="en-US" altLang="ko-KR" sz="1200" b="1" dirty="0"/>
            </a:br>
            <a:r>
              <a:rPr lang="en-US" altLang="ko-KR" sz="1200" dirty="0"/>
              <a:t>   - </a:t>
            </a:r>
            <a:r>
              <a:rPr lang="vi-VN" altLang="ko-KR" sz="1200" dirty="0"/>
              <a:t>Khi nhập số lượng và đơn giá, giá trị và </a:t>
            </a:r>
            <a:r>
              <a:rPr lang="en-US" altLang="ko-KR" sz="1200" dirty="0"/>
              <a:t>VAT</a:t>
            </a:r>
            <a:r>
              <a:rPr lang="vi-VN" altLang="ko-KR" sz="1200" dirty="0"/>
              <a:t> sẽ được tính toán tự động.</a:t>
            </a:r>
            <a:endParaRPr lang="ko-KR" altLang="en-US" sz="1200" b="1" dirty="0"/>
          </a:p>
        </p:txBody>
      </p:sp>
      <p:sp>
        <p:nvSpPr>
          <p:cNvPr id="2" name="제목 1">
            <a:extLst>
              <a:ext uri="{FF2B5EF4-FFF2-40B4-BE49-F238E27FC236}">
                <a16:creationId xmlns:a16="http://schemas.microsoft.com/office/drawing/2014/main" id="{3BC1DA0A-D714-1B73-6CC9-7E533A2CA109}"/>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Process Flow for Groupware Document (Purchase)</a:t>
            </a:r>
          </a:p>
        </p:txBody>
      </p:sp>
    </p:spTree>
    <p:extLst>
      <p:ext uri="{BB962C8B-B14F-4D97-AF65-F5344CB8AC3E}">
        <p14:creationId xmlns:p14="http://schemas.microsoft.com/office/powerpoint/2010/main" val="4047092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AE7DC-69FE-E93F-31F1-AEFDB34CBBF1}"/>
            </a:ext>
          </a:extLst>
        </p:cNvPr>
        <p:cNvGrpSpPr/>
        <p:nvPr/>
      </p:nvGrpSpPr>
      <p:grpSpPr>
        <a:xfrm>
          <a:off x="0" y="0"/>
          <a:ext cx="0" cy="0"/>
          <a:chOff x="0" y="0"/>
          <a:chExt cx="0" cy="0"/>
        </a:xfrm>
      </p:grpSpPr>
      <p:sp>
        <p:nvSpPr>
          <p:cNvPr id="6" name="Google Shape;100;p7">
            <a:extLst>
              <a:ext uri="{FF2B5EF4-FFF2-40B4-BE49-F238E27FC236}">
                <a16:creationId xmlns:a16="http://schemas.microsoft.com/office/drawing/2014/main" id="{ED40E1AB-8CBA-DFE8-D430-4D97AE0D7EC8}"/>
              </a:ext>
            </a:extLst>
          </p:cNvPr>
          <p:cNvSpPr/>
          <p:nvPr/>
        </p:nvSpPr>
        <p:spPr>
          <a:xfrm>
            <a:off x="159154" y="789126"/>
            <a:ext cx="7115025"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dirty="0">
                <a:solidFill>
                  <a:schemeClr val="tx1"/>
                </a:solidFill>
                <a:highlight>
                  <a:srgbClr val="FFFF00"/>
                </a:highlight>
                <a:latin typeface="+mn-ea"/>
                <a:ea typeface="+mn-ea"/>
                <a:cs typeface="Calibri"/>
                <a:sym typeface="Calibri"/>
              </a:rPr>
              <a:t>Arrival Confirmation Document (Electronic document - Purchase )</a:t>
            </a:r>
            <a:endParaRPr lang="en-US" sz="1200" b="1" i="0" u="none" strike="noStrike" cap="none" dirty="0">
              <a:solidFill>
                <a:schemeClr val="tx1"/>
              </a:solidFill>
              <a:highlight>
                <a:srgbClr val="FFFF00"/>
              </a:highlight>
              <a:latin typeface="+mn-ea"/>
              <a:ea typeface="+mn-ea"/>
              <a:cs typeface="Calibri"/>
              <a:sym typeface="Calibri"/>
            </a:endParaRPr>
          </a:p>
        </p:txBody>
      </p:sp>
      <p:pic>
        <p:nvPicPr>
          <p:cNvPr id="4" name="그림 3">
            <a:extLst>
              <a:ext uri="{FF2B5EF4-FFF2-40B4-BE49-F238E27FC236}">
                <a16:creationId xmlns:a16="http://schemas.microsoft.com/office/drawing/2014/main" id="{DD7EB2FC-9827-1D5B-874B-12D92E8E3825}"/>
              </a:ext>
            </a:extLst>
          </p:cNvPr>
          <p:cNvPicPr>
            <a:picLocks noChangeAspect="1"/>
          </p:cNvPicPr>
          <p:nvPr/>
        </p:nvPicPr>
        <p:blipFill>
          <a:blip r:embed="rId3"/>
          <a:stretch>
            <a:fillRect/>
          </a:stretch>
        </p:blipFill>
        <p:spPr>
          <a:xfrm>
            <a:off x="235131" y="1228104"/>
            <a:ext cx="8647612" cy="1001290"/>
          </a:xfrm>
          <a:prstGeom prst="rect">
            <a:avLst/>
          </a:prstGeom>
        </p:spPr>
      </p:pic>
      <p:sp>
        <p:nvSpPr>
          <p:cNvPr id="9" name="직사각형 8">
            <a:extLst>
              <a:ext uri="{FF2B5EF4-FFF2-40B4-BE49-F238E27FC236}">
                <a16:creationId xmlns:a16="http://schemas.microsoft.com/office/drawing/2014/main" id="{B6FEB12C-EC97-AAE8-1CFD-291A674C15DB}"/>
              </a:ext>
            </a:extLst>
          </p:cNvPr>
          <p:cNvSpPr/>
          <p:nvPr/>
        </p:nvSpPr>
        <p:spPr>
          <a:xfrm>
            <a:off x="3716666" y="1915367"/>
            <a:ext cx="1700065" cy="17468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cxnSp>
        <p:nvCxnSpPr>
          <p:cNvPr id="10" name="연결선: 꺾임 9">
            <a:extLst>
              <a:ext uri="{FF2B5EF4-FFF2-40B4-BE49-F238E27FC236}">
                <a16:creationId xmlns:a16="http://schemas.microsoft.com/office/drawing/2014/main" id="{76259A93-A4C8-F875-A86D-115F922A932A}"/>
              </a:ext>
            </a:extLst>
          </p:cNvPr>
          <p:cNvCxnSpPr>
            <a:cxnSpLocks/>
            <a:stCxn id="9" idx="2"/>
            <a:endCxn id="14" idx="0"/>
          </p:cNvCxnSpPr>
          <p:nvPr/>
        </p:nvCxnSpPr>
        <p:spPr>
          <a:xfrm rot="5400000">
            <a:off x="2592572" y="1348371"/>
            <a:ext cx="1232443" cy="2715813"/>
          </a:xfrm>
          <a:prstGeom prst="bentConnector3">
            <a:avLst>
              <a:gd name="adj1" fmla="val 50000"/>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4" name="그림 13">
            <a:extLst>
              <a:ext uri="{FF2B5EF4-FFF2-40B4-BE49-F238E27FC236}">
                <a16:creationId xmlns:a16="http://schemas.microsoft.com/office/drawing/2014/main" id="{F4B1424A-D9F5-52B5-3BC7-AEBB7BFB8BBE}"/>
              </a:ext>
            </a:extLst>
          </p:cNvPr>
          <p:cNvPicPr>
            <a:picLocks noChangeAspect="1"/>
          </p:cNvPicPr>
          <p:nvPr/>
        </p:nvPicPr>
        <p:blipFill>
          <a:blip r:embed="rId4"/>
          <a:stretch>
            <a:fillRect/>
          </a:stretch>
        </p:blipFill>
        <p:spPr>
          <a:xfrm>
            <a:off x="420083" y="3322499"/>
            <a:ext cx="2861606" cy="2449936"/>
          </a:xfrm>
          <a:prstGeom prst="rect">
            <a:avLst/>
          </a:prstGeom>
          <a:ln w="22225">
            <a:solidFill>
              <a:srgbClr val="FF0000"/>
            </a:solidFill>
          </a:ln>
        </p:spPr>
      </p:pic>
      <p:sp>
        <p:nvSpPr>
          <p:cNvPr id="19" name="화살표: 아래쪽 18">
            <a:extLst>
              <a:ext uri="{FF2B5EF4-FFF2-40B4-BE49-F238E27FC236}">
                <a16:creationId xmlns:a16="http://schemas.microsoft.com/office/drawing/2014/main" id="{F10BAFF3-BAE6-9995-1696-2AA0BD258C6C}"/>
              </a:ext>
            </a:extLst>
          </p:cNvPr>
          <p:cNvSpPr/>
          <p:nvPr/>
        </p:nvSpPr>
        <p:spPr>
          <a:xfrm rot="16200000">
            <a:off x="3205737" y="4273364"/>
            <a:ext cx="1436914" cy="548206"/>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2" name="그림 21">
            <a:extLst>
              <a:ext uri="{FF2B5EF4-FFF2-40B4-BE49-F238E27FC236}">
                <a16:creationId xmlns:a16="http://schemas.microsoft.com/office/drawing/2014/main" id="{75E9E5B7-9204-3669-E005-F56122F25BB8}"/>
              </a:ext>
            </a:extLst>
          </p:cNvPr>
          <p:cNvPicPr>
            <a:picLocks noChangeAspect="1"/>
          </p:cNvPicPr>
          <p:nvPr/>
        </p:nvPicPr>
        <p:blipFill>
          <a:blip r:embed="rId5"/>
          <a:stretch>
            <a:fillRect/>
          </a:stretch>
        </p:blipFill>
        <p:spPr>
          <a:xfrm>
            <a:off x="4558937" y="3043504"/>
            <a:ext cx="4097255" cy="3007923"/>
          </a:xfrm>
          <a:prstGeom prst="rect">
            <a:avLst/>
          </a:prstGeom>
        </p:spPr>
      </p:pic>
      <p:sp>
        <p:nvSpPr>
          <p:cNvPr id="24" name="TextBox 23">
            <a:extLst>
              <a:ext uri="{FF2B5EF4-FFF2-40B4-BE49-F238E27FC236}">
                <a16:creationId xmlns:a16="http://schemas.microsoft.com/office/drawing/2014/main" id="{3EF8D861-4C10-F4BD-3ADB-EDB891C8AA58}"/>
              </a:ext>
            </a:extLst>
          </p:cNvPr>
          <p:cNvSpPr txBox="1"/>
          <p:nvPr/>
        </p:nvSpPr>
        <p:spPr>
          <a:xfrm>
            <a:off x="2339481" y="6125055"/>
            <a:ext cx="4576354" cy="307777"/>
          </a:xfrm>
          <a:prstGeom prst="rect">
            <a:avLst/>
          </a:prstGeom>
          <a:noFill/>
        </p:spPr>
        <p:txBody>
          <a:bodyPr wrap="square">
            <a:spAutoFit/>
          </a:bodyPr>
          <a:lstStyle/>
          <a:p>
            <a:r>
              <a:rPr lang="vi-VN" altLang="ko-KR" b="1" dirty="0"/>
              <a:t>Chọn đơn yêu cầu đặt hàng đã được tạo trước đó</a:t>
            </a:r>
            <a:endParaRPr lang="ko-KR" altLang="en-US" b="1" dirty="0"/>
          </a:p>
        </p:txBody>
      </p:sp>
      <p:sp>
        <p:nvSpPr>
          <p:cNvPr id="2" name="제목 1">
            <a:extLst>
              <a:ext uri="{FF2B5EF4-FFF2-40B4-BE49-F238E27FC236}">
                <a16:creationId xmlns:a16="http://schemas.microsoft.com/office/drawing/2014/main" id="{8DC95C78-FDAE-E44E-F17F-AB52AE9F456C}"/>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Process Flow for Groupware Document (Purchase)</a:t>
            </a:r>
          </a:p>
        </p:txBody>
      </p:sp>
    </p:spTree>
    <p:extLst>
      <p:ext uri="{BB962C8B-B14F-4D97-AF65-F5344CB8AC3E}">
        <p14:creationId xmlns:p14="http://schemas.microsoft.com/office/powerpoint/2010/main" val="3972976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F2396-6DE6-8979-F6F2-EE27EA34A81E}"/>
            </a:ext>
          </a:extLst>
        </p:cNvPr>
        <p:cNvGrpSpPr/>
        <p:nvPr/>
      </p:nvGrpSpPr>
      <p:grpSpPr>
        <a:xfrm>
          <a:off x="0" y="0"/>
          <a:ext cx="0" cy="0"/>
          <a:chOff x="0" y="0"/>
          <a:chExt cx="0" cy="0"/>
        </a:xfrm>
      </p:grpSpPr>
      <p:sp>
        <p:nvSpPr>
          <p:cNvPr id="6" name="Google Shape;100;p7">
            <a:extLst>
              <a:ext uri="{FF2B5EF4-FFF2-40B4-BE49-F238E27FC236}">
                <a16:creationId xmlns:a16="http://schemas.microsoft.com/office/drawing/2014/main" id="{81A698E0-D752-49FC-EC2F-50EFA957CC0F}"/>
              </a:ext>
            </a:extLst>
          </p:cNvPr>
          <p:cNvSpPr/>
          <p:nvPr/>
        </p:nvSpPr>
        <p:spPr>
          <a:xfrm>
            <a:off x="159154" y="789126"/>
            <a:ext cx="7115025"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dirty="0">
                <a:solidFill>
                  <a:schemeClr val="tx1"/>
                </a:solidFill>
                <a:highlight>
                  <a:srgbClr val="FFFF00"/>
                </a:highlight>
                <a:latin typeface="+mn-ea"/>
                <a:ea typeface="+mn-ea"/>
                <a:cs typeface="Calibri"/>
                <a:sym typeface="Calibri"/>
              </a:rPr>
              <a:t>Arrival Confirmation Document (Electronic document - Purchase )</a:t>
            </a:r>
            <a:endParaRPr lang="en-US" sz="1200" b="1" i="0" u="none" strike="noStrike" cap="none" dirty="0">
              <a:solidFill>
                <a:schemeClr val="tx1"/>
              </a:solidFill>
              <a:highlight>
                <a:srgbClr val="FFFF00"/>
              </a:highlight>
              <a:latin typeface="+mn-ea"/>
              <a:ea typeface="+mn-ea"/>
              <a:cs typeface="Calibri"/>
              <a:sym typeface="Calibri"/>
            </a:endParaRPr>
          </a:p>
        </p:txBody>
      </p:sp>
      <p:pic>
        <p:nvPicPr>
          <p:cNvPr id="8" name="그림 7">
            <a:extLst>
              <a:ext uri="{FF2B5EF4-FFF2-40B4-BE49-F238E27FC236}">
                <a16:creationId xmlns:a16="http://schemas.microsoft.com/office/drawing/2014/main" id="{FD871F1D-815A-E8E6-39AC-24F42D402B0F}"/>
              </a:ext>
            </a:extLst>
          </p:cNvPr>
          <p:cNvPicPr>
            <a:picLocks noChangeAspect="1"/>
          </p:cNvPicPr>
          <p:nvPr/>
        </p:nvPicPr>
        <p:blipFill>
          <a:blip r:embed="rId3"/>
          <a:stretch>
            <a:fillRect/>
          </a:stretch>
        </p:blipFill>
        <p:spPr>
          <a:xfrm>
            <a:off x="210205" y="1538615"/>
            <a:ext cx="8723589" cy="1483881"/>
          </a:xfrm>
          <a:prstGeom prst="rect">
            <a:avLst/>
          </a:prstGeom>
        </p:spPr>
      </p:pic>
      <p:sp>
        <p:nvSpPr>
          <p:cNvPr id="11" name="TextBox 10">
            <a:extLst>
              <a:ext uri="{FF2B5EF4-FFF2-40B4-BE49-F238E27FC236}">
                <a16:creationId xmlns:a16="http://schemas.microsoft.com/office/drawing/2014/main" id="{DF25B00B-2D56-7EE7-C41F-215CD686685A}"/>
              </a:ext>
            </a:extLst>
          </p:cNvPr>
          <p:cNvSpPr txBox="1"/>
          <p:nvPr/>
        </p:nvSpPr>
        <p:spPr>
          <a:xfrm>
            <a:off x="159154" y="1194822"/>
            <a:ext cx="4576354" cy="307777"/>
          </a:xfrm>
          <a:prstGeom prst="rect">
            <a:avLst/>
          </a:prstGeom>
          <a:noFill/>
        </p:spPr>
        <p:txBody>
          <a:bodyPr wrap="square">
            <a:spAutoFit/>
          </a:bodyPr>
          <a:lstStyle/>
          <a:p>
            <a:r>
              <a:rPr lang="vi-VN" altLang="ko-KR" b="1" dirty="0"/>
              <a:t>Thông tin đơn đặt hàng đã đăng ký trước đó</a:t>
            </a:r>
            <a:endParaRPr lang="ko-KR" altLang="en-US" b="1" dirty="0"/>
          </a:p>
        </p:txBody>
      </p:sp>
      <p:sp>
        <p:nvSpPr>
          <p:cNvPr id="15" name="TextBox 14">
            <a:extLst>
              <a:ext uri="{FF2B5EF4-FFF2-40B4-BE49-F238E27FC236}">
                <a16:creationId xmlns:a16="http://schemas.microsoft.com/office/drawing/2014/main" id="{500C68FE-2A39-5E25-48C1-22242C600EF8}"/>
              </a:ext>
            </a:extLst>
          </p:cNvPr>
          <p:cNvSpPr txBox="1"/>
          <p:nvPr/>
        </p:nvSpPr>
        <p:spPr>
          <a:xfrm>
            <a:off x="159153" y="3594077"/>
            <a:ext cx="8723589" cy="523220"/>
          </a:xfrm>
          <a:prstGeom prst="rect">
            <a:avLst/>
          </a:prstGeom>
          <a:noFill/>
        </p:spPr>
        <p:txBody>
          <a:bodyPr wrap="square">
            <a:spAutoFit/>
          </a:bodyPr>
          <a:lstStyle/>
          <a:p>
            <a:r>
              <a:rPr lang="vi-VN" altLang="ko-KR" b="1" dirty="0"/>
              <a:t>Trong trường hợp nhập khẩu, nhập thông tin B/L</a:t>
            </a:r>
            <a:br>
              <a:rPr lang="en-US" altLang="ko-KR" b="1" dirty="0"/>
            </a:br>
            <a:r>
              <a:rPr lang="en-US" altLang="ko-KR" b="1" dirty="0"/>
              <a:t>- </a:t>
            </a:r>
            <a:r>
              <a:rPr lang="vi-VN" altLang="ko-KR" dirty="0"/>
              <a:t>Trong trường hợp giao dịch trong nước, mục này sẽ không hiển thị trên màn hình, nên không cần nhập</a:t>
            </a:r>
            <a:endParaRPr lang="ko-KR" altLang="en-US" b="1" dirty="0"/>
          </a:p>
        </p:txBody>
      </p:sp>
      <p:sp>
        <p:nvSpPr>
          <p:cNvPr id="27" name="TextBox 26">
            <a:extLst>
              <a:ext uri="{FF2B5EF4-FFF2-40B4-BE49-F238E27FC236}">
                <a16:creationId xmlns:a16="http://schemas.microsoft.com/office/drawing/2014/main" id="{AC4A1699-F680-846C-AC1C-BB951A39E25E}"/>
              </a:ext>
            </a:extLst>
          </p:cNvPr>
          <p:cNvSpPr txBox="1"/>
          <p:nvPr/>
        </p:nvSpPr>
        <p:spPr>
          <a:xfrm>
            <a:off x="210205" y="5113974"/>
            <a:ext cx="3946914" cy="1223861"/>
          </a:xfrm>
          <a:prstGeom prst="rect">
            <a:avLst/>
          </a:prstGeom>
          <a:noFill/>
        </p:spPr>
        <p:txBody>
          <a:bodyPr wrap="none" rtlCol="0">
            <a:spAutoFit/>
          </a:bodyPr>
          <a:lstStyle/>
          <a:p>
            <a:pPr>
              <a:lnSpc>
                <a:spcPts val="1800"/>
              </a:lnSpc>
            </a:pPr>
            <a:r>
              <a:rPr lang="en-US" altLang="ko-KR" sz="1200" b="1" dirty="0"/>
              <a:t>1) </a:t>
            </a:r>
            <a:r>
              <a:rPr lang="en-US" altLang="ko-KR" sz="1200" dirty="0" err="1"/>
              <a:t>Nhập</a:t>
            </a:r>
            <a:r>
              <a:rPr lang="en-US" altLang="ko-KR" sz="1200" dirty="0"/>
              <a:t> </a:t>
            </a:r>
            <a:r>
              <a:rPr lang="en-US" altLang="ko-KR" sz="1200" dirty="0" err="1"/>
              <a:t>số</a:t>
            </a:r>
            <a:r>
              <a:rPr lang="en-US" altLang="ko-KR" sz="1200" dirty="0"/>
              <a:t> B/L</a:t>
            </a:r>
            <a:br>
              <a:rPr lang="en-US" altLang="ko-KR" sz="1200" b="1" dirty="0"/>
            </a:br>
            <a:r>
              <a:rPr lang="en-US" altLang="ko-KR" sz="1200" b="1" dirty="0"/>
              <a:t>2) </a:t>
            </a:r>
            <a:r>
              <a:rPr lang="en-US" altLang="ko-KR" sz="1200" dirty="0" err="1"/>
              <a:t>Ngày</a:t>
            </a:r>
            <a:r>
              <a:rPr lang="en-US" altLang="ko-KR" sz="1200" dirty="0"/>
              <a:t> </a:t>
            </a:r>
            <a:r>
              <a:rPr lang="en-US" altLang="ko-KR" sz="1200" dirty="0" err="1"/>
              <a:t>thanh</a:t>
            </a:r>
            <a:r>
              <a:rPr lang="en-US" altLang="ko-KR" sz="1200" dirty="0"/>
              <a:t> </a:t>
            </a:r>
            <a:r>
              <a:rPr lang="en-US" altLang="ko-KR" sz="1200" dirty="0" err="1"/>
              <a:t>toán</a:t>
            </a:r>
            <a:r>
              <a:rPr lang="en-US" altLang="ko-KR" sz="1200" dirty="0"/>
              <a:t> </a:t>
            </a:r>
            <a:r>
              <a:rPr lang="en-US" altLang="ko-KR" sz="1200" dirty="0" err="1"/>
              <a:t>số</a:t>
            </a:r>
            <a:r>
              <a:rPr lang="en-US" altLang="ko-KR" sz="1200" dirty="0"/>
              <a:t> </a:t>
            </a:r>
            <a:r>
              <a:rPr lang="en-US" altLang="ko-KR" sz="1200" dirty="0" err="1"/>
              <a:t>tiền</a:t>
            </a:r>
            <a:r>
              <a:rPr lang="en-US" altLang="ko-KR" sz="1200" dirty="0"/>
              <a:t> </a:t>
            </a:r>
            <a:r>
              <a:rPr lang="en-US" altLang="ko-KR" sz="1200" dirty="0" err="1"/>
              <a:t>cho</a:t>
            </a:r>
            <a:r>
              <a:rPr lang="en-US" altLang="ko-KR" sz="1200" dirty="0"/>
              <a:t> </a:t>
            </a:r>
            <a:r>
              <a:rPr lang="en-US" altLang="ko-KR" sz="1200" dirty="0" err="1"/>
              <a:t>đối</a:t>
            </a:r>
            <a:r>
              <a:rPr lang="en-US" altLang="ko-KR" sz="1200" dirty="0"/>
              <a:t> </a:t>
            </a:r>
            <a:r>
              <a:rPr lang="en-US" altLang="ko-KR" sz="1200" dirty="0" err="1"/>
              <a:t>tác</a:t>
            </a:r>
            <a:endParaRPr lang="ko-KR" altLang="en-US" sz="1200" dirty="0"/>
          </a:p>
          <a:p>
            <a:pPr>
              <a:lnSpc>
                <a:spcPts val="1800"/>
              </a:lnSpc>
            </a:pPr>
            <a:r>
              <a:rPr lang="en-US" altLang="ko-KR" sz="1200" b="1" dirty="0"/>
              <a:t>3) </a:t>
            </a:r>
            <a:r>
              <a:rPr lang="en-US" altLang="ko-KR" sz="1200" dirty="0" err="1"/>
              <a:t>Điều</a:t>
            </a:r>
            <a:r>
              <a:rPr lang="en-US" altLang="ko-KR" sz="1200" dirty="0"/>
              <a:t> </a:t>
            </a:r>
            <a:r>
              <a:rPr lang="en-US" altLang="ko-KR" sz="1200" dirty="0" err="1"/>
              <a:t>kiện</a:t>
            </a:r>
            <a:r>
              <a:rPr lang="en-US" altLang="ko-KR" sz="1200" dirty="0"/>
              <a:t> </a:t>
            </a:r>
            <a:r>
              <a:rPr lang="en-US" altLang="ko-KR" sz="1200" dirty="0" err="1"/>
              <a:t>thanh</a:t>
            </a:r>
            <a:r>
              <a:rPr lang="en-US" altLang="ko-KR" sz="1200" dirty="0"/>
              <a:t> </a:t>
            </a:r>
            <a:r>
              <a:rPr lang="en-US" altLang="ko-KR" sz="1200" dirty="0" err="1"/>
              <a:t>toán</a:t>
            </a:r>
            <a:r>
              <a:rPr lang="en-US" altLang="ko-KR" sz="1200" dirty="0"/>
              <a:t> </a:t>
            </a:r>
            <a:r>
              <a:rPr lang="en-US" altLang="ko-KR" sz="1200" dirty="0" err="1"/>
              <a:t>cho</a:t>
            </a:r>
            <a:r>
              <a:rPr lang="en-US" altLang="ko-KR" sz="1200" dirty="0"/>
              <a:t> </a:t>
            </a:r>
            <a:r>
              <a:rPr lang="en-US" altLang="ko-KR" sz="1200" dirty="0" err="1"/>
              <a:t>đối</a:t>
            </a:r>
            <a:r>
              <a:rPr lang="en-US" altLang="ko-KR" sz="1200" dirty="0"/>
              <a:t> </a:t>
            </a:r>
            <a:r>
              <a:rPr lang="en-US" altLang="ko-KR" sz="1200" dirty="0" err="1"/>
              <a:t>tác</a:t>
            </a:r>
            <a:r>
              <a:rPr lang="en-US" altLang="ko-KR" sz="1200" dirty="0"/>
              <a:t> (T/T, D/P, D/A, v.v.)</a:t>
            </a:r>
            <a:br>
              <a:rPr lang="en-US" altLang="ko-KR" sz="1200" dirty="0"/>
            </a:br>
            <a:r>
              <a:rPr lang="en-US" altLang="ko-KR" sz="1200" b="1" dirty="0"/>
              <a:t>4) </a:t>
            </a:r>
            <a:r>
              <a:rPr lang="en-US" altLang="ko-KR" sz="1200" dirty="0"/>
              <a:t>Incoterms</a:t>
            </a:r>
            <a:br>
              <a:rPr lang="en-US" altLang="ko-KR" sz="1200" dirty="0"/>
            </a:br>
            <a:r>
              <a:rPr lang="en-US" altLang="ko-KR" sz="1200" b="1" dirty="0"/>
              <a:t>5) </a:t>
            </a:r>
            <a:r>
              <a:rPr lang="vi-VN" altLang="ko-KR" sz="1200" dirty="0"/>
              <a:t>Tỷ giá được ghi trong B/L</a:t>
            </a:r>
            <a:endParaRPr lang="ko-KR" altLang="en-US" sz="1200" dirty="0"/>
          </a:p>
        </p:txBody>
      </p:sp>
      <p:grpSp>
        <p:nvGrpSpPr>
          <p:cNvPr id="3" name="그룹 2">
            <a:extLst>
              <a:ext uri="{FF2B5EF4-FFF2-40B4-BE49-F238E27FC236}">
                <a16:creationId xmlns:a16="http://schemas.microsoft.com/office/drawing/2014/main" id="{9B211F3D-2987-E9BD-3310-07583400FA1A}"/>
              </a:ext>
            </a:extLst>
          </p:cNvPr>
          <p:cNvGrpSpPr/>
          <p:nvPr/>
        </p:nvGrpSpPr>
        <p:grpSpPr>
          <a:xfrm>
            <a:off x="288583" y="4202719"/>
            <a:ext cx="8645212" cy="816699"/>
            <a:chOff x="288583" y="3911124"/>
            <a:chExt cx="8645212" cy="816699"/>
          </a:xfrm>
        </p:grpSpPr>
        <p:pic>
          <p:nvPicPr>
            <p:cNvPr id="13" name="그림 12">
              <a:extLst>
                <a:ext uri="{FF2B5EF4-FFF2-40B4-BE49-F238E27FC236}">
                  <a16:creationId xmlns:a16="http://schemas.microsoft.com/office/drawing/2014/main" id="{DEB907A9-8CBA-F0D0-AD7F-5A82445CA032}"/>
                </a:ext>
              </a:extLst>
            </p:cNvPr>
            <p:cNvPicPr>
              <a:picLocks noChangeAspect="1"/>
            </p:cNvPicPr>
            <p:nvPr/>
          </p:nvPicPr>
          <p:blipFill>
            <a:blip r:embed="rId4"/>
            <a:stretch>
              <a:fillRect/>
            </a:stretch>
          </p:blipFill>
          <p:spPr>
            <a:xfrm>
              <a:off x="288583" y="3911124"/>
              <a:ext cx="8645212" cy="816699"/>
            </a:xfrm>
            <a:prstGeom prst="rect">
              <a:avLst/>
            </a:prstGeom>
          </p:spPr>
        </p:pic>
        <p:sp>
          <p:nvSpPr>
            <p:cNvPr id="28" name="타원 27">
              <a:extLst>
                <a:ext uri="{FF2B5EF4-FFF2-40B4-BE49-F238E27FC236}">
                  <a16:creationId xmlns:a16="http://schemas.microsoft.com/office/drawing/2014/main" id="{94C050C2-8EEE-2B4B-131E-8CF81F3A109E}"/>
                </a:ext>
              </a:extLst>
            </p:cNvPr>
            <p:cNvSpPr/>
            <p:nvPr/>
          </p:nvSpPr>
          <p:spPr>
            <a:xfrm>
              <a:off x="288583" y="4236872"/>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1</a:t>
              </a:r>
              <a:endParaRPr lang="ko-KR" altLang="en-US" sz="900" dirty="0"/>
            </a:p>
          </p:txBody>
        </p:sp>
        <p:sp>
          <p:nvSpPr>
            <p:cNvPr id="29" name="타원 28">
              <a:extLst>
                <a:ext uri="{FF2B5EF4-FFF2-40B4-BE49-F238E27FC236}">
                  <a16:creationId xmlns:a16="http://schemas.microsoft.com/office/drawing/2014/main" id="{BEFDDF8D-0EA4-FC41-D552-60A8B830DCC8}"/>
                </a:ext>
              </a:extLst>
            </p:cNvPr>
            <p:cNvSpPr/>
            <p:nvPr/>
          </p:nvSpPr>
          <p:spPr>
            <a:xfrm>
              <a:off x="2065959" y="4236872"/>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2</a:t>
              </a:r>
              <a:endParaRPr lang="ko-KR" altLang="en-US" sz="900" dirty="0"/>
            </a:p>
          </p:txBody>
        </p:sp>
        <p:sp>
          <p:nvSpPr>
            <p:cNvPr id="30" name="타원 29">
              <a:extLst>
                <a:ext uri="{FF2B5EF4-FFF2-40B4-BE49-F238E27FC236}">
                  <a16:creationId xmlns:a16="http://schemas.microsoft.com/office/drawing/2014/main" id="{8A320BD1-3D22-DFEC-18BC-20B76E4C3A97}"/>
                </a:ext>
              </a:extLst>
            </p:cNvPr>
            <p:cNvSpPr/>
            <p:nvPr/>
          </p:nvSpPr>
          <p:spPr>
            <a:xfrm>
              <a:off x="3725632" y="4236872"/>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3</a:t>
              </a:r>
              <a:endParaRPr lang="ko-KR" altLang="en-US" sz="900" dirty="0"/>
            </a:p>
          </p:txBody>
        </p:sp>
        <p:sp>
          <p:nvSpPr>
            <p:cNvPr id="31" name="타원 30">
              <a:extLst>
                <a:ext uri="{FF2B5EF4-FFF2-40B4-BE49-F238E27FC236}">
                  <a16:creationId xmlns:a16="http://schemas.microsoft.com/office/drawing/2014/main" id="{53D730D7-A331-18DB-8E7C-EF5CA68F803B}"/>
                </a:ext>
              </a:extLst>
            </p:cNvPr>
            <p:cNvSpPr/>
            <p:nvPr/>
          </p:nvSpPr>
          <p:spPr>
            <a:xfrm>
              <a:off x="5458638" y="4236872"/>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4</a:t>
              </a:r>
              <a:endParaRPr lang="ko-KR" altLang="en-US" sz="900" dirty="0"/>
            </a:p>
          </p:txBody>
        </p:sp>
        <p:sp>
          <p:nvSpPr>
            <p:cNvPr id="32" name="타원 31">
              <a:extLst>
                <a:ext uri="{FF2B5EF4-FFF2-40B4-BE49-F238E27FC236}">
                  <a16:creationId xmlns:a16="http://schemas.microsoft.com/office/drawing/2014/main" id="{9378371F-D9AF-F46C-B917-CF4EDD6B1539}"/>
                </a:ext>
              </a:extLst>
            </p:cNvPr>
            <p:cNvSpPr/>
            <p:nvPr/>
          </p:nvSpPr>
          <p:spPr>
            <a:xfrm>
              <a:off x="7191644" y="4236872"/>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5</a:t>
              </a:r>
            </a:p>
          </p:txBody>
        </p:sp>
      </p:grpSp>
      <p:sp>
        <p:nvSpPr>
          <p:cNvPr id="2" name="제목 1">
            <a:extLst>
              <a:ext uri="{FF2B5EF4-FFF2-40B4-BE49-F238E27FC236}">
                <a16:creationId xmlns:a16="http://schemas.microsoft.com/office/drawing/2014/main" id="{481ED3B4-5295-B0F6-BF15-522CB67208AE}"/>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Process Flow for Groupware Document (Purchase)</a:t>
            </a:r>
          </a:p>
        </p:txBody>
      </p:sp>
    </p:spTree>
    <p:extLst>
      <p:ext uri="{BB962C8B-B14F-4D97-AF65-F5344CB8AC3E}">
        <p14:creationId xmlns:p14="http://schemas.microsoft.com/office/powerpoint/2010/main" val="2155473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5E5A0-58E7-6A80-68A7-C2B6AA789AC2}"/>
            </a:ext>
          </a:extLst>
        </p:cNvPr>
        <p:cNvGrpSpPr/>
        <p:nvPr/>
      </p:nvGrpSpPr>
      <p:grpSpPr>
        <a:xfrm>
          <a:off x="0" y="0"/>
          <a:ext cx="0" cy="0"/>
          <a:chOff x="0" y="0"/>
          <a:chExt cx="0" cy="0"/>
        </a:xfrm>
      </p:grpSpPr>
      <p:sp>
        <p:nvSpPr>
          <p:cNvPr id="6" name="Google Shape;100;p7">
            <a:extLst>
              <a:ext uri="{FF2B5EF4-FFF2-40B4-BE49-F238E27FC236}">
                <a16:creationId xmlns:a16="http://schemas.microsoft.com/office/drawing/2014/main" id="{DD9D7BFB-90B8-5097-1C2E-2517B660451D}"/>
              </a:ext>
            </a:extLst>
          </p:cNvPr>
          <p:cNvSpPr/>
          <p:nvPr/>
        </p:nvSpPr>
        <p:spPr>
          <a:xfrm>
            <a:off x="159154" y="789126"/>
            <a:ext cx="7115025"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dirty="0">
                <a:solidFill>
                  <a:schemeClr val="tx1"/>
                </a:solidFill>
                <a:highlight>
                  <a:srgbClr val="FFFF00"/>
                </a:highlight>
                <a:latin typeface="+mn-ea"/>
                <a:ea typeface="+mn-ea"/>
                <a:cs typeface="Calibri"/>
                <a:sym typeface="Calibri"/>
              </a:rPr>
              <a:t>Arrival Confirmation Document (Electronic document - Purchase )</a:t>
            </a:r>
            <a:endParaRPr lang="en-US" sz="1200" b="1" i="0" u="none" strike="noStrike" cap="none" dirty="0">
              <a:solidFill>
                <a:schemeClr val="tx1"/>
              </a:solidFill>
              <a:highlight>
                <a:srgbClr val="FFFF00"/>
              </a:highlight>
              <a:latin typeface="+mn-ea"/>
              <a:ea typeface="+mn-ea"/>
              <a:cs typeface="Calibri"/>
              <a:sym typeface="Calibri"/>
            </a:endParaRPr>
          </a:p>
        </p:txBody>
      </p:sp>
      <p:sp>
        <p:nvSpPr>
          <p:cNvPr id="25" name="TextBox 24">
            <a:extLst>
              <a:ext uri="{FF2B5EF4-FFF2-40B4-BE49-F238E27FC236}">
                <a16:creationId xmlns:a16="http://schemas.microsoft.com/office/drawing/2014/main" id="{4F4E36AE-7216-0D05-43C5-77E904C7F224}"/>
              </a:ext>
            </a:extLst>
          </p:cNvPr>
          <p:cNvSpPr txBox="1"/>
          <p:nvPr/>
        </p:nvSpPr>
        <p:spPr>
          <a:xfrm>
            <a:off x="210205" y="2615793"/>
            <a:ext cx="7300396" cy="1223861"/>
          </a:xfrm>
          <a:prstGeom prst="rect">
            <a:avLst/>
          </a:prstGeom>
          <a:noFill/>
        </p:spPr>
        <p:txBody>
          <a:bodyPr wrap="none" rtlCol="0">
            <a:spAutoFit/>
          </a:bodyPr>
          <a:lstStyle/>
          <a:p>
            <a:pPr>
              <a:lnSpc>
                <a:spcPts val="1800"/>
              </a:lnSpc>
            </a:pPr>
            <a:r>
              <a:rPr lang="en-US" altLang="ko-KR" sz="1200" dirty="0"/>
              <a:t>1) </a:t>
            </a:r>
            <a:r>
              <a:rPr lang="en-US" altLang="ko-KR" sz="1200" dirty="0" err="1"/>
              <a:t>Chọn</a:t>
            </a:r>
            <a:r>
              <a:rPr lang="en-US" altLang="ko-KR" sz="1200" dirty="0"/>
              <a:t> </a:t>
            </a:r>
            <a:r>
              <a:rPr lang="en-US" altLang="ko-KR" sz="1200" dirty="0" err="1"/>
              <a:t>bộ</a:t>
            </a:r>
            <a:r>
              <a:rPr lang="en-US" altLang="ko-KR" sz="1200" dirty="0"/>
              <a:t> </a:t>
            </a:r>
            <a:r>
              <a:rPr lang="en-US" altLang="ko-KR" sz="1200" dirty="0" err="1"/>
              <a:t>phận</a:t>
            </a:r>
            <a:r>
              <a:rPr lang="en-US" altLang="ko-KR" sz="1200" dirty="0"/>
              <a:t> </a:t>
            </a:r>
            <a:r>
              <a:rPr lang="en-US" altLang="ko-KR" sz="1200" dirty="0" err="1"/>
              <a:t>mua</a:t>
            </a:r>
            <a:r>
              <a:rPr lang="en-US" altLang="ko-KR" sz="1200" dirty="0"/>
              <a:t> hang</a:t>
            </a:r>
          </a:p>
          <a:p>
            <a:pPr>
              <a:lnSpc>
                <a:spcPts val="1800"/>
              </a:lnSpc>
            </a:pPr>
            <a:r>
              <a:rPr lang="en-US" altLang="ko-KR" sz="1200" dirty="0"/>
              <a:t>2) </a:t>
            </a:r>
            <a:r>
              <a:rPr lang="vi-VN" altLang="ko-KR" sz="1200" dirty="0"/>
              <a:t>Ngày thanh toán do người dùng chọn, không phải ngày thanh toán tự động tính toán từ số tiền đã tính</a:t>
            </a:r>
            <a:br>
              <a:rPr lang="en-US" altLang="ko-KR" sz="1200" dirty="0"/>
            </a:br>
            <a:r>
              <a:rPr lang="en-US" altLang="ko-KR" sz="1200" dirty="0"/>
              <a:t>3) </a:t>
            </a:r>
            <a:r>
              <a:rPr lang="en-US" altLang="ko-KR" sz="1200" dirty="0" err="1"/>
              <a:t>Ngày</a:t>
            </a:r>
            <a:r>
              <a:rPr lang="en-US" altLang="ko-KR" sz="1200" dirty="0"/>
              <a:t> </a:t>
            </a:r>
            <a:r>
              <a:rPr lang="en-US" altLang="ko-KR" sz="1200" dirty="0" err="1"/>
              <a:t>thanh</a:t>
            </a:r>
            <a:r>
              <a:rPr lang="en-US" altLang="ko-KR" sz="1200" dirty="0"/>
              <a:t> </a:t>
            </a:r>
            <a:r>
              <a:rPr lang="en-US" altLang="ko-KR" sz="1200" dirty="0" err="1"/>
              <a:t>toán</a:t>
            </a:r>
            <a:r>
              <a:rPr lang="en-US" altLang="ko-KR" sz="1200" dirty="0"/>
              <a:t> </a:t>
            </a:r>
            <a:r>
              <a:rPr lang="en-US" altLang="ko-KR" sz="1200" dirty="0" err="1"/>
              <a:t>theo</a:t>
            </a:r>
            <a:r>
              <a:rPr lang="en-US" altLang="ko-KR" sz="1200" dirty="0"/>
              <a:t> </a:t>
            </a:r>
            <a:r>
              <a:rPr lang="en-US" altLang="ko-KR" sz="1200" dirty="0" err="1"/>
              <a:t>quy</a:t>
            </a:r>
            <a:r>
              <a:rPr lang="en-US" altLang="ko-KR" sz="1200" dirty="0"/>
              <a:t> </a:t>
            </a:r>
            <a:r>
              <a:rPr lang="en-US" altLang="ko-KR" sz="1200" dirty="0" err="1"/>
              <a:t>định</a:t>
            </a:r>
            <a:r>
              <a:rPr lang="en-US" altLang="ko-KR" sz="1200" dirty="0"/>
              <a:t> </a:t>
            </a:r>
            <a:r>
              <a:rPr lang="en-US" altLang="ko-KR" sz="1200" dirty="0" err="1"/>
              <a:t>của</a:t>
            </a:r>
            <a:r>
              <a:rPr lang="en-US" altLang="ko-KR" sz="1200" dirty="0"/>
              <a:t> </a:t>
            </a:r>
            <a:r>
              <a:rPr lang="en-US" altLang="ko-KR" sz="1200" dirty="0" err="1"/>
              <a:t>công</a:t>
            </a:r>
            <a:r>
              <a:rPr lang="en-US" altLang="ko-KR" sz="1200" dirty="0"/>
              <a:t> ty (</a:t>
            </a:r>
            <a:r>
              <a:rPr lang="en-US" altLang="ko-KR" sz="1200" dirty="0" err="1"/>
              <a:t>ví</a:t>
            </a:r>
            <a:r>
              <a:rPr lang="en-US" altLang="ko-KR" sz="1200" dirty="0"/>
              <a:t> </a:t>
            </a:r>
            <a:r>
              <a:rPr lang="en-US" altLang="ko-KR" sz="1200" dirty="0" err="1"/>
              <a:t>dụ</a:t>
            </a:r>
            <a:r>
              <a:rPr lang="en-US" altLang="ko-KR" sz="1200" dirty="0"/>
              <a:t>: </a:t>
            </a:r>
            <a:r>
              <a:rPr lang="en-US" altLang="ko-KR" sz="1200" dirty="0" err="1"/>
              <a:t>ngày</a:t>
            </a:r>
            <a:r>
              <a:rPr lang="en-US" altLang="ko-KR" sz="1200" dirty="0"/>
              <a:t> 15 </a:t>
            </a:r>
            <a:r>
              <a:rPr lang="en-US" altLang="ko-KR" sz="1200" dirty="0" err="1"/>
              <a:t>của</a:t>
            </a:r>
            <a:r>
              <a:rPr lang="en-US" altLang="ko-KR" sz="1200" dirty="0"/>
              <a:t> </a:t>
            </a:r>
            <a:r>
              <a:rPr lang="en-US" altLang="ko-KR" sz="1200" dirty="0" err="1"/>
              <a:t>tháng</a:t>
            </a:r>
            <a:r>
              <a:rPr lang="en-US" altLang="ko-KR" sz="1200" dirty="0"/>
              <a:t> </a:t>
            </a:r>
            <a:r>
              <a:rPr lang="en-US" altLang="ko-KR" sz="1200" dirty="0" err="1"/>
              <a:t>sau</a:t>
            </a:r>
            <a:r>
              <a:rPr lang="en-US" altLang="ko-KR" sz="1200" dirty="0"/>
              <a:t>)</a:t>
            </a:r>
            <a:br>
              <a:rPr lang="en-US" altLang="ko-KR" sz="1200" dirty="0"/>
            </a:br>
            <a:r>
              <a:rPr lang="en-US" altLang="ko-KR" sz="1200" dirty="0"/>
              <a:t>4) </a:t>
            </a:r>
            <a:r>
              <a:rPr lang="en-US" altLang="ko-KR" sz="1200" dirty="0" err="1"/>
              <a:t>Ngày</a:t>
            </a:r>
            <a:r>
              <a:rPr lang="en-US" altLang="ko-KR" sz="1200" dirty="0"/>
              <a:t> </a:t>
            </a:r>
            <a:r>
              <a:rPr lang="en-US" altLang="ko-KR" sz="1200" dirty="0" err="1"/>
              <a:t>phát</a:t>
            </a:r>
            <a:r>
              <a:rPr lang="en-US" altLang="ko-KR" sz="1200" dirty="0"/>
              <a:t> </a:t>
            </a:r>
            <a:r>
              <a:rPr lang="en-US" altLang="ko-KR" sz="1200" dirty="0" err="1"/>
              <a:t>hành</a:t>
            </a:r>
            <a:r>
              <a:rPr lang="en-US" altLang="ko-KR" sz="1200" dirty="0"/>
              <a:t> </a:t>
            </a:r>
            <a:r>
              <a:rPr lang="en-US" altLang="ko-KR" sz="1200" dirty="0" err="1"/>
              <a:t>tài</a:t>
            </a:r>
            <a:r>
              <a:rPr lang="en-US" altLang="ko-KR" sz="1200" dirty="0"/>
              <a:t> </a:t>
            </a:r>
            <a:r>
              <a:rPr lang="en-US" altLang="ko-KR" sz="1200" dirty="0" err="1"/>
              <a:t>liệu</a:t>
            </a:r>
            <a:r>
              <a:rPr lang="en-US" altLang="ko-KR" sz="1200" dirty="0"/>
              <a:t> B/L = </a:t>
            </a:r>
            <a:r>
              <a:rPr lang="en-US" altLang="ko-KR" sz="1200" dirty="0" err="1"/>
              <a:t>Ngày</a:t>
            </a:r>
            <a:r>
              <a:rPr lang="en-US" altLang="ko-KR" sz="1200" dirty="0"/>
              <a:t> </a:t>
            </a:r>
            <a:r>
              <a:rPr lang="en-US" altLang="ko-KR" sz="1200" dirty="0" err="1"/>
              <a:t>ghi</a:t>
            </a:r>
            <a:r>
              <a:rPr lang="en-US" altLang="ko-KR" sz="1200" dirty="0"/>
              <a:t> </a:t>
            </a:r>
            <a:r>
              <a:rPr lang="en-US" altLang="ko-KR" sz="1200" dirty="0" err="1"/>
              <a:t>sổ</a:t>
            </a:r>
            <a:br>
              <a:rPr lang="en-US" altLang="ko-KR" sz="1200" dirty="0"/>
            </a:br>
            <a:r>
              <a:rPr lang="en-US" altLang="ko-KR" sz="1200" dirty="0"/>
              <a:t>5) </a:t>
            </a:r>
            <a:r>
              <a:rPr lang="en-US" altLang="ko-KR" sz="1200" dirty="0" err="1"/>
              <a:t>Tổng</a:t>
            </a:r>
            <a:r>
              <a:rPr lang="en-US" altLang="ko-KR" sz="1200" dirty="0"/>
              <a:t> </a:t>
            </a:r>
            <a:r>
              <a:rPr lang="en-US" altLang="ko-KR" sz="1200" dirty="0" err="1"/>
              <a:t>số</a:t>
            </a:r>
            <a:r>
              <a:rPr lang="en-US" altLang="ko-KR" sz="1200" dirty="0"/>
              <a:t> </a:t>
            </a:r>
            <a:r>
              <a:rPr lang="en-US" altLang="ko-KR" sz="1200" dirty="0" err="1"/>
              <a:t>tiền</a:t>
            </a:r>
            <a:endParaRPr lang="ko-KR" altLang="en-US" sz="1200" dirty="0"/>
          </a:p>
        </p:txBody>
      </p:sp>
      <p:sp>
        <p:nvSpPr>
          <p:cNvPr id="7" name="TextBox 6">
            <a:extLst>
              <a:ext uri="{FF2B5EF4-FFF2-40B4-BE49-F238E27FC236}">
                <a16:creationId xmlns:a16="http://schemas.microsoft.com/office/drawing/2014/main" id="{42EBA0E1-7F44-6C5C-8EDF-4F2B0CE68ED9}"/>
              </a:ext>
            </a:extLst>
          </p:cNvPr>
          <p:cNvSpPr txBox="1"/>
          <p:nvPr/>
        </p:nvSpPr>
        <p:spPr>
          <a:xfrm>
            <a:off x="159154" y="1194822"/>
            <a:ext cx="8774640" cy="738664"/>
          </a:xfrm>
          <a:prstGeom prst="rect">
            <a:avLst/>
          </a:prstGeom>
          <a:noFill/>
        </p:spPr>
        <p:txBody>
          <a:bodyPr wrap="square">
            <a:spAutoFit/>
          </a:bodyPr>
          <a:lstStyle/>
          <a:p>
            <a:r>
              <a:rPr lang="vi-VN" altLang="ko-KR" b="1" dirty="0"/>
              <a:t>Trong trường hợp nhập khẩu, </a:t>
            </a:r>
            <a:r>
              <a:rPr lang="it-IT" altLang="ko-KR" b="1" dirty="0"/>
              <a:t>Chi phí phụ B/L</a:t>
            </a:r>
            <a:br>
              <a:rPr lang="it-IT" altLang="ko-KR" b="1" dirty="0"/>
            </a:br>
            <a:r>
              <a:rPr lang="en-US" altLang="ko-KR" b="1" dirty="0"/>
              <a:t>- </a:t>
            </a:r>
            <a:r>
              <a:rPr lang="vi-VN" altLang="ko-KR" dirty="0"/>
              <a:t>Trong trường hợp giao dịch trong nước, mục này sẽ không hiển thị trên màn hình, nên không cần nhập</a:t>
            </a:r>
            <a:endParaRPr lang="ko-KR" altLang="en-US" b="1" dirty="0"/>
          </a:p>
          <a:p>
            <a:endParaRPr lang="ko-KR" altLang="en-US" b="1" dirty="0"/>
          </a:p>
        </p:txBody>
      </p:sp>
      <p:sp>
        <p:nvSpPr>
          <p:cNvPr id="9" name="TextBox 8">
            <a:extLst>
              <a:ext uri="{FF2B5EF4-FFF2-40B4-BE49-F238E27FC236}">
                <a16:creationId xmlns:a16="http://schemas.microsoft.com/office/drawing/2014/main" id="{4EECEF75-3BD2-D108-7402-B4B5145676E6}"/>
              </a:ext>
            </a:extLst>
          </p:cNvPr>
          <p:cNvSpPr txBox="1"/>
          <p:nvPr/>
        </p:nvSpPr>
        <p:spPr>
          <a:xfrm>
            <a:off x="159153" y="3839654"/>
            <a:ext cx="8723589" cy="738664"/>
          </a:xfrm>
          <a:prstGeom prst="rect">
            <a:avLst/>
          </a:prstGeom>
          <a:noFill/>
        </p:spPr>
        <p:txBody>
          <a:bodyPr wrap="square">
            <a:spAutoFit/>
          </a:bodyPr>
          <a:lstStyle/>
          <a:p>
            <a:r>
              <a:rPr lang="vi-VN" altLang="ko-KR" b="1" dirty="0"/>
              <a:t>Trong trường hợp nhập khẩu, </a:t>
            </a:r>
            <a:r>
              <a:rPr lang="en-US" altLang="ko-KR" b="1" dirty="0" err="1"/>
              <a:t>Đăng</a:t>
            </a:r>
            <a:r>
              <a:rPr lang="en-US" altLang="ko-KR" b="1" dirty="0"/>
              <a:t> </a:t>
            </a:r>
            <a:r>
              <a:rPr lang="en-US" altLang="ko-KR" b="1" dirty="0" err="1"/>
              <a:t>ký</a:t>
            </a:r>
            <a:r>
              <a:rPr lang="en-US" altLang="ko-KR" b="1" dirty="0"/>
              <a:t> </a:t>
            </a:r>
            <a:r>
              <a:rPr lang="en-US" altLang="ko-KR" b="1" dirty="0" err="1"/>
              <a:t>thông</a:t>
            </a:r>
            <a:r>
              <a:rPr lang="en-US" altLang="ko-KR" b="1" dirty="0"/>
              <a:t> tin </a:t>
            </a:r>
            <a:r>
              <a:rPr lang="en-US" altLang="ko-KR" b="1" dirty="0" err="1"/>
              <a:t>thông</a:t>
            </a:r>
            <a:r>
              <a:rPr lang="en-US" altLang="ko-KR" b="1" dirty="0"/>
              <a:t> </a:t>
            </a:r>
            <a:r>
              <a:rPr lang="en-US" altLang="ko-KR" b="1" dirty="0" err="1"/>
              <a:t>quan</a:t>
            </a:r>
            <a:br>
              <a:rPr lang="en-US" altLang="ko-KR" b="1" dirty="0"/>
            </a:br>
            <a:r>
              <a:rPr lang="en-US" altLang="ko-KR" b="1" dirty="0"/>
              <a:t>- </a:t>
            </a:r>
            <a:r>
              <a:rPr lang="vi-VN" altLang="ko-KR" dirty="0"/>
              <a:t>Trong trường hợp giao dịch trong nước, mục này sẽ không hiển thị trên màn hình, nên không cần nhập</a:t>
            </a:r>
            <a:endParaRPr lang="ko-KR" altLang="en-US" b="1" dirty="0"/>
          </a:p>
          <a:p>
            <a:endParaRPr lang="ko-KR" altLang="en-US" b="1" dirty="0"/>
          </a:p>
        </p:txBody>
      </p:sp>
      <p:sp>
        <p:nvSpPr>
          <p:cNvPr id="10" name="TextBox 9">
            <a:extLst>
              <a:ext uri="{FF2B5EF4-FFF2-40B4-BE49-F238E27FC236}">
                <a16:creationId xmlns:a16="http://schemas.microsoft.com/office/drawing/2014/main" id="{6B820448-A241-2986-B942-C2245D9D8B3D}"/>
              </a:ext>
            </a:extLst>
          </p:cNvPr>
          <p:cNvSpPr txBox="1"/>
          <p:nvPr/>
        </p:nvSpPr>
        <p:spPr>
          <a:xfrm>
            <a:off x="210205" y="5173087"/>
            <a:ext cx="3977371" cy="993029"/>
          </a:xfrm>
          <a:prstGeom prst="rect">
            <a:avLst/>
          </a:prstGeom>
          <a:noFill/>
        </p:spPr>
        <p:txBody>
          <a:bodyPr wrap="none" rtlCol="0">
            <a:spAutoFit/>
          </a:bodyPr>
          <a:lstStyle/>
          <a:p>
            <a:pPr>
              <a:lnSpc>
                <a:spcPts val="1800"/>
              </a:lnSpc>
            </a:pPr>
            <a:r>
              <a:rPr lang="en-US" altLang="ko-KR" sz="1200" dirty="0"/>
              <a:t>1) </a:t>
            </a:r>
            <a:r>
              <a:rPr lang="en-US" altLang="ko-KR" sz="1200" dirty="0" err="1"/>
              <a:t>Đăng</a:t>
            </a:r>
            <a:r>
              <a:rPr lang="en-US" altLang="ko-KR" sz="1200" dirty="0"/>
              <a:t> </a:t>
            </a:r>
            <a:r>
              <a:rPr lang="en-US" altLang="ko-KR" sz="1200" dirty="0" err="1"/>
              <a:t>ký</a:t>
            </a:r>
            <a:r>
              <a:rPr lang="en-US" altLang="ko-KR" sz="1200" dirty="0"/>
              <a:t> </a:t>
            </a:r>
            <a:r>
              <a:rPr lang="en-US" altLang="ko-KR" sz="1200" dirty="0" err="1"/>
              <a:t>số</a:t>
            </a:r>
            <a:r>
              <a:rPr lang="en-US" altLang="ko-KR" sz="1200" dirty="0"/>
              <a:t> </a:t>
            </a:r>
            <a:r>
              <a:rPr lang="en-US" altLang="ko-KR" sz="1200" dirty="0" err="1"/>
              <a:t>thông</a:t>
            </a:r>
            <a:r>
              <a:rPr lang="en-US" altLang="ko-KR" sz="1200" dirty="0"/>
              <a:t> </a:t>
            </a:r>
            <a:r>
              <a:rPr lang="en-US" altLang="ko-KR" sz="1200" dirty="0" err="1"/>
              <a:t>quan</a:t>
            </a:r>
            <a:endParaRPr lang="en-US" altLang="ko-KR" sz="1200" dirty="0"/>
          </a:p>
          <a:p>
            <a:pPr>
              <a:lnSpc>
                <a:spcPts val="1800"/>
              </a:lnSpc>
            </a:pPr>
            <a:r>
              <a:rPr lang="en-US" altLang="ko-KR" sz="1200" dirty="0"/>
              <a:t>2) </a:t>
            </a:r>
            <a:r>
              <a:rPr lang="vi-VN" altLang="ko-KR" sz="1200" dirty="0"/>
              <a:t>Nhập số hóa đơn</a:t>
            </a:r>
            <a:endParaRPr lang="en-US" altLang="ko-KR" sz="1200" dirty="0"/>
          </a:p>
          <a:p>
            <a:pPr>
              <a:lnSpc>
                <a:spcPts val="1800"/>
              </a:lnSpc>
            </a:pPr>
            <a:r>
              <a:rPr lang="en-US" altLang="ko-KR" sz="1200" dirty="0"/>
              <a:t>3) </a:t>
            </a:r>
            <a:r>
              <a:rPr lang="en-US" altLang="ko-KR" sz="1200" dirty="0" err="1"/>
              <a:t>Ngày</a:t>
            </a:r>
            <a:r>
              <a:rPr lang="en-US" altLang="ko-KR" sz="1200" dirty="0"/>
              <a:t> </a:t>
            </a:r>
            <a:r>
              <a:rPr lang="en-US" altLang="ko-KR" sz="1200" dirty="0" err="1"/>
              <a:t>khai</a:t>
            </a:r>
            <a:r>
              <a:rPr lang="en-US" altLang="ko-KR" sz="1200" dirty="0"/>
              <a:t> </a:t>
            </a:r>
            <a:r>
              <a:rPr lang="en-US" altLang="ko-KR" sz="1200" dirty="0" err="1"/>
              <a:t>báo</a:t>
            </a:r>
            <a:r>
              <a:rPr lang="en-US" altLang="ko-KR" sz="1200" dirty="0"/>
              <a:t> </a:t>
            </a:r>
            <a:r>
              <a:rPr lang="en-US" altLang="ko-KR" sz="1200" dirty="0" err="1"/>
              <a:t>trong</a:t>
            </a:r>
            <a:r>
              <a:rPr lang="en-US" altLang="ko-KR" sz="1200" dirty="0"/>
              <a:t> </a:t>
            </a:r>
            <a:r>
              <a:rPr lang="en-US" altLang="ko-KR" sz="1200" dirty="0" err="1"/>
              <a:t>chứng</a:t>
            </a:r>
            <a:r>
              <a:rPr lang="en-US" altLang="ko-KR" sz="1200" dirty="0"/>
              <a:t> </a:t>
            </a:r>
            <a:r>
              <a:rPr lang="en-US" altLang="ko-KR" sz="1200" dirty="0" err="1"/>
              <a:t>nhận</a:t>
            </a:r>
            <a:r>
              <a:rPr lang="en-US" altLang="ko-KR" sz="1200" dirty="0"/>
              <a:t> </a:t>
            </a:r>
            <a:r>
              <a:rPr lang="en-US" altLang="ko-KR" sz="1200" dirty="0" err="1"/>
              <a:t>khai</a:t>
            </a:r>
            <a:r>
              <a:rPr lang="en-US" altLang="ko-KR" sz="1200" dirty="0"/>
              <a:t> </a:t>
            </a:r>
            <a:r>
              <a:rPr lang="en-US" altLang="ko-KR" sz="1200" dirty="0" err="1"/>
              <a:t>báo</a:t>
            </a:r>
            <a:r>
              <a:rPr lang="en-US" altLang="ko-KR" sz="1200" dirty="0"/>
              <a:t> </a:t>
            </a:r>
            <a:r>
              <a:rPr lang="en-US" altLang="ko-KR" sz="1200" dirty="0" err="1"/>
              <a:t>nhập</a:t>
            </a:r>
            <a:r>
              <a:rPr lang="en-US" altLang="ko-KR" sz="1200" dirty="0"/>
              <a:t> </a:t>
            </a:r>
            <a:r>
              <a:rPr lang="en-US" altLang="ko-KR" sz="1200" dirty="0" err="1"/>
              <a:t>khẩu</a:t>
            </a:r>
            <a:endParaRPr lang="en-US" altLang="ko-KR" sz="1200" dirty="0"/>
          </a:p>
          <a:p>
            <a:pPr>
              <a:lnSpc>
                <a:spcPts val="1800"/>
              </a:lnSpc>
            </a:pPr>
            <a:r>
              <a:rPr lang="en-US" altLang="ko-KR" sz="1200" dirty="0"/>
              <a:t>4) </a:t>
            </a:r>
            <a:r>
              <a:rPr lang="en-US" altLang="ko-KR" sz="1200" dirty="0" err="1"/>
              <a:t>Tỷ</a:t>
            </a:r>
            <a:r>
              <a:rPr lang="en-US" altLang="ko-KR" sz="1200" dirty="0"/>
              <a:t> </a:t>
            </a:r>
            <a:r>
              <a:rPr lang="en-US" altLang="ko-KR" sz="1200" dirty="0" err="1"/>
              <a:t>giá</a:t>
            </a:r>
            <a:r>
              <a:rPr lang="en-US" altLang="ko-KR" sz="1200" dirty="0"/>
              <a:t> </a:t>
            </a:r>
            <a:r>
              <a:rPr lang="en-US" altLang="ko-KR" sz="1200" dirty="0" err="1"/>
              <a:t>trong</a:t>
            </a:r>
            <a:r>
              <a:rPr lang="en-US" altLang="ko-KR" sz="1200" dirty="0"/>
              <a:t> </a:t>
            </a:r>
            <a:r>
              <a:rPr lang="en-US" altLang="ko-KR" sz="1200" dirty="0" err="1"/>
              <a:t>chứng</a:t>
            </a:r>
            <a:r>
              <a:rPr lang="en-US" altLang="ko-KR" sz="1200" dirty="0"/>
              <a:t> </a:t>
            </a:r>
            <a:r>
              <a:rPr lang="en-US" altLang="ko-KR" sz="1200" dirty="0" err="1"/>
              <a:t>nhận</a:t>
            </a:r>
            <a:r>
              <a:rPr lang="en-US" altLang="ko-KR" sz="1200" dirty="0"/>
              <a:t> </a:t>
            </a:r>
            <a:r>
              <a:rPr lang="en-US" altLang="ko-KR" sz="1200" dirty="0" err="1"/>
              <a:t>khai</a:t>
            </a:r>
            <a:r>
              <a:rPr lang="en-US" altLang="ko-KR" sz="1200" dirty="0"/>
              <a:t> </a:t>
            </a:r>
            <a:r>
              <a:rPr lang="en-US" altLang="ko-KR" sz="1200" dirty="0" err="1"/>
              <a:t>báo</a:t>
            </a:r>
            <a:r>
              <a:rPr lang="en-US" altLang="ko-KR" sz="1200" dirty="0"/>
              <a:t> </a:t>
            </a:r>
            <a:r>
              <a:rPr lang="en-US" altLang="ko-KR" sz="1200" dirty="0" err="1"/>
              <a:t>nhập</a:t>
            </a:r>
            <a:r>
              <a:rPr lang="en-US" altLang="ko-KR" sz="1200" dirty="0"/>
              <a:t> </a:t>
            </a:r>
            <a:r>
              <a:rPr lang="en-US" altLang="ko-KR" sz="1200" dirty="0" err="1"/>
              <a:t>khẩu</a:t>
            </a:r>
            <a:endParaRPr lang="ko-KR" altLang="en-US" sz="1200" dirty="0"/>
          </a:p>
        </p:txBody>
      </p:sp>
      <p:grpSp>
        <p:nvGrpSpPr>
          <p:cNvPr id="3" name="그룹 2">
            <a:extLst>
              <a:ext uri="{FF2B5EF4-FFF2-40B4-BE49-F238E27FC236}">
                <a16:creationId xmlns:a16="http://schemas.microsoft.com/office/drawing/2014/main" id="{BF2390D0-A789-3E5F-DE34-A1026FEA2F08}"/>
              </a:ext>
            </a:extLst>
          </p:cNvPr>
          <p:cNvGrpSpPr/>
          <p:nvPr/>
        </p:nvGrpSpPr>
        <p:grpSpPr>
          <a:xfrm>
            <a:off x="288582" y="1787331"/>
            <a:ext cx="8645212" cy="816698"/>
            <a:chOff x="288582" y="1669331"/>
            <a:chExt cx="8645212" cy="816698"/>
          </a:xfrm>
        </p:grpSpPr>
        <p:pic>
          <p:nvPicPr>
            <p:cNvPr id="18" name="그림 17">
              <a:extLst>
                <a:ext uri="{FF2B5EF4-FFF2-40B4-BE49-F238E27FC236}">
                  <a16:creationId xmlns:a16="http://schemas.microsoft.com/office/drawing/2014/main" id="{C49132E9-62D1-0166-EE3A-350C3B941DC4}"/>
                </a:ext>
              </a:extLst>
            </p:cNvPr>
            <p:cNvPicPr>
              <a:picLocks noChangeAspect="1"/>
            </p:cNvPicPr>
            <p:nvPr/>
          </p:nvPicPr>
          <p:blipFill>
            <a:blip r:embed="rId3"/>
            <a:stretch>
              <a:fillRect/>
            </a:stretch>
          </p:blipFill>
          <p:spPr>
            <a:xfrm>
              <a:off x="288582" y="1669331"/>
              <a:ext cx="8645212" cy="816698"/>
            </a:xfrm>
            <a:prstGeom prst="rect">
              <a:avLst/>
            </a:prstGeom>
          </p:spPr>
        </p:pic>
        <p:sp>
          <p:nvSpPr>
            <p:cNvPr id="12" name="타원 11">
              <a:extLst>
                <a:ext uri="{FF2B5EF4-FFF2-40B4-BE49-F238E27FC236}">
                  <a16:creationId xmlns:a16="http://schemas.microsoft.com/office/drawing/2014/main" id="{726656D8-E834-AF1F-6C2A-A1935B5A1574}"/>
                </a:ext>
              </a:extLst>
            </p:cNvPr>
            <p:cNvSpPr/>
            <p:nvPr/>
          </p:nvSpPr>
          <p:spPr>
            <a:xfrm>
              <a:off x="288582" y="1852769"/>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1</a:t>
              </a:r>
              <a:endParaRPr lang="ko-KR" altLang="en-US" sz="900" dirty="0"/>
            </a:p>
          </p:txBody>
        </p:sp>
        <p:sp>
          <p:nvSpPr>
            <p:cNvPr id="14" name="타원 13">
              <a:extLst>
                <a:ext uri="{FF2B5EF4-FFF2-40B4-BE49-F238E27FC236}">
                  <a16:creationId xmlns:a16="http://schemas.microsoft.com/office/drawing/2014/main" id="{047C8767-1913-4B9A-413F-19211D21AA3C}"/>
                </a:ext>
              </a:extLst>
            </p:cNvPr>
            <p:cNvSpPr/>
            <p:nvPr/>
          </p:nvSpPr>
          <p:spPr>
            <a:xfrm>
              <a:off x="2081187" y="1852769"/>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2</a:t>
              </a:r>
              <a:endParaRPr lang="ko-KR" altLang="en-US" sz="900" dirty="0"/>
            </a:p>
          </p:txBody>
        </p:sp>
        <p:sp>
          <p:nvSpPr>
            <p:cNvPr id="17" name="타원 16">
              <a:extLst>
                <a:ext uri="{FF2B5EF4-FFF2-40B4-BE49-F238E27FC236}">
                  <a16:creationId xmlns:a16="http://schemas.microsoft.com/office/drawing/2014/main" id="{EFA9797B-5F22-2D3F-5144-4C7D113235F5}"/>
                </a:ext>
              </a:extLst>
            </p:cNvPr>
            <p:cNvSpPr/>
            <p:nvPr/>
          </p:nvSpPr>
          <p:spPr>
            <a:xfrm>
              <a:off x="5521916" y="1852769"/>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4</a:t>
              </a:r>
              <a:endParaRPr lang="ko-KR" altLang="en-US" sz="900" dirty="0"/>
            </a:p>
          </p:txBody>
        </p:sp>
        <p:sp>
          <p:nvSpPr>
            <p:cNvPr id="19" name="타원 18">
              <a:extLst>
                <a:ext uri="{FF2B5EF4-FFF2-40B4-BE49-F238E27FC236}">
                  <a16:creationId xmlns:a16="http://schemas.microsoft.com/office/drawing/2014/main" id="{8CAB31C2-BBC2-43D3-1E94-7E9C3495BAF1}"/>
                </a:ext>
              </a:extLst>
            </p:cNvPr>
            <p:cNvSpPr/>
            <p:nvPr/>
          </p:nvSpPr>
          <p:spPr>
            <a:xfrm>
              <a:off x="7227855" y="1852769"/>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5</a:t>
              </a:r>
              <a:endParaRPr lang="ko-KR" altLang="en-US" sz="900" dirty="0"/>
            </a:p>
          </p:txBody>
        </p:sp>
        <p:sp>
          <p:nvSpPr>
            <p:cNvPr id="24" name="타원 23">
              <a:extLst>
                <a:ext uri="{FF2B5EF4-FFF2-40B4-BE49-F238E27FC236}">
                  <a16:creationId xmlns:a16="http://schemas.microsoft.com/office/drawing/2014/main" id="{196F23D3-D995-3791-4EA3-C630A2E9FBE1}"/>
                </a:ext>
              </a:extLst>
            </p:cNvPr>
            <p:cNvSpPr/>
            <p:nvPr/>
          </p:nvSpPr>
          <p:spPr>
            <a:xfrm>
              <a:off x="3756089" y="1852769"/>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3</a:t>
              </a:r>
              <a:endParaRPr lang="ko-KR" altLang="en-US" sz="900" dirty="0"/>
            </a:p>
          </p:txBody>
        </p:sp>
      </p:grpSp>
      <p:grpSp>
        <p:nvGrpSpPr>
          <p:cNvPr id="4" name="그룹 3">
            <a:extLst>
              <a:ext uri="{FF2B5EF4-FFF2-40B4-BE49-F238E27FC236}">
                <a16:creationId xmlns:a16="http://schemas.microsoft.com/office/drawing/2014/main" id="{DC231758-F0F1-26DA-2562-F3C4738A46A8}"/>
              </a:ext>
            </a:extLst>
          </p:cNvPr>
          <p:cNvGrpSpPr/>
          <p:nvPr/>
        </p:nvGrpSpPr>
        <p:grpSpPr>
          <a:xfrm>
            <a:off x="210205" y="4399677"/>
            <a:ext cx="8723589" cy="816699"/>
            <a:chOff x="210205" y="4547239"/>
            <a:chExt cx="8723589" cy="816699"/>
          </a:xfrm>
        </p:grpSpPr>
        <p:pic>
          <p:nvPicPr>
            <p:cNvPr id="21" name="그림 20">
              <a:extLst>
                <a:ext uri="{FF2B5EF4-FFF2-40B4-BE49-F238E27FC236}">
                  <a16:creationId xmlns:a16="http://schemas.microsoft.com/office/drawing/2014/main" id="{66E1E54B-30F5-6B57-5075-E232FD467B9B}"/>
                </a:ext>
              </a:extLst>
            </p:cNvPr>
            <p:cNvPicPr>
              <a:picLocks noChangeAspect="1"/>
            </p:cNvPicPr>
            <p:nvPr/>
          </p:nvPicPr>
          <p:blipFill>
            <a:blip r:embed="rId4"/>
            <a:stretch>
              <a:fillRect/>
            </a:stretch>
          </p:blipFill>
          <p:spPr>
            <a:xfrm>
              <a:off x="210205" y="4547239"/>
              <a:ext cx="8723589" cy="816699"/>
            </a:xfrm>
            <a:prstGeom prst="rect">
              <a:avLst/>
            </a:prstGeom>
          </p:spPr>
        </p:pic>
        <p:sp>
          <p:nvSpPr>
            <p:cNvPr id="26" name="타원 25">
              <a:extLst>
                <a:ext uri="{FF2B5EF4-FFF2-40B4-BE49-F238E27FC236}">
                  <a16:creationId xmlns:a16="http://schemas.microsoft.com/office/drawing/2014/main" id="{CD78FAA9-35DF-4D54-CE19-9F86E3974F26}"/>
                </a:ext>
              </a:extLst>
            </p:cNvPr>
            <p:cNvSpPr/>
            <p:nvPr/>
          </p:nvSpPr>
          <p:spPr>
            <a:xfrm>
              <a:off x="288582" y="4716848"/>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1</a:t>
              </a:r>
              <a:endParaRPr lang="ko-KR" altLang="en-US" sz="900" dirty="0"/>
            </a:p>
          </p:txBody>
        </p:sp>
        <p:sp>
          <p:nvSpPr>
            <p:cNvPr id="27" name="타원 26">
              <a:extLst>
                <a:ext uri="{FF2B5EF4-FFF2-40B4-BE49-F238E27FC236}">
                  <a16:creationId xmlns:a16="http://schemas.microsoft.com/office/drawing/2014/main" id="{1815A1AA-CBD0-2EA9-B106-0D53D642193F}"/>
                </a:ext>
              </a:extLst>
            </p:cNvPr>
            <p:cNvSpPr/>
            <p:nvPr/>
          </p:nvSpPr>
          <p:spPr>
            <a:xfrm>
              <a:off x="2447331" y="4716848"/>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2</a:t>
              </a:r>
              <a:endParaRPr lang="ko-KR" altLang="en-US" sz="900" dirty="0"/>
            </a:p>
          </p:txBody>
        </p:sp>
        <p:sp>
          <p:nvSpPr>
            <p:cNvPr id="28" name="타원 27">
              <a:extLst>
                <a:ext uri="{FF2B5EF4-FFF2-40B4-BE49-F238E27FC236}">
                  <a16:creationId xmlns:a16="http://schemas.microsoft.com/office/drawing/2014/main" id="{F845CAFA-FA3F-B5EB-CC85-E6F90D529A4F}"/>
                </a:ext>
              </a:extLst>
            </p:cNvPr>
            <p:cNvSpPr/>
            <p:nvPr/>
          </p:nvSpPr>
          <p:spPr>
            <a:xfrm>
              <a:off x="4606080" y="4716848"/>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3</a:t>
              </a:r>
              <a:endParaRPr lang="ko-KR" altLang="en-US" sz="900" dirty="0"/>
            </a:p>
          </p:txBody>
        </p:sp>
        <p:sp>
          <p:nvSpPr>
            <p:cNvPr id="29" name="타원 28">
              <a:extLst>
                <a:ext uri="{FF2B5EF4-FFF2-40B4-BE49-F238E27FC236}">
                  <a16:creationId xmlns:a16="http://schemas.microsoft.com/office/drawing/2014/main" id="{D5A964CC-DD4E-DE85-3C1A-7AD6B495CBD2}"/>
                </a:ext>
              </a:extLst>
            </p:cNvPr>
            <p:cNvSpPr/>
            <p:nvPr/>
          </p:nvSpPr>
          <p:spPr>
            <a:xfrm>
              <a:off x="6764829" y="4716848"/>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4</a:t>
              </a:r>
              <a:endParaRPr lang="ko-KR" altLang="en-US" sz="900" dirty="0"/>
            </a:p>
          </p:txBody>
        </p:sp>
      </p:grpSp>
      <p:sp>
        <p:nvSpPr>
          <p:cNvPr id="13" name="TextBox 12">
            <a:extLst>
              <a:ext uri="{FF2B5EF4-FFF2-40B4-BE49-F238E27FC236}">
                <a16:creationId xmlns:a16="http://schemas.microsoft.com/office/drawing/2014/main" id="{DD1F5516-3CB3-C50B-035D-73BB8B0E5786}"/>
              </a:ext>
            </a:extLst>
          </p:cNvPr>
          <p:cNvSpPr txBox="1"/>
          <p:nvPr/>
        </p:nvSpPr>
        <p:spPr>
          <a:xfrm>
            <a:off x="572434" y="6290058"/>
            <a:ext cx="8067292" cy="523220"/>
          </a:xfrm>
          <a:prstGeom prst="rect">
            <a:avLst/>
          </a:prstGeom>
          <a:noFill/>
        </p:spPr>
        <p:txBody>
          <a:bodyPr wrap="square">
            <a:spAutoFit/>
          </a:bodyPr>
          <a:lstStyle/>
          <a:p>
            <a:pPr algn="ctr"/>
            <a:r>
              <a:rPr lang="vi-VN" altLang="ko-KR" b="1" dirty="0">
                <a:solidFill>
                  <a:srgbClr val="FF0000"/>
                </a:solidFill>
              </a:rPr>
              <a:t>Trong trường hợp nhập khẩu, dữ liệu sẽ tự động được đăng ký vào ERP B/L, chi phí phụ B/L và thông quan.</a:t>
            </a:r>
            <a:endParaRPr lang="ko-KR" altLang="en-US" b="1" dirty="0">
              <a:solidFill>
                <a:srgbClr val="FF0000"/>
              </a:solidFill>
            </a:endParaRPr>
          </a:p>
        </p:txBody>
      </p:sp>
      <p:sp>
        <p:nvSpPr>
          <p:cNvPr id="2" name="제목 1">
            <a:extLst>
              <a:ext uri="{FF2B5EF4-FFF2-40B4-BE49-F238E27FC236}">
                <a16:creationId xmlns:a16="http://schemas.microsoft.com/office/drawing/2014/main" id="{F810DE62-4968-A26D-7E98-BDDADACBB8F8}"/>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Process Flow for Groupware Document (Purchase)</a:t>
            </a:r>
          </a:p>
        </p:txBody>
      </p:sp>
    </p:spTree>
    <p:extLst>
      <p:ext uri="{BB962C8B-B14F-4D97-AF65-F5344CB8AC3E}">
        <p14:creationId xmlns:p14="http://schemas.microsoft.com/office/powerpoint/2010/main" val="117238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F16BA-82EE-F4A8-2C0B-96D9B638E492}"/>
            </a:ext>
          </a:extLst>
        </p:cNvPr>
        <p:cNvGrpSpPr/>
        <p:nvPr/>
      </p:nvGrpSpPr>
      <p:grpSpPr>
        <a:xfrm>
          <a:off x="0" y="0"/>
          <a:ext cx="0" cy="0"/>
          <a:chOff x="0" y="0"/>
          <a:chExt cx="0" cy="0"/>
        </a:xfrm>
      </p:grpSpPr>
      <p:pic>
        <p:nvPicPr>
          <p:cNvPr id="31" name="그림 30">
            <a:extLst>
              <a:ext uri="{FF2B5EF4-FFF2-40B4-BE49-F238E27FC236}">
                <a16:creationId xmlns:a16="http://schemas.microsoft.com/office/drawing/2014/main" id="{610F4062-393E-EE9A-D41A-687FFF1A3FAE}"/>
              </a:ext>
            </a:extLst>
          </p:cNvPr>
          <p:cNvPicPr>
            <a:picLocks noChangeAspect="1"/>
          </p:cNvPicPr>
          <p:nvPr/>
        </p:nvPicPr>
        <p:blipFill>
          <a:blip r:embed="rId3"/>
          <a:stretch>
            <a:fillRect/>
          </a:stretch>
        </p:blipFill>
        <p:spPr>
          <a:xfrm>
            <a:off x="412080" y="4736110"/>
            <a:ext cx="8061360" cy="1488560"/>
          </a:xfrm>
          <a:prstGeom prst="rect">
            <a:avLst/>
          </a:prstGeom>
        </p:spPr>
      </p:pic>
      <p:sp>
        <p:nvSpPr>
          <p:cNvPr id="6" name="Google Shape;100;p7">
            <a:extLst>
              <a:ext uri="{FF2B5EF4-FFF2-40B4-BE49-F238E27FC236}">
                <a16:creationId xmlns:a16="http://schemas.microsoft.com/office/drawing/2014/main" id="{549C44FA-163C-4370-3848-AC47E4098713}"/>
              </a:ext>
            </a:extLst>
          </p:cNvPr>
          <p:cNvSpPr/>
          <p:nvPr/>
        </p:nvSpPr>
        <p:spPr>
          <a:xfrm>
            <a:off x="159154" y="789126"/>
            <a:ext cx="7115025"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dirty="0">
                <a:solidFill>
                  <a:schemeClr val="tx1"/>
                </a:solidFill>
                <a:highlight>
                  <a:srgbClr val="FFFF00"/>
                </a:highlight>
                <a:latin typeface="+mn-ea"/>
                <a:ea typeface="+mn-ea"/>
                <a:cs typeface="Calibri"/>
                <a:sym typeface="Calibri"/>
              </a:rPr>
              <a:t>Arrival Confirmation Document (Electronic document - Purchase )</a:t>
            </a:r>
            <a:endParaRPr lang="en-US" sz="1200" b="1" i="0" u="none" strike="noStrike" cap="none" dirty="0">
              <a:solidFill>
                <a:schemeClr val="tx1"/>
              </a:solidFill>
              <a:highlight>
                <a:srgbClr val="FFFF00"/>
              </a:highlight>
              <a:latin typeface="+mn-ea"/>
              <a:ea typeface="+mn-ea"/>
              <a:cs typeface="Calibri"/>
              <a:sym typeface="Calibri"/>
            </a:endParaRPr>
          </a:p>
        </p:txBody>
      </p:sp>
      <p:sp>
        <p:nvSpPr>
          <p:cNvPr id="7" name="TextBox 6">
            <a:extLst>
              <a:ext uri="{FF2B5EF4-FFF2-40B4-BE49-F238E27FC236}">
                <a16:creationId xmlns:a16="http://schemas.microsoft.com/office/drawing/2014/main" id="{C0713B39-AB4D-CB43-481F-C1E7DD98A6D2}"/>
              </a:ext>
            </a:extLst>
          </p:cNvPr>
          <p:cNvSpPr txBox="1"/>
          <p:nvPr/>
        </p:nvSpPr>
        <p:spPr>
          <a:xfrm>
            <a:off x="159154" y="1194822"/>
            <a:ext cx="4576354" cy="307777"/>
          </a:xfrm>
          <a:prstGeom prst="rect">
            <a:avLst/>
          </a:prstGeom>
          <a:noFill/>
        </p:spPr>
        <p:txBody>
          <a:bodyPr wrap="square">
            <a:spAutoFit/>
          </a:bodyPr>
          <a:lstStyle/>
          <a:p>
            <a:r>
              <a:rPr lang="en-US" altLang="ko-KR" b="1" dirty="0" err="1"/>
              <a:t>Chọn</a:t>
            </a:r>
            <a:r>
              <a:rPr lang="en-US" altLang="ko-KR" b="1" dirty="0"/>
              <a:t> </a:t>
            </a:r>
            <a:r>
              <a:rPr lang="en-US" altLang="ko-KR" b="1" dirty="0" err="1"/>
              <a:t>mặt</a:t>
            </a:r>
            <a:r>
              <a:rPr lang="en-US" altLang="ko-KR" b="1" dirty="0"/>
              <a:t> </a:t>
            </a:r>
            <a:r>
              <a:rPr lang="en-US" altLang="ko-KR" b="1" dirty="0" err="1"/>
              <a:t>hàng</a:t>
            </a:r>
            <a:r>
              <a:rPr lang="en-US" altLang="ko-KR" b="1" dirty="0"/>
              <a:t> </a:t>
            </a:r>
            <a:r>
              <a:rPr lang="en-US" altLang="ko-KR" b="1" dirty="0" err="1"/>
              <a:t>nhập</a:t>
            </a:r>
            <a:r>
              <a:rPr lang="en-US" altLang="ko-KR" b="1" dirty="0"/>
              <a:t> </a:t>
            </a:r>
            <a:r>
              <a:rPr lang="en-US" altLang="ko-KR" b="1" dirty="0" err="1"/>
              <a:t>kho</a:t>
            </a:r>
            <a:r>
              <a:rPr lang="en-US" altLang="ko-KR" b="1" dirty="0"/>
              <a:t> </a:t>
            </a:r>
            <a:r>
              <a:rPr lang="en-US" altLang="ko-KR" b="1" dirty="0" err="1"/>
              <a:t>và</a:t>
            </a:r>
            <a:r>
              <a:rPr lang="en-US" altLang="ko-KR" b="1" dirty="0"/>
              <a:t> </a:t>
            </a:r>
            <a:r>
              <a:rPr lang="en-US" altLang="ko-KR" b="1" dirty="0" err="1"/>
              <a:t>nhập</a:t>
            </a:r>
            <a:r>
              <a:rPr lang="en-US" altLang="ko-KR" b="1" dirty="0"/>
              <a:t> </a:t>
            </a:r>
            <a:r>
              <a:rPr lang="en-US" altLang="ko-KR" b="1" dirty="0" err="1"/>
              <a:t>thông</a:t>
            </a:r>
            <a:r>
              <a:rPr lang="en-US" altLang="ko-KR" b="1" dirty="0"/>
              <a:t> tin</a:t>
            </a:r>
            <a:endParaRPr lang="ko-KR" altLang="en-US" b="1" dirty="0"/>
          </a:p>
        </p:txBody>
      </p:sp>
      <p:pic>
        <p:nvPicPr>
          <p:cNvPr id="4" name="그림 3">
            <a:extLst>
              <a:ext uri="{FF2B5EF4-FFF2-40B4-BE49-F238E27FC236}">
                <a16:creationId xmlns:a16="http://schemas.microsoft.com/office/drawing/2014/main" id="{4BE1668E-7F8B-0C8B-B62F-8597960CB3C7}"/>
              </a:ext>
            </a:extLst>
          </p:cNvPr>
          <p:cNvPicPr>
            <a:picLocks noChangeAspect="1"/>
          </p:cNvPicPr>
          <p:nvPr/>
        </p:nvPicPr>
        <p:blipFill>
          <a:blip r:embed="rId4"/>
          <a:stretch>
            <a:fillRect/>
          </a:stretch>
        </p:blipFill>
        <p:spPr>
          <a:xfrm>
            <a:off x="243840" y="1483800"/>
            <a:ext cx="8586651" cy="1025373"/>
          </a:xfrm>
          <a:prstGeom prst="rect">
            <a:avLst/>
          </a:prstGeom>
        </p:spPr>
      </p:pic>
      <p:pic>
        <p:nvPicPr>
          <p:cNvPr id="8" name="그림 7">
            <a:extLst>
              <a:ext uri="{FF2B5EF4-FFF2-40B4-BE49-F238E27FC236}">
                <a16:creationId xmlns:a16="http://schemas.microsoft.com/office/drawing/2014/main" id="{21052B35-31F5-59DD-E87B-85A7CB093361}"/>
              </a:ext>
            </a:extLst>
          </p:cNvPr>
          <p:cNvPicPr>
            <a:picLocks noChangeAspect="1"/>
          </p:cNvPicPr>
          <p:nvPr/>
        </p:nvPicPr>
        <p:blipFill>
          <a:blip r:embed="rId5"/>
          <a:stretch>
            <a:fillRect/>
          </a:stretch>
        </p:blipFill>
        <p:spPr>
          <a:xfrm>
            <a:off x="258103" y="2594279"/>
            <a:ext cx="8572388" cy="1669441"/>
          </a:xfrm>
          <a:prstGeom prst="rect">
            <a:avLst/>
          </a:prstGeom>
          <a:ln w="22225">
            <a:solidFill>
              <a:srgbClr val="FF0000"/>
            </a:solidFill>
          </a:ln>
        </p:spPr>
      </p:pic>
      <p:sp>
        <p:nvSpPr>
          <p:cNvPr id="11" name="TextBox 10">
            <a:extLst>
              <a:ext uri="{FF2B5EF4-FFF2-40B4-BE49-F238E27FC236}">
                <a16:creationId xmlns:a16="http://schemas.microsoft.com/office/drawing/2014/main" id="{EB10E434-B3F4-0DE0-2490-11D8F1E81769}"/>
              </a:ext>
            </a:extLst>
          </p:cNvPr>
          <p:cNvSpPr txBox="1"/>
          <p:nvPr/>
        </p:nvSpPr>
        <p:spPr>
          <a:xfrm>
            <a:off x="3373556" y="4324621"/>
            <a:ext cx="2691470" cy="276999"/>
          </a:xfrm>
          <a:prstGeom prst="rect">
            <a:avLst/>
          </a:prstGeom>
          <a:noFill/>
        </p:spPr>
        <p:txBody>
          <a:bodyPr wrap="square">
            <a:spAutoFit/>
          </a:bodyPr>
          <a:lstStyle/>
          <a:p>
            <a:r>
              <a:rPr lang="en-US" altLang="ko-KR" sz="1200" b="1" dirty="0"/>
              <a:t>1. </a:t>
            </a:r>
            <a:r>
              <a:rPr lang="en-US" altLang="ko-KR" sz="1200" b="1" dirty="0" err="1"/>
              <a:t>Chọn</a:t>
            </a:r>
            <a:r>
              <a:rPr lang="en-US" altLang="ko-KR" sz="1200" b="1" dirty="0"/>
              <a:t> </a:t>
            </a:r>
            <a:r>
              <a:rPr lang="en-US" altLang="ko-KR" sz="1200" b="1" dirty="0" err="1"/>
              <a:t>mặt</a:t>
            </a:r>
            <a:r>
              <a:rPr lang="en-US" altLang="ko-KR" sz="1200" b="1" dirty="0"/>
              <a:t> </a:t>
            </a:r>
            <a:r>
              <a:rPr lang="en-US" altLang="ko-KR" sz="1200" b="1" dirty="0" err="1"/>
              <a:t>hàng</a:t>
            </a:r>
            <a:r>
              <a:rPr lang="en-US" altLang="ko-KR" sz="1200" b="1" dirty="0"/>
              <a:t> </a:t>
            </a:r>
            <a:r>
              <a:rPr lang="en-US" altLang="ko-KR" sz="1200" b="1" dirty="0" err="1"/>
              <a:t>muốn</a:t>
            </a:r>
            <a:r>
              <a:rPr lang="en-US" altLang="ko-KR" sz="1200" b="1" dirty="0"/>
              <a:t> </a:t>
            </a:r>
            <a:r>
              <a:rPr lang="en-US" altLang="ko-KR" sz="1200" b="1" dirty="0" err="1"/>
              <a:t>mua</a:t>
            </a:r>
            <a:endParaRPr lang="ko-KR" altLang="en-US" sz="1200" b="1" dirty="0"/>
          </a:p>
        </p:txBody>
      </p:sp>
      <p:sp>
        <p:nvSpPr>
          <p:cNvPr id="15" name="화살표: 아래쪽 14">
            <a:extLst>
              <a:ext uri="{FF2B5EF4-FFF2-40B4-BE49-F238E27FC236}">
                <a16:creationId xmlns:a16="http://schemas.microsoft.com/office/drawing/2014/main" id="{C53844A9-F3DF-448D-E324-6D05BF496445}"/>
              </a:ext>
            </a:extLst>
          </p:cNvPr>
          <p:cNvSpPr/>
          <p:nvPr/>
        </p:nvSpPr>
        <p:spPr>
          <a:xfrm>
            <a:off x="3853542" y="4736110"/>
            <a:ext cx="1436914" cy="214209"/>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D31E1200-B74E-2BB3-73C5-825CE72BAAEE}"/>
              </a:ext>
            </a:extLst>
          </p:cNvPr>
          <p:cNvSpPr/>
          <p:nvPr/>
        </p:nvSpPr>
        <p:spPr>
          <a:xfrm>
            <a:off x="4235142" y="2279540"/>
            <a:ext cx="618309" cy="15708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0" name="연결선: 꺾임 19">
            <a:extLst>
              <a:ext uri="{FF2B5EF4-FFF2-40B4-BE49-F238E27FC236}">
                <a16:creationId xmlns:a16="http://schemas.microsoft.com/office/drawing/2014/main" id="{A78C78A9-58A3-0541-0A38-89AB896EE9E4}"/>
              </a:ext>
            </a:extLst>
          </p:cNvPr>
          <p:cNvCxnSpPr>
            <a:cxnSpLocks/>
            <a:stCxn id="16" idx="2"/>
            <a:endCxn id="8" idx="0"/>
          </p:cNvCxnSpPr>
          <p:nvPr/>
        </p:nvCxnSpPr>
        <p:spPr>
          <a:xfrm rot="5400000">
            <a:off x="4465472" y="2515454"/>
            <a:ext cx="157650" cy="12700"/>
          </a:xfrm>
          <a:prstGeom prst="bentConnector3">
            <a:avLst>
              <a:gd name="adj1" fmla="val 50000"/>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직사각형 35">
            <a:extLst>
              <a:ext uri="{FF2B5EF4-FFF2-40B4-BE49-F238E27FC236}">
                <a16:creationId xmlns:a16="http://schemas.microsoft.com/office/drawing/2014/main" id="{B73BF516-32E2-C6AE-C7D7-4C4C093DA8A9}"/>
              </a:ext>
            </a:extLst>
          </p:cNvPr>
          <p:cNvSpPr/>
          <p:nvPr/>
        </p:nvSpPr>
        <p:spPr>
          <a:xfrm>
            <a:off x="412080" y="4871774"/>
            <a:ext cx="1904400" cy="214209"/>
          </a:xfrm>
          <a:prstGeom prst="rect">
            <a:avLst/>
          </a:prstGeom>
          <a:noFill/>
          <a:ln w="28575">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7" name="연결선: 꺾임 36">
            <a:extLst>
              <a:ext uri="{FF2B5EF4-FFF2-40B4-BE49-F238E27FC236}">
                <a16:creationId xmlns:a16="http://schemas.microsoft.com/office/drawing/2014/main" id="{D03ACFD7-236F-FF25-CBF9-8360A4DB6816}"/>
              </a:ext>
            </a:extLst>
          </p:cNvPr>
          <p:cNvCxnSpPr>
            <a:cxnSpLocks/>
            <a:stCxn id="36" idx="2"/>
          </p:cNvCxnSpPr>
          <p:nvPr/>
        </p:nvCxnSpPr>
        <p:spPr>
          <a:xfrm rot="5400000">
            <a:off x="489689" y="5484568"/>
            <a:ext cx="1273177" cy="476006"/>
          </a:xfrm>
          <a:prstGeom prst="bentConnector3">
            <a:avLst>
              <a:gd name="adj1" fmla="val 50000"/>
            </a:avLst>
          </a:prstGeom>
          <a:ln w="2222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1" name="직사각형 40">
            <a:extLst>
              <a:ext uri="{FF2B5EF4-FFF2-40B4-BE49-F238E27FC236}">
                <a16:creationId xmlns:a16="http://schemas.microsoft.com/office/drawing/2014/main" id="{9E158769-7C4F-503B-5C0B-ECDC582711ED}"/>
              </a:ext>
            </a:extLst>
          </p:cNvPr>
          <p:cNvSpPr/>
          <p:nvPr/>
        </p:nvSpPr>
        <p:spPr>
          <a:xfrm>
            <a:off x="258103" y="6354983"/>
            <a:ext cx="1904399" cy="503017"/>
          </a:xfrm>
          <a:prstGeom prst="rect">
            <a:avLst/>
          </a:prstGeom>
          <a:noFill/>
          <a:ln w="28575">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err="1">
                <a:solidFill>
                  <a:schemeClr val="tx1"/>
                </a:solidFill>
              </a:rPr>
              <a:t>Nhập</a:t>
            </a:r>
            <a:r>
              <a:rPr lang="en-US" altLang="ko-KR" sz="1100" dirty="0">
                <a:solidFill>
                  <a:schemeClr val="tx1"/>
                </a:solidFill>
              </a:rPr>
              <a:t> </a:t>
            </a:r>
            <a:r>
              <a:rPr lang="en-US" altLang="ko-KR" sz="1100" dirty="0" err="1">
                <a:solidFill>
                  <a:schemeClr val="tx1"/>
                </a:solidFill>
              </a:rPr>
              <a:t>ngày</a:t>
            </a:r>
            <a:r>
              <a:rPr lang="en-US" altLang="ko-KR" sz="1100" dirty="0">
                <a:solidFill>
                  <a:schemeClr val="tx1"/>
                </a:solidFill>
              </a:rPr>
              <a:t> </a:t>
            </a:r>
            <a:r>
              <a:rPr lang="en-US" altLang="ko-KR" sz="1100" dirty="0" err="1">
                <a:solidFill>
                  <a:schemeClr val="tx1"/>
                </a:solidFill>
              </a:rPr>
              <a:t>hàng</a:t>
            </a:r>
            <a:r>
              <a:rPr lang="en-US" altLang="ko-KR" sz="1100" dirty="0">
                <a:solidFill>
                  <a:schemeClr val="tx1"/>
                </a:solidFill>
              </a:rPr>
              <a:t> </a:t>
            </a:r>
            <a:r>
              <a:rPr lang="en-US" altLang="ko-KR" sz="1100" dirty="0" err="1">
                <a:solidFill>
                  <a:schemeClr val="tx1"/>
                </a:solidFill>
              </a:rPr>
              <a:t>hóa</a:t>
            </a:r>
            <a:r>
              <a:rPr lang="en-US" altLang="ko-KR" sz="1100" dirty="0">
                <a:solidFill>
                  <a:schemeClr val="tx1"/>
                </a:solidFill>
              </a:rPr>
              <a:t> </a:t>
            </a:r>
            <a:r>
              <a:rPr lang="en-US" altLang="ko-KR" sz="1100" dirty="0" err="1">
                <a:solidFill>
                  <a:schemeClr val="tx1"/>
                </a:solidFill>
              </a:rPr>
              <a:t>thực</a:t>
            </a:r>
            <a:r>
              <a:rPr lang="en-US" altLang="ko-KR" sz="1100" dirty="0">
                <a:solidFill>
                  <a:schemeClr val="tx1"/>
                </a:solidFill>
              </a:rPr>
              <a:t> </a:t>
            </a:r>
            <a:r>
              <a:rPr lang="en-US" altLang="ko-KR" sz="1100" dirty="0" err="1">
                <a:solidFill>
                  <a:schemeClr val="tx1"/>
                </a:solidFill>
              </a:rPr>
              <a:t>tế</a:t>
            </a:r>
            <a:r>
              <a:rPr lang="en-US" altLang="ko-KR" sz="1100" dirty="0">
                <a:solidFill>
                  <a:schemeClr val="tx1"/>
                </a:solidFill>
              </a:rPr>
              <a:t> </a:t>
            </a:r>
            <a:r>
              <a:rPr lang="en-US" altLang="ko-KR" sz="1100" dirty="0" err="1">
                <a:solidFill>
                  <a:schemeClr val="tx1"/>
                </a:solidFill>
              </a:rPr>
              <a:t>mua</a:t>
            </a:r>
            <a:r>
              <a:rPr lang="en-US" altLang="ko-KR" sz="1100" dirty="0">
                <a:solidFill>
                  <a:schemeClr val="tx1"/>
                </a:solidFill>
              </a:rPr>
              <a:t> </a:t>
            </a:r>
            <a:r>
              <a:rPr lang="en-US" altLang="ko-KR" sz="1100" dirty="0" err="1">
                <a:solidFill>
                  <a:schemeClr val="tx1"/>
                </a:solidFill>
              </a:rPr>
              <a:t>về</a:t>
            </a:r>
            <a:r>
              <a:rPr lang="en-US" altLang="ko-KR" sz="1100" dirty="0">
                <a:solidFill>
                  <a:schemeClr val="tx1"/>
                </a:solidFill>
              </a:rPr>
              <a:t> </a:t>
            </a:r>
            <a:r>
              <a:rPr lang="en-US" altLang="ko-KR" sz="1100" dirty="0" err="1">
                <a:solidFill>
                  <a:schemeClr val="tx1"/>
                </a:solidFill>
              </a:rPr>
              <a:t>đến</a:t>
            </a:r>
            <a:r>
              <a:rPr lang="en-US" altLang="ko-KR" sz="1100" dirty="0">
                <a:solidFill>
                  <a:schemeClr val="tx1"/>
                </a:solidFill>
              </a:rPr>
              <a:t> </a:t>
            </a:r>
            <a:r>
              <a:rPr lang="en-US" altLang="ko-KR" sz="1100" dirty="0" err="1">
                <a:solidFill>
                  <a:schemeClr val="tx1"/>
                </a:solidFill>
              </a:rPr>
              <a:t>công</a:t>
            </a:r>
            <a:r>
              <a:rPr lang="en-US" altLang="ko-KR" sz="1100" dirty="0">
                <a:solidFill>
                  <a:schemeClr val="tx1"/>
                </a:solidFill>
              </a:rPr>
              <a:t> ty</a:t>
            </a:r>
            <a:endParaRPr lang="ko-KR" altLang="en-US" sz="1100" dirty="0">
              <a:solidFill>
                <a:schemeClr val="tx1"/>
              </a:solidFill>
            </a:endParaRPr>
          </a:p>
        </p:txBody>
      </p:sp>
      <p:sp>
        <p:nvSpPr>
          <p:cNvPr id="42" name="직사각형 41">
            <a:extLst>
              <a:ext uri="{FF2B5EF4-FFF2-40B4-BE49-F238E27FC236}">
                <a16:creationId xmlns:a16="http://schemas.microsoft.com/office/drawing/2014/main" id="{90FC9E58-2BBB-7406-C6E0-9BA57D6C8631}"/>
              </a:ext>
            </a:extLst>
          </p:cNvPr>
          <p:cNvSpPr/>
          <p:nvPr/>
        </p:nvSpPr>
        <p:spPr>
          <a:xfrm>
            <a:off x="5386250" y="5155814"/>
            <a:ext cx="2677887" cy="774723"/>
          </a:xfrm>
          <a:prstGeom prst="rect">
            <a:avLst/>
          </a:prstGeom>
          <a:noFill/>
          <a:ln w="28575">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직사각형 42">
            <a:extLst>
              <a:ext uri="{FF2B5EF4-FFF2-40B4-BE49-F238E27FC236}">
                <a16:creationId xmlns:a16="http://schemas.microsoft.com/office/drawing/2014/main" id="{ABAB7658-C77C-194C-121C-AF720F1BB45A}"/>
              </a:ext>
            </a:extLst>
          </p:cNvPr>
          <p:cNvSpPr/>
          <p:nvPr/>
        </p:nvSpPr>
        <p:spPr>
          <a:xfrm>
            <a:off x="5394959" y="6350241"/>
            <a:ext cx="3078481" cy="503017"/>
          </a:xfrm>
          <a:prstGeom prst="rect">
            <a:avLst/>
          </a:prstGeom>
          <a:noFill/>
          <a:ln w="28575">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err="1">
                <a:solidFill>
                  <a:schemeClr val="tx1"/>
                </a:solidFill>
              </a:rPr>
              <a:t>Số</a:t>
            </a:r>
            <a:r>
              <a:rPr lang="en-US" altLang="ko-KR" sz="1100" dirty="0">
                <a:solidFill>
                  <a:schemeClr val="tx1"/>
                </a:solidFill>
              </a:rPr>
              <a:t> </a:t>
            </a:r>
            <a:r>
              <a:rPr lang="en-US" altLang="ko-KR" sz="1100" dirty="0" err="1">
                <a:solidFill>
                  <a:schemeClr val="tx1"/>
                </a:solidFill>
              </a:rPr>
              <a:t>tiền</a:t>
            </a:r>
            <a:r>
              <a:rPr lang="en-US" altLang="ko-KR" sz="1100" dirty="0">
                <a:solidFill>
                  <a:schemeClr val="tx1"/>
                </a:solidFill>
              </a:rPr>
              <a:t> </a:t>
            </a:r>
            <a:r>
              <a:rPr lang="en-US" altLang="ko-KR" sz="1100" dirty="0" err="1">
                <a:solidFill>
                  <a:schemeClr val="tx1"/>
                </a:solidFill>
              </a:rPr>
              <a:t>áp</a:t>
            </a:r>
            <a:r>
              <a:rPr lang="en-US" altLang="ko-KR" sz="1100" dirty="0">
                <a:solidFill>
                  <a:schemeClr val="tx1"/>
                </a:solidFill>
              </a:rPr>
              <a:t> </a:t>
            </a:r>
            <a:r>
              <a:rPr lang="en-US" altLang="ko-KR" sz="1100" dirty="0" err="1">
                <a:solidFill>
                  <a:schemeClr val="tx1"/>
                </a:solidFill>
              </a:rPr>
              <a:t>dụng</a:t>
            </a:r>
            <a:r>
              <a:rPr lang="en-US" altLang="ko-KR" sz="1100" dirty="0">
                <a:solidFill>
                  <a:schemeClr val="tx1"/>
                </a:solidFill>
              </a:rPr>
              <a:t> </a:t>
            </a:r>
            <a:r>
              <a:rPr lang="en-US" altLang="ko-KR" sz="1100" dirty="0" err="1">
                <a:solidFill>
                  <a:schemeClr val="tx1"/>
                </a:solidFill>
              </a:rPr>
              <a:t>tỷ</a:t>
            </a:r>
            <a:r>
              <a:rPr lang="en-US" altLang="ko-KR" sz="1100" dirty="0">
                <a:solidFill>
                  <a:schemeClr val="tx1"/>
                </a:solidFill>
              </a:rPr>
              <a:t> </a:t>
            </a:r>
            <a:r>
              <a:rPr lang="en-US" altLang="ko-KR" sz="1100" dirty="0" err="1">
                <a:solidFill>
                  <a:schemeClr val="tx1"/>
                </a:solidFill>
              </a:rPr>
              <a:t>giá</a:t>
            </a:r>
            <a:r>
              <a:rPr lang="en-US" altLang="ko-KR" sz="1100" dirty="0">
                <a:solidFill>
                  <a:schemeClr val="tx1"/>
                </a:solidFill>
              </a:rPr>
              <a:t> B/L </a:t>
            </a:r>
            <a:r>
              <a:rPr lang="en-US" altLang="ko-KR" sz="1100" dirty="0" err="1">
                <a:solidFill>
                  <a:schemeClr val="tx1"/>
                </a:solidFill>
              </a:rPr>
              <a:t>và</a:t>
            </a:r>
            <a:r>
              <a:rPr lang="en-US" altLang="ko-KR" sz="1100" dirty="0">
                <a:solidFill>
                  <a:schemeClr val="tx1"/>
                </a:solidFill>
              </a:rPr>
              <a:t> </a:t>
            </a:r>
            <a:r>
              <a:rPr lang="en-US" altLang="ko-KR" sz="1100" dirty="0" err="1">
                <a:solidFill>
                  <a:schemeClr val="tx1"/>
                </a:solidFill>
              </a:rPr>
              <a:t>số</a:t>
            </a:r>
            <a:r>
              <a:rPr lang="en-US" altLang="ko-KR" sz="1100" dirty="0">
                <a:solidFill>
                  <a:schemeClr val="tx1"/>
                </a:solidFill>
              </a:rPr>
              <a:t> </a:t>
            </a:r>
            <a:r>
              <a:rPr lang="en-US" altLang="ko-KR" sz="1100" dirty="0" err="1">
                <a:solidFill>
                  <a:schemeClr val="tx1"/>
                </a:solidFill>
              </a:rPr>
              <a:t>tiền</a:t>
            </a:r>
            <a:r>
              <a:rPr lang="en-US" altLang="ko-KR" sz="1100" dirty="0">
                <a:solidFill>
                  <a:schemeClr val="tx1"/>
                </a:solidFill>
              </a:rPr>
              <a:t> </a:t>
            </a:r>
            <a:r>
              <a:rPr lang="en-US" altLang="ko-KR" sz="1100" dirty="0" err="1">
                <a:solidFill>
                  <a:schemeClr val="tx1"/>
                </a:solidFill>
              </a:rPr>
              <a:t>áp</a:t>
            </a:r>
            <a:r>
              <a:rPr lang="en-US" altLang="ko-KR" sz="1100" dirty="0">
                <a:solidFill>
                  <a:schemeClr val="tx1"/>
                </a:solidFill>
              </a:rPr>
              <a:t> </a:t>
            </a:r>
            <a:r>
              <a:rPr lang="en-US" altLang="ko-KR" sz="1100" dirty="0" err="1">
                <a:solidFill>
                  <a:schemeClr val="tx1"/>
                </a:solidFill>
              </a:rPr>
              <a:t>dụng</a:t>
            </a:r>
            <a:r>
              <a:rPr lang="en-US" altLang="ko-KR" sz="1100" dirty="0">
                <a:solidFill>
                  <a:schemeClr val="tx1"/>
                </a:solidFill>
              </a:rPr>
              <a:t> </a:t>
            </a:r>
            <a:r>
              <a:rPr lang="en-US" altLang="ko-KR" sz="1100" dirty="0" err="1">
                <a:solidFill>
                  <a:schemeClr val="tx1"/>
                </a:solidFill>
              </a:rPr>
              <a:t>tỷ</a:t>
            </a:r>
            <a:r>
              <a:rPr lang="en-US" altLang="ko-KR" sz="1100" dirty="0">
                <a:solidFill>
                  <a:schemeClr val="tx1"/>
                </a:solidFill>
              </a:rPr>
              <a:t> </a:t>
            </a:r>
            <a:r>
              <a:rPr lang="en-US" altLang="ko-KR" sz="1100" dirty="0" err="1">
                <a:solidFill>
                  <a:schemeClr val="tx1"/>
                </a:solidFill>
              </a:rPr>
              <a:t>giá</a:t>
            </a:r>
            <a:r>
              <a:rPr lang="en-US" altLang="ko-KR" sz="1100" dirty="0">
                <a:solidFill>
                  <a:schemeClr val="tx1"/>
                </a:solidFill>
              </a:rPr>
              <a:t> </a:t>
            </a:r>
            <a:r>
              <a:rPr lang="en-US" altLang="ko-KR" sz="1100" dirty="0" err="1">
                <a:solidFill>
                  <a:schemeClr val="tx1"/>
                </a:solidFill>
              </a:rPr>
              <a:t>trong</a:t>
            </a:r>
            <a:r>
              <a:rPr lang="en-US" altLang="ko-KR" sz="1100" dirty="0">
                <a:solidFill>
                  <a:schemeClr val="tx1"/>
                </a:solidFill>
              </a:rPr>
              <a:t> </a:t>
            </a:r>
            <a:r>
              <a:rPr lang="en-US" altLang="ko-KR" sz="1100" dirty="0" err="1">
                <a:solidFill>
                  <a:schemeClr val="tx1"/>
                </a:solidFill>
              </a:rPr>
              <a:t>chứng</a:t>
            </a:r>
            <a:r>
              <a:rPr lang="en-US" altLang="ko-KR" sz="1100" dirty="0">
                <a:solidFill>
                  <a:schemeClr val="tx1"/>
                </a:solidFill>
              </a:rPr>
              <a:t> </a:t>
            </a:r>
            <a:r>
              <a:rPr lang="en-US" altLang="ko-KR" sz="1100" dirty="0" err="1">
                <a:solidFill>
                  <a:schemeClr val="tx1"/>
                </a:solidFill>
              </a:rPr>
              <a:t>nhận</a:t>
            </a:r>
            <a:r>
              <a:rPr lang="en-US" altLang="ko-KR" sz="1100" dirty="0">
                <a:solidFill>
                  <a:schemeClr val="tx1"/>
                </a:solidFill>
              </a:rPr>
              <a:t> </a:t>
            </a:r>
            <a:r>
              <a:rPr lang="en-US" altLang="ko-KR" sz="1100" dirty="0" err="1">
                <a:solidFill>
                  <a:schemeClr val="tx1"/>
                </a:solidFill>
              </a:rPr>
              <a:t>khai</a:t>
            </a:r>
            <a:r>
              <a:rPr lang="en-US" altLang="ko-KR" sz="1100" dirty="0">
                <a:solidFill>
                  <a:schemeClr val="tx1"/>
                </a:solidFill>
              </a:rPr>
              <a:t> </a:t>
            </a:r>
            <a:r>
              <a:rPr lang="en-US" altLang="ko-KR" sz="1100" dirty="0" err="1">
                <a:solidFill>
                  <a:schemeClr val="tx1"/>
                </a:solidFill>
              </a:rPr>
              <a:t>báo</a:t>
            </a:r>
            <a:r>
              <a:rPr lang="en-US" altLang="ko-KR" sz="1100" dirty="0">
                <a:solidFill>
                  <a:schemeClr val="tx1"/>
                </a:solidFill>
              </a:rPr>
              <a:t> </a:t>
            </a:r>
            <a:r>
              <a:rPr lang="en-US" altLang="ko-KR" sz="1100" dirty="0" err="1">
                <a:solidFill>
                  <a:schemeClr val="tx1"/>
                </a:solidFill>
              </a:rPr>
              <a:t>nhập</a:t>
            </a:r>
            <a:r>
              <a:rPr lang="en-US" altLang="ko-KR" sz="1100" dirty="0">
                <a:solidFill>
                  <a:schemeClr val="tx1"/>
                </a:solidFill>
              </a:rPr>
              <a:t> </a:t>
            </a:r>
            <a:r>
              <a:rPr lang="en-US" altLang="ko-KR" sz="1100" dirty="0" err="1">
                <a:solidFill>
                  <a:schemeClr val="tx1"/>
                </a:solidFill>
              </a:rPr>
              <a:t>khẩu</a:t>
            </a:r>
            <a:endParaRPr lang="ko-KR" altLang="en-US" sz="1000" dirty="0">
              <a:solidFill>
                <a:schemeClr val="tx1"/>
              </a:solidFill>
            </a:endParaRPr>
          </a:p>
        </p:txBody>
      </p:sp>
      <p:cxnSp>
        <p:nvCxnSpPr>
          <p:cNvPr id="44" name="연결선: 꺾임 43">
            <a:extLst>
              <a:ext uri="{FF2B5EF4-FFF2-40B4-BE49-F238E27FC236}">
                <a16:creationId xmlns:a16="http://schemas.microsoft.com/office/drawing/2014/main" id="{D769B99B-1AC1-E80D-0488-739C2DB7CCDA}"/>
              </a:ext>
            </a:extLst>
          </p:cNvPr>
          <p:cNvCxnSpPr>
            <a:cxnSpLocks/>
            <a:stCxn id="42" idx="2"/>
            <a:endCxn id="43" idx="0"/>
          </p:cNvCxnSpPr>
          <p:nvPr/>
        </p:nvCxnSpPr>
        <p:spPr>
          <a:xfrm rot="16200000" flipH="1">
            <a:off x="6619845" y="6035886"/>
            <a:ext cx="419704" cy="209006"/>
          </a:xfrm>
          <a:prstGeom prst="bentConnector3">
            <a:avLst>
              <a:gd name="adj1" fmla="val 50000"/>
            </a:avLst>
          </a:prstGeom>
          <a:ln w="2222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 name="제목 1">
            <a:extLst>
              <a:ext uri="{FF2B5EF4-FFF2-40B4-BE49-F238E27FC236}">
                <a16:creationId xmlns:a16="http://schemas.microsoft.com/office/drawing/2014/main" id="{ED435A70-1DCA-7825-97B2-824697957B4A}"/>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Process Flow for Groupware Document (Purchase)</a:t>
            </a:r>
          </a:p>
        </p:txBody>
      </p:sp>
    </p:spTree>
    <p:extLst>
      <p:ext uri="{BB962C8B-B14F-4D97-AF65-F5344CB8AC3E}">
        <p14:creationId xmlns:p14="http://schemas.microsoft.com/office/powerpoint/2010/main" val="2733716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E6052-6F5E-7F42-555D-0956472F7C91}"/>
            </a:ext>
          </a:extLst>
        </p:cNvPr>
        <p:cNvGrpSpPr/>
        <p:nvPr/>
      </p:nvGrpSpPr>
      <p:grpSpPr>
        <a:xfrm>
          <a:off x="0" y="0"/>
          <a:ext cx="0" cy="0"/>
          <a:chOff x="0" y="0"/>
          <a:chExt cx="0" cy="0"/>
        </a:xfrm>
      </p:grpSpPr>
      <p:sp>
        <p:nvSpPr>
          <p:cNvPr id="6" name="Google Shape;100;p7">
            <a:extLst>
              <a:ext uri="{FF2B5EF4-FFF2-40B4-BE49-F238E27FC236}">
                <a16:creationId xmlns:a16="http://schemas.microsoft.com/office/drawing/2014/main" id="{038DC943-E4F3-7A86-F77C-3D1466D5EB7A}"/>
              </a:ext>
            </a:extLst>
          </p:cNvPr>
          <p:cNvSpPr/>
          <p:nvPr/>
        </p:nvSpPr>
        <p:spPr>
          <a:xfrm>
            <a:off x="159154" y="789126"/>
            <a:ext cx="7115025"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dirty="0">
                <a:solidFill>
                  <a:schemeClr val="tx1"/>
                </a:solidFill>
                <a:highlight>
                  <a:srgbClr val="FFFF00"/>
                </a:highlight>
                <a:latin typeface="+mn-ea"/>
                <a:ea typeface="+mn-ea"/>
                <a:cs typeface="Calibri"/>
                <a:sym typeface="Calibri"/>
              </a:rPr>
              <a:t>Arrival Confirmation Document (Electronic document - Purchase )</a:t>
            </a:r>
            <a:endParaRPr lang="en-US" sz="1200" b="1" i="0" u="none" strike="noStrike" cap="none" dirty="0">
              <a:solidFill>
                <a:schemeClr val="tx1"/>
              </a:solidFill>
              <a:highlight>
                <a:srgbClr val="FFFF00"/>
              </a:highlight>
              <a:latin typeface="+mn-ea"/>
              <a:ea typeface="+mn-ea"/>
              <a:cs typeface="Calibri"/>
              <a:sym typeface="Calibri"/>
            </a:endParaRPr>
          </a:p>
        </p:txBody>
      </p:sp>
      <p:sp>
        <p:nvSpPr>
          <p:cNvPr id="7" name="TextBox 6">
            <a:extLst>
              <a:ext uri="{FF2B5EF4-FFF2-40B4-BE49-F238E27FC236}">
                <a16:creationId xmlns:a16="http://schemas.microsoft.com/office/drawing/2014/main" id="{742D1347-0EC2-EB97-EB82-EE93019B6BB8}"/>
              </a:ext>
            </a:extLst>
          </p:cNvPr>
          <p:cNvSpPr txBox="1"/>
          <p:nvPr/>
        </p:nvSpPr>
        <p:spPr>
          <a:xfrm>
            <a:off x="159154" y="1194822"/>
            <a:ext cx="8889052" cy="307777"/>
          </a:xfrm>
          <a:prstGeom prst="rect">
            <a:avLst/>
          </a:prstGeom>
          <a:noFill/>
        </p:spPr>
        <p:txBody>
          <a:bodyPr wrap="square">
            <a:spAutoFit/>
          </a:bodyPr>
          <a:lstStyle/>
          <a:p>
            <a:r>
              <a:rPr lang="en-US" altLang="ko-KR" b="1" dirty="0" err="1"/>
              <a:t>Nhân</a:t>
            </a:r>
            <a:r>
              <a:rPr lang="en-US" altLang="ko-KR" b="1" dirty="0"/>
              <a:t> </a:t>
            </a:r>
            <a:r>
              <a:rPr lang="en-US" altLang="ko-KR" b="1" dirty="0" err="1"/>
              <a:t>viên</a:t>
            </a:r>
            <a:r>
              <a:rPr lang="en-US" altLang="ko-KR" b="1" dirty="0"/>
              <a:t> </a:t>
            </a:r>
            <a:r>
              <a:rPr lang="en-US" altLang="ko-KR" b="1" dirty="0" err="1"/>
              <a:t>kho</a:t>
            </a:r>
            <a:r>
              <a:rPr lang="en-US" altLang="ko-KR" b="1" dirty="0"/>
              <a:t> </a:t>
            </a:r>
            <a:r>
              <a:rPr lang="en-US" altLang="ko-KR" b="1" dirty="0" err="1"/>
              <a:t>nhập</a:t>
            </a:r>
            <a:r>
              <a:rPr lang="en-US" altLang="ko-KR" b="1" dirty="0"/>
              <a:t> </a:t>
            </a:r>
            <a:r>
              <a:rPr lang="en-US" altLang="ko-KR" b="1" dirty="0" err="1"/>
              <a:t>thông</a:t>
            </a:r>
            <a:r>
              <a:rPr lang="en-US" altLang="ko-KR" b="1" dirty="0"/>
              <a:t> tin </a:t>
            </a:r>
            <a:r>
              <a:rPr lang="en-US" altLang="ko-KR" b="1" dirty="0" err="1"/>
              <a:t>liên</a:t>
            </a:r>
            <a:r>
              <a:rPr lang="en-US" altLang="ko-KR" b="1" dirty="0"/>
              <a:t> </a:t>
            </a:r>
            <a:r>
              <a:rPr lang="en-US" altLang="ko-KR" b="1" dirty="0" err="1"/>
              <a:t>quan</a:t>
            </a:r>
            <a:r>
              <a:rPr lang="en-US" altLang="ko-KR" b="1" dirty="0"/>
              <a:t> </a:t>
            </a:r>
            <a:r>
              <a:rPr lang="en-US" altLang="ko-KR" b="1" dirty="0" err="1"/>
              <a:t>đến</a:t>
            </a:r>
            <a:r>
              <a:rPr lang="en-US" altLang="ko-KR" b="1" dirty="0"/>
              <a:t> </a:t>
            </a:r>
            <a:r>
              <a:rPr lang="en-US" altLang="ko-KR" b="1" dirty="0" err="1"/>
              <a:t>việc</a:t>
            </a:r>
            <a:r>
              <a:rPr lang="en-US" altLang="ko-KR" b="1" dirty="0"/>
              <a:t> </a:t>
            </a:r>
            <a:r>
              <a:rPr lang="en-US" altLang="ko-KR" b="1" dirty="0" err="1"/>
              <a:t>phát</a:t>
            </a:r>
            <a:r>
              <a:rPr lang="en-US" altLang="ko-KR" b="1" dirty="0"/>
              <a:t> </a:t>
            </a:r>
            <a:r>
              <a:rPr lang="en-US" altLang="ko-KR" b="1" dirty="0" err="1"/>
              <a:t>hành</a:t>
            </a:r>
            <a:r>
              <a:rPr lang="en-US" altLang="ko-KR" b="1" dirty="0"/>
              <a:t> </a:t>
            </a:r>
            <a:r>
              <a:rPr lang="en-US" altLang="ko-KR" b="1" dirty="0" err="1"/>
              <a:t>nhãn</a:t>
            </a:r>
            <a:r>
              <a:rPr lang="en-US" altLang="ko-KR" b="1" dirty="0"/>
              <a:t> MES </a:t>
            </a:r>
            <a:r>
              <a:rPr lang="en-US" altLang="ko-KR" b="1" dirty="0" err="1"/>
              <a:t>trên</a:t>
            </a:r>
            <a:r>
              <a:rPr lang="en-US" altLang="ko-KR" b="1" dirty="0"/>
              <a:t> </a:t>
            </a:r>
            <a:r>
              <a:rPr lang="en-US" altLang="ko-KR" b="1" dirty="0" err="1"/>
              <a:t>màn</a:t>
            </a:r>
            <a:r>
              <a:rPr lang="en-US" altLang="ko-KR" b="1" dirty="0"/>
              <a:t> </a:t>
            </a:r>
            <a:r>
              <a:rPr lang="en-US" altLang="ko-KR" b="1" dirty="0" err="1"/>
              <a:t>hình</a:t>
            </a:r>
            <a:r>
              <a:rPr lang="en-US" altLang="ko-KR" b="1" dirty="0"/>
              <a:t> </a:t>
            </a:r>
            <a:r>
              <a:rPr lang="en-US" altLang="ko-KR" b="1" dirty="0" err="1"/>
              <a:t>tiếp</a:t>
            </a:r>
            <a:r>
              <a:rPr lang="en-US" altLang="ko-KR" b="1" dirty="0"/>
              <a:t> </a:t>
            </a:r>
            <a:r>
              <a:rPr lang="en-US" altLang="ko-KR" b="1" dirty="0" err="1"/>
              <a:t>nhận</a:t>
            </a:r>
            <a:r>
              <a:rPr lang="en-US" altLang="ko-KR" b="1" dirty="0"/>
              <a:t> [F330]</a:t>
            </a:r>
            <a:endParaRPr lang="ko-KR" altLang="en-US" b="1" dirty="0"/>
          </a:p>
        </p:txBody>
      </p:sp>
      <p:pic>
        <p:nvPicPr>
          <p:cNvPr id="5" name="그림 4">
            <a:extLst>
              <a:ext uri="{FF2B5EF4-FFF2-40B4-BE49-F238E27FC236}">
                <a16:creationId xmlns:a16="http://schemas.microsoft.com/office/drawing/2014/main" id="{49202ACA-7DED-907D-2801-02E3E9A274C2}"/>
              </a:ext>
            </a:extLst>
          </p:cNvPr>
          <p:cNvPicPr>
            <a:picLocks noChangeAspect="1"/>
          </p:cNvPicPr>
          <p:nvPr/>
        </p:nvPicPr>
        <p:blipFill>
          <a:blip r:embed="rId3"/>
          <a:stretch>
            <a:fillRect/>
          </a:stretch>
        </p:blipFill>
        <p:spPr>
          <a:xfrm>
            <a:off x="159154" y="1785224"/>
            <a:ext cx="8619086" cy="1376388"/>
          </a:xfrm>
          <a:prstGeom prst="rect">
            <a:avLst/>
          </a:prstGeom>
        </p:spPr>
      </p:pic>
      <p:sp>
        <p:nvSpPr>
          <p:cNvPr id="9" name="직사각형 8">
            <a:extLst>
              <a:ext uri="{FF2B5EF4-FFF2-40B4-BE49-F238E27FC236}">
                <a16:creationId xmlns:a16="http://schemas.microsoft.com/office/drawing/2014/main" id="{D5E01689-74C2-8057-F4F1-35191B61CF17}"/>
              </a:ext>
            </a:extLst>
          </p:cNvPr>
          <p:cNvSpPr/>
          <p:nvPr/>
        </p:nvSpPr>
        <p:spPr>
          <a:xfrm>
            <a:off x="5255623" y="2386889"/>
            <a:ext cx="1145178" cy="774723"/>
          </a:xfrm>
          <a:prstGeom prst="rect">
            <a:avLst/>
          </a:prstGeom>
          <a:noFill/>
          <a:ln w="28575">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E91A1BFB-D9E5-CEF3-8324-804BBE13FDE5}"/>
              </a:ext>
            </a:extLst>
          </p:cNvPr>
          <p:cNvSpPr/>
          <p:nvPr/>
        </p:nvSpPr>
        <p:spPr>
          <a:xfrm>
            <a:off x="4430484" y="3414994"/>
            <a:ext cx="1650276" cy="348283"/>
          </a:xfrm>
          <a:prstGeom prst="rect">
            <a:avLst/>
          </a:prstGeom>
          <a:noFill/>
          <a:ln w="28575">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tLang="ko-KR" sz="1100" dirty="0">
                <a:solidFill>
                  <a:schemeClr val="tx1"/>
                </a:solidFill>
              </a:rPr>
              <a:t>Số lượng lot mỗi bao bì</a:t>
            </a:r>
            <a:endParaRPr lang="ko-KR" altLang="en-US" sz="800" dirty="0">
              <a:solidFill>
                <a:schemeClr val="tx1"/>
              </a:solidFill>
            </a:endParaRPr>
          </a:p>
        </p:txBody>
      </p:sp>
      <p:cxnSp>
        <p:nvCxnSpPr>
          <p:cNvPr id="12" name="연결선: 꺾임 11">
            <a:extLst>
              <a:ext uri="{FF2B5EF4-FFF2-40B4-BE49-F238E27FC236}">
                <a16:creationId xmlns:a16="http://schemas.microsoft.com/office/drawing/2014/main" id="{AC6DB453-CE5C-70B9-2696-80C09BB67AA4}"/>
              </a:ext>
            </a:extLst>
          </p:cNvPr>
          <p:cNvCxnSpPr>
            <a:cxnSpLocks/>
            <a:stCxn id="9" idx="2"/>
            <a:endCxn id="10" idx="0"/>
          </p:cNvCxnSpPr>
          <p:nvPr/>
        </p:nvCxnSpPr>
        <p:spPr>
          <a:xfrm rot="5400000">
            <a:off x="5415226" y="3002008"/>
            <a:ext cx="253382" cy="572590"/>
          </a:xfrm>
          <a:prstGeom prst="bentConnector3">
            <a:avLst>
              <a:gd name="adj1" fmla="val 50000"/>
            </a:avLst>
          </a:prstGeom>
          <a:ln w="2222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1" name="직사각형 20">
            <a:extLst>
              <a:ext uri="{FF2B5EF4-FFF2-40B4-BE49-F238E27FC236}">
                <a16:creationId xmlns:a16="http://schemas.microsoft.com/office/drawing/2014/main" id="{B0222C96-C2FA-E8EE-290B-C3BC9887B167}"/>
              </a:ext>
            </a:extLst>
          </p:cNvPr>
          <p:cNvSpPr/>
          <p:nvPr/>
        </p:nvSpPr>
        <p:spPr>
          <a:xfrm>
            <a:off x="6444342" y="2374227"/>
            <a:ext cx="1145178" cy="774723"/>
          </a:xfrm>
          <a:prstGeom prst="rect">
            <a:avLst/>
          </a:prstGeom>
          <a:noFill/>
          <a:ln w="28575">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직사각형 21">
            <a:extLst>
              <a:ext uri="{FF2B5EF4-FFF2-40B4-BE49-F238E27FC236}">
                <a16:creationId xmlns:a16="http://schemas.microsoft.com/office/drawing/2014/main" id="{5F5EC1E4-5FEB-B563-B9D1-35D7CBF7782D}"/>
              </a:ext>
            </a:extLst>
          </p:cNvPr>
          <p:cNvSpPr/>
          <p:nvPr/>
        </p:nvSpPr>
        <p:spPr>
          <a:xfrm>
            <a:off x="6400800" y="3414993"/>
            <a:ext cx="1188719" cy="348283"/>
          </a:xfrm>
          <a:prstGeom prst="rect">
            <a:avLst/>
          </a:prstGeom>
          <a:noFill/>
          <a:ln w="28575">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tLang="ko-KR" sz="1100" dirty="0">
                <a:solidFill>
                  <a:schemeClr val="tx1"/>
                </a:solidFill>
              </a:rPr>
              <a:t>Số lượng nhãn</a:t>
            </a:r>
            <a:endParaRPr lang="ko-KR" altLang="en-US" sz="600" dirty="0">
              <a:solidFill>
                <a:schemeClr val="tx1"/>
              </a:solidFill>
            </a:endParaRPr>
          </a:p>
        </p:txBody>
      </p:sp>
      <p:cxnSp>
        <p:nvCxnSpPr>
          <p:cNvPr id="23" name="연결선: 꺾임 22">
            <a:extLst>
              <a:ext uri="{FF2B5EF4-FFF2-40B4-BE49-F238E27FC236}">
                <a16:creationId xmlns:a16="http://schemas.microsoft.com/office/drawing/2014/main" id="{D6BD5EF0-74A2-9D99-4096-43C1D06CA622}"/>
              </a:ext>
            </a:extLst>
          </p:cNvPr>
          <p:cNvCxnSpPr>
            <a:cxnSpLocks/>
            <a:stCxn id="21" idx="2"/>
            <a:endCxn id="22" idx="0"/>
          </p:cNvCxnSpPr>
          <p:nvPr/>
        </p:nvCxnSpPr>
        <p:spPr>
          <a:xfrm rot="5400000">
            <a:off x="6873025" y="3271086"/>
            <a:ext cx="266043" cy="21771"/>
          </a:xfrm>
          <a:prstGeom prst="bentConnector3">
            <a:avLst>
              <a:gd name="adj1" fmla="val 50000"/>
            </a:avLst>
          </a:prstGeom>
          <a:ln w="22225">
            <a:solidFill>
              <a:srgbClr val="0000FF"/>
            </a:solidFill>
            <a:tailEnd type="triangle"/>
          </a:ln>
        </p:spPr>
        <p:style>
          <a:lnRef idx="1">
            <a:schemeClr val="accent1"/>
          </a:lnRef>
          <a:fillRef idx="0">
            <a:schemeClr val="accent1"/>
          </a:fillRef>
          <a:effectRef idx="0">
            <a:schemeClr val="accent1"/>
          </a:effectRef>
          <a:fontRef idx="minor">
            <a:schemeClr val="tx1"/>
          </a:fontRef>
        </p:style>
      </p:cxnSp>
      <p:pic>
        <p:nvPicPr>
          <p:cNvPr id="29" name="그림 28">
            <a:extLst>
              <a:ext uri="{FF2B5EF4-FFF2-40B4-BE49-F238E27FC236}">
                <a16:creationId xmlns:a16="http://schemas.microsoft.com/office/drawing/2014/main" id="{A476B59A-7D04-CA26-0EC9-8CC33B2E85AA}"/>
              </a:ext>
            </a:extLst>
          </p:cNvPr>
          <p:cNvPicPr>
            <a:picLocks noChangeAspect="1"/>
          </p:cNvPicPr>
          <p:nvPr/>
        </p:nvPicPr>
        <p:blipFill>
          <a:blip r:embed="rId4"/>
          <a:stretch>
            <a:fillRect/>
          </a:stretch>
        </p:blipFill>
        <p:spPr>
          <a:xfrm>
            <a:off x="321971" y="3763276"/>
            <a:ext cx="2529738" cy="2936238"/>
          </a:xfrm>
          <a:prstGeom prst="rect">
            <a:avLst/>
          </a:prstGeom>
          <a:ln w="25400">
            <a:solidFill>
              <a:srgbClr val="FF0000"/>
            </a:solidFill>
          </a:ln>
        </p:spPr>
      </p:pic>
      <p:sp>
        <p:nvSpPr>
          <p:cNvPr id="30" name="직사각형 29">
            <a:extLst>
              <a:ext uri="{FF2B5EF4-FFF2-40B4-BE49-F238E27FC236}">
                <a16:creationId xmlns:a16="http://schemas.microsoft.com/office/drawing/2014/main" id="{97991393-B03D-7291-B09B-113C522F3612}"/>
              </a:ext>
            </a:extLst>
          </p:cNvPr>
          <p:cNvSpPr/>
          <p:nvPr/>
        </p:nvSpPr>
        <p:spPr>
          <a:xfrm>
            <a:off x="7839668" y="2333477"/>
            <a:ext cx="581521" cy="77472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2" name="연결선: 꺾임 31">
            <a:extLst>
              <a:ext uri="{FF2B5EF4-FFF2-40B4-BE49-F238E27FC236}">
                <a16:creationId xmlns:a16="http://schemas.microsoft.com/office/drawing/2014/main" id="{6F32336F-C4AE-089A-7DD6-0BAE860B1597}"/>
              </a:ext>
            </a:extLst>
          </p:cNvPr>
          <p:cNvCxnSpPr>
            <a:cxnSpLocks/>
            <a:stCxn id="30" idx="2"/>
          </p:cNvCxnSpPr>
          <p:nvPr/>
        </p:nvCxnSpPr>
        <p:spPr>
          <a:xfrm rot="5400000">
            <a:off x="4899250" y="1088271"/>
            <a:ext cx="1211251" cy="5251108"/>
          </a:xfrm>
          <a:prstGeom prst="bentConnector2">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A069BADC-49F8-1FD4-2086-821F42303373}"/>
              </a:ext>
            </a:extLst>
          </p:cNvPr>
          <p:cNvSpPr txBox="1"/>
          <p:nvPr/>
        </p:nvSpPr>
        <p:spPr>
          <a:xfrm>
            <a:off x="3011730" y="4443649"/>
            <a:ext cx="2100201" cy="307777"/>
          </a:xfrm>
          <a:prstGeom prst="rect">
            <a:avLst/>
          </a:prstGeom>
          <a:noFill/>
        </p:spPr>
        <p:txBody>
          <a:bodyPr wrap="square">
            <a:spAutoFit/>
          </a:bodyPr>
          <a:lstStyle/>
          <a:p>
            <a:r>
              <a:rPr lang="en-US" altLang="ko-KR" b="1" dirty="0" err="1"/>
              <a:t>Tạo</a:t>
            </a:r>
            <a:r>
              <a:rPr lang="en-US" altLang="ko-KR" b="1" dirty="0"/>
              <a:t> </a:t>
            </a:r>
            <a:r>
              <a:rPr lang="en-US" altLang="ko-KR" b="1" dirty="0" err="1"/>
              <a:t>nhãn</a:t>
            </a:r>
            <a:r>
              <a:rPr lang="en-US" altLang="ko-KR" b="1" dirty="0"/>
              <a:t> </a:t>
            </a:r>
            <a:r>
              <a:rPr lang="en-US" altLang="ko-KR" b="1" dirty="0" err="1"/>
              <a:t>thủ</a:t>
            </a:r>
            <a:r>
              <a:rPr lang="en-US" altLang="ko-KR" b="1" dirty="0"/>
              <a:t> </a:t>
            </a:r>
            <a:r>
              <a:rPr lang="en-US" altLang="ko-KR" b="1" dirty="0" err="1"/>
              <a:t>công</a:t>
            </a:r>
            <a:endParaRPr lang="ko-KR" altLang="en-US" b="1" dirty="0"/>
          </a:p>
        </p:txBody>
      </p:sp>
      <p:sp>
        <p:nvSpPr>
          <p:cNvPr id="40" name="TextBox 39">
            <a:extLst>
              <a:ext uri="{FF2B5EF4-FFF2-40B4-BE49-F238E27FC236}">
                <a16:creationId xmlns:a16="http://schemas.microsoft.com/office/drawing/2014/main" id="{49E95731-D374-78E0-BD6C-F1F6509BAD6D}"/>
              </a:ext>
            </a:extLst>
          </p:cNvPr>
          <p:cNvSpPr txBox="1"/>
          <p:nvPr/>
        </p:nvSpPr>
        <p:spPr>
          <a:xfrm>
            <a:off x="3011729" y="4751426"/>
            <a:ext cx="5496545" cy="523220"/>
          </a:xfrm>
          <a:prstGeom prst="rect">
            <a:avLst/>
          </a:prstGeom>
          <a:noFill/>
        </p:spPr>
        <p:txBody>
          <a:bodyPr wrap="square">
            <a:spAutoFit/>
          </a:bodyPr>
          <a:lstStyle/>
          <a:p>
            <a:r>
              <a:rPr lang="vi-VN" altLang="ko-KR" b="1" dirty="0"/>
              <a:t>Khi nhập thông tin vào mục này, dữ liệu sẽ tự động được điền vào việc phát hành nhãn MES F330</a:t>
            </a:r>
            <a:endParaRPr lang="ko-KR" altLang="en-US" b="1" dirty="0"/>
          </a:p>
        </p:txBody>
      </p:sp>
      <p:sp>
        <p:nvSpPr>
          <p:cNvPr id="45" name="TextBox 44">
            <a:extLst>
              <a:ext uri="{FF2B5EF4-FFF2-40B4-BE49-F238E27FC236}">
                <a16:creationId xmlns:a16="http://schemas.microsoft.com/office/drawing/2014/main" id="{54B22986-FC59-66FC-0B13-DF9C5924C19A}"/>
              </a:ext>
            </a:extLst>
          </p:cNvPr>
          <p:cNvSpPr txBox="1"/>
          <p:nvPr/>
        </p:nvSpPr>
        <p:spPr>
          <a:xfrm>
            <a:off x="3011729" y="5445011"/>
            <a:ext cx="5496545" cy="523220"/>
          </a:xfrm>
          <a:prstGeom prst="rect">
            <a:avLst/>
          </a:prstGeom>
          <a:noFill/>
        </p:spPr>
        <p:txBody>
          <a:bodyPr wrap="square">
            <a:spAutoFit/>
          </a:bodyPr>
          <a:lstStyle/>
          <a:p>
            <a:r>
              <a:rPr lang="vi-VN" altLang="ko-KR" b="1" dirty="0"/>
              <a:t>Khi hoàn tất tiếp nhận mà không cần nhấn nút tạo nhãn thủ công, nhãn sẽ được tạo tự động</a:t>
            </a:r>
            <a:endParaRPr lang="ko-KR" altLang="en-US" b="1" dirty="0"/>
          </a:p>
        </p:txBody>
      </p:sp>
      <p:sp>
        <p:nvSpPr>
          <p:cNvPr id="3" name="직사각형 2">
            <a:extLst>
              <a:ext uri="{FF2B5EF4-FFF2-40B4-BE49-F238E27FC236}">
                <a16:creationId xmlns:a16="http://schemas.microsoft.com/office/drawing/2014/main" id="{873A60EC-6BE5-B85E-61BC-B0D3C69E68B1}"/>
              </a:ext>
            </a:extLst>
          </p:cNvPr>
          <p:cNvSpPr/>
          <p:nvPr/>
        </p:nvSpPr>
        <p:spPr>
          <a:xfrm>
            <a:off x="270188" y="2330496"/>
            <a:ext cx="827092" cy="774723"/>
          </a:xfrm>
          <a:prstGeom prst="rect">
            <a:avLst/>
          </a:prstGeom>
          <a:noFill/>
          <a:ln w="28575">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직사각형 7">
            <a:extLst>
              <a:ext uri="{FF2B5EF4-FFF2-40B4-BE49-F238E27FC236}">
                <a16:creationId xmlns:a16="http://schemas.microsoft.com/office/drawing/2014/main" id="{14432EE1-D821-8E5D-2DD7-0B5EE1DD5576}"/>
              </a:ext>
            </a:extLst>
          </p:cNvPr>
          <p:cNvSpPr/>
          <p:nvPr/>
        </p:nvSpPr>
        <p:spPr>
          <a:xfrm>
            <a:off x="191490" y="3259501"/>
            <a:ext cx="2655496" cy="348283"/>
          </a:xfrm>
          <a:prstGeom prst="rect">
            <a:avLst/>
          </a:prstGeom>
          <a:noFill/>
          <a:ln w="28575">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err="1">
                <a:solidFill>
                  <a:schemeClr val="tx1"/>
                </a:solidFill>
              </a:rPr>
              <a:t>Nhân</a:t>
            </a:r>
            <a:r>
              <a:rPr lang="en-US" altLang="ko-KR" sz="1100" dirty="0">
                <a:solidFill>
                  <a:schemeClr val="tx1"/>
                </a:solidFill>
              </a:rPr>
              <a:t> </a:t>
            </a:r>
            <a:r>
              <a:rPr lang="en-US" altLang="ko-KR" sz="1100" dirty="0" err="1">
                <a:solidFill>
                  <a:schemeClr val="tx1"/>
                </a:solidFill>
              </a:rPr>
              <a:t>viên</a:t>
            </a:r>
            <a:r>
              <a:rPr lang="en-US" altLang="ko-KR" sz="1100" dirty="0">
                <a:solidFill>
                  <a:schemeClr val="tx1"/>
                </a:solidFill>
              </a:rPr>
              <a:t> </a:t>
            </a:r>
            <a:r>
              <a:rPr lang="en-US" altLang="ko-KR" sz="1100" dirty="0" err="1">
                <a:solidFill>
                  <a:schemeClr val="tx1"/>
                </a:solidFill>
              </a:rPr>
              <a:t>kho</a:t>
            </a:r>
            <a:r>
              <a:rPr lang="en-US" altLang="ko-KR" sz="1100" dirty="0">
                <a:solidFill>
                  <a:schemeClr val="tx1"/>
                </a:solidFill>
              </a:rPr>
              <a:t> </a:t>
            </a:r>
            <a:r>
              <a:rPr lang="en-US" altLang="ko-KR" sz="1100" dirty="0" err="1">
                <a:solidFill>
                  <a:schemeClr val="tx1"/>
                </a:solidFill>
              </a:rPr>
              <a:t>chọn</a:t>
            </a:r>
            <a:r>
              <a:rPr lang="en-US" altLang="ko-KR" sz="1100" dirty="0">
                <a:solidFill>
                  <a:schemeClr val="tx1"/>
                </a:solidFill>
              </a:rPr>
              <a:t> </a:t>
            </a:r>
            <a:r>
              <a:rPr lang="en-US" altLang="ko-KR" sz="1100" dirty="0" err="1">
                <a:solidFill>
                  <a:schemeClr val="tx1"/>
                </a:solidFill>
              </a:rPr>
              <a:t>mặt</a:t>
            </a:r>
            <a:r>
              <a:rPr lang="en-US" altLang="ko-KR" sz="1100" dirty="0">
                <a:solidFill>
                  <a:schemeClr val="tx1"/>
                </a:solidFill>
              </a:rPr>
              <a:t> </a:t>
            </a:r>
            <a:r>
              <a:rPr lang="en-US" altLang="ko-KR" sz="1100" dirty="0" err="1">
                <a:solidFill>
                  <a:schemeClr val="tx1"/>
                </a:solidFill>
              </a:rPr>
              <a:t>hàng</a:t>
            </a:r>
            <a:r>
              <a:rPr lang="en-US" altLang="ko-KR" sz="1100" dirty="0">
                <a:solidFill>
                  <a:schemeClr val="tx1"/>
                </a:solidFill>
              </a:rPr>
              <a:t> </a:t>
            </a:r>
            <a:r>
              <a:rPr lang="en-US" altLang="ko-KR" sz="1100" dirty="0" err="1">
                <a:solidFill>
                  <a:schemeClr val="tx1"/>
                </a:solidFill>
              </a:rPr>
              <a:t>xuất</a:t>
            </a:r>
            <a:r>
              <a:rPr lang="en-US" altLang="ko-KR" sz="1100" dirty="0">
                <a:solidFill>
                  <a:schemeClr val="tx1"/>
                </a:solidFill>
              </a:rPr>
              <a:t> </a:t>
            </a:r>
            <a:r>
              <a:rPr lang="en-US" altLang="ko-KR" sz="1100" dirty="0" err="1">
                <a:solidFill>
                  <a:schemeClr val="tx1"/>
                </a:solidFill>
              </a:rPr>
              <a:t>kho</a:t>
            </a:r>
            <a:endParaRPr lang="ko-KR" altLang="en-US" sz="600" dirty="0">
              <a:solidFill>
                <a:schemeClr val="tx1"/>
              </a:solidFill>
            </a:endParaRPr>
          </a:p>
        </p:txBody>
      </p:sp>
      <p:cxnSp>
        <p:nvCxnSpPr>
          <p:cNvPr id="11" name="연결선: 꺾임 10">
            <a:extLst>
              <a:ext uri="{FF2B5EF4-FFF2-40B4-BE49-F238E27FC236}">
                <a16:creationId xmlns:a16="http://schemas.microsoft.com/office/drawing/2014/main" id="{401BD54B-679B-6594-DB8B-07349EC718DF}"/>
              </a:ext>
            </a:extLst>
          </p:cNvPr>
          <p:cNvCxnSpPr>
            <a:cxnSpLocks/>
            <a:stCxn id="3" idx="2"/>
            <a:endCxn id="8" idx="0"/>
          </p:cNvCxnSpPr>
          <p:nvPr/>
        </p:nvCxnSpPr>
        <p:spPr>
          <a:xfrm rot="16200000" flipH="1">
            <a:off x="1024345" y="2764608"/>
            <a:ext cx="154282" cy="835504"/>
          </a:xfrm>
          <a:prstGeom prst="bentConnector3">
            <a:avLst>
              <a:gd name="adj1" fmla="val 50000"/>
            </a:avLst>
          </a:prstGeom>
          <a:ln w="2222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 name="제목 1">
            <a:extLst>
              <a:ext uri="{FF2B5EF4-FFF2-40B4-BE49-F238E27FC236}">
                <a16:creationId xmlns:a16="http://schemas.microsoft.com/office/drawing/2014/main" id="{76E5A7BE-BD4F-4D1D-874B-DF8F7177DB42}"/>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Process Flow for Groupware Document (Purchase)</a:t>
            </a:r>
          </a:p>
        </p:txBody>
      </p:sp>
    </p:spTree>
    <p:extLst>
      <p:ext uri="{BB962C8B-B14F-4D97-AF65-F5344CB8AC3E}">
        <p14:creationId xmlns:p14="http://schemas.microsoft.com/office/powerpoint/2010/main" val="1871480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CA48C-A52F-BA55-20B7-6CD72988909C}"/>
            </a:ext>
          </a:extLst>
        </p:cNvPr>
        <p:cNvGrpSpPr/>
        <p:nvPr/>
      </p:nvGrpSpPr>
      <p:grpSpPr>
        <a:xfrm>
          <a:off x="0" y="0"/>
          <a:ext cx="0" cy="0"/>
          <a:chOff x="0" y="0"/>
          <a:chExt cx="0" cy="0"/>
        </a:xfrm>
      </p:grpSpPr>
      <p:sp>
        <p:nvSpPr>
          <p:cNvPr id="6" name="Google Shape;100;p7">
            <a:extLst>
              <a:ext uri="{FF2B5EF4-FFF2-40B4-BE49-F238E27FC236}">
                <a16:creationId xmlns:a16="http://schemas.microsoft.com/office/drawing/2014/main" id="{A4D733BC-1B67-8DEE-CB11-D4F26FE872EF}"/>
              </a:ext>
            </a:extLst>
          </p:cNvPr>
          <p:cNvSpPr/>
          <p:nvPr/>
        </p:nvSpPr>
        <p:spPr>
          <a:xfrm>
            <a:off x="159154" y="789126"/>
            <a:ext cx="7115025"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dirty="0">
                <a:solidFill>
                  <a:schemeClr val="tx1"/>
                </a:solidFill>
                <a:highlight>
                  <a:srgbClr val="FFFF00"/>
                </a:highlight>
                <a:latin typeface="+mn-ea"/>
                <a:ea typeface="+mn-ea"/>
                <a:cs typeface="Calibri"/>
                <a:sym typeface="Calibri"/>
              </a:rPr>
              <a:t>Arrival Confirmation Document (Electronic document - Purchase )</a:t>
            </a:r>
            <a:endParaRPr lang="en-US" sz="1200" b="1" i="0" u="none" strike="noStrike" cap="none" dirty="0">
              <a:solidFill>
                <a:schemeClr val="tx1"/>
              </a:solidFill>
              <a:highlight>
                <a:srgbClr val="FFFF00"/>
              </a:highlight>
              <a:latin typeface="+mn-ea"/>
              <a:ea typeface="+mn-ea"/>
              <a:cs typeface="Calibri"/>
              <a:sym typeface="Calibri"/>
            </a:endParaRPr>
          </a:p>
        </p:txBody>
      </p:sp>
      <p:sp>
        <p:nvSpPr>
          <p:cNvPr id="7" name="TextBox 6">
            <a:extLst>
              <a:ext uri="{FF2B5EF4-FFF2-40B4-BE49-F238E27FC236}">
                <a16:creationId xmlns:a16="http://schemas.microsoft.com/office/drawing/2014/main" id="{5D512734-4082-51C6-D37B-175707B966CD}"/>
              </a:ext>
            </a:extLst>
          </p:cNvPr>
          <p:cNvSpPr txBox="1"/>
          <p:nvPr/>
        </p:nvSpPr>
        <p:spPr>
          <a:xfrm>
            <a:off x="159154" y="1194822"/>
            <a:ext cx="8775840" cy="307777"/>
          </a:xfrm>
          <a:prstGeom prst="rect">
            <a:avLst/>
          </a:prstGeom>
          <a:noFill/>
        </p:spPr>
        <p:txBody>
          <a:bodyPr wrap="square">
            <a:spAutoFit/>
          </a:bodyPr>
          <a:lstStyle/>
          <a:p>
            <a:r>
              <a:rPr lang="en-US" altLang="ko-KR" b="1" dirty="0" err="1"/>
              <a:t>Nhân</a:t>
            </a:r>
            <a:r>
              <a:rPr lang="en-US" altLang="ko-KR" b="1" dirty="0"/>
              <a:t> </a:t>
            </a:r>
            <a:r>
              <a:rPr lang="en-US" altLang="ko-KR" b="1" dirty="0" err="1"/>
              <a:t>viên</a:t>
            </a:r>
            <a:r>
              <a:rPr lang="en-US" altLang="ko-KR" b="1" dirty="0"/>
              <a:t> </a:t>
            </a:r>
            <a:r>
              <a:rPr lang="en-US" altLang="ko-KR" b="1" dirty="0" err="1"/>
              <a:t>kho</a:t>
            </a:r>
            <a:r>
              <a:rPr lang="en-US" altLang="ko-KR" b="1" dirty="0"/>
              <a:t> </a:t>
            </a:r>
            <a:r>
              <a:rPr lang="en-US" altLang="ko-KR" b="1" dirty="0" err="1"/>
              <a:t>nhập</a:t>
            </a:r>
            <a:r>
              <a:rPr lang="en-US" altLang="ko-KR" b="1" dirty="0"/>
              <a:t> </a:t>
            </a:r>
            <a:r>
              <a:rPr lang="en-US" altLang="ko-KR" b="1" dirty="0" err="1"/>
              <a:t>thông</a:t>
            </a:r>
            <a:r>
              <a:rPr lang="en-US" altLang="ko-KR" b="1" dirty="0"/>
              <a:t> tin </a:t>
            </a:r>
            <a:r>
              <a:rPr lang="en-US" altLang="ko-KR" b="1" dirty="0" err="1"/>
              <a:t>liên</a:t>
            </a:r>
            <a:r>
              <a:rPr lang="en-US" altLang="ko-KR" b="1" dirty="0"/>
              <a:t> </a:t>
            </a:r>
            <a:r>
              <a:rPr lang="en-US" altLang="ko-KR" b="1" dirty="0" err="1"/>
              <a:t>quan</a:t>
            </a:r>
            <a:r>
              <a:rPr lang="en-US" altLang="ko-KR" b="1" dirty="0"/>
              <a:t> </a:t>
            </a:r>
            <a:r>
              <a:rPr lang="en-US" altLang="ko-KR" b="1" dirty="0" err="1"/>
              <a:t>đến</a:t>
            </a:r>
            <a:r>
              <a:rPr lang="en-US" altLang="ko-KR" b="1" dirty="0"/>
              <a:t> </a:t>
            </a:r>
            <a:r>
              <a:rPr lang="en-US" altLang="ko-KR" b="1" dirty="0" err="1"/>
              <a:t>việc</a:t>
            </a:r>
            <a:r>
              <a:rPr lang="en-US" altLang="ko-KR" b="1" dirty="0"/>
              <a:t> </a:t>
            </a:r>
            <a:r>
              <a:rPr lang="en-US" altLang="ko-KR" b="1" dirty="0" err="1"/>
              <a:t>phát</a:t>
            </a:r>
            <a:r>
              <a:rPr lang="en-US" altLang="ko-KR" b="1" dirty="0"/>
              <a:t> </a:t>
            </a:r>
            <a:r>
              <a:rPr lang="en-US" altLang="ko-KR" b="1" dirty="0" err="1"/>
              <a:t>hành</a:t>
            </a:r>
            <a:r>
              <a:rPr lang="en-US" altLang="ko-KR" b="1" dirty="0"/>
              <a:t> </a:t>
            </a:r>
            <a:r>
              <a:rPr lang="en-US" altLang="ko-KR" b="1" dirty="0" err="1"/>
              <a:t>nhãn</a:t>
            </a:r>
            <a:r>
              <a:rPr lang="en-US" altLang="ko-KR" b="1" dirty="0"/>
              <a:t> MES </a:t>
            </a:r>
            <a:r>
              <a:rPr lang="en-US" altLang="ko-KR" b="1" dirty="0" err="1"/>
              <a:t>trên</a:t>
            </a:r>
            <a:r>
              <a:rPr lang="en-US" altLang="ko-KR" b="1" dirty="0"/>
              <a:t> </a:t>
            </a:r>
            <a:r>
              <a:rPr lang="en-US" altLang="ko-KR" b="1" dirty="0" err="1"/>
              <a:t>màn</a:t>
            </a:r>
            <a:r>
              <a:rPr lang="en-US" altLang="ko-KR" b="1" dirty="0"/>
              <a:t> </a:t>
            </a:r>
            <a:r>
              <a:rPr lang="en-US" altLang="ko-KR" b="1" dirty="0" err="1"/>
              <a:t>hình</a:t>
            </a:r>
            <a:r>
              <a:rPr lang="en-US" altLang="ko-KR" b="1" dirty="0"/>
              <a:t> </a:t>
            </a:r>
            <a:r>
              <a:rPr lang="en-US" altLang="ko-KR" b="1" dirty="0" err="1"/>
              <a:t>tiếp</a:t>
            </a:r>
            <a:r>
              <a:rPr lang="en-US" altLang="ko-KR" b="1" dirty="0"/>
              <a:t> </a:t>
            </a:r>
            <a:r>
              <a:rPr lang="en-US" altLang="ko-KR" b="1" dirty="0" err="1"/>
              <a:t>nhận</a:t>
            </a:r>
            <a:r>
              <a:rPr lang="en-US" altLang="ko-KR" b="1" dirty="0"/>
              <a:t> [F330]</a:t>
            </a:r>
            <a:endParaRPr lang="ko-KR" altLang="en-US" b="1" dirty="0"/>
          </a:p>
        </p:txBody>
      </p:sp>
      <p:pic>
        <p:nvPicPr>
          <p:cNvPr id="19" name="그림 18">
            <a:extLst>
              <a:ext uri="{FF2B5EF4-FFF2-40B4-BE49-F238E27FC236}">
                <a16:creationId xmlns:a16="http://schemas.microsoft.com/office/drawing/2014/main" id="{BF177DAA-BCA6-1EC5-C36C-F4052C7350DD}"/>
              </a:ext>
            </a:extLst>
          </p:cNvPr>
          <p:cNvPicPr>
            <a:picLocks noChangeAspect="1"/>
          </p:cNvPicPr>
          <p:nvPr/>
        </p:nvPicPr>
        <p:blipFill>
          <a:blip r:embed="rId3"/>
          <a:stretch>
            <a:fillRect/>
          </a:stretch>
        </p:blipFill>
        <p:spPr>
          <a:xfrm>
            <a:off x="801332" y="1873954"/>
            <a:ext cx="7252642" cy="3856896"/>
          </a:xfrm>
          <a:prstGeom prst="rect">
            <a:avLst/>
          </a:prstGeom>
        </p:spPr>
      </p:pic>
      <p:sp>
        <p:nvSpPr>
          <p:cNvPr id="15" name="TextBox 14">
            <a:extLst>
              <a:ext uri="{FF2B5EF4-FFF2-40B4-BE49-F238E27FC236}">
                <a16:creationId xmlns:a16="http://schemas.microsoft.com/office/drawing/2014/main" id="{1A75307F-ACC2-5A2F-B827-C0A54E202A67}"/>
              </a:ext>
            </a:extLst>
          </p:cNvPr>
          <p:cNvSpPr txBox="1"/>
          <p:nvPr/>
        </p:nvSpPr>
        <p:spPr>
          <a:xfrm>
            <a:off x="159154" y="5925458"/>
            <a:ext cx="8945880" cy="738664"/>
          </a:xfrm>
          <a:prstGeom prst="rect">
            <a:avLst/>
          </a:prstGeom>
          <a:noFill/>
        </p:spPr>
        <p:txBody>
          <a:bodyPr wrap="square">
            <a:spAutoFit/>
          </a:bodyPr>
          <a:lstStyle/>
          <a:p>
            <a:r>
              <a:rPr lang="vi-VN" altLang="ko-KR" b="1" dirty="0">
                <a:solidFill>
                  <a:srgbClr val="FF0000"/>
                </a:solidFill>
              </a:rPr>
              <a:t>Khi tiếp nhận hoàn tất, thông báo và email sẽ được gửi đến người nhận tài liệu (ví dụ: đội chất lượng). </a:t>
            </a:r>
            <a:br>
              <a:rPr lang="en-US" altLang="ko-KR" b="1" dirty="0">
                <a:solidFill>
                  <a:srgbClr val="FF0000"/>
                </a:solidFill>
              </a:rPr>
            </a:br>
            <a:r>
              <a:rPr lang="vi-VN" altLang="ko-KR" b="1" dirty="0">
                <a:solidFill>
                  <a:srgbClr val="FF0000"/>
                </a:solidFill>
              </a:rPr>
              <a:t>Khi đội này hoàn tất kiểm tra nhập khẩu theo từng mẫu [C220], email và thông báo xác nhận hoàn tất sẽ được gửi đến tất cả người tiếp nhận.</a:t>
            </a:r>
            <a:endParaRPr lang="ko-KR" altLang="en-US" b="1" dirty="0">
              <a:solidFill>
                <a:srgbClr val="FF0000"/>
              </a:solidFill>
            </a:endParaRPr>
          </a:p>
        </p:txBody>
      </p:sp>
      <p:sp>
        <p:nvSpPr>
          <p:cNvPr id="2" name="제목 1">
            <a:extLst>
              <a:ext uri="{FF2B5EF4-FFF2-40B4-BE49-F238E27FC236}">
                <a16:creationId xmlns:a16="http://schemas.microsoft.com/office/drawing/2014/main" id="{AB1D76D9-B31B-56FA-F15E-392FC24DAB94}"/>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Process Flow for Groupware Document (Purchase)</a:t>
            </a:r>
          </a:p>
        </p:txBody>
      </p:sp>
    </p:spTree>
    <p:extLst>
      <p:ext uri="{BB962C8B-B14F-4D97-AF65-F5344CB8AC3E}">
        <p14:creationId xmlns:p14="http://schemas.microsoft.com/office/powerpoint/2010/main" val="3993808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7D24C-A940-59E8-6B72-61517CCEA02E}"/>
            </a:ext>
          </a:extLst>
        </p:cNvPr>
        <p:cNvGrpSpPr/>
        <p:nvPr/>
      </p:nvGrpSpPr>
      <p:grpSpPr>
        <a:xfrm>
          <a:off x="0" y="0"/>
          <a:ext cx="0" cy="0"/>
          <a:chOff x="0" y="0"/>
          <a:chExt cx="0" cy="0"/>
        </a:xfrm>
      </p:grpSpPr>
      <p:sp>
        <p:nvSpPr>
          <p:cNvPr id="6" name="Google Shape;100;p7">
            <a:extLst>
              <a:ext uri="{FF2B5EF4-FFF2-40B4-BE49-F238E27FC236}">
                <a16:creationId xmlns:a16="http://schemas.microsoft.com/office/drawing/2014/main" id="{5FED7959-90A4-73ED-C869-FF228B50C7AA}"/>
              </a:ext>
            </a:extLst>
          </p:cNvPr>
          <p:cNvSpPr/>
          <p:nvPr/>
        </p:nvSpPr>
        <p:spPr>
          <a:xfrm>
            <a:off x="159154" y="789126"/>
            <a:ext cx="7115025"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i="0" u="none" strike="noStrike" cap="none" dirty="0">
                <a:solidFill>
                  <a:schemeClr val="tx1"/>
                </a:solidFill>
                <a:highlight>
                  <a:srgbClr val="FFFF00"/>
                </a:highlight>
                <a:latin typeface="+mn-ea"/>
                <a:ea typeface="+mn-ea"/>
                <a:cs typeface="Calibri"/>
                <a:sym typeface="Calibri"/>
              </a:rPr>
              <a:t>Receiving</a:t>
            </a:r>
            <a:r>
              <a:rPr lang="ko-KR" altLang="en-US" sz="1600" b="1" i="0" u="none" strike="noStrike" cap="none" dirty="0">
                <a:solidFill>
                  <a:schemeClr val="tx1"/>
                </a:solidFill>
                <a:highlight>
                  <a:srgbClr val="FFFF00"/>
                </a:highlight>
                <a:latin typeface="+mn-ea"/>
                <a:ea typeface="+mn-ea"/>
                <a:cs typeface="Calibri"/>
                <a:sym typeface="Calibri"/>
              </a:rPr>
              <a:t> </a:t>
            </a:r>
            <a:r>
              <a:rPr lang="en-US" altLang="ko-KR" sz="1600" b="1" i="0" u="none" strike="noStrike" cap="none" dirty="0">
                <a:solidFill>
                  <a:schemeClr val="tx1"/>
                </a:solidFill>
                <a:highlight>
                  <a:srgbClr val="FFFF00"/>
                </a:highlight>
                <a:latin typeface="+mn-ea"/>
                <a:ea typeface="+mn-ea"/>
                <a:cs typeface="Calibri"/>
                <a:sym typeface="Calibri"/>
              </a:rPr>
              <a:t>Confirmation</a:t>
            </a:r>
            <a:r>
              <a:rPr lang="en-US" altLang="ko-KR" sz="1600" b="1" dirty="0">
                <a:solidFill>
                  <a:schemeClr val="tx1"/>
                </a:solidFill>
                <a:highlight>
                  <a:srgbClr val="FFFF00"/>
                </a:highlight>
                <a:latin typeface="+mn-ea"/>
                <a:ea typeface="+mn-ea"/>
                <a:cs typeface="Calibri"/>
                <a:sym typeface="Calibri"/>
              </a:rPr>
              <a:t> Document (Electronic document - Purchase )</a:t>
            </a:r>
            <a:endParaRPr lang="en-US" sz="1200" b="1" i="0" u="none" strike="noStrike" cap="none" dirty="0">
              <a:solidFill>
                <a:schemeClr val="tx1"/>
              </a:solidFill>
              <a:highlight>
                <a:srgbClr val="FFFF00"/>
              </a:highlight>
              <a:latin typeface="+mn-ea"/>
              <a:ea typeface="+mn-ea"/>
              <a:cs typeface="Calibri"/>
              <a:sym typeface="Calibri"/>
            </a:endParaRPr>
          </a:p>
        </p:txBody>
      </p:sp>
      <p:pic>
        <p:nvPicPr>
          <p:cNvPr id="13" name="그림 12">
            <a:extLst>
              <a:ext uri="{FF2B5EF4-FFF2-40B4-BE49-F238E27FC236}">
                <a16:creationId xmlns:a16="http://schemas.microsoft.com/office/drawing/2014/main" id="{7F2596F8-4E87-5914-F8F8-8159476F567B}"/>
              </a:ext>
            </a:extLst>
          </p:cNvPr>
          <p:cNvPicPr>
            <a:picLocks noChangeAspect="1"/>
          </p:cNvPicPr>
          <p:nvPr/>
        </p:nvPicPr>
        <p:blipFill>
          <a:blip r:embed="rId3"/>
          <a:stretch>
            <a:fillRect/>
          </a:stretch>
        </p:blipFill>
        <p:spPr>
          <a:xfrm>
            <a:off x="159154" y="1223752"/>
            <a:ext cx="8706172" cy="1101437"/>
          </a:xfrm>
          <a:prstGeom prst="rect">
            <a:avLst/>
          </a:prstGeom>
        </p:spPr>
      </p:pic>
      <p:pic>
        <p:nvPicPr>
          <p:cNvPr id="15" name="그림 14">
            <a:extLst>
              <a:ext uri="{FF2B5EF4-FFF2-40B4-BE49-F238E27FC236}">
                <a16:creationId xmlns:a16="http://schemas.microsoft.com/office/drawing/2014/main" id="{39B524FA-9816-4084-F542-39F27F788114}"/>
              </a:ext>
            </a:extLst>
          </p:cNvPr>
          <p:cNvPicPr>
            <a:picLocks noChangeAspect="1"/>
          </p:cNvPicPr>
          <p:nvPr/>
        </p:nvPicPr>
        <p:blipFill>
          <a:blip r:embed="rId4"/>
          <a:stretch>
            <a:fillRect/>
          </a:stretch>
        </p:blipFill>
        <p:spPr>
          <a:xfrm>
            <a:off x="5114351" y="2602774"/>
            <a:ext cx="3004168" cy="3193869"/>
          </a:xfrm>
          <a:prstGeom prst="rect">
            <a:avLst/>
          </a:prstGeom>
          <a:ln w="22225">
            <a:solidFill>
              <a:srgbClr val="FF0000"/>
            </a:solidFill>
          </a:ln>
        </p:spPr>
      </p:pic>
      <p:pic>
        <p:nvPicPr>
          <p:cNvPr id="17" name="그림 16">
            <a:extLst>
              <a:ext uri="{FF2B5EF4-FFF2-40B4-BE49-F238E27FC236}">
                <a16:creationId xmlns:a16="http://schemas.microsoft.com/office/drawing/2014/main" id="{A566FDFE-65EC-3F5A-0058-D9009B4EB495}"/>
              </a:ext>
            </a:extLst>
          </p:cNvPr>
          <p:cNvPicPr>
            <a:picLocks noChangeAspect="1"/>
          </p:cNvPicPr>
          <p:nvPr/>
        </p:nvPicPr>
        <p:blipFill>
          <a:blip r:embed="rId5"/>
          <a:stretch>
            <a:fillRect/>
          </a:stretch>
        </p:blipFill>
        <p:spPr>
          <a:xfrm>
            <a:off x="991849" y="3080658"/>
            <a:ext cx="2528627" cy="2157761"/>
          </a:xfrm>
          <a:prstGeom prst="rect">
            <a:avLst/>
          </a:prstGeom>
          <a:ln w="22225">
            <a:solidFill>
              <a:srgbClr val="FF0000"/>
            </a:solidFill>
          </a:ln>
        </p:spPr>
      </p:pic>
      <p:sp>
        <p:nvSpPr>
          <p:cNvPr id="24" name="직사각형 23">
            <a:extLst>
              <a:ext uri="{FF2B5EF4-FFF2-40B4-BE49-F238E27FC236}">
                <a16:creationId xmlns:a16="http://schemas.microsoft.com/office/drawing/2014/main" id="{C7792527-200F-BE82-E976-B5FE481AFF4C}"/>
              </a:ext>
            </a:extLst>
          </p:cNvPr>
          <p:cNvSpPr/>
          <p:nvPr/>
        </p:nvSpPr>
        <p:spPr>
          <a:xfrm>
            <a:off x="3622119" y="1933303"/>
            <a:ext cx="1794612" cy="19158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cxnSp>
        <p:nvCxnSpPr>
          <p:cNvPr id="26" name="연결선: 꺾임 25">
            <a:extLst>
              <a:ext uri="{FF2B5EF4-FFF2-40B4-BE49-F238E27FC236}">
                <a16:creationId xmlns:a16="http://schemas.microsoft.com/office/drawing/2014/main" id="{C9C90AF9-7B47-13F2-DD72-FBD9EE0E020B}"/>
              </a:ext>
            </a:extLst>
          </p:cNvPr>
          <p:cNvCxnSpPr>
            <a:cxnSpLocks/>
            <a:stCxn id="24" idx="2"/>
            <a:endCxn id="17" idx="0"/>
          </p:cNvCxnSpPr>
          <p:nvPr/>
        </p:nvCxnSpPr>
        <p:spPr>
          <a:xfrm rot="5400000">
            <a:off x="2909911" y="1471143"/>
            <a:ext cx="955767" cy="2263262"/>
          </a:xfrm>
          <a:prstGeom prst="bentConnector3">
            <a:avLst>
              <a:gd name="adj1" fmla="val 50000"/>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화살표: 아래쪽 33">
            <a:extLst>
              <a:ext uri="{FF2B5EF4-FFF2-40B4-BE49-F238E27FC236}">
                <a16:creationId xmlns:a16="http://schemas.microsoft.com/office/drawing/2014/main" id="{5F45AF34-A979-3E48-EDFB-546D5523A138}"/>
              </a:ext>
            </a:extLst>
          </p:cNvPr>
          <p:cNvSpPr/>
          <p:nvPr/>
        </p:nvSpPr>
        <p:spPr>
          <a:xfrm rot="16200000">
            <a:off x="3612623" y="3885435"/>
            <a:ext cx="1436914" cy="548206"/>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TextBox 35">
            <a:extLst>
              <a:ext uri="{FF2B5EF4-FFF2-40B4-BE49-F238E27FC236}">
                <a16:creationId xmlns:a16="http://schemas.microsoft.com/office/drawing/2014/main" id="{F7692B00-9BF3-EAF5-6DEE-3AECD7CF7ECA}"/>
              </a:ext>
            </a:extLst>
          </p:cNvPr>
          <p:cNvSpPr txBox="1"/>
          <p:nvPr/>
        </p:nvSpPr>
        <p:spPr>
          <a:xfrm>
            <a:off x="2488473" y="6200421"/>
            <a:ext cx="4576354" cy="307777"/>
          </a:xfrm>
          <a:prstGeom prst="rect">
            <a:avLst/>
          </a:prstGeom>
          <a:noFill/>
        </p:spPr>
        <p:txBody>
          <a:bodyPr wrap="square">
            <a:spAutoFit/>
          </a:bodyPr>
          <a:lstStyle/>
          <a:p>
            <a:r>
              <a:rPr lang="vi-VN" altLang="ko-KR" b="1" dirty="0"/>
              <a:t>Tải danh sách đơn yêu cầu nhập hàng đã tạo</a:t>
            </a:r>
            <a:endParaRPr lang="ko-KR" altLang="en-US" b="1" dirty="0"/>
          </a:p>
        </p:txBody>
      </p:sp>
      <p:sp>
        <p:nvSpPr>
          <p:cNvPr id="2" name="제목 1">
            <a:extLst>
              <a:ext uri="{FF2B5EF4-FFF2-40B4-BE49-F238E27FC236}">
                <a16:creationId xmlns:a16="http://schemas.microsoft.com/office/drawing/2014/main" id="{959BDAE5-6198-B6F9-C232-D59B5031D3F7}"/>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Process Flow for Groupware Document (Purchase)</a:t>
            </a:r>
          </a:p>
        </p:txBody>
      </p:sp>
    </p:spTree>
    <p:extLst>
      <p:ext uri="{BB962C8B-B14F-4D97-AF65-F5344CB8AC3E}">
        <p14:creationId xmlns:p14="http://schemas.microsoft.com/office/powerpoint/2010/main" val="232472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179E7-AC2B-1830-E136-61266CCEBAA0}"/>
            </a:ext>
          </a:extLst>
        </p:cNvPr>
        <p:cNvGrpSpPr/>
        <p:nvPr/>
      </p:nvGrpSpPr>
      <p:grpSpPr>
        <a:xfrm>
          <a:off x="0" y="0"/>
          <a:ext cx="0" cy="0"/>
          <a:chOff x="0" y="0"/>
          <a:chExt cx="0" cy="0"/>
        </a:xfrm>
      </p:grpSpPr>
      <p:sp>
        <p:nvSpPr>
          <p:cNvPr id="6" name="Google Shape;100;p7">
            <a:extLst>
              <a:ext uri="{FF2B5EF4-FFF2-40B4-BE49-F238E27FC236}">
                <a16:creationId xmlns:a16="http://schemas.microsoft.com/office/drawing/2014/main" id="{B6FEED1C-DF37-95F6-3F1B-5F933E8BD70E}"/>
              </a:ext>
            </a:extLst>
          </p:cNvPr>
          <p:cNvSpPr/>
          <p:nvPr/>
        </p:nvSpPr>
        <p:spPr>
          <a:xfrm>
            <a:off x="159154" y="789126"/>
            <a:ext cx="7115025"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i="0" u="none" strike="noStrike" cap="none" dirty="0">
                <a:solidFill>
                  <a:schemeClr val="tx1"/>
                </a:solidFill>
                <a:highlight>
                  <a:srgbClr val="FFFF00"/>
                </a:highlight>
                <a:latin typeface="+mn-ea"/>
                <a:ea typeface="+mn-ea"/>
                <a:cs typeface="Calibri"/>
                <a:sym typeface="Calibri"/>
              </a:rPr>
              <a:t>Receiving</a:t>
            </a:r>
            <a:r>
              <a:rPr lang="ko-KR" altLang="en-US" sz="1600" b="1" i="0" u="none" strike="noStrike" cap="none" dirty="0">
                <a:solidFill>
                  <a:schemeClr val="tx1"/>
                </a:solidFill>
                <a:highlight>
                  <a:srgbClr val="FFFF00"/>
                </a:highlight>
                <a:latin typeface="+mn-ea"/>
                <a:ea typeface="+mn-ea"/>
                <a:cs typeface="Calibri"/>
                <a:sym typeface="Calibri"/>
              </a:rPr>
              <a:t> </a:t>
            </a:r>
            <a:r>
              <a:rPr lang="en-US" altLang="ko-KR" sz="1600" b="1" i="0" u="none" strike="noStrike" cap="none" dirty="0">
                <a:solidFill>
                  <a:schemeClr val="tx1"/>
                </a:solidFill>
                <a:highlight>
                  <a:srgbClr val="FFFF00"/>
                </a:highlight>
                <a:latin typeface="+mn-ea"/>
                <a:ea typeface="+mn-ea"/>
                <a:cs typeface="Calibri"/>
                <a:sym typeface="Calibri"/>
              </a:rPr>
              <a:t>Confirmation</a:t>
            </a:r>
            <a:r>
              <a:rPr lang="en-US" altLang="ko-KR" sz="1600" b="1" dirty="0">
                <a:solidFill>
                  <a:schemeClr val="tx1"/>
                </a:solidFill>
                <a:highlight>
                  <a:srgbClr val="FFFF00"/>
                </a:highlight>
                <a:latin typeface="+mn-ea"/>
                <a:ea typeface="+mn-ea"/>
                <a:cs typeface="Calibri"/>
                <a:sym typeface="Calibri"/>
              </a:rPr>
              <a:t> Document (Electronic document - Purchase )</a:t>
            </a:r>
            <a:endParaRPr lang="en-US" sz="1200" b="1" i="0" u="none" strike="noStrike" cap="none" dirty="0">
              <a:solidFill>
                <a:schemeClr val="tx1"/>
              </a:solidFill>
              <a:highlight>
                <a:srgbClr val="FFFF00"/>
              </a:highlight>
              <a:latin typeface="+mn-ea"/>
              <a:ea typeface="+mn-ea"/>
              <a:cs typeface="Calibri"/>
              <a:sym typeface="Calibri"/>
            </a:endParaRPr>
          </a:p>
        </p:txBody>
      </p:sp>
      <p:pic>
        <p:nvPicPr>
          <p:cNvPr id="4" name="그림 3">
            <a:extLst>
              <a:ext uri="{FF2B5EF4-FFF2-40B4-BE49-F238E27FC236}">
                <a16:creationId xmlns:a16="http://schemas.microsoft.com/office/drawing/2014/main" id="{E33D1DF8-4214-D7B1-9BB1-5CFAB7B77B04}"/>
              </a:ext>
            </a:extLst>
          </p:cNvPr>
          <p:cNvPicPr>
            <a:picLocks noChangeAspect="1"/>
          </p:cNvPicPr>
          <p:nvPr/>
        </p:nvPicPr>
        <p:blipFill>
          <a:blip r:embed="rId3"/>
          <a:stretch>
            <a:fillRect/>
          </a:stretch>
        </p:blipFill>
        <p:spPr>
          <a:xfrm>
            <a:off x="306000" y="1502599"/>
            <a:ext cx="8532000" cy="1386849"/>
          </a:xfrm>
          <a:prstGeom prst="rect">
            <a:avLst/>
          </a:prstGeom>
        </p:spPr>
      </p:pic>
      <p:sp>
        <p:nvSpPr>
          <p:cNvPr id="5" name="TextBox 4">
            <a:extLst>
              <a:ext uri="{FF2B5EF4-FFF2-40B4-BE49-F238E27FC236}">
                <a16:creationId xmlns:a16="http://schemas.microsoft.com/office/drawing/2014/main" id="{F5FC7C9A-DB1A-25FA-FD5B-5FFAFBB573FB}"/>
              </a:ext>
            </a:extLst>
          </p:cNvPr>
          <p:cNvSpPr txBox="1"/>
          <p:nvPr/>
        </p:nvSpPr>
        <p:spPr>
          <a:xfrm>
            <a:off x="159154" y="1194822"/>
            <a:ext cx="4576354" cy="307777"/>
          </a:xfrm>
          <a:prstGeom prst="rect">
            <a:avLst/>
          </a:prstGeom>
          <a:noFill/>
        </p:spPr>
        <p:txBody>
          <a:bodyPr wrap="square">
            <a:spAutoFit/>
          </a:bodyPr>
          <a:lstStyle/>
          <a:p>
            <a:r>
              <a:rPr lang="vi-VN" altLang="ko-KR" b="1" dirty="0"/>
              <a:t>Thông tin đơn đặt hàng đã đăng ký trước đó</a:t>
            </a:r>
            <a:endParaRPr lang="ko-KR" altLang="en-US" b="1" dirty="0"/>
          </a:p>
        </p:txBody>
      </p:sp>
      <p:pic>
        <p:nvPicPr>
          <p:cNvPr id="8" name="그림 7">
            <a:extLst>
              <a:ext uri="{FF2B5EF4-FFF2-40B4-BE49-F238E27FC236}">
                <a16:creationId xmlns:a16="http://schemas.microsoft.com/office/drawing/2014/main" id="{D4A45F2B-9CCF-CE08-A7B2-7770E4506C3D}"/>
              </a:ext>
            </a:extLst>
          </p:cNvPr>
          <p:cNvPicPr>
            <a:picLocks noChangeAspect="1"/>
          </p:cNvPicPr>
          <p:nvPr/>
        </p:nvPicPr>
        <p:blipFill>
          <a:blip r:embed="rId4"/>
          <a:stretch>
            <a:fillRect/>
          </a:stretch>
        </p:blipFill>
        <p:spPr>
          <a:xfrm>
            <a:off x="306000" y="3582888"/>
            <a:ext cx="8532000" cy="1459087"/>
          </a:xfrm>
          <a:prstGeom prst="rect">
            <a:avLst/>
          </a:prstGeom>
        </p:spPr>
      </p:pic>
      <p:sp>
        <p:nvSpPr>
          <p:cNvPr id="10" name="TextBox 9">
            <a:extLst>
              <a:ext uri="{FF2B5EF4-FFF2-40B4-BE49-F238E27FC236}">
                <a16:creationId xmlns:a16="http://schemas.microsoft.com/office/drawing/2014/main" id="{4D8CE41F-7BF3-09D1-D5DF-4522604E1963}"/>
              </a:ext>
            </a:extLst>
          </p:cNvPr>
          <p:cNvSpPr txBox="1"/>
          <p:nvPr/>
        </p:nvSpPr>
        <p:spPr>
          <a:xfrm>
            <a:off x="159154" y="3275111"/>
            <a:ext cx="4576354" cy="307777"/>
          </a:xfrm>
          <a:prstGeom prst="rect">
            <a:avLst/>
          </a:prstGeom>
          <a:noFill/>
        </p:spPr>
        <p:txBody>
          <a:bodyPr wrap="square">
            <a:spAutoFit/>
          </a:bodyPr>
          <a:lstStyle/>
          <a:p>
            <a:r>
              <a:rPr lang="en-US" altLang="ko-KR" b="1" dirty="0" err="1"/>
              <a:t>Thêm</a:t>
            </a:r>
            <a:r>
              <a:rPr lang="en-US" altLang="ko-KR" b="1" dirty="0"/>
              <a:t> </a:t>
            </a:r>
            <a:r>
              <a:rPr lang="en-US" altLang="ko-KR" b="1" dirty="0" err="1"/>
              <a:t>mặt</a:t>
            </a:r>
            <a:r>
              <a:rPr lang="en-US" altLang="ko-KR" b="1" dirty="0"/>
              <a:t> </a:t>
            </a:r>
            <a:r>
              <a:rPr lang="en-US" altLang="ko-KR" b="1" dirty="0" err="1"/>
              <a:t>hàng</a:t>
            </a:r>
            <a:r>
              <a:rPr lang="en-US" altLang="ko-KR" b="1" dirty="0"/>
              <a:t> </a:t>
            </a:r>
            <a:r>
              <a:rPr lang="en-US" altLang="ko-KR" b="1" dirty="0" err="1"/>
              <a:t>đã</a:t>
            </a:r>
            <a:r>
              <a:rPr lang="en-US" altLang="ko-KR" b="1" dirty="0"/>
              <a:t> </a:t>
            </a:r>
            <a:r>
              <a:rPr lang="en-US" altLang="ko-KR" b="1" dirty="0" err="1"/>
              <a:t>hoàn</a:t>
            </a:r>
            <a:r>
              <a:rPr lang="en-US" altLang="ko-KR" b="1" dirty="0"/>
              <a:t> </a:t>
            </a:r>
            <a:r>
              <a:rPr lang="en-US" altLang="ko-KR" b="1" dirty="0" err="1"/>
              <a:t>tất</a:t>
            </a:r>
            <a:r>
              <a:rPr lang="en-US" altLang="ko-KR" b="1" dirty="0"/>
              <a:t> </a:t>
            </a:r>
            <a:r>
              <a:rPr lang="en-US" altLang="ko-KR" b="1" dirty="0" err="1"/>
              <a:t>kiểm</a:t>
            </a:r>
            <a:r>
              <a:rPr lang="en-US" altLang="ko-KR" b="1" dirty="0"/>
              <a:t> </a:t>
            </a:r>
            <a:r>
              <a:rPr lang="en-US" altLang="ko-KR" b="1" dirty="0" err="1"/>
              <a:t>tra</a:t>
            </a:r>
            <a:r>
              <a:rPr lang="en-US" altLang="ko-KR" b="1" dirty="0"/>
              <a:t> </a:t>
            </a:r>
            <a:r>
              <a:rPr lang="en-US" altLang="ko-KR" b="1" dirty="0" err="1"/>
              <a:t>nhập</a:t>
            </a:r>
            <a:r>
              <a:rPr lang="en-US" altLang="ko-KR" b="1" dirty="0"/>
              <a:t> </a:t>
            </a:r>
            <a:r>
              <a:rPr lang="en-US" altLang="ko-KR" b="1" dirty="0" err="1"/>
              <a:t>khẩu</a:t>
            </a:r>
            <a:endParaRPr lang="ko-KR" altLang="en-US" b="1" dirty="0"/>
          </a:p>
        </p:txBody>
      </p:sp>
      <p:pic>
        <p:nvPicPr>
          <p:cNvPr id="12" name="그림 11">
            <a:extLst>
              <a:ext uri="{FF2B5EF4-FFF2-40B4-BE49-F238E27FC236}">
                <a16:creationId xmlns:a16="http://schemas.microsoft.com/office/drawing/2014/main" id="{6AEDB407-D45B-ED5A-777E-B41709BFB4E6}"/>
              </a:ext>
            </a:extLst>
          </p:cNvPr>
          <p:cNvPicPr>
            <a:picLocks noChangeAspect="1"/>
          </p:cNvPicPr>
          <p:nvPr/>
        </p:nvPicPr>
        <p:blipFill>
          <a:blip r:embed="rId5"/>
          <a:stretch>
            <a:fillRect/>
          </a:stretch>
        </p:blipFill>
        <p:spPr>
          <a:xfrm>
            <a:off x="409305" y="4394820"/>
            <a:ext cx="5138057" cy="2249278"/>
          </a:xfrm>
          <a:prstGeom prst="rect">
            <a:avLst/>
          </a:prstGeom>
          <a:ln w="22225">
            <a:solidFill>
              <a:srgbClr val="FF0000"/>
            </a:solidFill>
          </a:ln>
        </p:spPr>
      </p:pic>
      <p:sp>
        <p:nvSpPr>
          <p:cNvPr id="14" name="직사각형 13">
            <a:extLst>
              <a:ext uri="{FF2B5EF4-FFF2-40B4-BE49-F238E27FC236}">
                <a16:creationId xmlns:a16="http://schemas.microsoft.com/office/drawing/2014/main" id="{A6BD61D5-1772-3D0E-6C70-096732A8E2A2}"/>
              </a:ext>
            </a:extLst>
          </p:cNvPr>
          <p:cNvSpPr/>
          <p:nvPr/>
        </p:nvSpPr>
        <p:spPr>
          <a:xfrm>
            <a:off x="7350034" y="3872759"/>
            <a:ext cx="1487966" cy="2289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cxnSp>
        <p:nvCxnSpPr>
          <p:cNvPr id="16" name="연결선: 꺾임 15">
            <a:extLst>
              <a:ext uri="{FF2B5EF4-FFF2-40B4-BE49-F238E27FC236}">
                <a16:creationId xmlns:a16="http://schemas.microsoft.com/office/drawing/2014/main" id="{441E3391-7923-FAD6-013A-517926E3B78F}"/>
              </a:ext>
            </a:extLst>
          </p:cNvPr>
          <p:cNvCxnSpPr>
            <a:cxnSpLocks/>
            <a:stCxn id="14" idx="2"/>
          </p:cNvCxnSpPr>
          <p:nvPr/>
        </p:nvCxnSpPr>
        <p:spPr>
          <a:xfrm rot="5400000">
            <a:off x="6473970" y="3175129"/>
            <a:ext cx="693440" cy="2546655"/>
          </a:xfrm>
          <a:prstGeom prst="bentConnector2">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5F7723A-494B-B301-E401-290AB9151D50}"/>
              </a:ext>
            </a:extLst>
          </p:cNvPr>
          <p:cNvSpPr txBox="1"/>
          <p:nvPr/>
        </p:nvSpPr>
        <p:spPr>
          <a:xfrm>
            <a:off x="5625738" y="5435333"/>
            <a:ext cx="3448592" cy="600164"/>
          </a:xfrm>
          <a:prstGeom prst="rect">
            <a:avLst/>
          </a:prstGeom>
          <a:noFill/>
        </p:spPr>
        <p:txBody>
          <a:bodyPr wrap="square">
            <a:spAutoFit/>
          </a:bodyPr>
          <a:lstStyle/>
          <a:p>
            <a:r>
              <a:rPr lang="vi-VN" altLang="ko-KR" sz="1100" b="1" dirty="0"/>
              <a:t>Chỉ các mục đã được kiểm tra nhập khẩu hiển thị trên màn hình, và chỉ những mặt hàng đạt kiểm tra mới có thể chọn.</a:t>
            </a:r>
            <a:endParaRPr lang="ko-KR" altLang="en-US" sz="1100" b="1" dirty="0"/>
          </a:p>
        </p:txBody>
      </p:sp>
      <p:sp>
        <p:nvSpPr>
          <p:cNvPr id="2" name="제목 1">
            <a:extLst>
              <a:ext uri="{FF2B5EF4-FFF2-40B4-BE49-F238E27FC236}">
                <a16:creationId xmlns:a16="http://schemas.microsoft.com/office/drawing/2014/main" id="{A92EAA68-AC7F-D945-30A4-D6524986A967}"/>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Process Flow for Groupware Document (Purchase)</a:t>
            </a:r>
          </a:p>
        </p:txBody>
      </p:sp>
    </p:spTree>
    <p:extLst>
      <p:ext uri="{BB962C8B-B14F-4D97-AF65-F5344CB8AC3E}">
        <p14:creationId xmlns:p14="http://schemas.microsoft.com/office/powerpoint/2010/main" val="1676712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515C2-097B-C301-8B9D-138D985AF2BA}"/>
            </a:ext>
          </a:extLst>
        </p:cNvPr>
        <p:cNvGrpSpPr/>
        <p:nvPr/>
      </p:nvGrpSpPr>
      <p:grpSpPr>
        <a:xfrm>
          <a:off x="0" y="0"/>
          <a:ext cx="0" cy="0"/>
          <a:chOff x="0" y="0"/>
          <a:chExt cx="0" cy="0"/>
        </a:xfrm>
      </p:grpSpPr>
      <p:sp>
        <p:nvSpPr>
          <p:cNvPr id="6" name="Google Shape;100;p7">
            <a:extLst>
              <a:ext uri="{FF2B5EF4-FFF2-40B4-BE49-F238E27FC236}">
                <a16:creationId xmlns:a16="http://schemas.microsoft.com/office/drawing/2014/main" id="{45F1CA1A-AA31-72B1-67B3-B0478818941C}"/>
              </a:ext>
            </a:extLst>
          </p:cNvPr>
          <p:cNvSpPr/>
          <p:nvPr/>
        </p:nvSpPr>
        <p:spPr>
          <a:xfrm>
            <a:off x="159155" y="789126"/>
            <a:ext cx="7626308"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i="0" u="none" strike="noStrike" cap="none" dirty="0">
                <a:solidFill>
                  <a:schemeClr val="tx1"/>
                </a:solidFill>
                <a:highlight>
                  <a:srgbClr val="FFFF00"/>
                </a:highlight>
                <a:latin typeface="+mn-ea"/>
                <a:ea typeface="+mn-ea"/>
                <a:cs typeface="Calibri"/>
                <a:sym typeface="Calibri"/>
              </a:rPr>
              <a:t>Receiving</a:t>
            </a:r>
            <a:r>
              <a:rPr lang="ko-KR" altLang="en-US" sz="1600" b="1" i="0" u="none" strike="noStrike" cap="none" dirty="0">
                <a:solidFill>
                  <a:schemeClr val="tx1"/>
                </a:solidFill>
                <a:highlight>
                  <a:srgbClr val="FFFF00"/>
                </a:highlight>
                <a:latin typeface="+mn-ea"/>
                <a:ea typeface="+mn-ea"/>
                <a:cs typeface="Calibri"/>
                <a:sym typeface="Calibri"/>
              </a:rPr>
              <a:t> </a:t>
            </a:r>
            <a:r>
              <a:rPr lang="en-US" altLang="ko-KR" sz="1600" b="1" i="0" u="none" strike="noStrike" cap="none" dirty="0">
                <a:solidFill>
                  <a:schemeClr val="tx1"/>
                </a:solidFill>
                <a:highlight>
                  <a:srgbClr val="FFFF00"/>
                </a:highlight>
                <a:latin typeface="+mn-ea"/>
                <a:ea typeface="+mn-ea"/>
                <a:cs typeface="Calibri"/>
                <a:sym typeface="Calibri"/>
              </a:rPr>
              <a:t>Confirmation</a:t>
            </a:r>
            <a:r>
              <a:rPr lang="en-US" altLang="ko-KR" sz="1600" b="1" dirty="0">
                <a:solidFill>
                  <a:schemeClr val="tx1"/>
                </a:solidFill>
                <a:highlight>
                  <a:srgbClr val="FFFF00"/>
                </a:highlight>
                <a:latin typeface="+mn-ea"/>
                <a:ea typeface="+mn-ea"/>
                <a:cs typeface="Calibri"/>
                <a:sym typeface="Calibri"/>
              </a:rPr>
              <a:t> Document (Electronic document - Purchase )</a:t>
            </a:r>
            <a:endParaRPr lang="en-US" sz="1200" b="1" i="0" u="none" strike="noStrike" cap="none" dirty="0">
              <a:solidFill>
                <a:schemeClr val="tx1"/>
              </a:solidFill>
              <a:highlight>
                <a:srgbClr val="FFFF00"/>
              </a:highlight>
              <a:latin typeface="+mn-ea"/>
              <a:ea typeface="+mn-ea"/>
              <a:cs typeface="Calibri"/>
              <a:sym typeface="Calibri"/>
            </a:endParaRPr>
          </a:p>
        </p:txBody>
      </p:sp>
      <p:pic>
        <p:nvPicPr>
          <p:cNvPr id="11" name="그림 10">
            <a:extLst>
              <a:ext uri="{FF2B5EF4-FFF2-40B4-BE49-F238E27FC236}">
                <a16:creationId xmlns:a16="http://schemas.microsoft.com/office/drawing/2014/main" id="{7E6D3208-EB34-E548-7464-6DAD538B8D3C}"/>
              </a:ext>
            </a:extLst>
          </p:cNvPr>
          <p:cNvPicPr>
            <a:picLocks noChangeAspect="1"/>
          </p:cNvPicPr>
          <p:nvPr/>
        </p:nvPicPr>
        <p:blipFill>
          <a:blip r:embed="rId3"/>
          <a:stretch>
            <a:fillRect/>
          </a:stretch>
        </p:blipFill>
        <p:spPr>
          <a:xfrm>
            <a:off x="159155" y="1101238"/>
            <a:ext cx="6835029" cy="2367036"/>
          </a:xfrm>
          <a:prstGeom prst="rect">
            <a:avLst/>
          </a:prstGeom>
        </p:spPr>
      </p:pic>
      <p:sp>
        <p:nvSpPr>
          <p:cNvPr id="14" name="직사각형 13">
            <a:extLst>
              <a:ext uri="{FF2B5EF4-FFF2-40B4-BE49-F238E27FC236}">
                <a16:creationId xmlns:a16="http://schemas.microsoft.com/office/drawing/2014/main" id="{A881CAC1-355B-CD14-8760-564866558A09}"/>
              </a:ext>
            </a:extLst>
          </p:cNvPr>
          <p:cNvSpPr/>
          <p:nvPr/>
        </p:nvSpPr>
        <p:spPr>
          <a:xfrm>
            <a:off x="345790" y="2258663"/>
            <a:ext cx="226424" cy="2490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13" name="직사각형 12">
            <a:extLst>
              <a:ext uri="{FF2B5EF4-FFF2-40B4-BE49-F238E27FC236}">
                <a16:creationId xmlns:a16="http://schemas.microsoft.com/office/drawing/2014/main" id="{B27FA364-5FEA-C1B6-EF6A-5B0562382A36}"/>
              </a:ext>
            </a:extLst>
          </p:cNvPr>
          <p:cNvSpPr/>
          <p:nvPr/>
        </p:nvSpPr>
        <p:spPr>
          <a:xfrm>
            <a:off x="5174693" y="3260662"/>
            <a:ext cx="1487966" cy="18128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15" name="직사각형 14">
            <a:extLst>
              <a:ext uri="{FF2B5EF4-FFF2-40B4-BE49-F238E27FC236}">
                <a16:creationId xmlns:a16="http://schemas.microsoft.com/office/drawing/2014/main" id="{71525A7F-5106-E3AD-4ECA-22783DA82E66}"/>
              </a:ext>
            </a:extLst>
          </p:cNvPr>
          <p:cNvSpPr/>
          <p:nvPr/>
        </p:nvSpPr>
        <p:spPr>
          <a:xfrm>
            <a:off x="6184887" y="2258663"/>
            <a:ext cx="413658" cy="317948"/>
          </a:xfrm>
          <a:prstGeom prst="rect">
            <a:avLst/>
          </a:prstGeom>
          <a:noFill/>
          <a:ln w="28575">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연결선: 꺾임 17">
            <a:extLst>
              <a:ext uri="{FF2B5EF4-FFF2-40B4-BE49-F238E27FC236}">
                <a16:creationId xmlns:a16="http://schemas.microsoft.com/office/drawing/2014/main" id="{59CC2F4C-48F4-5B88-FA98-262D0BD4FEE3}"/>
              </a:ext>
            </a:extLst>
          </p:cNvPr>
          <p:cNvCxnSpPr>
            <a:cxnSpLocks/>
            <a:stCxn id="15" idx="1"/>
            <a:endCxn id="17" idx="1"/>
          </p:cNvCxnSpPr>
          <p:nvPr/>
        </p:nvCxnSpPr>
        <p:spPr>
          <a:xfrm rot="10800000">
            <a:off x="5918677" y="1555641"/>
            <a:ext cx="266210" cy="861997"/>
          </a:xfrm>
          <a:prstGeom prst="bentConnector3">
            <a:avLst>
              <a:gd name="adj1" fmla="val 185872"/>
            </a:avLst>
          </a:prstGeom>
          <a:ln w="15875">
            <a:solidFill>
              <a:srgbClr val="0000FF"/>
            </a:solidFill>
            <a:tailEnd type="triangle"/>
          </a:ln>
        </p:spPr>
        <p:style>
          <a:lnRef idx="1">
            <a:schemeClr val="accent1"/>
          </a:lnRef>
          <a:fillRef idx="0">
            <a:schemeClr val="accent1"/>
          </a:fillRef>
          <a:effectRef idx="0">
            <a:schemeClr val="accent1"/>
          </a:effectRef>
          <a:fontRef idx="minor">
            <a:schemeClr val="tx1"/>
          </a:fontRef>
        </p:style>
      </p:cxnSp>
      <p:pic>
        <p:nvPicPr>
          <p:cNvPr id="25" name="그림 24">
            <a:extLst>
              <a:ext uri="{FF2B5EF4-FFF2-40B4-BE49-F238E27FC236}">
                <a16:creationId xmlns:a16="http://schemas.microsoft.com/office/drawing/2014/main" id="{B66A32D5-A439-5863-F2CE-C976D80ED76F}"/>
              </a:ext>
            </a:extLst>
          </p:cNvPr>
          <p:cNvPicPr>
            <a:picLocks noChangeAspect="1"/>
          </p:cNvPicPr>
          <p:nvPr/>
        </p:nvPicPr>
        <p:blipFill>
          <a:blip r:embed="rId4"/>
          <a:stretch>
            <a:fillRect/>
          </a:stretch>
        </p:blipFill>
        <p:spPr>
          <a:xfrm>
            <a:off x="572214" y="3525540"/>
            <a:ext cx="7881256" cy="1073757"/>
          </a:xfrm>
          <a:prstGeom prst="rect">
            <a:avLst/>
          </a:prstGeom>
          <a:ln w="22225">
            <a:solidFill>
              <a:srgbClr val="FF0000"/>
            </a:solidFill>
          </a:ln>
        </p:spPr>
      </p:pic>
      <p:sp>
        <p:nvSpPr>
          <p:cNvPr id="34" name="TextBox 33">
            <a:extLst>
              <a:ext uri="{FF2B5EF4-FFF2-40B4-BE49-F238E27FC236}">
                <a16:creationId xmlns:a16="http://schemas.microsoft.com/office/drawing/2014/main" id="{1C923BB1-2393-7345-353A-F7B34A018FAD}"/>
              </a:ext>
            </a:extLst>
          </p:cNvPr>
          <p:cNvSpPr txBox="1"/>
          <p:nvPr/>
        </p:nvSpPr>
        <p:spPr>
          <a:xfrm>
            <a:off x="459002" y="4946300"/>
            <a:ext cx="8255726" cy="738664"/>
          </a:xfrm>
          <a:prstGeom prst="rect">
            <a:avLst/>
          </a:prstGeom>
          <a:noFill/>
        </p:spPr>
        <p:txBody>
          <a:bodyPr wrap="square">
            <a:spAutoFit/>
          </a:bodyPr>
          <a:lstStyle/>
          <a:p>
            <a:r>
              <a:rPr lang="vi-VN" altLang="ko-KR" b="1"/>
              <a:t>Số lượng đạt tiêu chuẩn và số tiền của mặt hàng đã chọn sẽ được tự động tính toán và hiển thị. Đối với kho, hệ thống sẽ tự động điền theo kho đã được nhập trong Arrival Confirmation Document.</a:t>
            </a:r>
            <a:endParaRPr lang="ko-KR" altLang="en-US" b="1" dirty="0"/>
          </a:p>
        </p:txBody>
      </p:sp>
      <p:sp>
        <p:nvSpPr>
          <p:cNvPr id="17" name="직사각형 16">
            <a:extLst>
              <a:ext uri="{FF2B5EF4-FFF2-40B4-BE49-F238E27FC236}">
                <a16:creationId xmlns:a16="http://schemas.microsoft.com/office/drawing/2014/main" id="{46773C1D-8921-D788-F207-2921C18872FE}"/>
              </a:ext>
            </a:extLst>
          </p:cNvPr>
          <p:cNvSpPr/>
          <p:nvPr/>
        </p:nvSpPr>
        <p:spPr>
          <a:xfrm>
            <a:off x="5918677" y="1304131"/>
            <a:ext cx="3078481" cy="503017"/>
          </a:xfrm>
          <a:prstGeom prst="rect">
            <a:avLst/>
          </a:prstGeom>
          <a:noFill/>
          <a:ln w="28575">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dirty="0" err="1">
                <a:solidFill>
                  <a:schemeClr val="tx1"/>
                </a:solidFill>
              </a:rPr>
              <a:t>Có</a:t>
            </a:r>
            <a:r>
              <a:rPr lang="en-US" altLang="ko-KR" sz="1200" dirty="0">
                <a:solidFill>
                  <a:schemeClr val="tx1"/>
                </a:solidFill>
              </a:rPr>
              <a:t> </a:t>
            </a:r>
            <a:r>
              <a:rPr lang="en-US" altLang="ko-KR" sz="1200" dirty="0" err="1">
                <a:solidFill>
                  <a:schemeClr val="tx1"/>
                </a:solidFill>
              </a:rPr>
              <a:t>thể</a:t>
            </a:r>
            <a:r>
              <a:rPr lang="en-US" altLang="ko-KR" sz="1200" dirty="0">
                <a:solidFill>
                  <a:schemeClr val="tx1"/>
                </a:solidFill>
              </a:rPr>
              <a:t> </a:t>
            </a:r>
            <a:r>
              <a:rPr lang="en-US" altLang="ko-KR" sz="1200" dirty="0" err="1">
                <a:solidFill>
                  <a:schemeClr val="tx1"/>
                </a:solidFill>
              </a:rPr>
              <a:t>kiểm</a:t>
            </a:r>
            <a:r>
              <a:rPr lang="en-US" altLang="ko-KR" sz="1200" dirty="0">
                <a:solidFill>
                  <a:schemeClr val="tx1"/>
                </a:solidFill>
              </a:rPr>
              <a:t> </a:t>
            </a:r>
            <a:r>
              <a:rPr lang="en-US" altLang="ko-KR" sz="1200" dirty="0" err="1">
                <a:solidFill>
                  <a:schemeClr val="tx1"/>
                </a:solidFill>
              </a:rPr>
              <a:t>tra</a:t>
            </a:r>
            <a:r>
              <a:rPr lang="en-US" altLang="ko-KR" sz="1200" dirty="0">
                <a:solidFill>
                  <a:schemeClr val="tx1"/>
                </a:solidFill>
              </a:rPr>
              <a:t> chi </a:t>
            </a:r>
            <a:r>
              <a:rPr lang="en-US" altLang="ko-KR" sz="1200" dirty="0" err="1">
                <a:solidFill>
                  <a:schemeClr val="tx1"/>
                </a:solidFill>
              </a:rPr>
              <a:t>tiết</a:t>
            </a:r>
            <a:r>
              <a:rPr lang="en-US" altLang="ko-KR" sz="1200" dirty="0">
                <a:solidFill>
                  <a:schemeClr val="tx1"/>
                </a:solidFill>
              </a:rPr>
              <a:t> </a:t>
            </a:r>
            <a:r>
              <a:rPr lang="en-US" altLang="ko-KR" sz="1200" dirty="0" err="1">
                <a:solidFill>
                  <a:schemeClr val="tx1"/>
                </a:solidFill>
              </a:rPr>
              <a:t>nội</a:t>
            </a:r>
            <a:r>
              <a:rPr lang="en-US" altLang="ko-KR" sz="1200" dirty="0">
                <a:solidFill>
                  <a:schemeClr val="tx1"/>
                </a:solidFill>
              </a:rPr>
              <a:t> dung </a:t>
            </a:r>
            <a:r>
              <a:rPr lang="en-US" altLang="ko-KR" sz="1200" dirty="0" err="1">
                <a:solidFill>
                  <a:schemeClr val="tx1"/>
                </a:solidFill>
              </a:rPr>
              <a:t>kiểm</a:t>
            </a:r>
            <a:r>
              <a:rPr lang="en-US" altLang="ko-KR" sz="1200" dirty="0">
                <a:solidFill>
                  <a:schemeClr val="tx1"/>
                </a:solidFill>
              </a:rPr>
              <a:t> </a:t>
            </a:r>
            <a:r>
              <a:rPr lang="en-US" altLang="ko-KR" sz="1200" dirty="0" err="1">
                <a:solidFill>
                  <a:schemeClr val="tx1"/>
                </a:solidFill>
              </a:rPr>
              <a:t>tra</a:t>
            </a:r>
            <a:r>
              <a:rPr lang="en-US" altLang="ko-KR" sz="1200" dirty="0">
                <a:solidFill>
                  <a:schemeClr val="tx1"/>
                </a:solidFill>
              </a:rPr>
              <a:t> </a:t>
            </a:r>
            <a:r>
              <a:rPr lang="en-US" altLang="ko-KR" sz="1200" dirty="0" err="1">
                <a:solidFill>
                  <a:schemeClr val="tx1"/>
                </a:solidFill>
              </a:rPr>
              <a:t>của</a:t>
            </a:r>
            <a:r>
              <a:rPr lang="en-US" altLang="ko-KR" sz="1200" dirty="0">
                <a:solidFill>
                  <a:schemeClr val="tx1"/>
                </a:solidFill>
              </a:rPr>
              <a:t> </a:t>
            </a:r>
            <a:r>
              <a:rPr lang="en-US" altLang="ko-KR" sz="1200" dirty="0" err="1">
                <a:solidFill>
                  <a:schemeClr val="tx1"/>
                </a:solidFill>
              </a:rPr>
              <a:t>từng</a:t>
            </a:r>
            <a:r>
              <a:rPr lang="en-US" altLang="ko-KR" sz="1200" dirty="0">
                <a:solidFill>
                  <a:schemeClr val="tx1"/>
                </a:solidFill>
              </a:rPr>
              <a:t> </a:t>
            </a:r>
            <a:r>
              <a:rPr lang="en-US" altLang="ko-KR" sz="1200" dirty="0" err="1">
                <a:solidFill>
                  <a:schemeClr val="tx1"/>
                </a:solidFill>
              </a:rPr>
              <a:t>mặt</a:t>
            </a:r>
            <a:r>
              <a:rPr lang="en-US" altLang="ko-KR" sz="1200" dirty="0">
                <a:solidFill>
                  <a:schemeClr val="tx1"/>
                </a:solidFill>
              </a:rPr>
              <a:t> </a:t>
            </a:r>
            <a:r>
              <a:rPr lang="en-US" altLang="ko-KR" sz="1200" dirty="0" err="1">
                <a:solidFill>
                  <a:schemeClr val="tx1"/>
                </a:solidFill>
              </a:rPr>
              <a:t>hàng</a:t>
            </a:r>
            <a:endParaRPr lang="ko-KR" altLang="en-US" sz="900" dirty="0">
              <a:solidFill>
                <a:schemeClr val="tx1"/>
              </a:solidFill>
            </a:endParaRPr>
          </a:p>
        </p:txBody>
      </p:sp>
      <p:cxnSp>
        <p:nvCxnSpPr>
          <p:cNvPr id="16" name="연결선: 꺾임 15">
            <a:extLst>
              <a:ext uri="{FF2B5EF4-FFF2-40B4-BE49-F238E27FC236}">
                <a16:creationId xmlns:a16="http://schemas.microsoft.com/office/drawing/2014/main" id="{62A539CE-5983-3C70-377D-0AEC2E449D33}"/>
              </a:ext>
            </a:extLst>
          </p:cNvPr>
          <p:cNvCxnSpPr>
            <a:cxnSpLocks/>
            <a:endCxn id="25" idx="0"/>
          </p:cNvCxnSpPr>
          <p:nvPr/>
        </p:nvCxnSpPr>
        <p:spPr>
          <a:xfrm rot="10800000" flipV="1">
            <a:off x="4512843" y="3332460"/>
            <a:ext cx="661853" cy="193080"/>
          </a:xfrm>
          <a:prstGeom prst="bentConnector2">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76BFF493-902D-FB9E-9394-CA972CC3F4C3}"/>
              </a:ext>
            </a:extLst>
          </p:cNvPr>
          <p:cNvSpPr txBox="1"/>
          <p:nvPr/>
        </p:nvSpPr>
        <p:spPr>
          <a:xfrm>
            <a:off x="459001" y="5868762"/>
            <a:ext cx="8255725" cy="523220"/>
          </a:xfrm>
          <a:prstGeom prst="rect">
            <a:avLst/>
          </a:prstGeom>
          <a:noFill/>
        </p:spPr>
        <p:txBody>
          <a:bodyPr wrap="square">
            <a:spAutoFit/>
          </a:bodyPr>
          <a:lstStyle/>
          <a:p>
            <a:r>
              <a:rPr lang="vi-VN" altLang="ko-KR" b="1" dirty="0">
                <a:solidFill>
                  <a:srgbClr val="FF0000"/>
                </a:solidFill>
              </a:rPr>
              <a:t>Khi tiếp nhận hoàn tất, quá trình nhập kho sẽ được xử lý trong ERP và MES, đồng thời dữ liệu tồn kho sẽ được cập nhật.</a:t>
            </a:r>
            <a:endParaRPr lang="ko-KR" altLang="en-US" b="1" dirty="0">
              <a:solidFill>
                <a:srgbClr val="FF0000"/>
              </a:solidFill>
            </a:endParaRPr>
          </a:p>
        </p:txBody>
      </p:sp>
      <p:sp>
        <p:nvSpPr>
          <p:cNvPr id="2" name="제목 1">
            <a:extLst>
              <a:ext uri="{FF2B5EF4-FFF2-40B4-BE49-F238E27FC236}">
                <a16:creationId xmlns:a16="http://schemas.microsoft.com/office/drawing/2014/main" id="{73B9BEC9-322E-E9E9-6730-763456509CDD}"/>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Process Flow for Groupware Document (Purchase)</a:t>
            </a:r>
          </a:p>
        </p:txBody>
      </p:sp>
    </p:spTree>
    <p:extLst>
      <p:ext uri="{BB962C8B-B14F-4D97-AF65-F5344CB8AC3E}">
        <p14:creationId xmlns:p14="http://schemas.microsoft.com/office/powerpoint/2010/main" val="1094977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0577B-992E-3252-0EAA-B5A7CA748883}"/>
            </a:ext>
          </a:extLst>
        </p:cNvPr>
        <p:cNvGrpSpPr/>
        <p:nvPr/>
      </p:nvGrpSpPr>
      <p:grpSpPr>
        <a:xfrm>
          <a:off x="0" y="0"/>
          <a:ext cx="0" cy="0"/>
          <a:chOff x="0" y="0"/>
          <a:chExt cx="0" cy="0"/>
        </a:xfrm>
      </p:grpSpPr>
      <p:sp>
        <p:nvSpPr>
          <p:cNvPr id="6" name="Google Shape;100;p7">
            <a:extLst>
              <a:ext uri="{FF2B5EF4-FFF2-40B4-BE49-F238E27FC236}">
                <a16:creationId xmlns:a16="http://schemas.microsoft.com/office/drawing/2014/main" id="{5CA819F1-4850-3902-F46E-38046A3DD91C}"/>
              </a:ext>
            </a:extLst>
          </p:cNvPr>
          <p:cNvSpPr/>
          <p:nvPr/>
        </p:nvSpPr>
        <p:spPr>
          <a:xfrm>
            <a:off x="159154" y="789126"/>
            <a:ext cx="7115025"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dirty="0">
                <a:solidFill>
                  <a:schemeClr val="tx1"/>
                </a:solidFill>
                <a:highlight>
                  <a:srgbClr val="FFFF00"/>
                </a:highlight>
                <a:latin typeface="+mn-ea"/>
                <a:ea typeface="+mn-ea"/>
                <a:cs typeface="Calibri"/>
                <a:sym typeface="Calibri"/>
              </a:rPr>
              <a:t>Return Product Document (Electronic document - Purchase )</a:t>
            </a:r>
            <a:endParaRPr lang="en-US" sz="1200" b="1" i="0" u="none" strike="noStrike" cap="none" dirty="0">
              <a:solidFill>
                <a:schemeClr val="tx1"/>
              </a:solidFill>
              <a:highlight>
                <a:srgbClr val="FFFF00"/>
              </a:highlight>
              <a:latin typeface="+mn-ea"/>
              <a:ea typeface="+mn-ea"/>
              <a:cs typeface="Calibri"/>
              <a:sym typeface="Calibri"/>
            </a:endParaRPr>
          </a:p>
        </p:txBody>
      </p:sp>
      <p:sp>
        <p:nvSpPr>
          <p:cNvPr id="4" name="TextBox 3">
            <a:extLst>
              <a:ext uri="{FF2B5EF4-FFF2-40B4-BE49-F238E27FC236}">
                <a16:creationId xmlns:a16="http://schemas.microsoft.com/office/drawing/2014/main" id="{157D82E9-E030-B724-E100-F8453C19ADE6}"/>
              </a:ext>
            </a:extLst>
          </p:cNvPr>
          <p:cNvSpPr txBox="1"/>
          <p:nvPr/>
        </p:nvSpPr>
        <p:spPr>
          <a:xfrm>
            <a:off x="159154" y="1210138"/>
            <a:ext cx="8288160" cy="307777"/>
          </a:xfrm>
          <a:prstGeom prst="rect">
            <a:avLst/>
          </a:prstGeom>
          <a:noFill/>
        </p:spPr>
        <p:txBody>
          <a:bodyPr wrap="square">
            <a:spAutoFit/>
          </a:bodyPr>
          <a:lstStyle/>
          <a:p>
            <a:r>
              <a:rPr lang="vi-VN" altLang="ko-KR" b="1" dirty="0"/>
              <a:t>Trường hợp trả lại các mặt hàng đã nhập kho</a:t>
            </a:r>
            <a:endParaRPr lang="ko-KR" altLang="en-US" b="1" dirty="0"/>
          </a:p>
        </p:txBody>
      </p:sp>
      <p:grpSp>
        <p:nvGrpSpPr>
          <p:cNvPr id="58" name="그룹 57">
            <a:extLst>
              <a:ext uri="{FF2B5EF4-FFF2-40B4-BE49-F238E27FC236}">
                <a16:creationId xmlns:a16="http://schemas.microsoft.com/office/drawing/2014/main" id="{ABD79B80-1F0E-53E5-A41B-14C4849990EC}"/>
              </a:ext>
            </a:extLst>
          </p:cNvPr>
          <p:cNvGrpSpPr/>
          <p:nvPr/>
        </p:nvGrpSpPr>
        <p:grpSpPr>
          <a:xfrm>
            <a:off x="254947" y="5393685"/>
            <a:ext cx="8775841" cy="1014194"/>
            <a:chOff x="159153" y="1519656"/>
            <a:chExt cx="8775841" cy="1014194"/>
          </a:xfrm>
        </p:grpSpPr>
        <p:pic>
          <p:nvPicPr>
            <p:cNvPr id="39" name="그림 38">
              <a:extLst>
                <a:ext uri="{FF2B5EF4-FFF2-40B4-BE49-F238E27FC236}">
                  <a16:creationId xmlns:a16="http://schemas.microsoft.com/office/drawing/2014/main" id="{CDAA4BB9-B80F-AB01-DB1F-7446ACD13286}"/>
                </a:ext>
              </a:extLst>
            </p:cNvPr>
            <p:cNvPicPr>
              <a:picLocks noChangeAspect="1"/>
            </p:cNvPicPr>
            <p:nvPr/>
          </p:nvPicPr>
          <p:blipFill>
            <a:blip r:embed="rId3"/>
            <a:stretch>
              <a:fillRect/>
            </a:stretch>
          </p:blipFill>
          <p:spPr>
            <a:xfrm>
              <a:off x="159154" y="1812714"/>
              <a:ext cx="8775840" cy="721136"/>
            </a:xfrm>
            <a:prstGeom prst="rect">
              <a:avLst/>
            </a:prstGeom>
          </p:spPr>
        </p:pic>
        <p:sp>
          <p:nvSpPr>
            <p:cNvPr id="41" name="TextBox 40">
              <a:extLst>
                <a:ext uri="{FF2B5EF4-FFF2-40B4-BE49-F238E27FC236}">
                  <a16:creationId xmlns:a16="http://schemas.microsoft.com/office/drawing/2014/main" id="{F3AA6479-CF4C-39A5-34DF-2BB7574A1117}"/>
                </a:ext>
              </a:extLst>
            </p:cNvPr>
            <p:cNvSpPr txBox="1"/>
            <p:nvPr/>
          </p:nvSpPr>
          <p:spPr>
            <a:xfrm>
              <a:off x="159153" y="1519656"/>
              <a:ext cx="8514583" cy="261610"/>
            </a:xfrm>
            <a:prstGeom prst="rect">
              <a:avLst/>
            </a:prstGeom>
            <a:noFill/>
          </p:spPr>
          <p:txBody>
            <a:bodyPr wrap="square">
              <a:spAutoFit/>
            </a:bodyPr>
            <a:lstStyle/>
            <a:p>
              <a:r>
                <a:rPr lang="en-US" altLang="ko-KR" sz="1100" b="1" dirty="0"/>
                <a:t>2. </a:t>
              </a:r>
              <a:r>
                <a:rPr lang="vi-VN" altLang="ko-KR" sz="1100" b="1" dirty="0"/>
                <a:t>Chọn phân biệt giữa trường hợp trả lại sản phẩm và trả lại nguyên vật liệu</a:t>
              </a:r>
              <a:endParaRPr lang="ko-KR" altLang="en-US" sz="1100" b="1" dirty="0"/>
            </a:p>
          </p:txBody>
        </p:sp>
      </p:grpSp>
      <p:sp>
        <p:nvSpPr>
          <p:cNvPr id="49" name="TextBox 48">
            <a:extLst>
              <a:ext uri="{FF2B5EF4-FFF2-40B4-BE49-F238E27FC236}">
                <a16:creationId xmlns:a16="http://schemas.microsoft.com/office/drawing/2014/main" id="{576FC43F-A2A3-DE38-22B5-C4BA68A2CC86}"/>
              </a:ext>
            </a:extLst>
          </p:cNvPr>
          <p:cNvSpPr txBox="1"/>
          <p:nvPr/>
        </p:nvSpPr>
        <p:spPr>
          <a:xfrm>
            <a:off x="159154" y="1523884"/>
            <a:ext cx="4576354" cy="276999"/>
          </a:xfrm>
          <a:prstGeom prst="rect">
            <a:avLst/>
          </a:prstGeom>
          <a:noFill/>
        </p:spPr>
        <p:txBody>
          <a:bodyPr wrap="square">
            <a:spAutoFit/>
          </a:bodyPr>
          <a:lstStyle/>
          <a:p>
            <a:r>
              <a:rPr lang="en-US" altLang="ko-KR" sz="1200" b="1" dirty="0"/>
              <a:t>1. </a:t>
            </a:r>
            <a:r>
              <a:rPr lang="vi-VN" altLang="ko-KR" sz="1200" b="1" dirty="0"/>
              <a:t>Chọn tài liệu nhập kho đã được tạo</a:t>
            </a:r>
            <a:endParaRPr lang="ko-KR" altLang="en-US" sz="1200" b="1" dirty="0"/>
          </a:p>
        </p:txBody>
      </p:sp>
      <p:grpSp>
        <p:nvGrpSpPr>
          <p:cNvPr id="60" name="그룹 59">
            <a:extLst>
              <a:ext uri="{FF2B5EF4-FFF2-40B4-BE49-F238E27FC236}">
                <a16:creationId xmlns:a16="http://schemas.microsoft.com/office/drawing/2014/main" id="{D960072F-3AC3-0B35-BC3C-8B4749D802D6}"/>
              </a:ext>
            </a:extLst>
          </p:cNvPr>
          <p:cNvGrpSpPr/>
          <p:nvPr/>
        </p:nvGrpSpPr>
        <p:grpSpPr>
          <a:xfrm>
            <a:off x="159154" y="1981872"/>
            <a:ext cx="8775840" cy="3115947"/>
            <a:chOff x="159154" y="1600413"/>
            <a:chExt cx="8775840" cy="3115947"/>
          </a:xfrm>
        </p:grpSpPr>
        <p:grpSp>
          <p:nvGrpSpPr>
            <p:cNvPr id="45" name="그룹 44">
              <a:extLst>
                <a:ext uri="{FF2B5EF4-FFF2-40B4-BE49-F238E27FC236}">
                  <a16:creationId xmlns:a16="http://schemas.microsoft.com/office/drawing/2014/main" id="{74FED093-4432-A39D-CBA5-DE68DACFE841}"/>
                </a:ext>
              </a:extLst>
            </p:cNvPr>
            <p:cNvGrpSpPr/>
            <p:nvPr/>
          </p:nvGrpSpPr>
          <p:grpSpPr>
            <a:xfrm>
              <a:off x="159154" y="1600413"/>
              <a:ext cx="8775840" cy="983038"/>
              <a:chOff x="159154" y="3138845"/>
              <a:chExt cx="8775840" cy="983038"/>
            </a:xfrm>
          </p:grpSpPr>
          <p:pic>
            <p:nvPicPr>
              <p:cNvPr id="36" name="그림 35">
                <a:extLst>
                  <a:ext uri="{FF2B5EF4-FFF2-40B4-BE49-F238E27FC236}">
                    <a16:creationId xmlns:a16="http://schemas.microsoft.com/office/drawing/2014/main" id="{68AC7A64-5E26-E8DA-BFAD-926C9F60A41C}"/>
                  </a:ext>
                </a:extLst>
              </p:cNvPr>
              <p:cNvPicPr>
                <a:picLocks noChangeAspect="1"/>
              </p:cNvPicPr>
              <p:nvPr/>
            </p:nvPicPr>
            <p:blipFill>
              <a:blip r:embed="rId4"/>
              <a:stretch>
                <a:fillRect/>
              </a:stretch>
            </p:blipFill>
            <p:spPr>
              <a:xfrm>
                <a:off x="159154" y="3138845"/>
                <a:ext cx="8775840" cy="983038"/>
              </a:xfrm>
              <a:prstGeom prst="rect">
                <a:avLst/>
              </a:prstGeom>
            </p:spPr>
          </p:pic>
          <p:sp>
            <p:nvSpPr>
              <p:cNvPr id="19" name="직사각형 18">
                <a:extLst>
                  <a:ext uri="{FF2B5EF4-FFF2-40B4-BE49-F238E27FC236}">
                    <a16:creationId xmlns:a16="http://schemas.microsoft.com/office/drawing/2014/main" id="{74613708-39BD-EEE5-6DB1-4DFB79C623C6}"/>
                  </a:ext>
                </a:extLst>
              </p:cNvPr>
              <p:cNvSpPr/>
              <p:nvPr/>
            </p:nvSpPr>
            <p:spPr>
              <a:xfrm>
                <a:off x="3850990" y="3741462"/>
                <a:ext cx="1391570" cy="19481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grpSp>
        <p:cxnSp>
          <p:nvCxnSpPr>
            <p:cNvPr id="20" name="연결선: 꺾임 19">
              <a:extLst>
                <a:ext uri="{FF2B5EF4-FFF2-40B4-BE49-F238E27FC236}">
                  <a16:creationId xmlns:a16="http://schemas.microsoft.com/office/drawing/2014/main" id="{8AF205B9-74C2-AE89-E634-AEACFCC1A957}"/>
                </a:ext>
              </a:extLst>
            </p:cNvPr>
            <p:cNvCxnSpPr>
              <a:cxnSpLocks/>
              <a:stCxn id="19" idx="1"/>
              <a:endCxn id="51" idx="0"/>
            </p:cNvCxnSpPr>
            <p:nvPr/>
          </p:nvCxnSpPr>
          <p:spPr>
            <a:xfrm rot="10800000" flipV="1">
              <a:off x="2035328" y="2300435"/>
              <a:ext cx="1815663" cy="578881"/>
            </a:xfrm>
            <a:prstGeom prst="bentConnector2">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7" name="그림 46">
              <a:extLst>
                <a:ext uri="{FF2B5EF4-FFF2-40B4-BE49-F238E27FC236}">
                  <a16:creationId xmlns:a16="http://schemas.microsoft.com/office/drawing/2014/main" id="{13DD8182-7D2E-7E75-D7D3-51A6D5E11194}"/>
                </a:ext>
              </a:extLst>
            </p:cNvPr>
            <p:cNvPicPr>
              <a:picLocks noChangeAspect="1"/>
            </p:cNvPicPr>
            <p:nvPr/>
          </p:nvPicPr>
          <p:blipFill>
            <a:blip r:embed="rId5"/>
            <a:stretch>
              <a:fillRect/>
            </a:stretch>
          </p:blipFill>
          <p:spPr>
            <a:xfrm>
              <a:off x="4950299" y="2830169"/>
              <a:ext cx="3285507" cy="1886191"/>
            </a:xfrm>
            <a:prstGeom prst="rect">
              <a:avLst/>
            </a:prstGeom>
            <a:ln w="22225">
              <a:solidFill>
                <a:srgbClr val="FF0000"/>
              </a:solidFill>
            </a:ln>
          </p:spPr>
        </p:pic>
        <p:pic>
          <p:nvPicPr>
            <p:cNvPr id="51" name="그림 50">
              <a:extLst>
                <a:ext uri="{FF2B5EF4-FFF2-40B4-BE49-F238E27FC236}">
                  <a16:creationId xmlns:a16="http://schemas.microsoft.com/office/drawing/2014/main" id="{1AA0D4D3-E3DC-AA14-763C-F1DE230E3AEA}"/>
                </a:ext>
              </a:extLst>
            </p:cNvPr>
            <p:cNvPicPr>
              <a:picLocks noChangeAspect="1"/>
            </p:cNvPicPr>
            <p:nvPr/>
          </p:nvPicPr>
          <p:blipFill>
            <a:blip r:embed="rId6"/>
            <a:stretch>
              <a:fillRect/>
            </a:stretch>
          </p:blipFill>
          <p:spPr>
            <a:xfrm>
              <a:off x="996528" y="2879317"/>
              <a:ext cx="2077598" cy="1787894"/>
            </a:xfrm>
            <a:prstGeom prst="rect">
              <a:avLst/>
            </a:prstGeom>
            <a:ln w="22225">
              <a:solidFill>
                <a:srgbClr val="FF0000"/>
              </a:solidFill>
            </a:ln>
          </p:spPr>
        </p:pic>
        <p:sp>
          <p:nvSpPr>
            <p:cNvPr id="57" name="화살표: 아래쪽 56">
              <a:extLst>
                <a:ext uri="{FF2B5EF4-FFF2-40B4-BE49-F238E27FC236}">
                  <a16:creationId xmlns:a16="http://schemas.microsoft.com/office/drawing/2014/main" id="{5158FBAC-3329-E07B-A68B-D2DF5211521F}"/>
                </a:ext>
              </a:extLst>
            </p:cNvPr>
            <p:cNvSpPr/>
            <p:nvPr/>
          </p:nvSpPr>
          <p:spPr>
            <a:xfrm rot="16200000">
              <a:off x="3293755" y="3570389"/>
              <a:ext cx="1436914" cy="548206"/>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 name="제목 1">
            <a:extLst>
              <a:ext uri="{FF2B5EF4-FFF2-40B4-BE49-F238E27FC236}">
                <a16:creationId xmlns:a16="http://schemas.microsoft.com/office/drawing/2014/main" id="{3677FB34-3D6C-2897-AA5D-31D6FD1CFA49}"/>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Process Flow for Groupware Document (Purchase)</a:t>
            </a:r>
          </a:p>
        </p:txBody>
      </p:sp>
    </p:spTree>
    <p:extLst>
      <p:ext uri="{BB962C8B-B14F-4D97-AF65-F5344CB8AC3E}">
        <p14:creationId xmlns:p14="http://schemas.microsoft.com/office/powerpoint/2010/main" val="1707327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50478-4DD9-EABF-1815-A6F968B0C419}"/>
            </a:ext>
          </a:extLst>
        </p:cNvPr>
        <p:cNvGrpSpPr/>
        <p:nvPr/>
      </p:nvGrpSpPr>
      <p:grpSpPr>
        <a:xfrm>
          <a:off x="0" y="0"/>
          <a:ext cx="0" cy="0"/>
          <a:chOff x="0" y="0"/>
          <a:chExt cx="0" cy="0"/>
        </a:xfrm>
      </p:grpSpPr>
      <p:sp>
        <p:nvSpPr>
          <p:cNvPr id="6" name="Google Shape;100;p7">
            <a:extLst>
              <a:ext uri="{FF2B5EF4-FFF2-40B4-BE49-F238E27FC236}">
                <a16:creationId xmlns:a16="http://schemas.microsoft.com/office/drawing/2014/main" id="{4EF6C17B-BA60-2EA3-A80C-7D6CB3BB5DF4}"/>
              </a:ext>
            </a:extLst>
          </p:cNvPr>
          <p:cNvSpPr/>
          <p:nvPr/>
        </p:nvSpPr>
        <p:spPr>
          <a:xfrm>
            <a:off x="159154" y="789126"/>
            <a:ext cx="7115025"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dirty="0">
                <a:solidFill>
                  <a:schemeClr val="tx1"/>
                </a:solidFill>
                <a:highlight>
                  <a:srgbClr val="FFFF00"/>
                </a:highlight>
                <a:latin typeface="+mn-ea"/>
                <a:ea typeface="+mn-ea"/>
                <a:cs typeface="Calibri"/>
                <a:sym typeface="Calibri"/>
              </a:rPr>
              <a:t>Return Product Document (Electronic document - Purchase )</a:t>
            </a:r>
            <a:endParaRPr lang="en-US" sz="1200" b="1" i="0" u="none" strike="noStrike" cap="none" dirty="0">
              <a:solidFill>
                <a:schemeClr val="tx1"/>
              </a:solidFill>
              <a:highlight>
                <a:srgbClr val="FFFF00"/>
              </a:highlight>
              <a:latin typeface="+mn-ea"/>
              <a:ea typeface="+mn-ea"/>
              <a:cs typeface="Calibri"/>
              <a:sym typeface="Calibri"/>
            </a:endParaRPr>
          </a:p>
        </p:txBody>
      </p:sp>
      <p:sp>
        <p:nvSpPr>
          <p:cNvPr id="7" name="TextBox 6">
            <a:extLst>
              <a:ext uri="{FF2B5EF4-FFF2-40B4-BE49-F238E27FC236}">
                <a16:creationId xmlns:a16="http://schemas.microsoft.com/office/drawing/2014/main" id="{A9138959-7EE5-94D1-AEEB-4BC658FAA557}"/>
              </a:ext>
            </a:extLst>
          </p:cNvPr>
          <p:cNvSpPr txBox="1"/>
          <p:nvPr/>
        </p:nvSpPr>
        <p:spPr>
          <a:xfrm>
            <a:off x="159154" y="1194822"/>
            <a:ext cx="4576354" cy="307777"/>
          </a:xfrm>
          <a:prstGeom prst="rect">
            <a:avLst/>
          </a:prstGeom>
          <a:noFill/>
        </p:spPr>
        <p:txBody>
          <a:bodyPr wrap="square">
            <a:spAutoFit/>
          </a:bodyPr>
          <a:lstStyle/>
          <a:p>
            <a:r>
              <a:rPr lang="vi-VN" altLang="ko-KR" b="1" dirty="0"/>
              <a:t>Thông tin đơn đặt hàng đã đăng ký trước đó</a:t>
            </a:r>
            <a:endParaRPr lang="ko-KR" altLang="en-US" b="1" dirty="0"/>
          </a:p>
        </p:txBody>
      </p:sp>
      <p:grpSp>
        <p:nvGrpSpPr>
          <p:cNvPr id="28" name="그룹 27">
            <a:extLst>
              <a:ext uri="{FF2B5EF4-FFF2-40B4-BE49-F238E27FC236}">
                <a16:creationId xmlns:a16="http://schemas.microsoft.com/office/drawing/2014/main" id="{CCCD58A0-F03C-9BD8-5846-C7354C5E8976}"/>
              </a:ext>
            </a:extLst>
          </p:cNvPr>
          <p:cNvGrpSpPr/>
          <p:nvPr/>
        </p:nvGrpSpPr>
        <p:grpSpPr>
          <a:xfrm>
            <a:off x="243084" y="1520985"/>
            <a:ext cx="8604825" cy="1081419"/>
            <a:chOff x="243084" y="1699989"/>
            <a:chExt cx="8604825" cy="1081419"/>
          </a:xfrm>
        </p:grpSpPr>
        <p:pic>
          <p:nvPicPr>
            <p:cNvPr id="22" name="그림 21">
              <a:extLst>
                <a:ext uri="{FF2B5EF4-FFF2-40B4-BE49-F238E27FC236}">
                  <a16:creationId xmlns:a16="http://schemas.microsoft.com/office/drawing/2014/main" id="{5ADDC030-B767-D46F-D860-4282D9E6610D}"/>
                </a:ext>
              </a:extLst>
            </p:cNvPr>
            <p:cNvPicPr>
              <a:picLocks noChangeAspect="1"/>
            </p:cNvPicPr>
            <p:nvPr/>
          </p:nvPicPr>
          <p:blipFill>
            <a:blip r:embed="rId3"/>
            <a:stretch>
              <a:fillRect/>
            </a:stretch>
          </p:blipFill>
          <p:spPr>
            <a:xfrm>
              <a:off x="243084" y="1699989"/>
              <a:ext cx="8604825" cy="1081419"/>
            </a:xfrm>
            <a:prstGeom prst="rect">
              <a:avLst/>
            </a:prstGeom>
          </p:spPr>
        </p:pic>
        <p:sp>
          <p:nvSpPr>
            <p:cNvPr id="8" name="직사각형 7">
              <a:extLst>
                <a:ext uri="{FF2B5EF4-FFF2-40B4-BE49-F238E27FC236}">
                  <a16:creationId xmlns:a16="http://schemas.microsoft.com/office/drawing/2014/main" id="{7B06BF7A-9274-C70C-F52D-CF30725D5A44}"/>
                </a:ext>
              </a:extLst>
            </p:cNvPr>
            <p:cNvSpPr/>
            <p:nvPr/>
          </p:nvSpPr>
          <p:spPr>
            <a:xfrm>
              <a:off x="4254903" y="2438280"/>
              <a:ext cx="587064" cy="24206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grpSp>
      <p:cxnSp>
        <p:nvCxnSpPr>
          <p:cNvPr id="23" name="연결선: 꺾임 22">
            <a:extLst>
              <a:ext uri="{FF2B5EF4-FFF2-40B4-BE49-F238E27FC236}">
                <a16:creationId xmlns:a16="http://schemas.microsoft.com/office/drawing/2014/main" id="{A6589BD9-83C8-D2D9-639A-6937D5F3FD48}"/>
              </a:ext>
            </a:extLst>
          </p:cNvPr>
          <p:cNvCxnSpPr>
            <a:cxnSpLocks/>
            <a:stCxn id="8" idx="1"/>
            <a:endCxn id="27" idx="0"/>
          </p:cNvCxnSpPr>
          <p:nvPr/>
        </p:nvCxnSpPr>
        <p:spPr>
          <a:xfrm rot="10800000" flipV="1">
            <a:off x="3716667" y="2380309"/>
            <a:ext cx="538237" cy="264430"/>
          </a:xfrm>
          <a:prstGeom prst="bentConnector2">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7" name="그림 26">
            <a:extLst>
              <a:ext uri="{FF2B5EF4-FFF2-40B4-BE49-F238E27FC236}">
                <a16:creationId xmlns:a16="http://schemas.microsoft.com/office/drawing/2014/main" id="{5A52E056-C77F-F5C1-C95F-9997753396EA}"/>
              </a:ext>
            </a:extLst>
          </p:cNvPr>
          <p:cNvPicPr>
            <a:picLocks noChangeAspect="1"/>
          </p:cNvPicPr>
          <p:nvPr/>
        </p:nvPicPr>
        <p:blipFill>
          <a:blip r:embed="rId4"/>
          <a:stretch>
            <a:fillRect/>
          </a:stretch>
        </p:blipFill>
        <p:spPr>
          <a:xfrm>
            <a:off x="1125866" y="2644739"/>
            <a:ext cx="5181600" cy="1658774"/>
          </a:xfrm>
          <a:prstGeom prst="rect">
            <a:avLst/>
          </a:prstGeom>
          <a:ln w="25400">
            <a:solidFill>
              <a:srgbClr val="FF0000"/>
            </a:solidFill>
          </a:ln>
        </p:spPr>
      </p:pic>
      <p:sp>
        <p:nvSpPr>
          <p:cNvPr id="31" name="화살표: 아래쪽 30">
            <a:extLst>
              <a:ext uri="{FF2B5EF4-FFF2-40B4-BE49-F238E27FC236}">
                <a16:creationId xmlns:a16="http://schemas.microsoft.com/office/drawing/2014/main" id="{528A171A-312D-D582-2E68-BD4FA96EED2C}"/>
              </a:ext>
            </a:extLst>
          </p:cNvPr>
          <p:cNvSpPr/>
          <p:nvPr/>
        </p:nvSpPr>
        <p:spPr>
          <a:xfrm>
            <a:off x="2817989" y="4460484"/>
            <a:ext cx="1436914" cy="181185"/>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3" name="그림 32">
            <a:extLst>
              <a:ext uri="{FF2B5EF4-FFF2-40B4-BE49-F238E27FC236}">
                <a16:creationId xmlns:a16="http://schemas.microsoft.com/office/drawing/2014/main" id="{2B539C35-2774-AD3B-97D4-85058D90572C}"/>
              </a:ext>
            </a:extLst>
          </p:cNvPr>
          <p:cNvPicPr>
            <a:picLocks noChangeAspect="1"/>
          </p:cNvPicPr>
          <p:nvPr/>
        </p:nvPicPr>
        <p:blipFill>
          <a:blip r:embed="rId5"/>
          <a:stretch>
            <a:fillRect/>
          </a:stretch>
        </p:blipFill>
        <p:spPr>
          <a:xfrm>
            <a:off x="1110343" y="4798640"/>
            <a:ext cx="6923314" cy="1435376"/>
          </a:xfrm>
          <a:prstGeom prst="rect">
            <a:avLst/>
          </a:prstGeom>
          <a:ln w="22225">
            <a:solidFill>
              <a:srgbClr val="FF0000"/>
            </a:solidFill>
          </a:ln>
        </p:spPr>
      </p:pic>
      <p:sp>
        <p:nvSpPr>
          <p:cNvPr id="35" name="TextBox 34">
            <a:extLst>
              <a:ext uri="{FF2B5EF4-FFF2-40B4-BE49-F238E27FC236}">
                <a16:creationId xmlns:a16="http://schemas.microsoft.com/office/drawing/2014/main" id="{EAA54C23-85B8-979E-6334-C9882121E039}"/>
              </a:ext>
            </a:extLst>
          </p:cNvPr>
          <p:cNvSpPr txBox="1"/>
          <p:nvPr/>
        </p:nvSpPr>
        <p:spPr>
          <a:xfrm>
            <a:off x="1110343" y="6421366"/>
            <a:ext cx="4576354" cy="307777"/>
          </a:xfrm>
          <a:prstGeom prst="rect">
            <a:avLst/>
          </a:prstGeom>
          <a:noFill/>
        </p:spPr>
        <p:txBody>
          <a:bodyPr wrap="square">
            <a:spAutoFit/>
          </a:bodyPr>
          <a:lstStyle/>
          <a:p>
            <a:r>
              <a:rPr lang="en-US" altLang="ko-KR" b="1" dirty="0" err="1"/>
              <a:t>Chọn</a:t>
            </a:r>
            <a:r>
              <a:rPr lang="en-US" altLang="ko-KR" b="1" dirty="0"/>
              <a:t> </a:t>
            </a:r>
            <a:r>
              <a:rPr lang="en-US" altLang="ko-KR" b="1" dirty="0" err="1"/>
              <a:t>mặt</a:t>
            </a:r>
            <a:r>
              <a:rPr lang="en-US" altLang="ko-KR" b="1" dirty="0"/>
              <a:t> </a:t>
            </a:r>
            <a:r>
              <a:rPr lang="en-US" altLang="ko-KR" b="1" dirty="0" err="1"/>
              <a:t>hàng</a:t>
            </a:r>
            <a:r>
              <a:rPr lang="en-US" altLang="ko-KR" b="1" dirty="0"/>
              <a:t> </a:t>
            </a:r>
            <a:r>
              <a:rPr lang="en-US" altLang="ko-KR" b="1" dirty="0" err="1"/>
              <a:t>muốn</a:t>
            </a:r>
            <a:r>
              <a:rPr lang="en-US" altLang="ko-KR" b="1" dirty="0"/>
              <a:t> </a:t>
            </a:r>
            <a:r>
              <a:rPr lang="en-US" altLang="ko-KR" b="1" dirty="0" err="1"/>
              <a:t>trả</a:t>
            </a:r>
            <a:r>
              <a:rPr lang="en-US" altLang="ko-KR" b="1" dirty="0"/>
              <a:t> </a:t>
            </a:r>
            <a:r>
              <a:rPr lang="en-US" altLang="ko-KR" b="1" dirty="0" err="1"/>
              <a:t>lại</a:t>
            </a:r>
            <a:r>
              <a:rPr lang="en-US" altLang="ko-KR" b="1" dirty="0"/>
              <a:t> </a:t>
            </a:r>
            <a:r>
              <a:rPr lang="en-US" altLang="ko-KR" b="1" dirty="0" err="1"/>
              <a:t>và</a:t>
            </a:r>
            <a:r>
              <a:rPr lang="en-US" altLang="ko-KR" b="1" dirty="0"/>
              <a:t> </a:t>
            </a:r>
            <a:r>
              <a:rPr lang="en-US" altLang="ko-KR" b="1" dirty="0" err="1"/>
              <a:t>điền</a:t>
            </a:r>
            <a:r>
              <a:rPr lang="en-US" altLang="ko-KR" b="1" dirty="0"/>
              <a:t> </a:t>
            </a:r>
            <a:r>
              <a:rPr lang="en-US" altLang="ko-KR" b="1" dirty="0" err="1"/>
              <a:t>thông</a:t>
            </a:r>
            <a:r>
              <a:rPr lang="en-US" altLang="ko-KR" b="1" dirty="0"/>
              <a:t> tin</a:t>
            </a:r>
            <a:endParaRPr lang="ko-KR" altLang="en-US" b="1" dirty="0"/>
          </a:p>
        </p:txBody>
      </p:sp>
      <p:sp>
        <p:nvSpPr>
          <p:cNvPr id="2" name="제목 1">
            <a:extLst>
              <a:ext uri="{FF2B5EF4-FFF2-40B4-BE49-F238E27FC236}">
                <a16:creationId xmlns:a16="http://schemas.microsoft.com/office/drawing/2014/main" id="{124CAB06-0B3D-C86C-2675-EC467E70E931}"/>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Process Flow for Groupware Document (Purchase)</a:t>
            </a:r>
          </a:p>
        </p:txBody>
      </p:sp>
    </p:spTree>
    <p:extLst>
      <p:ext uri="{BB962C8B-B14F-4D97-AF65-F5344CB8AC3E}">
        <p14:creationId xmlns:p14="http://schemas.microsoft.com/office/powerpoint/2010/main" val="79443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E4548-66DC-9DF4-52E1-ECB18C7A8492}"/>
            </a:ext>
          </a:extLst>
        </p:cNvPr>
        <p:cNvGrpSpPr/>
        <p:nvPr/>
      </p:nvGrpSpPr>
      <p:grpSpPr>
        <a:xfrm>
          <a:off x="0" y="0"/>
          <a:ext cx="0" cy="0"/>
          <a:chOff x="0" y="0"/>
          <a:chExt cx="0" cy="0"/>
        </a:xfrm>
      </p:grpSpPr>
      <p:pic>
        <p:nvPicPr>
          <p:cNvPr id="33" name="그림 32">
            <a:extLst>
              <a:ext uri="{FF2B5EF4-FFF2-40B4-BE49-F238E27FC236}">
                <a16:creationId xmlns:a16="http://schemas.microsoft.com/office/drawing/2014/main" id="{110129AC-8A0C-DFA6-E330-78183EFB52DD}"/>
              </a:ext>
            </a:extLst>
          </p:cNvPr>
          <p:cNvPicPr>
            <a:picLocks noChangeAspect="1"/>
          </p:cNvPicPr>
          <p:nvPr/>
        </p:nvPicPr>
        <p:blipFill>
          <a:blip r:embed="rId3"/>
          <a:stretch>
            <a:fillRect/>
          </a:stretch>
        </p:blipFill>
        <p:spPr>
          <a:xfrm>
            <a:off x="358281" y="1569781"/>
            <a:ext cx="8427437" cy="1435376"/>
          </a:xfrm>
          <a:prstGeom prst="rect">
            <a:avLst/>
          </a:prstGeom>
          <a:ln w="22225">
            <a:noFill/>
          </a:ln>
        </p:spPr>
      </p:pic>
      <p:sp>
        <p:nvSpPr>
          <p:cNvPr id="6" name="Google Shape;100;p7">
            <a:extLst>
              <a:ext uri="{FF2B5EF4-FFF2-40B4-BE49-F238E27FC236}">
                <a16:creationId xmlns:a16="http://schemas.microsoft.com/office/drawing/2014/main" id="{38898E36-99C4-547D-86A3-FDC6B8E3036B}"/>
              </a:ext>
            </a:extLst>
          </p:cNvPr>
          <p:cNvSpPr/>
          <p:nvPr/>
        </p:nvSpPr>
        <p:spPr>
          <a:xfrm>
            <a:off x="159154" y="789126"/>
            <a:ext cx="7115025"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dirty="0">
                <a:solidFill>
                  <a:schemeClr val="tx1"/>
                </a:solidFill>
                <a:highlight>
                  <a:srgbClr val="FFFF00"/>
                </a:highlight>
                <a:latin typeface="+mn-ea"/>
                <a:ea typeface="+mn-ea"/>
                <a:cs typeface="Calibri"/>
                <a:sym typeface="Calibri"/>
              </a:rPr>
              <a:t>Return Product Document (Electronic document - Purchase )</a:t>
            </a:r>
            <a:endParaRPr lang="en-US" sz="1200" b="1" i="0" u="none" strike="noStrike" cap="none" dirty="0">
              <a:solidFill>
                <a:schemeClr val="tx1"/>
              </a:solidFill>
              <a:highlight>
                <a:srgbClr val="FFFF00"/>
              </a:highlight>
              <a:latin typeface="+mn-ea"/>
              <a:ea typeface="+mn-ea"/>
              <a:cs typeface="Calibri"/>
              <a:sym typeface="Calibri"/>
            </a:endParaRPr>
          </a:p>
        </p:txBody>
      </p:sp>
      <p:sp>
        <p:nvSpPr>
          <p:cNvPr id="7" name="TextBox 6">
            <a:extLst>
              <a:ext uri="{FF2B5EF4-FFF2-40B4-BE49-F238E27FC236}">
                <a16:creationId xmlns:a16="http://schemas.microsoft.com/office/drawing/2014/main" id="{63B81B8C-5FFF-FBD1-8E3C-146503F3E1CB}"/>
              </a:ext>
            </a:extLst>
          </p:cNvPr>
          <p:cNvSpPr txBox="1"/>
          <p:nvPr/>
        </p:nvSpPr>
        <p:spPr>
          <a:xfrm>
            <a:off x="159154" y="1194822"/>
            <a:ext cx="4576354" cy="307777"/>
          </a:xfrm>
          <a:prstGeom prst="rect">
            <a:avLst/>
          </a:prstGeom>
          <a:noFill/>
        </p:spPr>
        <p:txBody>
          <a:bodyPr wrap="square">
            <a:spAutoFit/>
          </a:bodyPr>
          <a:lstStyle/>
          <a:p>
            <a:r>
              <a:rPr lang="vi-VN" altLang="ko-KR" b="1" dirty="0"/>
              <a:t>Thông tin đơn đặt hàng đã đăng ký trước đó</a:t>
            </a:r>
            <a:endParaRPr lang="ko-KR" altLang="en-US" b="1" dirty="0"/>
          </a:p>
        </p:txBody>
      </p:sp>
      <p:sp>
        <p:nvSpPr>
          <p:cNvPr id="8" name="직사각형 7">
            <a:extLst>
              <a:ext uri="{FF2B5EF4-FFF2-40B4-BE49-F238E27FC236}">
                <a16:creationId xmlns:a16="http://schemas.microsoft.com/office/drawing/2014/main" id="{AF6BE1C9-A245-BF89-241A-60047A75BE6C}"/>
              </a:ext>
            </a:extLst>
          </p:cNvPr>
          <p:cNvSpPr/>
          <p:nvPr/>
        </p:nvSpPr>
        <p:spPr>
          <a:xfrm>
            <a:off x="7999488" y="2128784"/>
            <a:ext cx="378158" cy="5534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cxnSp>
        <p:nvCxnSpPr>
          <p:cNvPr id="23" name="연결선: 꺾임 22">
            <a:extLst>
              <a:ext uri="{FF2B5EF4-FFF2-40B4-BE49-F238E27FC236}">
                <a16:creationId xmlns:a16="http://schemas.microsoft.com/office/drawing/2014/main" id="{5C57D2E3-FE88-27A3-4E6B-49016285CE13}"/>
              </a:ext>
            </a:extLst>
          </p:cNvPr>
          <p:cNvCxnSpPr>
            <a:cxnSpLocks/>
            <a:stCxn id="8" idx="1"/>
          </p:cNvCxnSpPr>
          <p:nvPr/>
        </p:nvCxnSpPr>
        <p:spPr>
          <a:xfrm rot="10800000" flipV="1">
            <a:off x="3526972" y="2405511"/>
            <a:ext cx="4472516" cy="1118287"/>
          </a:xfrm>
          <a:prstGeom prst="bentConnector3">
            <a:avLst>
              <a:gd name="adj1" fmla="val 50000"/>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 name="그림 4">
            <a:extLst>
              <a:ext uri="{FF2B5EF4-FFF2-40B4-BE49-F238E27FC236}">
                <a16:creationId xmlns:a16="http://schemas.microsoft.com/office/drawing/2014/main" id="{E01BB2EC-F6F9-0C73-4545-5EF0E21CA0EC}"/>
              </a:ext>
            </a:extLst>
          </p:cNvPr>
          <p:cNvPicPr>
            <a:picLocks noChangeAspect="1"/>
          </p:cNvPicPr>
          <p:nvPr/>
        </p:nvPicPr>
        <p:blipFill>
          <a:blip r:embed="rId4"/>
          <a:stretch>
            <a:fillRect/>
          </a:stretch>
        </p:blipFill>
        <p:spPr>
          <a:xfrm>
            <a:off x="773013" y="3189034"/>
            <a:ext cx="2753959" cy="2172081"/>
          </a:xfrm>
          <a:prstGeom prst="rect">
            <a:avLst/>
          </a:prstGeom>
          <a:ln w="22225">
            <a:solidFill>
              <a:srgbClr val="FF0000"/>
            </a:solidFill>
          </a:ln>
        </p:spPr>
      </p:pic>
      <p:sp>
        <p:nvSpPr>
          <p:cNvPr id="10" name="TextBox 9">
            <a:extLst>
              <a:ext uri="{FF2B5EF4-FFF2-40B4-BE49-F238E27FC236}">
                <a16:creationId xmlns:a16="http://schemas.microsoft.com/office/drawing/2014/main" id="{4D230B19-0F2D-A967-2653-8C1CA9433C92}"/>
              </a:ext>
            </a:extLst>
          </p:cNvPr>
          <p:cNvSpPr txBox="1"/>
          <p:nvPr/>
        </p:nvSpPr>
        <p:spPr>
          <a:xfrm>
            <a:off x="3716666" y="3900116"/>
            <a:ext cx="4576354" cy="307777"/>
          </a:xfrm>
          <a:prstGeom prst="rect">
            <a:avLst/>
          </a:prstGeom>
          <a:noFill/>
        </p:spPr>
        <p:txBody>
          <a:bodyPr wrap="square">
            <a:spAutoFit/>
          </a:bodyPr>
          <a:lstStyle/>
          <a:p>
            <a:r>
              <a:rPr lang="en-US" altLang="ko-KR" b="1" dirty="0" err="1"/>
              <a:t>Có</a:t>
            </a:r>
            <a:r>
              <a:rPr lang="en-US" altLang="ko-KR" b="1" dirty="0"/>
              <a:t> </a:t>
            </a:r>
            <a:r>
              <a:rPr lang="en-US" altLang="ko-KR" b="1" dirty="0" err="1"/>
              <a:t>thể</a:t>
            </a:r>
            <a:r>
              <a:rPr lang="en-US" altLang="ko-KR" b="1" dirty="0"/>
              <a:t> </a:t>
            </a:r>
            <a:r>
              <a:rPr lang="en-US" altLang="ko-KR" b="1" dirty="0" err="1"/>
              <a:t>chọn</a:t>
            </a:r>
            <a:r>
              <a:rPr lang="en-US" altLang="ko-KR" b="1" dirty="0"/>
              <a:t> LOT </a:t>
            </a:r>
            <a:r>
              <a:rPr lang="en-US" altLang="ko-KR" b="1" dirty="0" err="1"/>
              <a:t>của</a:t>
            </a:r>
            <a:r>
              <a:rPr lang="en-US" altLang="ko-KR" b="1" dirty="0"/>
              <a:t> </a:t>
            </a:r>
            <a:r>
              <a:rPr lang="en-US" altLang="ko-KR" b="1" dirty="0" err="1"/>
              <a:t>mặt</a:t>
            </a:r>
            <a:r>
              <a:rPr lang="en-US" altLang="ko-KR" b="1" dirty="0"/>
              <a:t> </a:t>
            </a:r>
            <a:r>
              <a:rPr lang="en-US" altLang="ko-KR" b="1" dirty="0" err="1"/>
              <a:t>hàng</a:t>
            </a:r>
            <a:r>
              <a:rPr lang="en-US" altLang="ko-KR" b="1" dirty="0"/>
              <a:t> </a:t>
            </a:r>
            <a:r>
              <a:rPr lang="en-US" altLang="ko-KR" b="1" dirty="0" err="1"/>
              <a:t>muốn</a:t>
            </a:r>
            <a:r>
              <a:rPr lang="en-US" altLang="ko-KR" b="1" dirty="0"/>
              <a:t> </a:t>
            </a:r>
            <a:r>
              <a:rPr lang="en-US" altLang="ko-KR" b="1" dirty="0" err="1"/>
              <a:t>trả</a:t>
            </a:r>
            <a:r>
              <a:rPr lang="en-US" altLang="ko-KR" b="1" dirty="0"/>
              <a:t> </a:t>
            </a:r>
            <a:r>
              <a:rPr lang="en-US" altLang="ko-KR" b="1" dirty="0" err="1"/>
              <a:t>lại</a:t>
            </a:r>
            <a:endParaRPr lang="ko-KR" altLang="en-US" b="1" dirty="0"/>
          </a:p>
        </p:txBody>
      </p:sp>
      <p:sp>
        <p:nvSpPr>
          <p:cNvPr id="12" name="TextBox 11">
            <a:extLst>
              <a:ext uri="{FF2B5EF4-FFF2-40B4-BE49-F238E27FC236}">
                <a16:creationId xmlns:a16="http://schemas.microsoft.com/office/drawing/2014/main" id="{AD68D774-2843-33BE-BFEE-F2C4224F3CD3}"/>
              </a:ext>
            </a:extLst>
          </p:cNvPr>
          <p:cNvSpPr txBox="1"/>
          <p:nvPr/>
        </p:nvSpPr>
        <p:spPr>
          <a:xfrm>
            <a:off x="773013" y="5914985"/>
            <a:ext cx="7691718" cy="523220"/>
          </a:xfrm>
          <a:prstGeom prst="rect">
            <a:avLst/>
          </a:prstGeom>
          <a:noFill/>
        </p:spPr>
        <p:txBody>
          <a:bodyPr wrap="square">
            <a:spAutoFit/>
          </a:bodyPr>
          <a:lstStyle/>
          <a:p>
            <a:pPr algn="ctr"/>
            <a:r>
              <a:rPr lang="vi-VN" altLang="ko-KR" b="1" dirty="0">
                <a:solidFill>
                  <a:srgbClr val="FF0000"/>
                </a:solidFill>
              </a:rPr>
              <a:t>Đối với LOT trả lại, sẽ được xử lý chuyển vào kho lỗi trong MES.</a:t>
            </a:r>
            <a:br>
              <a:rPr lang="en-US" altLang="ko-KR" b="1" dirty="0">
                <a:solidFill>
                  <a:srgbClr val="FF0000"/>
                </a:solidFill>
              </a:rPr>
            </a:br>
            <a:r>
              <a:rPr lang="vi-VN" altLang="ko-KR" b="1" dirty="0">
                <a:solidFill>
                  <a:srgbClr val="FF0000"/>
                </a:solidFill>
              </a:rPr>
              <a:t>Xử lý liên quan đến việc trả lại trong ERP sẽ được tự động đăng ký.</a:t>
            </a:r>
            <a:endParaRPr lang="ko-KR" altLang="en-US" b="1" dirty="0">
              <a:solidFill>
                <a:srgbClr val="FF0000"/>
              </a:solidFill>
            </a:endParaRPr>
          </a:p>
        </p:txBody>
      </p:sp>
      <p:sp>
        <p:nvSpPr>
          <p:cNvPr id="2" name="제목 1">
            <a:extLst>
              <a:ext uri="{FF2B5EF4-FFF2-40B4-BE49-F238E27FC236}">
                <a16:creationId xmlns:a16="http://schemas.microsoft.com/office/drawing/2014/main" id="{95160D84-9FAB-9DA9-6E80-FC92583EA5D2}"/>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Process Flow for Groupware Document (Purchase)</a:t>
            </a:r>
          </a:p>
        </p:txBody>
      </p:sp>
    </p:spTree>
    <p:extLst>
      <p:ext uri="{BB962C8B-B14F-4D97-AF65-F5344CB8AC3E}">
        <p14:creationId xmlns:p14="http://schemas.microsoft.com/office/powerpoint/2010/main" val="3006032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05B5C-76F7-B486-B803-A00B34E1FACE}"/>
            </a:ext>
          </a:extLst>
        </p:cNvPr>
        <p:cNvGrpSpPr/>
        <p:nvPr/>
      </p:nvGrpSpPr>
      <p:grpSpPr>
        <a:xfrm>
          <a:off x="0" y="0"/>
          <a:ext cx="0" cy="0"/>
          <a:chOff x="0" y="0"/>
          <a:chExt cx="0" cy="0"/>
        </a:xfrm>
      </p:grpSpPr>
      <p:pic>
        <p:nvPicPr>
          <p:cNvPr id="5" name="그림 4">
            <a:extLst>
              <a:ext uri="{FF2B5EF4-FFF2-40B4-BE49-F238E27FC236}">
                <a16:creationId xmlns:a16="http://schemas.microsoft.com/office/drawing/2014/main" id="{73746A09-592D-3665-A9CD-C41A7A8B77E6}"/>
              </a:ext>
            </a:extLst>
          </p:cNvPr>
          <p:cNvPicPr>
            <a:picLocks noChangeAspect="1"/>
          </p:cNvPicPr>
          <p:nvPr/>
        </p:nvPicPr>
        <p:blipFill>
          <a:blip r:embed="rId3"/>
          <a:stretch>
            <a:fillRect/>
          </a:stretch>
        </p:blipFill>
        <p:spPr>
          <a:xfrm>
            <a:off x="159154" y="1417533"/>
            <a:ext cx="8723589" cy="2811300"/>
          </a:xfrm>
          <a:prstGeom prst="rect">
            <a:avLst/>
          </a:prstGeom>
        </p:spPr>
      </p:pic>
      <p:sp>
        <p:nvSpPr>
          <p:cNvPr id="6" name="Google Shape;100;p7">
            <a:extLst>
              <a:ext uri="{FF2B5EF4-FFF2-40B4-BE49-F238E27FC236}">
                <a16:creationId xmlns:a16="http://schemas.microsoft.com/office/drawing/2014/main" id="{49C7B335-BAFB-3AD6-EDFD-DA34FA8B49D4}"/>
              </a:ext>
            </a:extLst>
          </p:cNvPr>
          <p:cNvSpPr/>
          <p:nvPr/>
        </p:nvSpPr>
        <p:spPr>
          <a:xfrm>
            <a:off x="159154" y="789126"/>
            <a:ext cx="7115025"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dirty="0">
                <a:solidFill>
                  <a:schemeClr val="tx1"/>
                </a:solidFill>
                <a:highlight>
                  <a:srgbClr val="FFFF00"/>
                </a:highlight>
                <a:latin typeface="+mn-ea"/>
                <a:ea typeface="+mn-ea"/>
                <a:cs typeface="Calibri"/>
                <a:sym typeface="Calibri"/>
              </a:rPr>
              <a:t>Return Product Document (Electronic document - Purchase )</a:t>
            </a:r>
            <a:endParaRPr lang="en-US" sz="1200" b="1" i="0" u="none" strike="noStrike" cap="none" dirty="0">
              <a:solidFill>
                <a:schemeClr val="tx1"/>
              </a:solidFill>
              <a:highlight>
                <a:srgbClr val="FFFF00"/>
              </a:highlight>
              <a:latin typeface="+mn-ea"/>
              <a:ea typeface="+mn-ea"/>
              <a:cs typeface="Calibri"/>
              <a:sym typeface="Calibri"/>
            </a:endParaRPr>
          </a:p>
        </p:txBody>
      </p:sp>
      <p:sp>
        <p:nvSpPr>
          <p:cNvPr id="7" name="TextBox 6">
            <a:extLst>
              <a:ext uri="{FF2B5EF4-FFF2-40B4-BE49-F238E27FC236}">
                <a16:creationId xmlns:a16="http://schemas.microsoft.com/office/drawing/2014/main" id="{E4B7C5A3-CFC0-C56B-50C9-AE85A831746B}"/>
              </a:ext>
            </a:extLst>
          </p:cNvPr>
          <p:cNvSpPr txBox="1"/>
          <p:nvPr/>
        </p:nvSpPr>
        <p:spPr>
          <a:xfrm>
            <a:off x="159154" y="1194822"/>
            <a:ext cx="4576354" cy="307777"/>
          </a:xfrm>
          <a:prstGeom prst="rect">
            <a:avLst/>
          </a:prstGeom>
          <a:noFill/>
        </p:spPr>
        <p:txBody>
          <a:bodyPr wrap="square">
            <a:spAutoFit/>
          </a:bodyPr>
          <a:lstStyle/>
          <a:p>
            <a:r>
              <a:rPr lang="vi-VN" altLang="ko-KR" b="1" dirty="0"/>
              <a:t>Thông tin đơn đặt hàng đã đăng ký trước đó</a:t>
            </a:r>
            <a:endParaRPr lang="ko-KR" altLang="en-US" b="1" dirty="0"/>
          </a:p>
        </p:txBody>
      </p:sp>
      <p:sp>
        <p:nvSpPr>
          <p:cNvPr id="8" name="직사각형 7">
            <a:extLst>
              <a:ext uri="{FF2B5EF4-FFF2-40B4-BE49-F238E27FC236}">
                <a16:creationId xmlns:a16="http://schemas.microsoft.com/office/drawing/2014/main" id="{4499CFEE-BEFE-FF47-7993-4E924A617318}"/>
              </a:ext>
            </a:extLst>
          </p:cNvPr>
          <p:cNvSpPr/>
          <p:nvPr/>
        </p:nvSpPr>
        <p:spPr>
          <a:xfrm>
            <a:off x="376758" y="3670036"/>
            <a:ext cx="1556545" cy="24206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9" name="타원 8">
            <a:extLst>
              <a:ext uri="{FF2B5EF4-FFF2-40B4-BE49-F238E27FC236}">
                <a16:creationId xmlns:a16="http://schemas.microsoft.com/office/drawing/2014/main" id="{531429A2-1552-D36A-65E8-ED1EB8A85FD8}"/>
              </a:ext>
            </a:extLst>
          </p:cNvPr>
          <p:cNvSpPr/>
          <p:nvPr/>
        </p:nvSpPr>
        <p:spPr>
          <a:xfrm>
            <a:off x="332125" y="3608299"/>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1</a:t>
            </a:r>
            <a:endParaRPr lang="ko-KR" altLang="en-US" sz="900" dirty="0"/>
          </a:p>
        </p:txBody>
      </p:sp>
      <p:sp>
        <p:nvSpPr>
          <p:cNvPr id="10" name="직사각형 9">
            <a:extLst>
              <a:ext uri="{FF2B5EF4-FFF2-40B4-BE49-F238E27FC236}">
                <a16:creationId xmlns:a16="http://schemas.microsoft.com/office/drawing/2014/main" id="{86F38B46-5BD6-F964-3CF5-82754D33B620}"/>
              </a:ext>
            </a:extLst>
          </p:cNvPr>
          <p:cNvSpPr/>
          <p:nvPr/>
        </p:nvSpPr>
        <p:spPr>
          <a:xfrm>
            <a:off x="2083638" y="3670036"/>
            <a:ext cx="1469459" cy="24206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11" name="타원 10">
            <a:extLst>
              <a:ext uri="{FF2B5EF4-FFF2-40B4-BE49-F238E27FC236}">
                <a16:creationId xmlns:a16="http://schemas.microsoft.com/office/drawing/2014/main" id="{09E99BAB-6680-8548-24DF-E8FBDE5B51B0}"/>
              </a:ext>
            </a:extLst>
          </p:cNvPr>
          <p:cNvSpPr/>
          <p:nvPr/>
        </p:nvSpPr>
        <p:spPr>
          <a:xfrm>
            <a:off x="2039005" y="3608299"/>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2</a:t>
            </a:r>
            <a:endParaRPr lang="ko-KR" altLang="en-US" sz="900" dirty="0"/>
          </a:p>
        </p:txBody>
      </p:sp>
      <p:sp>
        <p:nvSpPr>
          <p:cNvPr id="12" name="직사각형 11">
            <a:extLst>
              <a:ext uri="{FF2B5EF4-FFF2-40B4-BE49-F238E27FC236}">
                <a16:creationId xmlns:a16="http://schemas.microsoft.com/office/drawing/2014/main" id="{98C5FA1D-8644-CDB6-923D-4A7C6B20C76B}"/>
              </a:ext>
            </a:extLst>
          </p:cNvPr>
          <p:cNvSpPr/>
          <p:nvPr/>
        </p:nvSpPr>
        <p:spPr>
          <a:xfrm>
            <a:off x="3748065" y="3670036"/>
            <a:ext cx="1469459" cy="24206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13" name="타원 12">
            <a:extLst>
              <a:ext uri="{FF2B5EF4-FFF2-40B4-BE49-F238E27FC236}">
                <a16:creationId xmlns:a16="http://schemas.microsoft.com/office/drawing/2014/main" id="{228C892F-2FA8-27FC-6F61-D966F884C8BD}"/>
              </a:ext>
            </a:extLst>
          </p:cNvPr>
          <p:cNvSpPr/>
          <p:nvPr/>
        </p:nvSpPr>
        <p:spPr>
          <a:xfrm>
            <a:off x="3703432" y="3608299"/>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3</a:t>
            </a:r>
            <a:endParaRPr lang="ko-KR" altLang="en-US" sz="900" dirty="0"/>
          </a:p>
        </p:txBody>
      </p:sp>
      <p:sp>
        <p:nvSpPr>
          <p:cNvPr id="14" name="직사각형 13">
            <a:extLst>
              <a:ext uri="{FF2B5EF4-FFF2-40B4-BE49-F238E27FC236}">
                <a16:creationId xmlns:a16="http://schemas.microsoft.com/office/drawing/2014/main" id="{75CF8190-178F-0086-1DAC-0F07943C1416}"/>
              </a:ext>
            </a:extLst>
          </p:cNvPr>
          <p:cNvSpPr/>
          <p:nvPr/>
        </p:nvSpPr>
        <p:spPr>
          <a:xfrm>
            <a:off x="5457125" y="3670036"/>
            <a:ext cx="1469459" cy="24206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15" name="타원 14">
            <a:extLst>
              <a:ext uri="{FF2B5EF4-FFF2-40B4-BE49-F238E27FC236}">
                <a16:creationId xmlns:a16="http://schemas.microsoft.com/office/drawing/2014/main" id="{2CC45BC7-6ED6-E8EE-3FA4-A934A5F827BA}"/>
              </a:ext>
            </a:extLst>
          </p:cNvPr>
          <p:cNvSpPr/>
          <p:nvPr/>
        </p:nvSpPr>
        <p:spPr>
          <a:xfrm>
            <a:off x="5412492" y="3608299"/>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4</a:t>
            </a:r>
            <a:endParaRPr lang="ko-KR" altLang="en-US" sz="900" dirty="0"/>
          </a:p>
        </p:txBody>
      </p:sp>
      <p:sp>
        <p:nvSpPr>
          <p:cNvPr id="16" name="직사각형 15">
            <a:extLst>
              <a:ext uri="{FF2B5EF4-FFF2-40B4-BE49-F238E27FC236}">
                <a16:creationId xmlns:a16="http://schemas.microsoft.com/office/drawing/2014/main" id="{BE6FB1FF-5311-4DBA-4C83-11314D326EBE}"/>
              </a:ext>
            </a:extLst>
          </p:cNvPr>
          <p:cNvSpPr/>
          <p:nvPr/>
        </p:nvSpPr>
        <p:spPr>
          <a:xfrm>
            <a:off x="7104995" y="3670036"/>
            <a:ext cx="1469459" cy="24206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17" name="타원 16">
            <a:extLst>
              <a:ext uri="{FF2B5EF4-FFF2-40B4-BE49-F238E27FC236}">
                <a16:creationId xmlns:a16="http://schemas.microsoft.com/office/drawing/2014/main" id="{456B8C4B-A61B-B113-09A9-228B580E4385}"/>
              </a:ext>
            </a:extLst>
          </p:cNvPr>
          <p:cNvSpPr/>
          <p:nvPr/>
        </p:nvSpPr>
        <p:spPr>
          <a:xfrm>
            <a:off x="7060362" y="3608299"/>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5</a:t>
            </a:r>
            <a:endParaRPr lang="ko-KR" altLang="en-US" sz="900" dirty="0"/>
          </a:p>
        </p:txBody>
      </p:sp>
      <p:sp>
        <p:nvSpPr>
          <p:cNvPr id="18" name="TextBox 17">
            <a:extLst>
              <a:ext uri="{FF2B5EF4-FFF2-40B4-BE49-F238E27FC236}">
                <a16:creationId xmlns:a16="http://schemas.microsoft.com/office/drawing/2014/main" id="{A7518BB2-3076-42C4-18B8-50CFC25EF8A8}"/>
              </a:ext>
            </a:extLst>
          </p:cNvPr>
          <p:cNvSpPr txBox="1"/>
          <p:nvPr/>
        </p:nvSpPr>
        <p:spPr>
          <a:xfrm>
            <a:off x="243084" y="4518725"/>
            <a:ext cx="7890721" cy="1384995"/>
          </a:xfrm>
          <a:prstGeom prst="rect">
            <a:avLst/>
          </a:prstGeom>
          <a:noFill/>
        </p:spPr>
        <p:txBody>
          <a:bodyPr wrap="square" rtlCol="0">
            <a:spAutoFit/>
          </a:bodyPr>
          <a:lstStyle/>
          <a:p>
            <a:r>
              <a:rPr lang="en-US" altLang="ko-KR" dirty="0"/>
              <a:t>1) </a:t>
            </a:r>
            <a:r>
              <a:rPr lang="en-US" altLang="ko-KR" dirty="0" err="1"/>
              <a:t>Ngày</a:t>
            </a:r>
            <a:r>
              <a:rPr lang="en-US" altLang="ko-KR" dirty="0"/>
              <a:t> </a:t>
            </a:r>
            <a:r>
              <a:rPr lang="en-US" altLang="ko-KR" dirty="0" err="1"/>
              <a:t>trả</a:t>
            </a:r>
            <a:r>
              <a:rPr lang="en-US" altLang="ko-KR" dirty="0"/>
              <a:t> </a:t>
            </a:r>
            <a:r>
              <a:rPr lang="en-US" altLang="ko-KR" dirty="0" err="1"/>
              <a:t>lại</a:t>
            </a:r>
            <a:br>
              <a:rPr lang="en-US" altLang="ko-KR" dirty="0"/>
            </a:br>
            <a:r>
              <a:rPr lang="en-US" altLang="ko-KR" dirty="0"/>
              <a:t>2) </a:t>
            </a:r>
            <a:r>
              <a:rPr lang="en-US" altLang="ko-KR" dirty="0" err="1"/>
              <a:t>Chọn</a:t>
            </a:r>
            <a:r>
              <a:rPr lang="en-US" altLang="ko-KR" dirty="0"/>
              <a:t> </a:t>
            </a:r>
            <a:r>
              <a:rPr lang="en-US" altLang="ko-KR" dirty="0" err="1"/>
              <a:t>loại</a:t>
            </a:r>
            <a:r>
              <a:rPr lang="en-US" altLang="ko-KR" dirty="0"/>
              <a:t> </a:t>
            </a:r>
            <a:r>
              <a:rPr lang="en-US" altLang="ko-KR" dirty="0" err="1"/>
              <a:t>hình</a:t>
            </a:r>
            <a:r>
              <a:rPr lang="en-US" altLang="ko-KR" dirty="0"/>
              <a:t> </a:t>
            </a:r>
            <a:r>
              <a:rPr lang="en-US" altLang="ko-KR" dirty="0" err="1"/>
              <a:t>trả</a:t>
            </a:r>
            <a:r>
              <a:rPr lang="en-US" altLang="ko-KR" dirty="0"/>
              <a:t> </a:t>
            </a:r>
            <a:r>
              <a:rPr lang="en-US" altLang="ko-KR" dirty="0" err="1"/>
              <a:t>lại</a:t>
            </a:r>
            <a:br>
              <a:rPr lang="en-US" altLang="ko-KR" dirty="0"/>
            </a:br>
            <a:r>
              <a:rPr lang="en-US" altLang="ko-KR" dirty="0"/>
              <a:t>3) </a:t>
            </a:r>
            <a:r>
              <a:rPr lang="en-US" altLang="ko-KR" dirty="0" err="1"/>
              <a:t>Chọn</a:t>
            </a:r>
            <a:r>
              <a:rPr lang="en-US" altLang="ko-KR" dirty="0"/>
              <a:t> </a:t>
            </a:r>
            <a:r>
              <a:rPr lang="en-US" altLang="ko-KR" dirty="0" err="1"/>
              <a:t>xem</a:t>
            </a:r>
            <a:r>
              <a:rPr lang="en-US" altLang="ko-KR" dirty="0"/>
              <a:t> </a:t>
            </a:r>
            <a:r>
              <a:rPr lang="en-US" altLang="ko-KR" dirty="0" err="1"/>
              <a:t>việc</a:t>
            </a:r>
            <a:r>
              <a:rPr lang="en-US" altLang="ko-KR" dirty="0"/>
              <a:t> </a:t>
            </a:r>
            <a:r>
              <a:rPr lang="en-US" altLang="ko-KR" dirty="0" err="1"/>
              <a:t>trả</a:t>
            </a:r>
            <a:r>
              <a:rPr lang="en-US" altLang="ko-KR" dirty="0"/>
              <a:t> </a:t>
            </a:r>
            <a:r>
              <a:rPr lang="en-US" altLang="ko-KR" dirty="0" err="1"/>
              <a:t>lại</a:t>
            </a:r>
            <a:r>
              <a:rPr lang="en-US" altLang="ko-KR" dirty="0"/>
              <a:t> </a:t>
            </a:r>
            <a:r>
              <a:rPr lang="en-US" altLang="ko-KR" dirty="0" err="1"/>
              <a:t>là</a:t>
            </a:r>
            <a:r>
              <a:rPr lang="en-US" altLang="ko-KR" dirty="0"/>
              <a:t> </a:t>
            </a:r>
            <a:r>
              <a:rPr lang="en-US" altLang="ko-KR" dirty="0" err="1"/>
              <a:t>sau</a:t>
            </a:r>
            <a:r>
              <a:rPr lang="en-US" altLang="ko-KR" dirty="0"/>
              <a:t> </a:t>
            </a:r>
            <a:r>
              <a:rPr lang="en-US" altLang="ko-KR" dirty="0" err="1"/>
              <a:t>khi</a:t>
            </a:r>
            <a:r>
              <a:rPr lang="en-US" altLang="ko-KR" dirty="0"/>
              <a:t> </a:t>
            </a:r>
            <a:r>
              <a:rPr lang="en-US" altLang="ko-KR" dirty="0" err="1"/>
              <a:t>mua</a:t>
            </a:r>
            <a:r>
              <a:rPr lang="en-US" altLang="ko-KR" dirty="0"/>
              <a:t> </a:t>
            </a:r>
            <a:r>
              <a:rPr lang="en-US" altLang="ko-KR" dirty="0" err="1"/>
              <a:t>nguyên</a:t>
            </a:r>
            <a:r>
              <a:rPr lang="en-US" altLang="ko-KR" dirty="0"/>
              <a:t> </a:t>
            </a:r>
            <a:r>
              <a:rPr lang="en-US" altLang="ko-KR" dirty="0" err="1"/>
              <a:t>vật</a:t>
            </a:r>
            <a:r>
              <a:rPr lang="en-US" altLang="ko-KR" dirty="0"/>
              <a:t> </a:t>
            </a:r>
            <a:r>
              <a:rPr lang="en-US" altLang="ko-KR" dirty="0" err="1"/>
              <a:t>liệu</a:t>
            </a:r>
            <a:r>
              <a:rPr lang="en-US" altLang="ko-KR" dirty="0"/>
              <a:t> hay </a:t>
            </a:r>
            <a:r>
              <a:rPr lang="en-US" altLang="ko-KR" dirty="0" err="1"/>
              <a:t>sau</a:t>
            </a:r>
            <a:r>
              <a:rPr lang="en-US" altLang="ko-KR" dirty="0"/>
              <a:t> </a:t>
            </a:r>
            <a:r>
              <a:rPr lang="en-US" altLang="ko-KR" dirty="0" err="1"/>
              <a:t>khi</a:t>
            </a:r>
            <a:r>
              <a:rPr lang="en-US" altLang="ko-KR" dirty="0"/>
              <a:t> </a:t>
            </a:r>
            <a:r>
              <a:rPr lang="en-US" altLang="ko-KR" dirty="0" err="1"/>
              <a:t>mua</a:t>
            </a:r>
            <a:r>
              <a:rPr lang="en-US" altLang="ko-KR" dirty="0"/>
              <a:t> </a:t>
            </a:r>
            <a:r>
              <a:rPr lang="en-US" altLang="ko-KR" dirty="0" err="1"/>
              <a:t>gia</a:t>
            </a:r>
            <a:r>
              <a:rPr lang="en-US" altLang="ko-KR" dirty="0"/>
              <a:t> </a:t>
            </a:r>
            <a:r>
              <a:rPr lang="en-US" altLang="ko-KR" dirty="0" err="1"/>
              <a:t>công</a:t>
            </a:r>
            <a:r>
              <a:rPr lang="en-US" altLang="ko-KR" dirty="0"/>
              <a:t> </a:t>
            </a:r>
            <a:r>
              <a:rPr lang="en-US" altLang="ko-KR" dirty="0" err="1"/>
              <a:t>ngoài</a:t>
            </a:r>
            <a:br>
              <a:rPr lang="en-US" altLang="ko-KR" dirty="0"/>
            </a:br>
            <a:r>
              <a:rPr lang="en-US" altLang="ko-KR" dirty="0"/>
              <a:t>4) </a:t>
            </a:r>
            <a:r>
              <a:rPr lang="en-US" altLang="ko-KR" dirty="0" err="1"/>
              <a:t>Phân</a:t>
            </a:r>
            <a:r>
              <a:rPr lang="en-US" altLang="ko-KR" dirty="0"/>
              <a:t> </a:t>
            </a:r>
            <a:r>
              <a:rPr lang="en-US" altLang="ko-KR" dirty="0" err="1"/>
              <a:t>loại</a:t>
            </a:r>
            <a:r>
              <a:rPr lang="en-US" altLang="ko-KR" dirty="0"/>
              <a:t> VAT</a:t>
            </a:r>
            <a:br>
              <a:rPr lang="en-US" altLang="ko-KR" dirty="0"/>
            </a:br>
            <a:r>
              <a:rPr lang="en-US" altLang="ko-KR" dirty="0"/>
              <a:t>5) </a:t>
            </a:r>
            <a:r>
              <a:rPr lang="vi-VN" altLang="ko-KR" dirty="0"/>
              <a:t>Tỷ giá </a:t>
            </a:r>
            <a:br>
              <a:rPr lang="en-US" altLang="ko-KR" dirty="0"/>
            </a:br>
            <a:r>
              <a:rPr lang="en-US" altLang="ko-KR" dirty="0"/>
              <a:t>    </a:t>
            </a:r>
            <a:r>
              <a:rPr lang="vi-VN" altLang="ko-KR" dirty="0"/>
              <a:t>- Đối với đơn vị tiền tệ, tỷ giá áp dụng là tỷ giá khi mua hàng.</a:t>
            </a:r>
            <a:endParaRPr lang="ko-KR" altLang="en-US" dirty="0"/>
          </a:p>
        </p:txBody>
      </p:sp>
      <p:sp>
        <p:nvSpPr>
          <p:cNvPr id="2" name="제목 1">
            <a:extLst>
              <a:ext uri="{FF2B5EF4-FFF2-40B4-BE49-F238E27FC236}">
                <a16:creationId xmlns:a16="http://schemas.microsoft.com/office/drawing/2014/main" id="{17BF3BB0-0E11-744D-D0B9-81380B3F196B}"/>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Process Flow for Groupware Document (Purchase)</a:t>
            </a:r>
          </a:p>
        </p:txBody>
      </p:sp>
    </p:spTree>
    <p:extLst>
      <p:ext uri="{BB962C8B-B14F-4D97-AF65-F5344CB8AC3E}">
        <p14:creationId xmlns:p14="http://schemas.microsoft.com/office/powerpoint/2010/main" val="4193095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BE3F4-D544-EAE3-9FE8-134D970CCA50}"/>
            </a:ext>
          </a:extLst>
        </p:cNvPr>
        <p:cNvGrpSpPr/>
        <p:nvPr/>
      </p:nvGrpSpPr>
      <p:grpSpPr>
        <a:xfrm>
          <a:off x="0" y="0"/>
          <a:ext cx="0" cy="0"/>
          <a:chOff x="0" y="0"/>
          <a:chExt cx="0" cy="0"/>
        </a:xfrm>
      </p:grpSpPr>
      <p:pic>
        <p:nvPicPr>
          <p:cNvPr id="5" name="그림 4">
            <a:extLst>
              <a:ext uri="{FF2B5EF4-FFF2-40B4-BE49-F238E27FC236}">
                <a16:creationId xmlns:a16="http://schemas.microsoft.com/office/drawing/2014/main" id="{358608EF-7098-FB39-E4BB-A0161E348B88}"/>
              </a:ext>
            </a:extLst>
          </p:cNvPr>
          <p:cNvPicPr>
            <a:picLocks noChangeAspect="1"/>
          </p:cNvPicPr>
          <p:nvPr/>
        </p:nvPicPr>
        <p:blipFill>
          <a:blip r:embed="rId3"/>
          <a:stretch>
            <a:fillRect/>
          </a:stretch>
        </p:blipFill>
        <p:spPr>
          <a:xfrm>
            <a:off x="163508" y="1781547"/>
            <a:ext cx="8775840" cy="1283977"/>
          </a:xfrm>
          <a:prstGeom prst="rect">
            <a:avLst/>
          </a:prstGeom>
        </p:spPr>
      </p:pic>
      <p:sp>
        <p:nvSpPr>
          <p:cNvPr id="6" name="Google Shape;100;p7">
            <a:extLst>
              <a:ext uri="{FF2B5EF4-FFF2-40B4-BE49-F238E27FC236}">
                <a16:creationId xmlns:a16="http://schemas.microsoft.com/office/drawing/2014/main" id="{8F7A3993-7FAA-4A2E-CCC4-25C1E52144B2}"/>
              </a:ext>
            </a:extLst>
          </p:cNvPr>
          <p:cNvSpPr/>
          <p:nvPr/>
        </p:nvSpPr>
        <p:spPr>
          <a:xfrm>
            <a:off x="159154" y="789126"/>
            <a:ext cx="8018195"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dirty="0">
                <a:solidFill>
                  <a:schemeClr val="tx1"/>
                </a:solidFill>
                <a:highlight>
                  <a:srgbClr val="FFFF00"/>
                </a:highlight>
                <a:latin typeface="+mn-ea"/>
                <a:ea typeface="+mn-ea"/>
                <a:cs typeface="Calibri"/>
                <a:sym typeface="Calibri"/>
              </a:rPr>
              <a:t>Purchase Order Data Delete Document (Electronic document - Purchase )</a:t>
            </a:r>
            <a:endParaRPr lang="en-US" sz="1200" b="1" i="0" u="none" strike="noStrike" cap="none" dirty="0">
              <a:solidFill>
                <a:schemeClr val="tx1"/>
              </a:solidFill>
              <a:highlight>
                <a:srgbClr val="FFFF00"/>
              </a:highlight>
              <a:latin typeface="+mn-ea"/>
              <a:ea typeface="+mn-ea"/>
              <a:cs typeface="Calibri"/>
              <a:sym typeface="Calibri"/>
            </a:endParaRPr>
          </a:p>
        </p:txBody>
      </p:sp>
      <p:sp>
        <p:nvSpPr>
          <p:cNvPr id="4" name="TextBox 3">
            <a:extLst>
              <a:ext uri="{FF2B5EF4-FFF2-40B4-BE49-F238E27FC236}">
                <a16:creationId xmlns:a16="http://schemas.microsoft.com/office/drawing/2014/main" id="{BDF03B43-A00C-9998-091E-8A5C8DF47A0E}"/>
              </a:ext>
            </a:extLst>
          </p:cNvPr>
          <p:cNvSpPr txBox="1"/>
          <p:nvPr/>
        </p:nvSpPr>
        <p:spPr>
          <a:xfrm>
            <a:off x="159154" y="1210138"/>
            <a:ext cx="8288160" cy="307777"/>
          </a:xfrm>
          <a:prstGeom prst="rect">
            <a:avLst/>
          </a:prstGeom>
          <a:noFill/>
        </p:spPr>
        <p:txBody>
          <a:bodyPr wrap="square">
            <a:spAutoFit/>
          </a:bodyPr>
          <a:lstStyle/>
          <a:p>
            <a:r>
              <a:rPr lang="en-US" altLang="ko-KR" b="1" dirty="0" err="1"/>
              <a:t>Viết</a:t>
            </a:r>
            <a:r>
              <a:rPr lang="en-US" altLang="ko-KR" b="1" dirty="0"/>
              <a:t> </a:t>
            </a:r>
            <a:r>
              <a:rPr lang="en-US" altLang="ko-KR" b="1" dirty="0" err="1"/>
              <a:t>tài</a:t>
            </a:r>
            <a:r>
              <a:rPr lang="en-US" altLang="ko-KR" b="1" dirty="0"/>
              <a:t> </a:t>
            </a:r>
            <a:r>
              <a:rPr lang="en-US" altLang="ko-KR" b="1" dirty="0" err="1"/>
              <a:t>liệu</a:t>
            </a:r>
            <a:r>
              <a:rPr lang="en-US" altLang="ko-KR" b="1" dirty="0"/>
              <a:t> </a:t>
            </a:r>
            <a:r>
              <a:rPr lang="en-US" altLang="ko-KR" b="1" dirty="0" err="1"/>
              <a:t>yêu</a:t>
            </a:r>
            <a:r>
              <a:rPr lang="en-US" altLang="ko-KR" b="1" dirty="0"/>
              <a:t> </a:t>
            </a:r>
            <a:r>
              <a:rPr lang="en-US" altLang="ko-KR" b="1" dirty="0" err="1"/>
              <a:t>cầu</a:t>
            </a:r>
            <a:r>
              <a:rPr lang="en-US" altLang="ko-KR" b="1" dirty="0"/>
              <a:t> </a:t>
            </a:r>
            <a:r>
              <a:rPr lang="en-US" altLang="ko-KR" b="1" dirty="0" err="1"/>
              <a:t>xóa</a:t>
            </a:r>
            <a:r>
              <a:rPr lang="en-US" altLang="ko-KR" b="1" dirty="0"/>
              <a:t> </a:t>
            </a:r>
            <a:r>
              <a:rPr lang="en-US" altLang="ko-KR" b="1" dirty="0" err="1"/>
              <a:t>khi</a:t>
            </a:r>
            <a:r>
              <a:rPr lang="en-US" altLang="ko-KR" b="1" dirty="0"/>
              <a:t> </a:t>
            </a:r>
            <a:r>
              <a:rPr lang="en-US" altLang="ko-KR" b="1" dirty="0" err="1"/>
              <a:t>dữ</a:t>
            </a:r>
            <a:r>
              <a:rPr lang="en-US" altLang="ko-KR" b="1" dirty="0"/>
              <a:t> </a:t>
            </a:r>
            <a:r>
              <a:rPr lang="en-US" altLang="ko-KR" b="1" dirty="0" err="1"/>
              <a:t>liệu</a:t>
            </a:r>
            <a:r>
              <a:rPr lang="en-US" altLang="ko-KR" b="1" dirty="0"/>
              <a:t> </a:t>
            </a:r>
            <a:r>
              <a:rPr lang="en-US" altLang="ko-KR" b="1" dirty="0" err="1"/>
              <a:t>bị</a:t>
            </a:r>
            <a:r>
              <a:rPr lang="en-US" altLang="ko-KR" b="1" dirty="0"/>
              <a:t> </a:t>
            </a:r>
            <a:r>
              <a:rPr lang="en-US" altLang="ko-KR" b="1" dirty="0" err="1"/>
              <a:t>nhập</a:t>
            </a:r>
            <a:r>
              <a:rPr lang="en-US" altLang="ko-KR" b="1" dirty="0"/>
              <a:t> </a:t>
            </a:r>
            <a:r>
              <a:rPr lang="en-US" altLang="ko-KR" b="1" dirty="0" err="1"/>
              <a:t>sai</a:t>
            </a:r>
            <a:endParaRPr lang="ko-KR" altLang="en-US" b="1" dirty="0"/>
          </a:p>
        </p:txBody>
      </p:sp>
      <p:sp>
        <p:nvSpPr>
          <p:cNvPr id="49" name="TextBox 48">
            <a:extLst>
              <a:ext uri="{FF2B5EF4-FFF2-40B4-BE49-F238E27FC236}">
                <a16:creationId xmlns:a16="http://schemas.microsoft.com/office/drawing/2014/main" id="{90F77880-6165-CC8C-09D3-12A34A86B4A4}"/>
              </a:ext>
            </a:extLst>
          </p:cNvPr>
          <p:cNvSpPr txBox="1"/>
          <p:nvPr/>
        </p:nvSpPr>
        <p:spPr>
          <a:xfrm>
            <a:off x="159154" y="1523884"/>
            <a:ext cx="4576354" cy="276999"/>
          </a:xfrm>
          <a:prstGeom prst="rect">
            <a:avLst/>
          </a:prstGeom>
          <a:noFill/>
        </p:spPr>
        <p:txBody>
          <a:bodyPr wrap="square">
            <a:spAutoFit/>
          </a:bodyPr>
          <a:lstStyle/>
          <a:p>
            <a:r>
              <a:rPr lang="en-US" altLang="ko-KR" sz="1200" b="1" dirty="0"/>
              <a:t>1. </a:t>
            </a:r>
            <a:r>
              <a:rPr lang="vi-VN" altLang="ko-KR" sz="1200" b="1" dirty="0"/>
              <a:t>Chọn tài liệu đơn đặt hàng</a:t>
            </a:r>
            <a:endParaRPr lang="ko-KR" altLang="en-US" sz="1200" b="1" dirty="0"/>
          </a:p>
        </p:txBody>
      </p:sp>
      <p:cxnSp>
        <p:nvCxnSpPr>
          <p:cNvPr id="20" name="연결선: 꺾임 19">
            <a:extLst>
              <a:ext uri="{FF2B5EF4-FFF2-40B4-BE49-F238E27FC236}">
                <a16:creationId xmlns:a16="http://schemas.microsoft.com/office/drawing/2014/main" id="{C1ECB7FC-1FA0-695A-D4FC-802FC8286B6D}"/>
              </a:ext>
            </a:extLst>
          </p:cNvPr>
          <p:cNvCxnSpPr>
            <a:cxnSpLocks/>
            <a:stCxn id="7" idx="2"/>
            <a:endCxn id="10" idx="3"/>
          </p:cNvCxnSpPr>
          <p:nvPr/>
        </p:nvCxnSpPr>
        <p:spPr>
          <a:xfrm rot="5400000">
            <a:off x="3391771" y="2534770"/>
            <a:ext cx="860089" cy="1485953"/>
          </a:xfrm>
          <a:prstGeom prst="bentConnector2">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직사각형 6">
            <a:extLst>
              <a:ext uri="{FF2B5EF4-FFF2-40B4-BE49-F238E27FC236}">
                <a16:creationId xmlns:a16="http://schemas.microsoft.com/office/drawing/2014/main" id="{54905F6B-2852-2EAC-298F-85C84CA0F563}"/>
              </a:ext>
            </a:extLst>
          </p:cNvPr>
          <p:cNvSpPr/>
          <p:nvPr/>
        </p:nvSpPr>
        <p:spPr>
          <a:xfrm>
            <a:off x="3826062" y="2649299"/>
            <a:ext cx="1477457" cy="19840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pic>
        <p:nvPicPr>
          <p:cNvPr id="10" name="그림 9">
            <a:extLst>
              <a:ext uri="{FF2B5EF4-FFF2-40B4-BE49-F238E27FC236}">
                <a16:creationId xmlns:a16="http://schemas.microsoft.com/office/drawing/2014/main" id="{AB8AE516-1D88-1000-5DAA-96C746D683E7}"/>
              </a:ext>
            </a:extLst>
          </p:cNvPr>
          <p:cNvPicPr>
            <a:picLocks noChangeAspect="1"/>
          </p:cNvPicPr>
          <p:nvPr/>
        </p:nvPicPr>
        <p:blipFill>
          <a:blip r:embed="rId4"/>
          <a:stretch>
            <a:fillRect/>
          </a:stretch>
        </p:blipFill>
        <p:spPr>
          <a:xfrm>
            <a:off x="374470" y="2081465"/>
            <a:ext cx="2704368" cy="3252651"/>
          </a:xfrm>
          <a:prstGeom prst="rect">
            <a:avLst/>
          </a:prstGeom>
          <a:ln w="22225">
            <a:solidFill>
              <a:srgbClr val="FF0000"/>
            </a:solidFill>
          </a:ln>
        </p:spPr>
      </p:pic>
      <p:pic>
        <p:nvPicPr>
          <p:cNvPr id="16" name="그림 15">
            <a:extLst>
              <a:ext uri="{FF2B5EF4-FFF2-40B4-BE49-F238E27FC236}">
                <a16:creationId xmlns:a16="http://schemas.microsoft.com/office/drawing/2014/main" id="{285ED07C-31ED-D567-8246-300B0AB315CF}"/>
              </a:ext>
            </a:extLst>
          </p:cNvPr>
          <p:cNvPicPr>
            <a:picLocks noChangeAspect="1"/>
          </p:cNvPicPr>
          <p:nvPr/>
        </p:nvPicPr>
        <p:blipFill>
          <a:blip r:embed="rId5"/>
          <a:stretch>
            <a:fillRect/>
          </a:stretch>
        </p:blipFill>
        <p:spPr>
          <a:xfrm>
            <a:off x="374470" y="6054706"/>
            <a:ext cx="8299267" cy="503340"/>
          </a:xfrm>
          <a:prstGeom prst="rect">
            <a:avLst/>
          </a:prstGeom>
          <a:ln w="22225">
            <a:solidFill>
              <a:srgbClr val="FF0000"/>
            </a:solidFill>
          </a:ln>
        </p:spPr>
      </p:pic>
      <p:sp>
        <p:nvSpPr>
          <p:cNvPr id="17" name="TextBox 16">
            <a:extLst>
              <a:ext uri="{FF2B5EF4-FFF2-40B4-BE49-F238E27FC236}">
                <a16:creationId xmlns:a16="http://schemas.microsoft.com/office/drawing/2014/main" id="{21D1E51C-A157-C49B-1174-4405AED880CC}"/>
              </a:ext>
            </a:extLst>
          </p:cNvPr>
          <p:cNvSpPr txBox="1"/>
          <p:nvPr/>
        </p:nvSpPr>
        <p:spPr>
          <a:xfrm>
            <a:off x="374470" y="5682995"/>
            <a:ext cx="8288160" cy="307777"/>
          </a:xfrm>
          <a:prstGeom prst="rect">
            <a:avLst/>
          </a:prstGeom>
          <a:noFill/>
        </p:spPr>
        <p:txBody>
          <a:bodyPr wrap="square">
            <a:spAutoFit/>
          </a:bodyPr>
          <a:lstStyle/>
          <a:p>
            <a:r>
              <a:rPr lang="vi-VN" altLang="ko-KR" b="1" dirty="0">
                <a:solidFill>
                  <a:srgbClr val="FF0000"/>
                </a:solidFill>
              </a:rPr>
              <a:t>Nếu đơn đặt hàng đã được xử lý nhập kho, không thể xóa</a:t>
            </a:r>
            <a:endParaRPr lang="ko-KR" altLang="en-US" b="1" dirty="0">
              <a:solidFill>
                <a:srgbClr val="FF0000"/>
              </a:solidFill>
            </a:endParaRPr>
          </a:p>
        </p:txBody>
      </p:sp>
      <p:sp>
        <p:nvSpPr>
          <p:cNvPr id="2" name="제목 1">
            <a:extLst>
              <a:ext uri="{FF2B5EF4-FFF2-40B4-BE49-F238E27FC236}">
                <a16:creationId xmlns:a16="http://schemas.microsoft.com/office/drawing/2014/main" id="{879C3810-B0AF-2C75-915C-001140CB684D}"/>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Process Flow for Groupware Document (Purchase)</a:t>
            </a:r>
          </a:p>
        </p:txBody>
      </p:sp>
    </p:spTree>
    <p:extLst>
      <p:ext uri="{BB962C8B-B14F-4D97-AF65-F5344CB8AC3E}">
        <p14:creationId xmlns:p14="http://schemas.microsoft.com/office/powerpoint/2010/main" val="86326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DE61D-8B80-1D52-9B74-9E0C8AD23FF9}"/>
            </a:ext>
          </a:extLst>
        </p:cNvPr>
        <p:cNvGrpSpPr/>
        <p:nvPr/>
      </p:nvGrpSpPr>
      <p:grpSpPr>
        <a:xfrm>
          <a:off x="0" y="0"/>
          <a:ext cx="0" cy="0"/>
          <a:chOff x="0" y="0"/>
          <a:chExt cx="0" cy="0"/>
        </a:xfrm>
      </p:grpSpPr>
      <p:sp>
        <p:nvSpPr>
          <p:cNvPr id="6" name="Google Shape;100;p7">
            <a:extLst>
              <a:ext uri="{FF2B5EF4-FFF2-40B4-BE49-F238E27FC236}">
                <a16:creationId xmlns:a16="http://schemas.microsoft.com/office/drawing/2014/main" id="{6417089D-5321-9DA0-A12E-B02EB3AAAB5C}"/>
              </a:ext>
            </a:extLst>
          </p:cNvPr>
          <p:cNvSpPr/>
          <p:nvPr/>
        </p:nvSpPr>
        <p:spPr>
          <a:xfrm>
            <a:off x="159154" y="789126"/>
            <a:ext cx="8148823"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dirty="0">
                <a:solidFill>
                  <a:schemeClr val="tx1"/>
                </a:solidFill>
                <a:highlight>
                  <a:srgbClr val="FFFF00"/>
                </a:highlight>
                <a:latin typeface="+mn-ea"/>
                <a:ea typeface="+mn-ea"/>
                <a:cs typeface="Calibri"/>
                <a:sym typeface="Calibri"/>
              </a:rPr>
              <a:t>Purchase Order Data Delete Document (Electronic document -  Purchase )</a:t>
            </a:r>
            <a:endParaRPr lang="en-US" sz="1200" b="1" i="0" u="none" strike="noStrike" cap="none" dirty="0">
              <a:solidFill>
                <a:schemeClr val="tx1"/>
              </a:solidFill>
              <a:highlight>
                <a:srgbClr val="FFFF00"/>
              </a:highlight>
              <a:latin typeface="+mn-ea"/>
              <a:ea typeface="+mn-ea"/>
              <a:cs typeface="Calibri"/>
              <a:sym typeface="Calibri"/>
            </a:endParaRPr>
          </a:p>
        </p:txBody>
      </p:sp>
      <p:pic>
        <p:nvPicPr>
          <p:cNvPr id="8" name="그림 7">
            <a:extLst>
              <a:ext uri="{FF2B5EF4-FFF2-40B4-BE49-F238E27FC236}">
                <a16:creationId xmlns:a16="http://schemas.microsoft.com/office/drawing/2014/main" id="{246176E1-869B-396D-4895-DA3BA9D2BDA1}"/>
              </a:ext>
            </a:extLst>
          </p:cNvPr>
          <p:cNvPicPr>
            <a:picLocks noChangeAspect="1"/>
          </p:cNvPicPr>
          <p:nvPr/>
        </p:nvPicPr>
        <p:blipFill>
          <a:blip r:embed="rId3"/>
          <a:stretch>
            <a:fillRect/>
          </a:stretch>
        </p:blipFill>
        <p:spPr>
          <a:xfrm>
            <a:off x="225445" y="1302795"/>
            <a:ext cx="8693109" cy="3147753"/>
          </a:xfrm>
          <a:prstGeom prst="rect">
            <a:avLst/>
          </a:prstGeom>
        </p:spPr>
      </p:pic>
      <p:sp>
        <p:nvSpPr>
          <p:cNvPr id="11" name="TextBox 10">
            <a:extLst>
              <a:ext uri="{FF2B5EF4-FFF2-40B4-BE49-F238E27FC236}">
                <a16:creationId xmlns:a16="http://schemas.microsoft.com/office/drawing/2014/main" id="{0767A7B2-A890-7B4B-5CAC-1CA0F1D34F01}"/>
              </a:ext>
            </a:extLst>
          </p:cNvPr>
          <p:cNvSpPr txBox="1"/>
          <p:nvPr/>
        </p:nvSpPr>
        <p:spPr>
          <a:xfrm>
            <a:off x="159154" y="1302795"/>
            <a:ext cx="4576354" cy="307777"/>
          </a:xfrm>
          <a:prstGeom prst="rect">
            <a:avLst/>
          </a:prstGeom>
          <a:noFill/>
        </p:spPr>
        <p:txBody>
          <a:bodyPr wrap="square">
            <a:spAutoFit/>
          </a:bodyPr>
          <a:lstStyle/>
          <a:p>
            <a:r>
              <a:rPr lang="en-US" altLang="ko-KR" b="1" dirty="0" err="1"/>
              <a:t>Chọn</a:t>
            </a:r>
            <a:r>
              <a:rPr lang="en-US" altLang="ko-KR" b="1" dirty="0"/>
              <a:t> </a:t>
            </a:r>
            <a:r>
              <a:rPr lang="en-US" altLang="ko-KR" b="1" dirty="0" err="1"/>
              <a:t>mặt</a:t>
            </a:r>
            <a:r>
              <a:rPr lang="en-US" altLang="ko-KR" b="1" dirty="0"/>
              <a:t> </a:t>
            </a:r>
            <a:r>
              <a:rPr lang="en-US" altLang="ko-KR" b="1" dirty="0" err="1"/>
              <a:t>hàng</a:t>
            </a:r>
            <a:r>
              <a:rPr lang="en-US" altLang="ko-KR" b="1" dirty="0"/>
              <a:t> </a:t>
            </a:r>
            <a:r>
              <a:rPr lang="en-US" altLang="ko-KR" b="1" dirty="0" err="1"/>
              <a:t>muốn</a:t>
            </a:r>
            <a:r>
              <a:rPr lang="en-US" altLang="ko-KR" b="1" dirty="0"/>
              <a:t> </a:t>
            </a:r>
            <a:r>
              <a:rPr lang="en-US" altLang="ko-KR" b="1" dirty="0" err="1"/>
              <a:t>xóa</a:t>
            </a:r>
            <a:endParaRPr lang="ko-KR" altLang="en-US" b="1" dirty="0"/>
          </a:p>
        </p:txBody>
      </p:sp>
      <p:sp>
        <p:nvSpPr>
          <p:cNvPr id="12" name="직사각형 11">
            <a:extLst>
              <a:ext uri="{FF2B5EF4-FFF2-40B4-BE49-F238E27FC236}">
                <a16:creationId xmlns:a16="http://schemas.microsoft.com/office/drawing/2014/main" id="{FD402F7C-AB0E-9B18-3FBA-56549F2C7D0F}"/>
              </a:ext>
            </a:extLst>
          </p:cNvPr>
          <p:cNvSpPr/>
          <p:nvPr/>
        </p:nvSpPr>
        <p:spPr>
          <a:xfrm>
            <a:off x="260279" y="2940947"/>
            <a:ext cx="1159218" cy="88211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14" name="TextBox 13">
            <a:extLst>
              <a:ext uri="{FF2B5EF4-FFF2-40B4-BE49-F238E27FC236}">
                <a16:creationId xmlns:a16="http://schemas.microsoft.com/office/drawing/2014/main" id="{4A027615-3D87-3966-0DDE-AB39C12E23C1}"/>
              </a:ext>
            </a:extLst>
          </p:cNvPr>
          <p:cNvSpPr txBox="1"/>
          <p:nvPr/>
        </p:nvSpPr>
        <p:spPr>
          <a:xfrm>
            <a:off x="260279" y="5085706"/>
            <a:ext cx="8561504" cy="523220"/>
          </a:xfrm>
          <a:prstGeom prst="rect">
            <a:avLst/>
          </a:prstGeom>
          <a:noFill/>
        </p:spPr>
        <p:txBody>
          <a:bodyPr wrap="square">
            <a:spAutoFit/>
          </a:bodyPr>
          <a:lstStyle/>
          <a:p>
            <a:r>
              <a:rPr lang="vi-VN" altLang="ko-KR" b="1" dirty="0">
                <a:solidFill>
                  <a:schemeClr val="tx1"/>
                </a:solidFill>
              </a:rPr>
              <a:t>Đối với đơn nhập khẩu, tất cả thông tin đã được đăng ký về B/L và thông quan cũng sẽ bị xóa.</a:t>
            </a:r>
            <a:br>
              <a:rPr lang="en-US" altLang="ko-KR" b="1" dirty="0">
                <a:solidFill>
                  <a:schemeClr val="tx1"/>
                </a:solidFill>
              </a:rPr>
            </a:br>
            <a:r>
              <a:rPr lang="en-US" altLang="ko-KR" b="1" dirty="0">
                <a:solidFill>
                  <a:srgbClr val="FF0000"/>
                </a:solidFill>
              </a:rPr>
              <a:t>Tài </a:t>
            </a:r>
            <a:r>
              <a:rPr lang="en-US" altLang="ko-KR" b="1" dirty="0" err="1">
                <a:solidFill>
                  <a:srgbClr val="FF0000"/>
                </a:solidFill>
              </a:rPr>
              <a:t>liệu</a:t>
            </a:r>
            <a:r>
              <a:rPr lang="en-US" altLang="ko-KR" b="1" dirty="0">
                <a:solidFill>
                  <a:srgbClr val="FF0000"/>
                </a:solidFill>
              </a:rPr>
              <a:t> </a:t>
            </a:r>
            <a:r>
              <a:rPr lang="en-US" altLang="ko-KR" b="1" dirty="0" err="1">
                <a:solidFill>
                  <a:srgbClr val="FF0000"/>
                </a:solidFill>
              </a:rPr>
              <a:t>này</a:t>
            </a:r>
            <a:r>
              <a:rPr lang="en-US" altLang="ko-KR" b="1" dirty="0">
                <a:solidFill>
                  <a:srgbClr val="FF0000"/>
                </a:solidFill>
              </a:rPr>
              <a:t> </a:t>
            </a:r>
            <a:r>
              <a:rPr lang="en-US" altLang="ko-KR" b="1" dirty="0" err="1">
                <a:solidFill>
                  <a:srgbClr val="FF0000"/>
                </a:solidFill>
              </a:rPr>
              <a:t>sẽ</a:t>
            </a:r>
            <a:r>
              <a:rPr lang="en-US" altLang="ko-KR" b="1" dirty="0">
                <a:solidFill>
                  <a:srgbClr val="FF0000"/>
                </a:solidFill>
              </a:rPr>
              <a:t> </a:t>
            </a:r>
            <a:r>
              <a:rPr lang="en-US" altLang="ko-KR" b="1" dirty="0" err="1">
                <a:solidFill>
                  <a:srgbClr val="FF0000"/>
                </a:solidFill>
              </a:rPr>
              <a:t>xóa</a:t>
            </a:r>
            <a:r>
              <a:rPr lang="en-US" altLang="ko-KR" b="1" dirty="0">
                <a:solidFill>
                  <a:srgbClr val="FF0000"/>
                </a:solidFill>
              </a:rPr>
              <a:t> </a:t>
            </a:r>
            <a:r>
              <a:rPr lang="en-US" altLang="ko-KR" b="1" dirty="0" err="1">
                <a:solidFill>
                  <a:srgbClr val="FF0000"/>
                </a:solidFill>
              </a:rPr>
              <a:t>dữ</a:t>
            </a:r>
            <a:r>
              <a:rPr lang="en-US" altLang="ko-KR" b="1" dirty="0">
                <a:solidFill>
                  <a:srgbClr val="FF0000"/>
                </a:solidFill>
              </a:rPr>
              <a:t> </a:t>
            </a:r>
            <a:r>
              <a:rPr lang="en-US" altLang="ko-KR" b="1" dirty="0" err="1">
                <a:solidFill>
                  <a:srgbClr val="FF0000"/>
                </a:solidFill>
              </a:rPr>
              <a:t>liệu</a:t>
            </a:r>
            <a:r>
              <a:rPr lang="en-US" altLang="ko-KR" b="1" dirty="0">
                <a:solidFill>
                  <a:srgbClr val="FF0000"/>
                </a:solidFill>
              </a:rPr>
              <a:t>, </a:t>
            </a:r>
            <a:r>
              <a:rPr lang="en-US" altLang="ko-KR" b="1" dirty="0" err="1">
                <a:solidFill>
                  <a:srgbClr val="FF0000"/>
                </a:solidFill>
              </a:rPr>
              <a:t>vì</a:t>
            </a:r>
            <a:r>
              <a:rPr lang="en-US" altLang="ko-KR" b="1" dirty="0">
                <a:solidFill>
                  <a:srgbClr val="FF0000"/>
                </a:solidFill>
              </a:rPr>
              <a:t> </a:t>
            </a:r>
            <a:r>
              <a:rPr lang="en-US" altLang="ko-KR" b="1" dirty="0" err="1">
                <a:solidFill>
                  <a:srgbClr val="FF0000"/>
                </a:solidFill>
              </a:rPr>
              <a:t>vậy</a:t>
            </a:r>
            <a:r>
              <a:rPr lang="en-US" altLang="ko-KR" b="1" dirty="0">
                <a:solidFill>
                  <a:srgbClr val="FF0000"/>
                </a:solidFill>
              </a:rPr>
              <a:t> </a:t>
            </a:r>
            <a:r>
              <a:rPr lang="en-US" altLang="ko-KR" b="1" dirty="0" err="1">
                <a:solidFill>
                  <a:srgbClr val="FF0000"/>
                </a:solidFill>
              </a:rPr>
              <a:t>cần</a:t>
            </a:r>
            <a:r>
              <a:rPr lang="en-US" altLang="ko-KR" b="1" dirty="0">
                <a:solidFill>
                  <a:srgbClr val="FF0000"/>
                </a:solidFill>
              </a:rPr>
              <a:t> </a:t>
            </a:r>
            <a:r>
              <a:rPr lang="en-US" altLang="ko-KR" b="1" dirty="0" err="1">
                <a:solidFill>
                  <a:srgbClr val="FF0000"/>
                </a:solidFill>
              </a:rPr>
              <a:t>sử</a:t>
            </a:r>
            <a:r>
              <a:rPr lang="en-US" altLang="ko-KR" b="1" dirty="0">
                <a:solidFill>
                  <a:srgbClr val="FF0000"/>
                </a:solidFill>
              </a:rPr>
              <a:t> </a:t>
            </a:r>
            <a:r>
              <a:rPr lang="en-US" altLang="ko-KR" b="1" dirty="0" err="1">
                <a:solidFill>
                  <a:srgbClr val="FF0000"/>
                </a:solidFill>
              </a:rPr>
              <a:t>dụng</a:t>
            </a:r>
            <a:r>
              <a:rPr lang="en-US" altLang="ko-KR" b="1" dirty="0">
                <a:solidFill>
                  <a:srgbClr val="FF0000"/>
                </a:solidFill>
              </a:rPr>
              <a:t> </a:t>
            </a:r>
            <a:r>
              <a:rPr lang="en-US" altLang="ko-KR" b="1" dirty="0" err="1">
                <a:solidFill>
                  <a:srgbClr val="FF0000"/>
                </a:solidFill>
              </a:rPr>
              <a:t>cẩn</a:t>
            </a:r>
            <a:r>
              <a:rPr lang="en-US" altLang="ko-KR" b="1" dirty="0">
                <a:solidFill>
                  <a:srgbClr val="FF0000"/>
                </a:solidFill>
              </a:rPr>
              <a:t> </a:t>
            </a:r>
            <a:r>
              <a:rPr lang="en-US" altLang="ko-KR" b="1" dirty="0" err="1">
                <a:solidFill>
                  <a:srgbClr val="FF0000"/>
                </a:solidFill>
              </a:rPr>
              <a:t>thận</a:t>
            </a:r>
            <a:r>
              <a:rPr lang="en-US" altLang="ko-KR" b="1" dirty="0">
                <a:solidFill>
                  <a:srgbClr val="FF0000"/>
                </a:solidFill>
              </a:rPr>
              <a:t>.</a:t>
            </a:r>
            <a:endParaRPr lang="ko-KR" altLang="en-US" b="1" dirty="0">
              <a:solidFill>
                <a:srgbClr val="FF0000"/>
              </a:solidFill>
            </a:endParaRPr>
          </a:p>
        </p:txBody>
      </p:sp>
      <p:sp>
        <p:nvSpPr>
          <p:cNvPr id="2" name="제목 1">
            <a:extLst>
              <a:ext uri="{FF2B5EF4-FFF2-40B4-BE49-F238E27FC236}">
                <a16:creationId xmlns:a16="http://schemas.microsoft.com/office/drawing/2014/main" id="{069325ED-3E34-796F-782B-2691A42CD0FE}"/>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Process Flow for Groupware Document (Purchase)</a:t>
            </a:r>
          </a:p>
        </p:txBody>
      </p:sp>
    </p:spTree>
    <p:extLst>
      <p:ext uri="{BB962C8B-B14F-4D97-AF65-F5344CB8AC3E}">
        <p14:creationId xmlns:p14="http://schemas.microsoft.com/office/powerpoint/2010/main" val="1260180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39385-E4E0-2718-E80E-6D939E6EBD56}"/>
            </a:ext>
          </a:extLst>
        </p:cNvPr>
        <p:cNvGrpSpPr/>
        <p:nvPr/>
      </p:nvGrpSpPr>
      <p:grpSpPr>
        <a:xfrm>
          <a:off x="0" y="0"/>
          <a:ext cx="0" cy="0"/>
          <a:chOff x="0" y="0"/>
          <a:chExt cx="0" cy="0"/>
        </a:xfrm>
      </p:grpSpPr>
      <p:sp>
        <p:nvSpPr>
          <p:cNvPr id="6" name="Google Shape;100;p7">
            <a:extLst>
              <a:ext uri="{FF2B5EF4-FFF2-40B4-BE49-F238E27FC236}">
                <a16:creationId xmlns:a16="http://schemas.microsoft.com/office/drawing/2014/main" id="{FC392AB4-6B3F-54FB-0384-413F78146BFB}"/>
              </a:ext>
            </a:extLst>
          </p:cNvPr>
          <p:cNvSpPr/>
          <p:nvPr/>
        </p:nvSpPr>
        <p:spPr>
          <a:xfrm>
            <a:off x="159154" y="789126"/>
            <a:ext cx="8915177"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dirty="0">
                <a:solidFill>
                  <a:schemeClr val="tx1"/>
                </a:solidFill>
                <a:highlight>
                  <a:srgbClr val="FFFF00"/>
                </a:highlight>
                <a:latin typeface="+mn-ea"/>
                <a:ea typeface="+mn-ea"/>
                <a:cs typeface="Calibri"/>
                <a:sym typeface="Calibri"/>
              </a:rPr>
              <a:t>Purchase Resolution Document (Electronic document - Cost Management )</a:t>
            </a:r>
            <a:endParaRPr lang="en-US" sz="1200" b="1" i="0" u="none" strike="noStrike" cap="none" dirty="0">
              <a:solidFill>
                <a:schemeClr val="tx1"/>
              </a:solidFill>
              <a:highlight>
                <a:srgbClr val="FFFF00"/>
              </a:highlight>
              <a:latin typeface="+mn-ea"/>
              <a:ea typeface="+mn-ea"/>
              <a:cs typeface="Calibri"/>
              <a:sym typeface="Calibri"/>
            </a:endParaRPr>
          </a:p>
        </p:txBody>
      </p:sp>
      <p:sp>
        <p:nvSpPr>
          <p:cNvPr id="4" name="TextBox 3">
            <a:extLst>
              <a:ext uri="{FF2B5EF4-FFF2-40B4-BE49-F238E27FC236}">
                <a16:creationId xmlns:a16="http://schemas.microsoft.com/office/drawing/2014/main" id="{306B9065-8499-D1B8-290C-B667F9470FC9}"/>
              </a:ext>
            </a:extLst>
          </p:cNvPr>
          <p:cNvSpPr txBox="1"/>
          <p:nvPr/>
        </p:nvSpPr>
        <p:spPr>
          <a:xfrm>
            <a:off x="159154" y="1210138"/>
            <a:ext cx="8288160" cy="307777"/>
          </a:xfrm>
          <a:prstGeom prst="rect">
            <a:avLst/>
          </a:prstGeom>
          <a:noFill/>
        </p:spPr>
        <p:txBody>
          <a:bodyPr wrap="square">
            <a:spAutoFit/>
          </a:bodyPr>
          <a:lstStyle/>
          <a:p>
            <a:r>
              <a:rPr lang="vi-VN" altLang="ko-KR" b="1" dirty="0"/>
              <a:t>Đây là tài liệu dùng để hoàn tất công việc đóng sổ cho các đơn mua hàng đã hoàn tất nhập kho.</a:t>
            </a:r>
            <a:endParaRPr lang="ko-KR" altLang="en-US" b="1" dirty="0"/>
          </a:p>
        </p:txBody>
      </p:sp>
      <p:pic>
        <p:nvPicPr>
          <p:cNvPr id="7" name="그림 6">
            <a:extLst>
              <a:ext uri="{FF2B5EF4-FFF2-40B4-BE49-F238E27FC236}">
                <a16:creationId xmlns:a16="http://schemas.microsoft.com/office/drawing/2014/main" id="{1F224289-1E82-9B16-C4F9-964BDD742C4F}"/>
              </a:ext>
            </a:extLst>
          </p:cNvPr>
          <p:cNvPicPr>
            <a:picLocks noChangeAspect="1"/>
          </p:cNvPicPr>
          <p:nvPr/>
        </p:nvPicPr>
        <p:blipFill>
          <a:blip r:embed="rId3"/>
          <a:stretch>
            <a:fillRect/>
          </a:stretch>
        </p:blipFill>
        <p:spPr>
          <a:xfrm>
            <a:off x="159154" y="1624379"/>
            <a:ext cx="8462332" cy="899219"/>
          </a:xfrm>
          <a:prstGeom prst="rect">
            <a:avLst/>
          </a:prstGeom>
        </p:spPr>
      </p:pic>
      <p:pic>
        <p:nvPicPr>
          <p:cNvPr id="9" name="그림 8">
            <a:extLst>
              <a:ext uri="{FF2B5EF4-FFF2-40B4-BE49-F238E27FC236}">
                <a16:creationId xmlns:a16="http://schemas.microsoft.com/office/drawing/2014/main" id="{04D03065-8A58-F996-E0FD-42D9CD73ECA3}"/>
              </a:ext>
            </a:extLst>
          </p:cNvPr>
          <p:cNvPicPr>
            <a:picLocks noChangeAspect="1"/>
          </p:cNvPicPr>
          <p:nvPr/>
        </p:nvPicPr>
        <p:blipFill>
          <a:blip r:embed="rId4"/>
          <a:stretch>
            <a:fillRect/>
          </a:stretch>
        </p:blipFill>
        <p:spPr>
          <a:xfrm>
            <a:off x="403811" y="2629519"/>
            <a:ext cx="2629214" cy="2151487"/>
          </a:xfrm>
          <a:prstGeom prst="rect">
            <a:avLst/>
          </a:prstGeom>
          <a:ln w="19050">
            <a:solidFill>
              <a:srgbClr val="FF0000"/>
            </a:solidFill>
          </a:ln>
        </p:spPr>
      </p:pic>
      <p:pic>
        <p:nvPicPr>
          <p:cNvPr id="12" name="그림 11">
            <a:extLst>
              <a:ext uri="{FF2B5EF4-FFF2-40B4-BE49-F238E27FC236}">
                <a16:creationId xmlns:a16="http://schemas.microsoft.com/office/drawing/2014/main" id="{4311E80E-65FE-6955-C4E2-7D0A4FBCEF87}"/>
              </a:ext>
            </a:extLst>
          </p:cNvPr>
          <p:cNvPicPr>
            <a:picLocks noChangeAspect="1"/>
          </p:cNvPicPr>
          <p:nvPr/>
        </p:nvPicPr>
        <p:blipFill>
          <a:blip r:embed="rId5"/>
          <a:stretch>
            <a:fillRect/>
          </a:stretch>
        </p:blipFill>
        <p:spPr>
          <a:xfrm>
            <a:off x="4151614" y="2647827"/>
            <a:ext cx="4365369" cy="2133179"/>
          </a:xfrm>
          <a:prstGeom prst="rect">
            <a:avLst/>
          </a:prstGeom>
          <a:ln w="19050">
            <a:solidFill>
              <a:srgbClr val="FF0000"/>
            </a:solidFill>
          </a:ln>
        </p:spPr>
      </p:pic>
      <p:sp>
        <p:nvSpPr>
          <p:cNvPr id="19" name="직사각형 18">
            <a:extLst>
              <a:ext uri="{FF2B5EF4-FFF2-40B4-BE49-F238E27FC236}">
                <a16:creationId xmlns:a16="http://schemas.microsoft.com/office/drawing/2014/main" id="{E9BBD347-5416-8C9E-A614-F9105FCAB97B}"/>
              </a:ext>
            </a:extLst>
          </p:cNvPr>
          <p:cNvSpPr/>
          <p:nvPr/>
        </p:nvSpPr>
        <p:spPr>
          <a:xfrm>
            <a:off x="3990327" y="2191337"/>
            <a:ext cx="808096" cy="17922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cxnSp>
        <p:nvCxnSpPr>
          <p:cNvPr id="20" name="연결선: 꺾임 19">
            <a:extLst>
              <a:ext uri="{FF2B5EF4-FFF2-40B4-BE49-F238E27FC236}">
                <a16:creationId xmlns:a16="http://schemas.microsoft.com/office/drawing/2014/main" id="{1F1E7B73-827B-855D-8E8E-7BEE8E6FFF2C}"/>
              </a:ext>
            </a:extLst>
          </p:cNvPr>
          <p:cNvCxnSpPr>
            <a:cxnSpLocks/>
            <a:stCxn id="19" idx="1"/>
            <a:endCxn id="9" idx="0"/>
          </p:cNvCxnSpPr>
          <p:nvPr/>
        </p:nvCxnSpPr>
        <p:spPr>
          <a:xfrm rot="10800000" flipV="1">
            <a:off x="1718419" y="2280949"/>
            <a:ext cx="2271909" cy="348570"/>
          </a:xfrm>
          <a:prstGeom prst="bentConnector2">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화살표: 아래쪽 22">
            <a:extLst>
              <a:ext uri="{FF2B5EF4-FFF2-40B4-BE49-F238E27FC236}">
                <a16:creationId xmlns:a16="http://schemas.microsoft.com/office/drawing/2014/main" id="{695828F1-CFDD-E71D-3FE7-67632562402A}"/>
              </a:ext>
            </a:extLst>
          </p:cNvPr>
          <p:cNvSpPr/>
          <p:nvPr/>
        </p:nvSpPr>
        <p:spPr>
          <a:xfrm rot="16200000">
            <a:off x="2873862" y="3535537"/>
            <a:ext cx="1436914" cy="548206"/>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TextBox 25">
            <a:extLst>
              <a:ext uri="{FF2B5EF4-FFF2-40B4-BE49-F238E27FC236}">
                <a16:creationId xmlns:a16="http://schemas.microsoft.com/office/drawing/2014/main" id="{4CFE4648-7A5D-D9F1-8BAE-4FF4C02297A6}"/>
              </a:ext>
            </a:extLst>
          </p:cNvPr>
          <p:cNvSpPr txBox="1"/>
          <p:nvPr/>
        </p:nvSpPr>
        <p:spPr>
          <a:xfrm>
            <a:off x="159154" y="4989761"/>
            <a:ext cx="8984846" cy="1631216"/>
          </a:xfrm>
          <a:prstGeom prst="rect">
            <a:avLst/>
          </a:prstGeom>
          <a:noFill/>
        </p:spPr>
        <p:txBody>
          <a:bodyPr wrap="square">
            <a:spAutoFit/>
          </a:bodyPr>
          <a:lstStyle/>
          <a:p>
            <a:r>
              <a:rPr lang="vi-VN" altLang="ko-KR" sz="1600" b="1" dirty="0">
                <a:solidFill>
                  <a:srgbClr val="FF0000"/>
                </a:solidFill>
              </a:rPr>
              <a:t>Lưu ý theo từng tài liệu</a:t>
            </a:r>
            <a:br>
              <a:rPr lang="en-US" altLang="ko-KR" b="1" dirty="0"/>
            </a:br>
            <a:r>
              <a:rPr lang="en-US" altLang="ko-KR" b="1" dirty="0"/>
              <a:t>Arrival Confirmation Document : </a:t>
            </a:r>
            <a:br>
              <a:rPr lang="en-US" altLang="ko-KR" dirty="0"/>
            </a:br>
            <a:r>
              <a:rPr lang="en-US" altLang="ko-KR" dirty="0"/>
              <a:t>- </a:t>
            </a:r>
            <a:r>
              <a:rPr lang="vi-VN" altLang="ko-KR" dirty="0"/>
              <a:t>Trường hợp số tiền cần phải được thanh toán trước khi hoàn tất kiểm tra nhập khẩu (trước khi xử lý nhập kho)</a:t>
            </a:r>
            <a:br>
              <a:rPr lang="en-US" altLang="ko-KR" dirty="0"/>
            </a:br>
            <a:r>
              <a:rPr lang="en-US" altLang="ko-KR" b="1" dirty="0"/>
              <a:t>Receiving Confirmation Document : </a:t>
            </a:r>
            <a:br>
              <a:rPr lang="en-US" altLang="ko-KR" dirty="0"/>
            </a:br>
            <a:r>
              <a:rPr lang="en-US" altLang="ko-KR" dirty="0"/>
              <a:t>- Khi </a:t>
            </a:r>
            <a:r>
              <a:rPr lang="en-US" altLang="ko-KR" dirty="0" err="1"/>
              <a:t>thực</a:t>
            </a:r>
            <a:r>
              <a:rPr lang="en-US" altLang="ko-KR" dirty="0"/>
              <a:t> </a:t>
            </a:r>
            <a:r>
              <a:rPr lang="en-US" altLang="ko-KR" dirty="0" err="1"/>
              <a:t>tế</a:t>
            </a:r>
            <a:r>
              <a:rPr lang="en-US" altLang="ko-KR" dirty="0"/>
              <a:t> </a:t>
            </a:r>
            <a:r>
              <a:rPr lang="en-US" altLang="ko-KR" dirty="0" err="1"/>
              <a:t>nhập</a:t>
            </a:r>
            <a:r>
              <a:rPr lang="en-US" altLang="ko-KR" dirty="0"/>
              <a:t> </a:t>
            </a:r>
            <a:r>
              <a:rPr lang="en-US" altLang="ko-KR" dirty="0" err="1"/>
              <a:t>kho</a:t>
            </a:r>
            <a:r>
              <a:rPr lang="en-US" altLang="ko-KR" dirty="0"/>
              <a:t> </a:t>
            </a:r>
            <a:r>
              <a:rPr lang="en-US" altLang="ko-KR" dirty="0" err="1"/>
              <a:t>xong</a:t>
            </a:r>
            <a:r>
              <a:rPr lang="en-US" altLang="ko-KR" dirty="0"/>
              <a:t> </a:t>
            </a:r>
            <a:r>
              <a:rPr lang="en-US" altLang="ko-KR" dirty="0" err="1"/>
              <a:t>và</a:t>
            </a:r>
            <a:r>
              <a:rPr lang="en-US" altLang="ko-KR" dirty="0"/>
              <a:t> </a:t>
            </a:r>
            <a:r>
              <a:rPr lang="en-US" altLang="ko-KR" dirty="0" err="1"/>
              <a:t>tiến</a:t>
            </a:r>
            <a:r>
              <a:rPr lang="en-US" altLang="ko-KR" dirty="0"/>
              <a:t> </a:t>
            </a:r>
            <a:r>
              <a:rPr lang="en-US" altLang="ko-KR" dirty="0" err="1"/>
              <a:t>hành</a:t>
            </a:r>
            <a:r>
              <a:rPr lang="en-US" altLang="ko-KR" dirty="0"/>
              <a:t> </a:t>
            </a:r>
            <a:r>
              <a:rPr lang="en-US" altLang="ko-KR" dirty="0" err="1"/>
              <a:t>công</a:t>
            </a:r>
            <a:r>
              <a:rPr lang="en-US" altLang="ko-KR" dirty="0"/>
              <a:t> </a:t>
            </a:r>
            <a:r>
              <a:rPr lang="en-US" altLang="ko-KR" dirty="0" err="1"/>
              <a:t>việc</a:t>
            </a:r>
            <a:r>
              <a:rPr lang="en-US" altLang="ko-KR" dirty="0"/>
              <a:t> </a:t>
            </a:r>
            <a:r>
              <a:rPr lang="en-US" altLang="ko-KR" dirty="0" err="1"/>
              <a:t>đóng</a:t>
            </a:r>
            <a:r>
              <a:rPr lang="en-US" altLang="ko-KR" dirty="0"/>
              <a:t> </a:t>
            </a:r>
            <a:r>
              <a:rPr lang="en-US" altLang="ko-KR" dirty="0" err="1"/>
              <a:t>sổ</a:t>
            </a:r>
            <a:endParaRPr lang="ko-KR" altLang="en-US" dirty="0"/>
          </a:p>
          <a:p>
            <a:r>
              <a:rPr lang="en-US" altLang="ko-KR" b="1" dirty="0"/>
              <a:t>Return Product Document : </a:t>
            </a:r>
            <a:br>
              <a:rPr lang="en-US" altLang="ko-KR" dirty="0"/>
            </a:br>
            <a:r>
              <a:rPr lang="en-US" altLang="ko-KR" dirty="0"/>
              <a:t>- </a:t>
            </a:r>
            <a:r>
              <a:rPr lang="vi-VN" altLang="ko-KR" dirty="0"/>
              <a:t>Khi tiến hành đóng sổ cho đơn mua hàng đã được xử lý trả lại</a:t>
            </a:r>
            <a:endParaRPr lang="ko-KR" altLang="en-US" dirty="0"/>
          </a:p>
        </p:txBody>
      </p:sp>
      <p:sp>
        <p:nvSpPr>
          <p:cNvPr id="2" name="제목 1">
            <a:extLst>
              <a:ext uri="{FF2B5EF4-FFF2-40B4-BE49-F238E27FC236}">
                <a16:creationId xmlns:a16="http://schemas.microsoft.com/office/drawing/2014/main" id="{765EDFC1-E0F7-261A-C680-6A5A2E0C39C2}"/>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Process Flow for Groupware Document (Purchase Closing)</a:t>
            </a:r>
          </a:p>
        </p:txBody>
      </p:sp>
    </p:spTree>
    <p:extLst>
      <p:ext uri="{BB962C8B-B14F-4D97-AF65-F5344CB8AC3E}">
        <p14:creationId xmlns:p14="http://schemas.microsoft.com/office/powerpoint/2010/main" val="20849302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83C00-E6CB-2EDD-1584-2BD93E2AA5E1}"/>
            </a:ext>
          </a:extLst>
        </p:cNvPr>
        <p:cNvGrpSpPr/>
        <p:nvPr/>
      </p:nvGrpSpPr>
      <p:grpSpPr>
        <a:xfrm>
          <a:off x="0" y="0"/>
          <a:ext cx="0" cy="0"/>
          <a:chOff x="0" y="0"/>
          <a:chExt cx="0" cy="0"/>
        </a:xfrm>
      </p:grpSpPr>
      <p:pic>
        <p:nvPicPr>
          <p:cNvPr id="10" name="그림 9">
            <a:extLst>
              <a:ext uri="{FF2B5EF4-FFF2-40B4-BE49-F238E27FC236}">
                <a16:creationId xmlns:a16="http://schemas.microsoft.com/office/drawing/2014/main" id="{7C03560E-590E-0819-C0FB-3277C6784AFD}"/>
              </a:ext>
            </a:extLst>
          </p:cNvPr>
          <p:cNvPicPr>
            <a:picLocks noChangeAspect="1"/>
          </p:cNvPicPr>
          <p:nvPr/>
        </p:nvPicPr>
        <p:blipFill>
          <a:blip r:embed="rId3"/>
          <a:stretch>
            <a:fillRect/>
          </a:stretch>
        </p:blipFill>
        <p:spPr>
          <a:xfrm>
            <a:off x="159154" y="1631166"/>
            <a:ext cx="8767132" cy="3454639"/>
          </a:xfrm>
          <a:prstGeom prst="rect">
            <a:avLst/>
          </a:prstGeom>
        </p:spPr>
      </p:pic>
      <p:sp>
        <p:nvSpPr>
          <p:cNvPr id="14" name="TextBox 13">
            <a:extLst>
              <a:ext uri="{FF2B5EF4-FFF2-40B4-BE49-F238E27FC236}">
                <a16:creationId xmlns:a16="http://schemas.microsoft.com/office/drawing/2014/main" id="{1D65DB56-C5E4-DA3B-FEA8-A62880A3BAB2}"/>
              </a:ext>
            </a:extLst>
          </p:cNvPr>
          <p:cNvSpPr txBox="1"/>
          <p:nvPr/>
        </p:nvSpPr>
        <p:spPr>
          <a:xfrm>
            <a:off x="159154" y="5226833"/>
            <a:ext cx="8984846" cy="1384995"/>
          </a:xfrm>
          <a:prstGeom prst="rect">
            <a:avLst/>
          </a:prstGeom>
          <a:noFill/>
        </p:spPr>
        <p:txBody>
          <a:bodyPr wrap="square" rtlCol="0">
            <a:spAutoFit/>
          </a:bodyPr>
          <a:lstStyle/>
          <a:p>
            <a:r>
              <a:rPr lang="en-US" altLang="ko-KR" dirty="0"/>
              <a:t>1) </a:t>
            </a:r>
            <a:r>
              <a:rPr lang="en-US" altLang="ko-KR" dirty="0" err="1"/>
              <a:t>Giá</a:t>
            </a:r>
            <a:r>
              <a:rPr lang="en-US" altLang="ko-KR" dirty="0"/>
              <a:t> </a:t>
            </a:r>
            <a:r>
              <a:rPr lang="en-US" altLang="ko-KR" dirty="0" err="1"/>
              <a:t>trị</a:t>
            </a:r>
            <a:r>
              <a:rPr lang="en-US" altLang="ko-KR" dirty="0"/>
              <a:t> </a:t>
            </a:r>
            <a:r>
              <a:rPr lang="en-US" altLang="ko-KR" dirty="0" err="1"/>
              <a:t>ghi</a:t>
            </a:r>
            <a:r>
              <a:rPr lang="en-US" altLang="ko-KR" dirty="0"/>
              <a:t> </a:t>
            </a:r>
            <a:r>
              <a:rPr lang="en-US" altLang="ko-KR" dirty="0" err="1"/>
              <a:t>nợ</a:t>
            </a:r>
            <a:r>
              <a:rPr lang="en-US" altLang="ko-KR" dirty="0"/>
              <a:t> </a:t>
            </a:r>
            <a:r>
              <a:rPr lang="en-US" altLang="ko-KR" dirty="0" err="1"/>
              <a:t>và</a:t>
            </a:r>
            <a:r>
              <a:rPr lang="en-US" altLang="ko-KR" dirty="0"/>
              <a:t> </a:t>
            </a:r>
            <a:r>
              <a:rPr lang="en-US" altLang="ko-KR" dirty="0" err="1"/>
              <a:t>ghi</a:t>
            </a:r>
            <a:r>
              <a:rPr lang="en-US" altLang="ko-KR" dirty="0"/>
              <a:t> </a:t>
            </a:r>
            <a:r>
              <a:rPr lang="en-US" altLang="ko-KR" dirty="0" err="1"/>
              <a:t>có</a:t>
            </a:r>
            <a:r>
              <a:rPr lang="en-US" altLang="ko-KR" dirty="0"/>
              <a:t> </a:t>
            </a:r>
            <a:r>
              <a:rPr lang="en-US" altLang="ko-KR" dirty="0" err="1"/>
              <a:t>trên</a:t>
            </a:r>
            <a:r>
              <a:rPr lang="en-US" altLang="ko-KR" dirty="0"/>
              <a:t> </a:t>
            </a:r>
            <a:r>
              <a:rPr lang="en-US" altLang="ko-KR" dirty="0" err="1"/>
              <a:t>chứng</a:t>
            </a:r>
            <a:r>
              <a:rPr lang="en-US" altLang="ko-KR" dirty="0"/>
              <a:t> </a:t>
            </a:r>
            <a:r>
              <a:rPr lang="en-US" altLang="ko-KR" dirty="0" err="1"/>
              <a:t>từ</a:t>
            </a:r>
            <a:r>
              <a:rPr lang="en-US" altLang="ko-KR" dirty="0"/>
              <a:t> - </a:t>
            </a:r>
            <a:r>
              <a:rPr lang="en-US" altLang="ko-KR" dirty="0" err="1"/>
              <a:t>giá</a:t>
            </a:r>
            <a:r>
              <a:rPr lang="en-US" altLang="ko-KR" dirty="0"/>
              <a:t> </a:t>
            </a:r>
            <a:r>
              <a:rPr lang="en-US" altLang="ko-KR" dirty="0" err="1"/>
              <a:t>trị</a:t>
            </a:r>
            <a:r>
              <a:rPr lang="en-US" altLang="ko-KR" dirty="0"/>
              <a:t> </a:t>
            </a:r>
            <a:r>
              <a:rPr lang="en-US" altLang="ko-KR" dirty="0" err="1"/>
              <a:t>cố</a:t>
            </a:r>
            <a:r>
              <a:rPr lang="en-US" altLang="ko-KR" dirty="0"/>
              <a:t> </a:t>
            </a:r>
            <a:r>
              <a:rPr lang="en-US" altLang="ko-KR" dirty="0" err="1"/>
              <a:t>định</a:t>
            </a:r>
            <a:endParaRPr lang="en-US" altLang="ko-KR" dirty="0"/>
          </a:p>
          <a:p>
            <a:r>
              <a:rPr lang="en-US" altLang="ko-KR" dirty="0"/>
              <a:t>2) </a:t>
            </a:r>
            <a:r>
              <a:rPr lang="vi-VN" altLang="ko-KR" dirty="0"/>
              <a:t>Mô tả trên chứng từ sẽ được tự động điền, nên không cần phải ghi riêng.</a:t>
            </a:r>
            <a:br>
              <a:rPr lang="en-US" altLang="ko-KR" dirty="0"/>
            </a:br>
            <a:r>
              <a:rPr lang="en-US" altLang="ko-KR" dirty="0"/>
              <a:t>3) </a:t>
            </a:r>
            <a:r>
              <a:rPr lang="vi-VN" altLang="ko-KR" dirty="0"/>
              <a:t>Ngày thanh toán khi chứng từ được phát hành.</a:t>
            </a:r>
            <a:endParaRPr lang="en-US" altLang="ko-KR" dirty="0"/>
          </a:p>
          <a:p>
            <a:r>
              <a:rPr lang="en-US" altLang="ko-KR" dirty="0"/>
              <a:t>4) </a:t>
            </a:r>
            <a:r>
              <a:rPr lang="vi-VN" altLang="ko-KR" dirty="0"/>
              <a:t>Số thông quan, số B/L được nhập trong tài liệu trước đó</a:t>
            </a:r>
            <a:br>
              <a:rPr lang="en-US" altLang="ko-KR" dirty="0"/>
            </a:br>
            <a:r>
              <a:rPr lang="en-US" altLang="ko-KR" dirty="0"/>
              <a:t>5) </a:t>
            </a:r>
            <a:r>
              <a:rPr lang="vi-VN" altLang="ko-KR" dirty="0"/>
              <a:t>Khi đăng ký các chi phí phụ (ví dụ: chi phí vận chuyển) và chi phí thông quan, số tiền sẽ được hiển thị.</a:t>
            </a:r>
            <a:br>
              <a:rPr lang="en-US" altLang="ko-KR" dirty="0"/>
            </a:br>
            <a:r>
              <a:rPr lang="en-US" altLang="ko-KR" dirty="0"/>
              <a:t>6) </a:t>
            </a:r>
            <a:r>
              <a:rPr lang="vi-VN" altLang="ko-KR" dirty="0"/>
              <a:t>Số lượng và giá trị của các mặt hàng đã nhập kho, cùng với số tiền thanh toán dựa trên tỷ lệ thuế nhập khẩu.</a:t>
            </a:r>
            <a:endParaRPr lang="ko-KR" altLang="en-US" dirty="0"/>
          </a:p>
        </p:txBody>
      </p:sp>
      <p:sp>
        <p:nvSpPr>
          <p:cNvPr id="17" name="TextBox 16">
            <a:extLst>
              <a:ext uri="{FF2B5EF4-FFF2-40B4-BE49-F238E27FC236}">
                <a16:creationId xmlns:a16="http://schemas.microsoft.com/office/drawing/2014/main" id="{A4D370A4-1298-5D22-BCA2-D85D553047C9}"/>
              </a:ext>
            </a:extLst>
          </p:cNvPr>
          <p:cNvSpPr txBox="1"/>
          <p:nvPr/>
        </p:nvSpPr>
        <p:spPr>
          <a:xfrm>
            <a:off x="159154" y="1302795"/>
            <a:ext cx="8288160" cy="307777"/>
          </a:xfrm>
          <a:prstGeom prst="rect">
            <a:avLst/>
          </a:prstGeom>
          <a:noFill/>
        </p:spPr>
        <p:txBody>
          <a:bodyPr wrap="square">
            <a:spAutoFit/>
          </a:bodyPr>
          <a:lstStyle/>
          <a:p>
            <a:r>
              <a:rPr lang="vi-VN" altLang="ko-KR" b="1" dirty="0"/>
              <a:t>Trong trường hợp nhập khẩu</a:t>
            </a:r>
            <a:endParaRPr lang="ko-KR" altLang="en-US" b="1" dirty="0"/>
          </a:p>
        </p:txBody>
      </p:sp>
      <p:sp>
        <p:nvSpPr>
          <p:cNvPr id="27" name="직사각형 26">
            <a:extLst>
              <a:ext uri="{FF2B5EF4-FFF2-40B4-BE49-F238E27FC236}">
                <a16:creationId xmlns:a16="http://schemas.microsoft.com/office/drawing/2014/main" id="{CCE55B65-CE55-1CED-DB39-FBCF4567A110}"/>
              </a:ext>
            </a:extLst>
          </p:cNvPr>
          <p:cNvSpPr/>
          <p:nvPr/>
        </p:nvSpPr>
        <p:spPr>
          <a:xfrm>
            <a:off x="446426" y="2299396"/>
            <a:ext cx="4013452" cy="26627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18" name="타원 17">
            <a:extLst>
              <a:ext uri="{FF2B5EF4-FFF2-40B4-BE49-F238E27FC236}">
                <a16:creationId xmlns:a16="http://schemas.microsoft.com/office/drawing/2014/main" id="{6F3C43AD-B54B-418C-C7CF-178AD6A182D3}"/>
              </a:ext>
            </a:extLst>
          </p:cNvPr>
          <p:cNvSpPr/>
          <p:nvPr/>
        </p:nvSpPr>
        <p:spPr>
          <a:xfrm>
            <a:off x="401793" y="2249762"/>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1</a:t>
            </a:r>
            <a:endParaRPr lang="ko-KR" altLang="en-US" sz="900" dirty="0"/>
          </a:p>
        </p:txBody>
      </p:sp>
      <p:sp>
        <p:nvSpPr>
          <p:cNvPr id="22" name="타원 21">
            <a:extLst>
              <a:ext uri="{FF2B5EF4-FFF2-40B4-BE49-F238E27FC236}">
                <a16:creationId xmlns:a16="http://schemas.microsoft.com/office/drawing/2014/main" id="{8CAF8657-9C80-A3CB-E141-4434A9D09DE9}"/>
              </a:ext>
            </a:extLst>
          </p:cNvPr>
          <p:cNvSpPr/>
          <p:nvPr/>
        </p:nvSpPr>
        <p:spPr>
          <a:xfrm>
            <a:off x="401793" y="2753288"/>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2</a:t>
            </a:r>
            <a:endParaRPr lang="ko-KR" altLang="en-US" sz="900" dirty="0"/>
          </a:p>
        </p:txBody>
      </p:sp>
      <p:sp>
        <p:nvSpPr>
          <p:cNvPr id="24" name="타원 23">
            <a:extLst>
              <a:ext uri="{FF2B5EF4-FFF2-40B4-BE49-F238E27FC236}">
                <a16:creationId xmlns:a16="http://schemas.microsoft.com/office/drawing/2014/main" id="{9E3C7F43-EA08-4993-F66E-D1AA89A561B9}"/>
              </a:ext>
            </a:extLst>
          </p:cNvPr>
          <p:cNvSpPr/>
          <p:nvPr/>
        </p:nvSpPr>
        <p:spPr>
          <a:xfrm>
            <a:off x="4533874" y="2753288"/>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3</a:t>
            </a:r>
            <a:endParaRPr lang="ko-KR" altLang="en-US" sz="900" dirty="0"/>
          </a:p>
        </p:txBody>
      </p:sp>
      <p:sp>
        <p:nvSpPr>
          <p:cNvPr id="25" name="타원 24">
            <a:extLst>
              <a:ext uri="{FF2B5EF4-FFF2-40B4-BE49-F238E27FC236}">
                <a16:creationId xmlns:a16="http://schemas.microsoft.com/office/drawing/2014/main" id="{3EB27DFD-D66E-FB22-7A90-F6184674BCFD}"/>
              </a:ext>
            </a:extLst>
          </p:cNvPr>
          <p:cNvSpPr/>
          <p:nvPr/>
        </p:nvSpPr>
        <p:spPr>
          <a:xfrm>
            <a:off x="4533874" y="3110340"/>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5</a:t>
            </a:r>
            <a:endParaRPr lang="ko-KR" altLang="en-US" sz="900" dirty="0"/>
          </a:p>
        </p:txBody>
      </p:sp>
      <p:sp>
        <p:nvSpPr>
          <p:cNvPr id="28" name="직사각형 27">
            <a:extLst>
              <a:ext uri="{FF2B5EF4-FFF2-40B4-BE49-F238E27FC236}">
                <a16:creationId xmlns:a16="http://schemas.microsoft.com/office/drawing/2014/main" id="{57D36B23-9D1B-C954-3EAA-D6628DAEF9AF}"/>
              </a:ext>
            </a:extLst>
          </p:cNvPr>
          <p:cNvSpPr/>
          <p:nvPr/>
        </p:nvSpPr>
        <p:spPr>
          <a:xfrm>
            <a:off x="446425" y="2753289"/>
            <a:ext cx="4013452" cy="26627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29" name="직사각형 28">
            <a:extLst>
              <a:ext uri="{FF2B5EF4-FFF2-40B4-BE49-F238E27FC236}">
                <a16:creationId xmlns:a16="http://schemas.microsoft.com/office/drawing/2014/main" id="{BF282815-157D-3539-69A0-0596FC7D6ED7}"/>
              </a:ext>
            </a:extLst>
          </p:cNvPr>
          <p:cNvSpPr/>
          <p:nvPr/>
        </p:nvSpPr>
        <p:spPr>
          <a:xfrm>
            <a:off x="4684125" y="2753289"/>
            <a:ext cx="1890846" cy="26627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30" name="직사각형 29">
            <a:extLst>
              <a:ext uri="{FF2B5EF4-FFF2-40B4-BE49-F238E27FC236}">
                <a16:creationId xmlns:a16="http://schemas.microsoft.com/office/drawing/2014/main" id="{122C5516-B2FC-0BB6-8CDA-220556B9F341}"/>
              </a:ext>
            </a:extLst>
          </p:cNvPr>
          <p:cNvSpPr/>
          <p:nvPr/>
        </p:nvSpPr>
        <p:spPr>
          <a:xfrm>
            <a:off x="4651577" y="3235584"/>
            <a:ext cx="4013452" cy="19127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31" name="타원 30">
            <a:extLst>
              <a:ext uri="{FF2B5EF4-FFF2-40B4-BE49-F238E27FC236}">
                <a16:creationId xmlns:a16="http://schemas.microsoft.com/office/drawing/2014/main" id="{1BFFD762-B98C-6049-5B78-B26DDB9D8C0A}"/>
              </a:ext>
            </a:extLst>
          </p:cNvPr>
          <p:cNvSpPr/>
          <p:nvPr/>
        </p:nvSpPr>
        <p:spPr>
          <a:xfrm>
            <a:off x="396573" y="3124011"/>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4</a:t>
            </a:r>
            <a:endParaRPr lang="ko-KR" altLang="en-US" sz="900" dirty="0"/>
          </a:p>
        </p:txBody>
      </p:sp>
      <p:sp>
        <p:nvSpPr>
          <p:cNvPr id="32" name="직사각형 31">
            <a:extLst>
              <a:ext uri="{FF2B5EF4-FFF2-40B4-BE49-F238E27FC236}">
                <a16:creationId xmlns:a16="http://schemas.microsoft.com/office/drawing/2014/main" id="{EB21D61B-0FF6-FED2-094D-384958383F81}"/>
              </a:ext>
            </a:extLst>
          </p:cNvPr>
          <p:cNvSpPr/>
          <p:nvPr/>
        </p:nvSpPr>
        <p:spPr>
          <a:xfrm>
            <a:off x="446425" y="3249255"/>
            <a:ext cx="4013452" cy="19127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33" name="직사각형 32">
            <a:extLst>
              <a:ext uri="{FF2B5EF4-FFF2-40B4-BE49-F238E27FC236}">
                <a16:creationId xmlns:a16="http://schemas.microsoft.com/office/drawing/2014/main" id="{3EB5FD66-F6FF-76F5-EAB9-2B72DAD9D990}"/>
              </a:ext>
            </a:extLst>
          </p:cNvPr>
          <p:cNvSpPr/>
          <p:nvPr/>
        </p:nvSpPr>
        <p:spPr>
          <a:xfrm>
            <a:off x="289781" y="3717807"/>
            <a:ext cx="8471041" cy="120253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34" name="타원 33">
            <a:extLst>
              <a:ext uri="{FF2B5EF4-FFF2-40B4-BE49-F238E27FC236}">
                <a16:creationId xmlns:a16="http://schemas.microsoft.com/office/drawing/2014/main" id="{E9706434-5990-D322-A93B-52FA45CB8178}"/>
              </a:ext>
            </a:extLst>
          </p:cNvPr>
          <p:cNvSpPr/>
          <p:nvPr/>
        </p:nvSpPr>
        <p:spPr>
          <a:xfrm>
            <a:off x="265475" y="3845846"/>
            <a:ext cx="235406"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6</a:t>
            </a:r>
            <a:endParaRPr lang="ko-KR" altLang="en-US" sz="900" dirty="0"/>
          </a:p>
        </p:txBody>
      </p:sp>
      <p:sp>
        <p:nvSpPr>
          <p:cNvPr id="2" name="Google Shape;100;p7">
            <a:extLst>
              <a:ext uri="{FF2B5EF4-FFF2-40B4-BE49-F238E27FC236}">
                <a16:creationId xmlns:a16="http://schemas.microsoft.com/office/drawing/2014/main" id="{60A7379C-7FF1-257F-FA16-531E5AF0B70A}"/>
              </a:ext>
            </a:extLst>
          </p:cNvPr>
          <p:cNvSpPr/>
          <p:nvPr/>
        </p:nvSpPr>
        <p:spPr>
          <a:xfrm>
            <a:off x="159154" y="789126"/>
            <a:ext cx="8915177"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dirty="0">
                <a:solidFill>
                  <a:schemeClr val="tx1"/>
                </a:solidFill>
                <a:highlight>
                  <a:srgbClr val="FFFF00"/>
                </a:highlight>
                <a:latin typeface="+mn-ea"/>
                <a:ea typeface="+mn-ea"/>
                <a:cs typeface="Calibri"/>
                <a:sym typeface="Calibri"/>
              </a:rPr>
              <a:t>Purchase Resolution Document (Electronic document - Cost Management )</a:t>
            </a:r>
            <a:endParaRPr lang="en-US" sz="1200" b="1" i="0" u="none" strike="noStrike" cap="none" dirty="0">
              <a:solidFill>
                <a:schemeClr val="tx1"/>
              </a:solidFill>
              <a:highlight>
                <a:srgbClr val="FFFF00"/>
              </a:highlight>
              <a:latin typeface="+mn-ea"/>
              <a:ea typeface="+mn-ea"/>
              <a:cs typeface="Calibri"/>
              <a:sym typeface="Calibri"/>
            </a:endParaRPr>
          </a:p>
        </p:txBody>
      </p:sp>
      <p:sp>
        <p:nvSpPr>
          <p:cNvPr id="3" name="제목 1">
            <a:extLst>
              <a:ext uri="{FF2B5EF4-FFF2-40B4-BE49-F238E27FC236}">
                <a16:creationId xmlns:a16="http://schemas.microsoft.com/office/drawing/2014/main" id="{F29E2E2B-BDB3-B13B-255A-974358CE44B9}"/>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Process Flow for Groupware Document (Purchase Closing)</a:t>
            </a:r>
          </a:p>
        </p:txBody>
      </p:sp>
    </p:spTree>
    <p:extLst>
      <p:ext uri="{BB962C8B-B14F-4D97-AF65-F5344CB8AC3E}">
        <p14:creationId xmlns:p14="http://schemas.microsoft.com/office/powerpoint/2010/main" val="7798395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CD322-66AA-76B6-2059-EFE618E9DFAE}"/>
            </a:ext>
          </a:extLst>
        </p:cNvPr>
        <p:cNvGrpSpPr/>
        <p:nvPr/>
      </p:nvGrpSpPr>
      <p:grpSpPr>
        <a:xfrm>
          <a:off x="0" y="0"/>
          <a:ext cx="0" cy="0"/>
          <a:chOff x="0" y="0"/>
          <a:chExt cx="0" cy="0"/>
        </a:xfrm>
      </p:grpSpPr>
      <p:sp>
        <p:nvSpPr>
          <p:cNvPr id="6" name="Google Shape;100;p7">
            <a:extLst>
              <a:ext uri="{FF2B5EF4-FFF2-40B4-BE49-F238E27FC236}">
                <a16:creationId xmlns:a16="http://schemas.microsoft.com/office/drawing/2014/main" id="{EC70EA52-C53B-7481-0B37-9912650F715C}"/>
              </a:ext>
            </a:extLst>
          </p:cNvPr>
          <p:cNvSpPr/>
          <p:nvPr/>
        </p:nvSpPr>
        <p:spPr>
          <a:xfrm>
            <a:off x="159154" y="789126"/>
            <a:ext cx="8505875"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dirty="0">
                <a:solidFill>
                  <a:schemeClr val="tx1"/>
                </a:solidFill>
                <a:highlight>
                  <a:srgbClr val="FFFF00"/>
                </a:highlight>
                <a:latin typeface="+mn-ea"/>
                <a:ea typeface="+mn-ea"/>
                <a:cs typeface="Calibri"/>
                <a:sym typeface="Calibri"/>
              </a:rPr>
              <a:t>Purchase Resolution Document ( Electronic document - Cost Management )</a:t>
            </a:r>
            <a:endParaRPr lang="en-US" sz="1200" b="1" i="0" u="none" strike="noStrike" cap="none" dirty="0">
              <a:solidFill>
                <a:schemeClr val="tx1"/>
              </a:solidFill>
              <a:highlight>
                <a:srgbClr val="FFFF00"/>
              </a:highlight>
              <a:latin typeface="+mn-ea"/>
              <a:ea typeface="+mn-ea"/>
              <a:cs typeface="Calibri"/>
              <a:sym typeface="Calibri"/>
            </a:endParaRPr>
          </a:p>
        </p:txBody>
      </p:sp>
      <p:pic>
        <p:nvPicPr>
          <p:cNvPr id="10" name="그림 9">
            <a:extLst>
              <a:ext uri="{FF2B5EF4-FFF2-40B4-BE49-F238E27FC236}">
                <a16:creationId xmlns:a16="http://schemas.microsoft.com/office/drawing/2014/main" id="{4AD2572F-1C62-9257-DCB2-3D7038E879F6}"/>
              </a:ext>
            </a:extLst>
          </p:cNvPr>
          <p:cNvPicPr>
            <a:picLocks noChangeAspect="1"/>
          </p:cNvPicPr>
          <p:nvPr/>
        </p:nvPicPr>
        <p:blipFill>
          <a:blip r:embed="rId3"/>
          <a:stretch>
            <a:fillRect/>
          </a:stretch>
        </p:blipFill>
        <p:spPr>
          <a:xfrm>
            <a:off x="159154" y="1159105"/>
            <a:ext cx="8767132" cy="1510901"/>
          </a:xfrm>
          <a:prstGeom prst="rect">
            <a:avLst/>
          </a:prstGeom>
        </p:spPr>
      </p:pic>
      <p:sp>
        <p:nvSpPr>
          <p:cNvPr id="29" name="직사각형 28">
            <a:extLst>
              <a:ext uri="{FF2B5EF4-FFF2-40B4-BE49-F238E27FC236}">
                <a16:creationId xmlns:a16="http://schemas.microsoft.com/office/drawing/2014/main" id="{696B7D84-B645-E0BA-1421-AA698DF8B3FB}"/>
              </a:ext>
            </a:extLst>
          </p:cNvPr>
          <p:cNvSpPr/>
          <p:nvPr/>
        </p:nvSpPr>
        <p:spPr>
          <a:xfrm>
            <a:off x="7094000" y="1127640"/>
            <a:ext cx="874343" cy="17735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cxnSp>
        <p:nvCxnSpPr>
          <p:cNvPr id="3" name="연결선: 꺾임 2">
            <a:extLst>
              <a:ext uri="{FF2B5EF4-FFF2-40B4-BE49-F238E27FC236}">
                <a16:creationId xmlns:a16="http://schemas.microsoft.com/office/drawing/2014/main" id="{5541A340-67E2-CE1F-767D-80B734CDEDD1}"/>
              </a:ext>
            </a:extLst>
          </p:cNvPr>
          <p:cNvCxnSpPr>
            <a:cxnSpLocks/>
            <a:stCxn id="29" idx="2"/>
            <a:endCxn id="8" idx="3"/>
          </p:cNvCxnSpPr>
          <p:nvPr/>
        </p:nvCxnSpPr>
        <p:spPr>
          <a:xfrm rot="5400000">
            <a:off x="4385220" y="-475946"/>
            <a:ext cx="1365014" cy="4926891"/>
          </a:xfrm>
          <a:prstGeom prst="bentConnector2">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CE6C47AE-F5DD-7F81-9664-C103706A4C96}"/>
              </a:ext>
            </a:extLst>
          </p:cNvPr>
          <p:cNvPicPr>
            <a:picLocks noChangeAspect="1"/>
          </p:cNvPicPr>
          <p:nvPr/>
        </p:nvPicPr>
        <p:blipFill>
          <a:blip r:embed="rId4"/>
          <a:stretch>
            <a:fillRect/>
          </a:stretch>
        </p:blipFill>
        <p:spPr>
          <a:xfrm>
            <a:off x="159154" y="1313646"/>
            <a:ext cx="2445127" cy="2712720"/>
          </a:xfrm>
          <a:prstGeom prst="rect">
            <a:avLst/>
          </a:prstGeom>
          <a:ln w="22225">
            <a:solidFill>
              <a:srgbClr val="FF0000"/>
            </a:solidFill>
          </a:ln>
        </p:spPr>
      </p:pic>
      <p:sp>
        <p:nvSpPr>
          <p:cNvPr id="12" name="TextBox 11">
            <a:extLst>
              <a:ext uri="{FF2B5EF4-FFF2-40B4-BE49-F238E27FC236}">
                <a16:creationId xmlns:a16="http://schemas.microsoft.com/office/drawing/2014/main" id="{4C9E163F-23C2-15C3-4A49-EE2B9C7A81C2}"/>
              </a:ext>
            </a:extLst>
          </p:cNvPr>
          <p:cNvSpPr txBox="1"/>
          <p:nvPr/>
        </p:nvSpPr>
        <p:spPr>
          <a:xfrm>
            <a:off x="2683862" y="2824965"/>
            <a:ext cx="6368144" cy="523220"/>
          </a:xfrm>
          <a:prstGeom prst="rect">
            <a:avLst/>
          </a:prstGeom>
          <a:noFill/>
        </p:spPr>
        <p:txBody>
          <a:bodyPr wrap="square">
            <a:spAutoFit/>
          </a:bodyPr>
          <a:lstStyle/>
          <a:p>
            <a:r>
              <a:rPr lang="en-US" altLang="ko-KR" b="1" dirty="0"/>
              <a:t>1. </a:t>
            </a:r>
            <a:r>
              <a:rPr lang="en-US" altLang="ko-KR" b="1" dirty="0" err="1"/>
              <a:t>Chọn</a:t>
            </a:r>
            <a:r>
              <a:rPr lang="en-US" altLang="ko-KR" b="1" dirty="0"/>
              <a:t> </a:t>
            </a:r>
            <a:r>
              <a:rPr lang="en-US" altLang="ko-KR" b="1" dirty="0" err="1"/>
              <a:t>đối</a:t>
            </a:r>
            <a:r>
              <a:rPr lang="en-US" altLang="ko-KR" b="1" dirty="0"/>
              <a:t> </a:t>
            </a:r>
            <a:r>
              <a:rPr lang="en-US" altLang="ko-KR" b="1" dirty="0" err="1"/>
              <a:t>tác</a:t>
            </a:r>
            <a:r>
              <a:rPr lang="en-US" altLang="ko-KR" b="1" dirty="0"/>
              <a:t> </a:t>
            </a:r>
            <a:r>
              <a:rPr lang="en-US" altLang="ko-KR" b="1" dirty="0" err="1"/>
              <a:t>cần</a:t>
            </a:r>
            <a:r>
              <a:rPr lang="en-US" altLang="ko-KR" b="1" dirty="0"/>
              <a:t> </a:t>
            </a:r>
            <a:r>
              <a:rPr lang="en-US" altLang="ko-KR" b="1" dirty="0" err="1"/>
              <a:t>thanh</a:t>
            </a:r>
            <a:r>
              <a:rPr lang="en-US" altLang="ko-KR" b="1" dirty="0"/>
              <a:t> </a:t>
            </a:r>
            <a:r>
              <a:rPr lang="en-US" altLang="ko-KR" b="1" dirty="0" err="1"/>
              <a:t>toán</a:t>
            </a:r>
            <a:r>
              <a:rPr lang="en-US" altLang="ko-KR" b="1" dirty="0"/>
              <a:t> </a:t>
            </a:r>
            <a:r>
              <a:rPr lang="en-US" altLang="ko-KR" b="1" dirty="0" err="1"/>
              <a:t>các</a:t>
            </a:r>
            <a:r>
              <a:rPr lang="en-US" altLang="ko-KR" b="1" dirty="0"/>
              <a:t> chi </a:t>
            </a:r>
            <a:r>
              <a:rPr lang="en-US" altLang="ko-KR" b="1" dirty="0" err="1"/>
              <a:t>phí</a:t>
            </a:r>
            <a:r>
              <a:rPr lang="en-US" altLang="ko-KR" b="1" dirty="0"/>
              <a:t> </a:t>
            </a:r>
            <a:r>
              <a:rPr lang="en-US" altLang="ko-KR" b="1" dirty="0" err="1"/>
              <a:t>phụ</a:t>
            </a:r>
            <a:r>
              <a:rPr lang="en-US" altLang="ko-KR" b="1" dirty="0"/>
              <a:t> (chi </a:t>
            </a:r>
            <a:r>
              <a:rPr lang="en-US" altLang="ko-KR" b="1" dirty="0" err="1"/>
              <a:t>phí</a:t>
            </a:r>
            <a:r>
              <a:rPr lang="en-US" altLang="ko-KR" b="1" dirty="0"/>
              <a:t> </a:t>
            </a:r>
            <a:r>
              <a:rPr lang="en-US" altLang="ko-KR" b="1" dirty="0" err="1"/>
              <a:t>vận</a:t>
            </a:r>
            <a:r>
              <a:rPr lang="en-US" altLang="ko-KR" b="1" dirty="0"/>
              <a:t> </a:t>
            </a:r>
            <a:r>
              <a:rPr lang="en-US" altLang="ko-KR" b="1" dirty="0" err="1"/>
              <a:t>chuyển</a:t>
            </a:r>
            <a:r>
              <a:rPr lang="en-US" altLang="ko-KR" b="1" dirty="0"/>
              <a:t>, v.v.) </a:t>
            </a:r>
            <a:r>
              <a:rPr lang="en-US" altLang="ko-KR" b="1" dirty="0" err="1"/>
              <a:t>và</a:t>
            </a:r>
            <a:r>
              <a:rPr lang="en-US" altLang="ko-KR" b="1" dirty="0"/>
              <a:t> chi </a:t>
            </a:r>
            <a:r>
              <a:rPr lang="en-US" altLang="ko-KR" b="1" dirty="0" err="1"/>
              <a:t>phí</a:t>
            </a:r>
            <a:r>
              <a:rPr lang="en-US" altLang="ko-KR" b="1" dirty="0"/>
              <a:t> </a:t>
            </a:r>
            <a:r>
              <a:rPr lang="en-US" altLang="ko-KR" b="1" dirty="0" err="1"/>
              <a:t>thông</a:t>
            </a:r>
            <a:r>
              <a:rPr lang="en-US" altLang="ko-KR" b="1" dirty="0"/>
              <a:t> </a:t>
            </a:r>
            <a:r>
              <a:rPr lang="en-US" altLang="ko-KR" b="1" dirty="0" err="1"/>
              <a:t>quan</a:t>
            </a:r>
            <a:endParaRPr lang="ko-KR" altLang="en-US" b="1" dirty="0"/>
          </a:p>
        </p:txBody>
      </p:sp>
      <p:pic>
        <p:nvPicPr>
          <p:cNvPr id="19" name="그림 18">
            <a:extLst>
              <a:ext uri="{FF2B5EF4-FFF2-40B4-BE49-F238E27FC236}">
                <a16:creationId xmlns:a16="http://schemas.microsoft.com/office/drawing/2014/main" id="{83E68144-F5AE-6B31-691D-43F3D6F55628}"/>
              </a:ext>
            </a:extLst>
          </p:cNvPr>
          <p:cNvPicPr>
            <a:picLocks noChangeAspect="1"/>
          </p:cNvPicPr>
          <p:nvPr/>
        </p:nvPicPr>
        <p:blipFill>
          <a:blip r:embed="rId5"/>
          <a:stretch>
            <a:fillRect/>
          </a:stretch>
        </p:blipFill>
        <p:spPr>
          <a:xfrm>
            <a:off x="159154" y="4612659"/>
            <a:ext cx="8767132" cy="1863390"/>
          </a:xfrm>
          <a:prstGeom prst="rect">
            <a:avLst/>
          </a:prstGeom>
          <a:ln w="22225">
            <a:solidFill>
              <a:srgbClr val="FF0000"/>
            </a:solidFill>
          </a:ln>
        </p:spPr>
      </p:pic>
      <p:sp>
        <p:nvSpPr>
          <p:cNvPr id="21" name="화살표: 아래쪽 20">
            <a:extLst>
              <a:ext uri="{FF2B5EF4-FFF2-40B4-BE49-F238E27FC236}">
                <a16:creationId xmlns:a16="http://schemas.microsoft.com/office/drawing/2014/main" id="{CF6E31D1-1B44-7F90-2A54-F1FEC535BA76}"/>
              </a:ext>
            </a:extLst>
          </p:cNvPr>
          <p:cNvSpPr/>
          <p:nvPr/>
        </p:nvSpPr>
        <p:spPr>
          <a:xfrm>
            <a:off x="820014" y="4129448"/>
            <a:ext cx="860740" cy="328386"/>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제목 1">
            <a:extLst>
              <a:ext uri="{FF2B5EF4-FFF2-40B4-BE49-F238E27FC236}">
                <a16:creationId xmlns:a16="http://schemas.microsoft.com/office/drawing/2014/main" id="{72A4B3DF-6BF8-E767-41CD-9320DD902C6A}"/>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Process Flow for Groupware Document (Purchase Closing)</a:t>
            </a:r>
          </a:p>
        </p:txBody>
      </p:sp>
    </p:spTree>
    <p:extLst>
      <p:ext uri="{BB962C8B-B14F-4D97-AF65-F5344CB8AC3E}">
        <p14:creationId xmlns:p14="http://schemas.microsoft.com/office/powerpoint/2010/main" val="15072463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B0E36-DEBB-ED4C-DA40-EB4BFEFFF387}"/>
            </a:ext>
          </a:extLst>
        </p:cNvPr>
        <p:cNvGrpSpPr/>
        <p:nvPr/>
      </p:nvGrpSpPr>
      <p:grpSpPr>
        <a:xfrm>
          <a:off x="0" y="0"/>
          <a:ext cx="0" cy="0"/>
          <a:chOff x="0" y="0"/>
          <a:chExt cx="0" cy="0"/>
        </a:xfrm>
      </p:grpSpPr>
      <p:sp>
        <p:nvSpPr>
          <p:cNvPr id="6" name="Google Shape;100;p7">
            <a:extLst>
              <a:ext uri="{FF2B5EF4-FFF2-40B4-BE49-F238E27FC236}">
                <a16:creationId xmlns:a16="http://schemas.microsoft.com/office/drawing/2014/main" id="{055CB81E-B7EB-4701-7695-CECCFA9A40A3}"/>
              </a:ext>
            </a:extLst>
          </p:cNvPr>
          <p:cNvSpPr/>
          <p:nvPr/>
        </p:nvSpPr>
        <p:spPr>
          <a:xfrm>
            <a:off x="159154" y="789126"/>
            <a:ext cx="8427497"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dirty="0">
                <a:solidFill>
                  <a:schemeClr val="tx1"/>
                </a:solidFill>
                <a:highlight>
                  <a:srgbClr val="FFFF00"/>
                </a:highlight>
                <a:latin typeface="+mn-ea"/>
                <a:ea typeface="+mn-ea"/>
                <a:cs typeface="Calibri"/>
                <a:sym typeface="Calibri"/>
              </a:rPr>
              <a:t>Purchase Resolution Document (Electronic document - Cost Management )</a:t>
            </a:r>
            <a:endParaRPr lang="en-US" sz="1200" b="1" i="0" u="none" strike="noStrike" cap="none" dirty="0">
              <a:solidFill>
                <a:schemeClr val="tx1"/>
              </a:solidFill>
              <a:highlight>
                <a:srgbClr val="FFFF00"/>
              </a:highlight>
              <a:latin typeface="+mn-ea"/>
              <a:ea typeface="+mn-ea"/>
              <a:cs typeface="Calibri"/>
              <a:sym typeface="Calibri"/>
            </a:endParaRPr>
          </a:p>
        </p:txBody>
      </p:sp>
      <p:pic>
        <p:nvPicPr>
          <p:cNvPr id="19" name="그림 18">
            <a:extLst>
              <a:ext uri="{FF2B5EF4-FFF2-40B4-BE49-F238E27FC236}">
                <a16:creationId xmlns:a16="http://schemas.microsoft.com/office/drawing/2014/main" id="{D088CA98-A2F6-EB2B-E5E3-E3B7B458CD1C}"/>
              </a:ext>
            </a:extLst>
          </p:cNvPr>
          <p:cNvPicPr>
            <a:picLocks noChangeAspect="1"/>
          </p:cNvPicPr>
          <p:nvPr/>
        </p:nvPicPr>
        <p:blipFill>
          <a:blip r:embed="rId3"/>
          <a:stretch>
            <a:fillRect/>
          </a:stretch>
        </p:blipFill>
        <p:spPr>
          <a:xfrm>
            <a:off x="159154" y="1224417"/>
            <a:ext cx="8767132" cy="1901960"/>
          </a:xfrm>
          <a:prstGeom prst="rect">
            <a:avLst/>
          </a:prstGeom>
          <a:ln w="22225">
            <a:noFill/>
          </a:ln>
        </p:spPr>
      </p:pic>
      <p:sp>
        <p:nvSpPr>
          <p:cNvPr id="23" name="직사각형 22">
            <a:extLst>
              <a:ext uri="{FF2B5EF4-FFF2-40B4-BE49-F238E27FC236}">
                <a16:creationId xmlns:a16="http://schemas.microsoft.com/office/drawing/2014/main" id="{B85B5067-209D-ED2D-46F2-F737717AAE82}"/>
              </a:ext>
            </a:extLst>
          </p:cNvPr>
          <p:cNvSpPr/>
          <p:nvPr/>
        </p:nvSpPr>
        <p:spPr>
          <a:xfrm>
            <a:off x="262346" y="1838246"/>
            <a:ext cx="4213859" cy="2000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26" name="타원 25">
            <a:extLst>
              <a:ext uri="{FF2B5EF4-FFF2-40B4-BE49-F238E27FC236}">
                <a16:creationId xmlns:a16="http://schemas.microsoft.com/office/drawing/2014/main" id="{3F4B212A-F76B-2AB3-9EB1-07479A702E66}"/>
              </a:ext>
            </a:extLst>
          </p:cNvPr>
          <p:cNvSpPr/>
          <p:nvPr/>
        </p:nvSpPr>
        <p:spPr>
          <a:xfrm>
            <a:off x="217713" y="1738086"/>
            <a:ext cx="247161"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1</a:t>
            </a:r>
            <a:endParaRPr lang="ko-KR" altLang="en-US" sz="900" dirty="0"/>
          </a:p>
        </p:txBody>
      </p:sp>
      <p:sp>
        <p:nvSpPr>
          <p:cNvPr id="35" name="TextBox 34">
            <a:extLst>
              <a:ext uri="{FF2B5EF4-FFF2-40B4-BE49-F238E27FC236}">
                <a16:creationId xmlns:a16="http://schemas.microsoft.com/office/drawing/2014/main" id="{64AA8350-CF5E-A1FB-A574-38E3EC499BF6}"/>
              </a:ext>
            </a:extLst>
          </p:cNvPr>
          <p:cNvSpPr txBox="1"/>
          <p:nvPr/>
        </p:nvSpPr>
        <p:spPr>
          <a:xfrm>
            <a:off x="159154" y="3164651"/>
            <a:ext cx="8984846" cy="2893100"/>
          </a:xfrm>
          <a:prstGeom prst="rect">
            <a:avLst/>
          </a:prstGeom>
          <a:noFill/>
        </p:spPr>
        <p:txBody>
          <a:bodyPr wrap="square" rtlCol="0">
            <a:spAutoFit/>
          </a:bodyPr>
          <a:lstStyle/>
          <a:p>
            <a:r>
              <a:rPr lang="en-US" altLang="ko-KR" dirty="0"/>
              <a:t>1) </a:t>
            </a:r>
            <a:r>
              <a:rPr lang="en-US" altLang="ko-KR" dirty="0" err="1"/>
              <a:t>Giá</a:t>
            </a:r>
            <a:r>
              <a:rPr lang="en-US" altLang="ko-KR" dirty="0"/>
              <a:t> </a:t>
            </a:r>
            <a:r>
              <a:rPr lang="en-US" altLang="ko-KR" dirty="0" err="1"/>
              <a:t>trị</a:t>
            </a:r>
            <a:r>
              <a:rPr lang="en-US" altLang="ko-KR" dirty="0"/>
              <a:t> </a:t>
            </a:r>
            <a:r>
              <a:rPr lang="en-US" altLang="ko-KR" dirty="0" err="1"/>
              <a:t>ghi</a:t>
            </a:r>
            <a:r>
              <a:rPr lang="en-US" altLang="ko-KR" dirty="0"/>
              <a:t> </a:t>
            </a:r>
            <a:r>
              <a:rPr lang="en-US" altLang="ko-KR" dirty="0" err="1"/>
              <a:t>nợ</a:t>
            </a:r>
            <a:r>
              <a:rPr lang="en-US" altLang="ko-KR" dirty="0"/>
              <a:t> </a:t>
            </a:r>
            <a:r>
              <a:rPr lang="en-US" altLang="ko-KR" dirty="0" err="1"/>
              <a:t>và</a:t>
            </a:r>
            <a:r>
              <a:rPr lang="en-US" altLang="ko-KR" dirty="0"/>
              <a:t> </a:t>
            </a:r>
            <a:r>
              <a:rPr lang="en-US" altLang="ko-KR" dirty="0" err="1"/>
              <a:t>ghi</a:t>
            </a:r>
            <a:r>
              <a:rPr lang="en-US" altLang="ko-KR" dirty="0"/>
              <a:t> </a:t>
            </a:r>
            <a:r>
              <a:rPr lang="en-US" altLang="ko-KR" dirty="0" err="1"/>
              <a:t>có</a:t>
            </a:r>
            <a:r>
              <a:rPr lang="en-US" altLang="ko-KR" dirty="0"/>
              <a:t> </a:t>
            </a:r>
            <a:r>
              <a:rPr lang="en-US" altLang="ko-KR" dirty="0" err="1"/>
              <a:t>trên</a:t>
            </a:r>
            <a:r>
              <a:rPr lang="en-US" altLang="ko-KR" dirty="0"/>
              <a:t> </a:t>
            </a:r>
            <a:r>
              <a:rPr lang="en-US" altLang="ko-KR" dirty="0" err="1"/>
              <a:t>chứng</a:t>
            </a:r>
            <a:r>
              <a:rPr lang="en-US" altLang="ko-KR" dirty="0"/>
              <a:t> </a:t>
            </a:r>
            <a:r>
              <a:rPr lang="en-US" altLang="ko-KR" dirty="0" err="1"/>
              <a:t>từ</a:t>
            </a:r>
            <a:r>
              <a:rPr lang="en-US" altLang="ko-KR" dirty="0"/>
              <a:t> - </a:t>
            </a:r>
            <a:r>
              <a:rPr lang="en-US" altLang="ko-KR" dirty="0" err="1"/>
              <a:t>giá</a:t>
            </a:r>
            <a:r>
              <a:rPr lang="en-US" altLang="ko-KR" dirty="0"/>
              <a:t> </a:t>
            </a:r>
            <a:r>
              <a:rPr lang="en-US" altLang="ko-KR" dirty="0" err="1"/>
              <a:t>trị</a:t>
            </a:r>
            <a:r>
              <a:rPr lang="en-US" altLang="ko-KR" dirty="0"/>
              <a:t> </a:t>
            </a:r>
            <a:r>
              <a:rPr lang="en-US" altLang="ko-KR" dirty="0" err="1"/>
              <a:t>cố</a:t>
            </a:r>
            <a:r>
              <a:rPr lang="en-US" altLang="ko-KR" dirty="0"/>
              <a:t> </a:t>
            </a:r>
            <a:r>
              <a:rPr lang="en-US" altLang="ko-KR" dirty="0" err="1"/>
              <a:t>định</a:t>
            </a:r>
            <a:endParaRPr lang="en-US" altLang="ko-KR" dirty="0"/>
          </a:p>
          <a:p>
            <a:r>
              <a:rPr lang="en-US" altLang="ko-KR" dirty="0"/>
              <a:t>2) </a:t>
            </a:r>
            <a:r>
              <a:rPr lang="en-US" altLang="ko-KR" dirty="0" err="1"/>
              <a:t>Dùng</a:t>
            </a:r>
            <a:r>
              <a:rPr lang="en-US" altLang="ko-KR" dirty="0"/>
              <a:t> </a:t>
            </a:r>
            <a:r>
              <a:rPr lang="en-US" altLang="ko-KR" dirty="0" err="1"/>
              <a:t>khi</a:t>
            </a:r>
            <a:r>
              <a:rPr lang="en-US" altLang="ko-KR" dirty="0"/>
              <a:t> </a:t>
            </a:r>
            <a:r>
              <a:rPr lang="en-US" altLang="ko-KR" dirty="0" err="1"/>
              <a:t>cần</a:t>
            </a:r>
            <a:r>
              <a:rPr lang="en-US" altLang="ko-KR" dirty="0"/>
              <a:t> </a:t>
            </a:r>
            <a:r>
              <a:rPr lang="en-US" altLang="ko-KR" dirty="0" err="1"/>
              <a:t>thêm</a:t>
            </a:r>
            <a:r>
              <a:rPr lang="en-US" altLang="ko-KR" dirty="0"/>
              <a:t> </a:t>
            </a:r>
            <a:r>
              <a:rPr lang="en-US" altLang="ko-KR" dirty="0" err="1"/>
              <a:t>các</a:t>
            </a:r>
            <a:r>
              <a:rPr lang="en-US" altLang="ko-KR" dirty="0"/>
              <a:t> </a:t>
            </a:r>
            <a:r>
              <a:rPr lang="en-US" altLang="ko-KR" dirty="0" err="1"/>
              <a:t>mục</a:t>
            </a:r>
            <a:r>
              <a:rPr lang="en-US" altLang="ko-KR" dirty="0"/>
              <a:t> chi </a:t>
            </a:r>
            <a:r>
              <a:rPr lang="en-US" altLang="ko-KR" dirty="0" err="1"/>
              <a:t>phí</a:t>
            </a:r>
            <a:r>
              <a:rPr lang="en-US" altLang="ko-KR" dirty="0"/>
              <a:t> </a:t>
            </a:r>
            <a:r>
              <a:rPr lang="en-US" altLang="ko-KR" dirty="0" err="1"/>
              <a:t>phụ</a:t>
            </a:r>
            <a:r>
              <a:rPr lang="en-US" altLang="ko-KR" dirty="0"/>
              <a:t> </a:t>
            </a:r>
            <a:r>
              <a:rPr lang="en-US" altLang="ko-KR" dirty="0" err="1"/>
              <a:t>khác</a:t>
            </a:r>
            <a:r>
              <a:rPr lang="en-US" altLang="ko-KR" dirty="0"/>
              <a:t> </a:t>
            </a:r>
            <a:r>
              <a:rPr lang="en-US" altLang="ko-KR" dirty="0" err="1"/>
              <a:t>cho</a:t>
            </a:r>
            <a:r>
              <a:rPr lang="en-US" altLang="ko-KR" dirty="0"/>
              <a:t> </a:t>
            </a:r>
            <a:r>
              <a:rPr lang="en-US" altLang="ko-KR" dirty="0" err="1"/>
              <a:t>cùng</a:t>
            </a:r>
            <a:r>
              <a:rPr lang="en-US" altLang="ko-KR" dirty="0"/>
              <a:t> </a:t>
            </a:r>
            <a:r>
              <a:rPr lang="en-US" altLang="ko-KR" dirty="0" err="1"/>
              <a:t>một</a:t>
            </a:r>
            <a:r>
              <a:rPr lang="en-US" altLang="ko-KR" dirty="0"/>
              <a:t> </a:t>
            </a:r>
            <a:r>
              <a:rPr lang="en-US" altLang="ko-KR" dirty="0" err="1"/>
              <a:t>đối</a:t>
            </a:r>
            <a:r>
              <a:rPr lang="en-US" altLang="ko-KR" dirty="0"/>
              <a:t> </a:t>
            </a:r>
            <a:r>
              <a:rPr lang="en-US" altLang="ko-KR" dirty="0" err="1"/>
              <a:t>tác</a:t>
            </a:r>
            <a:endParaRPr lang="en-US" altLang="ko-KR" dirty="0"/>
          </a:p>
          <a:p>
            <a:r>
              <a:rPr lang="en-US" altLang="ko-KR" dirty="0"/>
              <a:t>3) Danh </a:t>
            </a:r>
            <a:r>
              <a:rPr lang="en-US" altLang="ko-KR" dirty="0" err="1"/>
              <a:t>sách</a:t>
            </a:r>
            <a:r>
              <a:rPr lang="en-US" altLang="ko-KR" dirty="0"/>
              <a:t> chi </a:t>
            </a:r>
            <a:r>
              <a:rPr lang="en-US" altLang="ko-KR" dirty="0" err="1"/>
              <a:t>phí</a:t>
            </a:r>
            <a:r>
              <a:rPr lang="en-US" altLang="ko-KR" dirty="0"/>
              <a:t> </a:t>
            </a:r>
            <a:r>
              <a:rPr lang="en-US" altLang="ko-KR" dirty="0" err="1"/>
              <a:t>phụ</a:t>
            </a:r>
            <a:br>
              <a:rPr lang="en-US" altLang="ko-KR" dirty="0"/>
            </a:br>
            <a:r>
              <a:rPr lang="en-US" altLang="ko-KR" dirty="0"/>
              <a:t>4) </a:t>
            </a:r>
            <a:r>
              <a:rPr lang="vi-VN" altLang="ko-KR" dirty="0"/>
              <a:t>Mô tả trên chứng từ sẽ được tự động điền, nên không cần phải ghi riêng.</a:t>
            </a:r>
            <a:endParaRPr lang="en-US" altLang="ko-KR" dirty="0"/>
          </a:p>
          <a:p>
            <a:r>
              <a:rPr lang="en-US" altLang="ko-KR" dirty="0"/>
              <a:t>5) </a:t>
            </a:r>
            <a:r>
              <a:rPr lang="en-US" altLang="ko-KR" dirty="0" err="1"/>
              <a:t>Phòng</a:t>
            </a:r>
            <a:r>
              <a:rPr lang="en-US" altLang="ko-KR" dirty="0"/>
              <a:t> ban </a:t>
            </a:r>
            <a:r>
              <a:rPr lang="en-US" altLang="ko-KR" dirty="0" err="1"/>
              <a:t>phụ</a:t>
            </a:r>
            <a:r>
              <a:rPr lang="en-US" altLang="ko-KR" dirty="0"/>
              <a:t> </a:t>
            </a:r>
            <a:r>
              <a:rPr lang="en-US" altLang="ko-KR" dirty="0" err="1"/>
              <a:t>trách</a:t>
            </a:r>
            <a:r>
              <a:rPr lang="en-US" altLang="ko-KR" dirty="0"/>
              <a:t> </a:t>
            </a:r>
            <a:r>
              <a:rPr lang="en-US" altLang="ko-KR" dirty="0" err="1"/>
              <a:t>mục</a:t>
            </a:r>
            <a:r>
              <a:rPr lang="en-US" altLang="ko-KR" dirty="0"/>
              <a:t> chi </a:t>
            </a:r>
            <a:r>
              <a:rPr lang="en-US" altLang="ko-KR" dirty="0" err="1"/>
              <a:t>phí</a:t>
            </a:r>
            <a:r>
              <a:rPr lang="en-US" altLang="ko-KR" dirty="0"/>
              <a:t> </a:t>
            </a:r>
            <a:r>
              <a:rPr lang="en-US" altLang="ko-KR" dirty="0" err="1"/>
              <a:t>phụ</a:t>
            </a:r>
            <a:r>
              <a:rPr lang="en-US" altLang="ko-KR" dirty="0"/>
              <a:t> </a:t>
            </a:r>
            <a:r>
              <a:rPr lang="en-US" altLang="ko-KR" dirty="0" err="1"/>
              <a:t>này</a:t>
            </a:r>
            <a:r>
              <a:rPr lang="en-US" altLang="ko-KR" dirty="0"/>
              <a:t>(</a:t>
            </a:r>
            <a:r>
              <a:rPr lang="en-US" altLang="ko-KR" dirty="0" err="1"/>
              <a:t>Nhóm</a:t>
            </a:r>
            <a:r>
              <a:rPr lang="en-US" altLang="ko-KR" dirty="0"/>
              <a:t> </a:t>
            </a:r>
            <a:r>
              <a:rPr lang="en-US" altLang="ko-KR" dirty="0" err="1"/>
              <a:t>mua</a:t>
            </a:r>
            <a:r>
              <a:rPr lang="en-US" altLang="ko-KR" dirty="0"/>
              <a:t> hang)</a:t>
            </a:r>
          </a:p>
          <a:p>
            <a:r>
              <a:rPr lang="en-US" altLang="ko-KR" dirty="0"/>
              <a:t>6) </a:t>
            </a:r>
            <a:r>
              <a:rPr lang="en-US" altLang="ko-KR" dirty="0" err="1"/>
              <a:t>Phát</a:t>
            </a:r>
            <a:r>
              <a:rPr lang="en-US" altLang="ko-KR" dirty="0"/>
              <a:t> </a:t>
            </a:r>
            <a:r>
              <a:rPr lang="en-US" altLang="ko-KR" dirty="0" err="1"/>
              <a:t>hành</a:t>
            </a:r>
            <a:r>
              <a:rPr lang="en-US" altLang="ko-KR" dirty="0"/>
              <a:t> </a:t>
            </a:r>
            <a:r>
              <a:rPr lang="en-US" altLang="ko-KR" dirty="0" err="1"/>
              <a:t>bảng</a:t>
            </a:r>
            <a:r>
              <a:rPr lang="en-US" altLang="ko-KR" dirty="0"/>
              <a:t> </a:t>
            </a:r>
            <a:r>
              <a:rPr lang="en-US" altLang="ko-KR" dirty="0" err="1"/>
              <a:t>kê</a:t>
            </a:r>
            <a:r>
              <a:rPr lang="en-US" altLang="ko-KR" dirty="0"/>
              <a:t> </a:t>
            </a:r>
            <a:r>
              <a:rPr lang="en-US" altLang="ko-KR" dirty="0" err="1"/>
              <a:t>giao</a:t>
            </a:r>
            <a:r>
              <a:rPr lang="en-US" altLang="ko-KR" dirty="0"/>
              <a:t> </a:t>
            </a:r>
            <a:r>
              <a:rPr lang="en-US" altLang="ko-KR" dirty="0" err="1"/>
              <a:t>dịch</a:t>
            </a:r>
            <a:r>
              <a:rPr lang="en-US" altLang="ko-KR" dirty="0"/>
              <a:t> </a:t>
            </a:r>
            <a:r>
              <a:rPr lang="en-US" altLang="ko-KR" dirty="0" err="1"/>
              <a:t>điện</a:t>
            </a:r>
            <a:r>
              <a:rPr lang="en-US" altLang="ko-KR" dirty="0"/>
              <a:t> </a:t>
            </a:r>
            <a:r>
              <a:rPr lang="en-US" altLang="ko-KR" dirty="0" err="1"/>
              <a:t>tử</a:t>
            </a:r>
            <a:r>
              <a:rPr lang="en-US" altLang="ko-KR" dirty="0"/>
              <a:t> (</a:t>
            </a:r>
            <a:r>
              <a:rPr lang="en-US" altLang="ko-KR" dirty="0" err="1"/>
              <a:t>cố</a:t>
            </a:r>
            <a:r>
              <a:rPr lang="en-US" altLang="ko-KR" dirty="0"/>
              <a:t> </a:t>
            </a:r>
            <a:r>
              <a:rPr lang="en-US" altLang="ko-KR" dirty="0" err="1"/>
              <a:t>định</a:t>
            </a:r>
            <a:r>
              <a:rPr lang="en-US" altLang="ko-KR" dirty="0"/>
              <a:t>)</a:t>
            </a:r>
          </a:p>
          <a:p>
            <a:r>
              <a:rPr lang="en-US" altLang="ko-KR" dirty="0"/>
              <a:t>7) </a:t>
            </a:r>
            <a:r>
              <a:rPr lang="en-US" altLang="ko-KR" dirty="0" err="1"/>
              <a:t>Số</a:t>
            </a:r>
            <a:r>
              <a:rPr lang="en-US" altLang="ko-KR" dirty="0"/>
              <a:t> </a:t>
            </a:r>
            <a:r>
              <a:rPr lang="en-US" altLang="ko-KR" dirty="0" err="1"/>
              <a:t>tiền</a:t>
            </a:r>
            <a:r>
              <a:rPr lang="en-US" altLang="ko-KR" dirty="0"/>
              <a:t> </a:t>
            </a:r>
            <a:r>
              <a:rPr lang="en-US" altLang="ko-KR" dirty="0" err="1"/>
              <a:t>phải</a:t>
            </a:r>
            <a:r>
              <a:rPr lang="en-US" altLang="ko-KR" dirty="0"/>
              <a:t> </a:t>
            </a:r>
            <a:r>
              <a:rPr lang="en-US" altLang="ko-KR" dirty="0" err="1"/>
              <a:t>thanh</a:t>
            </a:r>
            <a:r>
              <a:rPr lang="en-US" altLang="ko-KR" dirty="0"/>
              <a:t> </a:t>
            </a:r>
            <a:r>
              <a:rPr lang="en-US" altLang="ko-KR" dirty="0" err="1"/>
              <a:t>toán</a:t>
            </a:r>
            <a:r>
              <a:rPr lang="en-US" altLang="ko-KR" dirty="0"/>
              <a:t> </a:t>
            </a:r>
            <a:r>
              <a:rPr lang="en-US" altLang="ko-KR" dirty="0" err="1"/>
              <a:t>cho</a:t>
            </a:r>
            <a:r>
              <a:rPr lang="en-US" altLang="ko-KR" dirty="0"/>
              <a:t> </a:t>
            </a:r>
            <a:r>
              <a:rPr lang="en-US" altLang="ko-KR" dirty="0" err="1"/>
              <a:t>nhà</a:t>
            </a:r>
            <a:r>
              <a:rPr lang="en-US" altLang="ko-KR" dirty="0"/>
              <a:t> </a:t>
            </a:r>
            <a:r>
              <a:rPr lang="en-US" altLang="ko-KR" dirty="0" err="1"/>
              <a:t>cung</a:t>
            </a:r>
            <a:r>
              <a:rPr lang="en-US" altLang="ko-KR" dirty="0"/>
              <a:t> </a:t>
            </a:r>
            <a:r>
              <a:rPr lang="en-US" altLang="ko-KR" dirty="0" err="1"/>
              <a:t>cấp</a:t>
            </a:r>
            <a:r>
              <a:rPr lang="en-US" altLang="ko-KR" dirty="0"/>
              <a:t> (</a:t>
            </a:r>
            <a:r>
              <a:rPr lang="en-US" altLang="ko-KR" dirty="0" err="1"/>
              <a:t>Tổng</a:t>
            </a:r>
            <a:r>
              <a:rPr lang="en-US" altLang="ko-KR" dirty="0"/>
              <a:t> </a:t>
            </a:r>
            <a:r>
              <a:rPr lang="en-US" altLang="ko-KR" dirty="0" err="1"/>
              <a:t>số</a:t>
            </a:r>
            <a:r>
              <a:rPr lang="en-US" altLang="ko-KR" dirty="0"/>
              <a:t> </a:t>
            </a:r>
            <a:r>
              <a:rPr lang="en-US" altLang="ko-KR" dirty="0" err="1"/>
              <a:t>tiền</a:t>
            </a:r>
            <a:r>
              <a:rPr lang="en-US" altLang="ko-KR" dirty="0"/>
              <a:t> X)</a:t>
            </a:r>
          </a:p>
          <a:p>
            <a:r>
              <a:rPr lang="en-US" altLang="ko-KR" dirty="0"/>
              <a:t>8) </a:t>
            </a:r>
            <a:br>
              <a:rPr lang="en-US" altLang="ko-KR" dirty="0"/>
            </a:br>
            <a:r>
              <a:rPr lang="en-US" altLang="ko-KR" dirty="0"/>
              <a:t> - 8-1 : </a:t>
            </a:r>
            <a:r>
              <a:rPr lang="vi-VN" altLang="ko-KR" sz="1400" dirty="0"/>
              <a:t>Ngày thanh toán do người dùng chọn, không phải ngày thanh toán tự động tính toán từ số tiền đã tính</a:t>
            </a:r>
            <a:br>
              <a:rPr lang="en-US" altLang="ko-KR" sz="1400" dirty="0"/>
            </a:br>
            <a:r>
              <a:rPr lang="en-US" altLang="ko-KR" sz="1400" dirty="0"/>
              <a:t> - 8-2 : </a:t>
            </a:r>
            <a:r>
              <a:rPr lang="en-US" altLang="ko-KR" sz="1400" dirty="0" err="1"/>
              <a:t>Ngày</a:t>
            </a:r>
            <a:r>
              <a:rPr lang="en-US" altLang="ko-KR" sz="1400" dirty="0"/>
              <a:t> </a:t>
            </a:r>
            <a:r>
              <a:rPr lang="en-US" altLang="ko-KR" sz="1400" dirty="0" err="1"/>
              <a:t>thanh</a:t>
            </a:r>
            <a:r>
              <a:rPr lang="en-US" altLang="ko-KR" sz="1400" dirty="0"/>
              <a:t> </a:t>
            </a:r>
            <a:r>
              <a:rPr lang="en-US" altLang="ko-KR" sz="1400" dirty="0" err="1"/>
              <a:t>toán</a:t>
            </a:r>
            <a:r>
              <a:rPr lang="en-US" altLang="ko-KR" sz="1400" dirty="0"/>
              <a:t> </a:t>
            </a:r>
            <a:r>
              <a:rPr lang="en-US" altLang="ko-KR" sz="1400" dirty="0" err="1"/>
              <a:t>theo</a:t>
            </a:r>
            <a:r>
              <a:rPr lang="en-US" altLang="ko-KR" sz="1400" dirty="0"/>
              <a:t> </a:t>
            </a:r>
            <a:r>
              <a:rPr lang="en-US" altLang="ko-KR" sz="1400" dirty="0" err="1"/>
              <a:t>quy</a:t>
            </a:r>
            <a:r>
              <a:rPr lang="en-US" altLang="ko-KR" sz="1400" dirty="0"/>
              <a:t> </a:t>
            </a:r>
            <a:r>
              <a:rPr lang="en-US" altLang="ko-KR" sz="1400" dirty="0" err="1"/>
              <a:t>định</a:t>
            </a:r>
            <a:r>
              <a:rPr lang="en-US" altLang="ko-KR" sz="1400" dirty="0"/>
              <a:t> </a:t>
            </a:r>
            <a:r>
              <a:rPr lang="en-US" altLang="ko-KR" sz="1400" dirty="0" err="1"/>
              <a:t>của</a:t>
            </a:r>
            <a:r>
              <a:rPr lang="en-US" altLang="ko-KR" sz="1400" dirty="0"/>
              <a:t> </a:t>
            </a:r>
            <a:r>
              <a:rPr lang="en-US" altLang="ko-KR" sz="1400" dirty="0" err="1"/>
              <a:t>công</a:t>
            </a:r>
            <a:r>
              <a:rPr lang="en-US" altLang="ko-KR" sz="1400" dirty="0"/>
              <a:t> ty (</a:t>
            </a:r>
            <a:r>
              <a:rPr lang="en-US" altLang="ko-KR" sz="1400" dirty="0" err="1"/>
              <a:t>ví</a:t>
            </a:r>
            <a:r>
              <a:rPr lang="en-US" altLang="ko-KR" sz="1400" dirty="0"/>
              <a:t> </a:t>
            </a:r>
            <a:r>
              <a:rPr lang="en-US" altLang="ko-KR" sz="1400" dirty="0" err="1"/>
              <a:t>dụ</a:t>
            </a:r>
            <a:r>
              <a:rPr lang="en-US" altLang="ko-KR" sz="1400" dirty="0"/>
              <a:t>: </a:t>
            </a:r>
            <a:r>
              <a:rPr lang="en-US" altLang="ko-KR" sz="1400" dirty="0" err="1"/>
              <a:t>ngày</a:t>
            </a:r>
            <a:r>
              <a:rPr lang="en-US" altLang="ko-KR" sz="1400" dirty="0"/>
              <a:t> 15 </a:t>
            </a:r>
            <a:r>
              <a:rPr lang="en-US" altLang="ko-KR" sz="1400" dirty="0" err="1"/>
              <a:t>của</a:t>
            </a:r>
            <a:r>
              <a:rPr lang="en-US" altLang="ko-KR" sz="1400" dirty="0"/>
              <a:t> </a:t>
            </a:r>
            <a:r>
              <a:rPr lang="en-US" altLang="ko-KR" sz="1400" dirty="0" err="1"/>
              <a:t>tháng</a:t>
            </a:r>
            <a:r>
              <a:rPr lang="en-US" altLang="ko-KR" sz="1400" dirty="0"/>
              <a:t> </a:t>
            </a:r>
            <a:r>
              <a:rPr lang="en-US" altLang="ko-KR" sz="1400" dirty="0" err="1"/>
              <a:t>sau</a:t>
            </a:r>
            <a:r>
              <a:rPr lang="en-US" altLang="ko-KR" sz="1400" dirty="0"/>
              <a:t>)</a:t>
            </a:r>
          </a:p>
          <a:p>
            <a:r>
              <a:rPr lang="en-US" altLang="ko-KR" dirty="0"/>
              <a:t> - 8-3 : </a:t>
            </a:r>
            <a:r>
              <a:rPr lang="en-US" altLang="ko-KR" dirty="0" err="1"/>
              <a:t>Ngày</a:t>
            </a:r>
            <a:r>
              <a:rPr lang="en-US" altLang="ko-KR" dirty="0"/>
              <a:t> </a:t>
            </a:r>
            <a:r>
              <a:rPr lang="en-US" altLang="ko-KR" dirty="0" err="1"/>
              <a:t>phát</a:t>
            </a:r>
            <a:r>
              <a:rPr lang="en-US" altLang="ko-KR" dirty="0"/>
              <a:t> </a:t>
            </a:r>
            <a:r>
              <a:rPr lang="en-US" altLang="ko-KR" dirty="0" err="1"/>
              <a:t>hành</a:t>
            </a:r>
            <a:r>
              <a:rPr lang="en-US" altLang="ko-KR" dirty="0"/>
              <a:t> </a:t>
            </a:r>
            <a:r>
              <a:rPr lang="en-US" altLang="ko-KR" dirty="0" err="1"/>
              <a:t>liên</a:t>
            </a:r>
            <a:r>
              <a:rPr lang="en-US" altLang="ko-KR" dirty="0"/>
              <a:t> </a:t>
            </a:r>
            <a:r>
              <a:rPr lang="en-US" altLang="ko-KR" dirty="0" err="1"/>
              <a:t>quan</a:t>
            </a:r>
            <a:r>
              <a:rPr lang="en-US" altLang="ko-KR" dirty="0"/>
              <a:t> </a:t>
            </a:r>
            <a:r>
              <a:rPr lang="en-US" altLang="ko-KR" dirty="0" err="1"/>
              <a:t>đến</a:t>
            </a:r>
            <a:r>
              <a:rPr lang="en-US" altLang="ko-KR" dirty="0"/>
              <a:t> </a:t>
            </a:r>
            <a:r>
              <a:rPr lang="en-US" altLang="ko-KR" dirty="0" err="1"/>
              <a:t>số</a:t>
            </a:r>
            <a:r>
              <a:rPr lang="en-US" altLang="ko-KR" dirty="0"/>
              <a:t> </a:t>
            </a:r>
            <a:r>
              <a:rPr lang="en-US" altLang="ko-KR" dirty="0" err="1"/>
              <a:t>tiền</a:t>
            </a:r>
            <a:r>
              <a:rPr lang="en-US" altLang="ko-KR" dirty="0"/>
              <a:t> chi </a:t>
            </a:r>
            <a:r>
              <a:rPr lang="en-US" altLang="ko-KR" dirty="0" err="1"/>
              <a:t>phí</a:t>
            </a:r>
            <a:r>
              <a:rPr lang="en-US" altLang="ko-KR" dirty="0"/>
              <a:t> </a:t>
            </a:r>
            <a:r>
              <a:rPr lang="en-US" altLang="ko-KR" dirty="0" err="1"/>
              <a:t>phụ</a:t>
            </a:r>
            <a:br>
              <a:rPr lang="en-US" altLang="ko-KR" dirty="0"/>
            </a:br>
            <a:r>
              <a:rPr lang="en-US" altLang="ko-KR" dirty="0"/>
              <a:t>9) </a:t>
            </a:r>
            <a:r>
              <a:rPr lang="en-US" altLang="ko-KR" dirty="0" err="1"/>
              <a:t>Chọn</a:t>
            </a:r>
            <a:r>
              <a:rPr lang="en-US" altLang="ko-KR" dirty="0"/>
              <a:t> </a:t>
            </a:r>
            <a:r>
              <a:rPr lang="en-US" altLang="ko-KR" dirty="0" err="1"/>
              <a:t>loại</a:t>
            </a:r>
            <a:r>
              <a:rPr lang="en-US" altLang="ko-KR" dirty="0"/>
              <a:t> </a:t>
            </a:r>
            <a:r>
              <a:rPr lang="en-US" altLang="ko-KR" dirty="0" err="1"/>
              <a:t>thuế</a:t>
            </a:r>
            <a:br>
              <a:rPr lang="en-US" altLang="ko-KR" dirty="0"/>
            </a:br>
            <a:r>
              <a:rPr lang="en-US" altLang="ko-KR" dirty="0"/>
              <a:t>10) VAT</a:t>
            </a:r>
            <a:endParaRPr lang="ko-KR" altLang="en-US" dirty="0"/>
          </a:p>
        </p:txBody>
      </p:sp>
      <p:sp>
        <p:nvSpPr>
          <p:cNvPr id="36" name="직사각형 35">
            <a:extLst>
              <a:ext uri="{FF2B5EF4-FFF2-40B4-BE49-F238E27FC236}">
                <a16:creationId xmlns:a16="http://schemas.microsoft.com/office/drawing/2014/main" id="{77FAB4B6-000B-5CD9-A006-5697C61A4968}"/>
              </a:ext>
            </a:extLst>
          </p:cNvPr>
          <p:cNvSpPr/>
          <p:nvPr/>
        </p:nvSpPr>
        <p:spPr>
          <a:xfrm>
            <a:off x="262346" y="2236873"/>
            <a:ext cx="1366157" cy="2000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37" name="타원 36">
            <a:extLst>
              <a:ext uri="{FF2B5EF4-FFF2-40B4-BE49-F238E27FC236}">
                <a16:creationId xmlns:a16="http://schemas.microsoft.com/office/drawing/2014/main" id="{34AF766D-1970-8212-B556-C15195A7BB11}"/>
              </a:ext>
            </a:extLst>
          </p:cNvPr>
          <p:cNvSpPr/>
          <p:nvPr/>
        </p:nvSpPr>
        <p:spPr>
          <a:xfrm>
            <a:off x="217713" y="2154131"/>
            <a:ext cx="247161"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3</a:t>
            </a:r>
            <a:endParaRPr lang="ko-KR" altLang="en-US" sz="900" dirty="0"/>
          </a:p>
        </p:txBody>
      </p:sp>
      <p:sp>
        <p:nvSpPr>
          <p:cNvPr id="38" name="직사각형 37">
            <a:extLst>
              <a:ext uri="{FF2B5EF4-FFF2-40B4-BE49-F238E27FC236}">
                <a16:creationId xmlns:a16="http://schemas.microsoft.com/office/drawing/2014/main" id="{67A06F2C-B48E-4E0A-E2D5-2D20869D32B7}"/>
              </a:ext>
            </a:extLst>
          </p:cNvPr>
          <p:cNvSpPr/>
          <p:nvPr/>
        </p:nvSpPr>
        <p:spPr>
          <a:xfrm>
            <a:off x="1731695" y="2244294"/>
            <a:ext cx="2744510" cy="2000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39" name="타원 38">
            <a:extLst>
              <a:ext uri="{FF2B5EF4-FFF2-40B4-BE49-F238E27FC236}">
                <a16:creationId xmlns:a16="http://schemas.microsoft.com/office/drawing/2014/main" id="{CCC4C776-05B4-EFAA-9602-A19C291B9E5D}"/>
              </a:ext>
            </a:extLst>
          </p:cNvPr>
          <p:cNvSpPr/>
          <p:nvPr/>
        </p:nvSpPr>
        <p:spPr>
          <a:xfrm>
            <a:off x="1687062" y="2161552"/>
            <a:ext cx="247161"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4</a:t>
            </a:r>
            <a:endParaRPr lang="ko-KR" altLang="en-US" sz="900" dirty="0"/>
          </a:p>
        </p:txBody>
      </p:sp>
      <p:sp>
        <p:nvSpPr>
          <p:cNvPr id="40" name="직사각형 39">
            <a:extLst>
              <a:ext uri="{FF2B5EF4-FFF2-40B4-BE49-F238E27FC236}">
                <a16:creationId xmlns:a16="http://schemas.microsoft.com/office/drawing/2014/main" id="{DF5182CA-CCBC-B432-3CCB-A8CDB6769A1A}"/>
              </a:ext>
            </a:extLst>
          </p:cNvPr>
          <p:cNvSpPr/>
          <p:nvPr/>
        </p:nvSpPr>
        <p:spPr>
          <a:xfrm>
            <a:off x="4572000" y="2236873"/>
            <a:ext cx="1332411" cy="2000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chemeClr val="tx1"/>
                </a:solidFill>
              </a:ln>
            </a:endParaRPr>
          </a:p>
        </p:txBody>
      </p:sp>
      <p:sp>
        <p:nvSpPr>
          <p:cNvPr id="41" name="타원 40">
            <a:extLst>
              <a:ext uri="{FF2B5EF4-FFF2-40B4-BE49-F238E27FC236}">
                <a16:creationId xmlns:a16="http://schemas.microsoft.com/office/drawing/2014/main" id="{4C3574C6-E1AF-DE0A-9678-A46DA667942C}"/>
              </a:ext>
            </a:extLst>
          </p:cNvPr>
          <p:cNvSpPr/>
          <p:nvPr/>
        </p:nvSpPr>
        <p:spPr>
          <a:xfrm>
            <a:off x="4527367" y="2154131"/>
            <a:ext cx="247161"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5</a:t>
            </a:r>
            <a:endParaRPr lang="ko-KR" altLang="en-US" sz="900" dirty="0"/>
          </a:p>
        </p:txBody>
      </p:sp>
      <p:sp>
        <p:nvSpPr>
          <p:cNvPr id="42" name="직사각형 41">
            <a:extLst>
              <a:ext uri="{FF2B5EF4-FFF2-40B4-BE49-F238E27FC236}">
                <a16:creationId xmlns:a16="http://schemas.microsoft.com/office/drawing/2014/main" id="{58EE7FDC-24EC-1D2D-960C-A98569A89EF1}"/>
              </a:ext>
            </a:extLst>
          </p:cNvPr>
          <p:cNvSpPr/>
          <p:nvPr/>
        </p:nvSpPr>
        <p:spPr>
          <a:xfrm>
            <a:off x="4572000" y="2575522"/>
            <a:ext cx="1332411" cy="23334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43" name="타원 42">
            <a:extLst>
              <a:ext uri="{FF2B5EF4-FFF2-40B4-BE49-F238E27FC236}">
                <a16:creationId xmlns:a16="http://schemas.microsoft.com/office/drawing/2014/main" id="{6C71265A-AD3C-FADB-1182-484FC25E99F1}"/>
              </a:ext>
            </a:extLst>
          </p:cNvPr>
          <p:cNvSpPr/>
          <p:nvPr/>
        </p:nvSpPr>
        <p:spPr>
          <a:xfrm>
            <a:off x="4527367" y="2512900"/>
            <a:ext cx="247161"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9</a:t>
            </a:r>
            <a:endParaRPr lang="ko-KR" altLang="en-US" sz="900" dirty="0"/>
          </a:p>
        </p:txBody>
      </p:sp>
      <p:sp>
        <p:nvSpPr>
          <p:cNvPr id="44" name="직사각형 43">
            <a:extLst>
              <a:ext uri="{FF2B5EF4-FFF2-40B4-BE49-F238E27FC236}">
                <a16:creationId xmlns:a16="http://schemas.microsoft.com/office/drawing/2014/main" id="{560DA0DE-98FC-C5F4-BAA5-1D4D264B383B}"/>
              </a:ext>
            </a:extLst>
          </p:cNvPr>
          <p:cNvSpPr/>
          <p:nvPr/>
        </p:nvSpPr>
        <p:spPr>
          <a:xfrm>
            <a:off x="5996716" y="2236873"/>
            <a:ext cx="1332411" cy="2000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chemeClr val="tx1"/>
                </a:solidFill>
              </a:ln>
            </a:endParaRPr>
          </a:p>
        </p:txBody>
      </p:sp>
      <p:sp>
        <p:nvSpPr>
          <p:cNvPr id="45" name="타원 44">
            <a:extLst>
              <a:ext uri="{FF2B5EF4-FFF2-40B4-BE49-F238E27FC236}">
                <a16:creationId xmlns:a16="http://schemas.microsoft.com/office/drawing/2014/main" id="{ADA11A13-B550-CD0F-6746-E6FDEA0CDDBB}"/>
              </a:ext>
            </a:extLst>
          </p:cNvPr>
          <p:cNvSpPr/>
          <p:nvPr/>
        </p:nvSpPr>
        <p:spPr>
          <a:xfrm>
            <a:off x="5952083" y="2154131"/>
            <a:ext cx="247161"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6</a:t>
            </a:r>
            <a:endParaRPr lang="ko-KR" altLang="en-US" sz="900" dirty="0"/>
          </a:p>
        </p:txBody>
      </p:sp>
      <p:sp>
        <p:nvSpPr>
          <p:cNvPr id="46" name="직사각형 45">
            <a:extLst>
              <a:ext uri="{FF2B5EF4-FFF2-40B4-BE49-F238E27FC236}">
                <a16:creationId xmlns:a16="http://schemas.microsoft.com/office/drawing/2014/main" id="{2ECBC6A4-D7C9-1B8D-F8BA-A5262028BC56}"/>
              </a:ext>
            </a:extLst>
          </p:cNvPr>
          <p:cNvSpPr/>
          <p:nvPr/>
        </p:nvSpPr>
        <p:spPr>
          <a:xfrm>
            <a:off x="7470295" y="2236873"/>
            <a:ext cx="1332411" cy="2000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chemeClr val="tx1"/>
                </a:solidFill>
              </a:ln>
            </a:endParaRPr>
          </a:p>
        </p:txBody>
      </p:sp>
      <p:sp>
        <p:nvSpPr>
          <p:cNvPr id="47" name="타원 46">
            <a:extLst>
              <a:ext uri="{FF2B5EF4-FFF2-40B4-BE49-F238E27FC236}">
                <a16:creationId xmlns:a16="http://schemas.microsoft.com/office/drawing/2014/main" id="{C4E1A767-6B16-89B4-FA19-DB0AA3FA340B}"/>
              </a:ext>
            </a:extLst>
          </p:cNvPr>
          <p:cNvSpPr/>
          <p:nvPr/>
        </p:nvSpPr>
        <p:spPr>
          <a:xfrm>
            <a:off x="7425662" y="2154131"/>
            <a:ext cx="247161"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7</a:t>
            </a:r>
            <a:endParaRPr lang="ko-KR" altLang="en-US" sz="900" dirty="0"/>
          </a:p>
        </p:txBody>
      </p:sp>
      <p:sp>
        <p:nvSpPr>
          <p:cNvPr id="48" name="직사각형 47">
            <a:extLst>
              <a:ext uri="{FF2B5EF4-FFF2-40B4-BE49-F238E27FC236}">
                <a16:creationId xmlns:a16="http://schemas.microsoft.com/office/drawing/2014/main" id="{9101EDF1-9146-563A-C85E-15FB037BBD71}"/>
              </a:ext>
            </a:extLst>
          </p:cNvPr>
          <p:cNvSpPr/>
          <p:nvPr/>
        </p:nvSpPr>
        <p:spPr>
          <a:xfrm>
            <a:off x="7470295" y="2575522"/>
            <a:ext cx="1332411" cy="2000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chemeClr val="tx1"/>
                </a:solidFill>
              </a:ln>
            </a:endParaRPr>
          </a:p>
        </p:txBody>
      </p:sp>
      <p:sp>
        <p:nvSpPr>
          <p:cNvPr id="49" name="타원 48">
            <a:extLst>
              <a:ext uri="{FF2B5EF4-FFF2-40B4-BE49-F238E27FC236}">
                <a16:creationId xmlns:a16="http://schemas.microsoft.com/office/drawing/2014/main" id="{40A3FBF2-A9B7-C83E-29B1-24E21817CA94}"/>
              </a:ext>
            </a:extLst>
          </p:cNvPr>
          <p:cNvSpPr/>
          <p:nvPr/>
        </p:nvSpPr>
        <p:spPr>
          <a:xfrm>
            <a:off x="7384527" y="2511385"/>
            <a:ext cx="412052" cy="14001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700" dirty="0"/>
              <a:t>10</a:t>
            </a:r>
            <a:endParaRPr lang="ko-KR" altLang="en-US" sz="700" dirty="0"/>
          </a:p>
        </p:txBody>
      </p:sp>
      <p:sp>
        <p:nvSpPr>
          <p:cNvPr id="50" name="직사각형 49">
            <a:extLst>
              <a:ext uri="{FF2B5EF4-FFF2-40B4-BE49-F238E27FC236}">
                <a16:creationId xmlns:a16="http://schemas.microsoft.com/office/drawing/2014/main" id="{F6EF5512-A80B-7628-26F5-B5E368F65F62}"/>
              </a:ext>
            </a:extLst>
          </p:cNvPr>
          <p:cNvSpPr/>
          <p:nvPr/>
        </p:nvSpPr>
        <p:spPr>
          <a:xfrm>
            <a:off x="7470295" y="1835181"/>
            <a:ext cx="1332411" cy="2000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chemeClr val="tx1"/>
                </a:solidFill>
              </a:ln>
            </a:endParaRPr>
          </a:p>
        </p:txBody>
      </p:sp>
      <p:sp>
        <p:nvSpPr>
          <p:cNvPr id="51" name="타원 50">
            <a:extLst>
              <a:ext uri="{FF2B5EF4-FFF2-40B4-BE49-F238E27FC236}">
                <a16:creationId xmlns:a16="http://schemas.microsoft.com/office/drawing/2014/main" id="{DD7FB665-F248-CCAC-A6F1-DB8D4E6C97AB}"/>
              </a:ext>
            </a:extLst>
          </p:cNvPr>
          <p:cNvSpPr/>
          <p:nvPr/>
        </p:nvSpPr>
        <p:spPr>
          <a:xfrm>
            <a:off x="7425662" y="1752439"/>
            <a:ext cx="247161"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2</a:t>
            </a:r>
            <a:endParaRPr lang="ko-KR" altLang="en-US" sz="900" dirty="0"/>
          </a:p>
        </p:txBody>
      </p:sp>
      <p:sp>
        <p:nvSpPr>
          <p:cNvPr id="54" name="직사각형 53">
            <a:extLst>
              <a:ext uri="{FF2B5EF4-FFF2-40B4-BE49-F238E27FC236}">
                <a16:creationId xmlns:a16="http://schemas.microsoft.com/office/drawing/2014/main" id="{61CA0059-0617-FB9C-7C24-C0467CF27F97}"/>
              </a:ext>
            </a:extLst>
          </p:cNvPr>
          <p:cNvSpPr/>
          <p:nvPr/>
        </p:nvSpPr>
        <p:spPr>
          <a:xfrm>
            <a:off x="262346" y="2592168"/>
            <a:ext cx="4213859" cy="2000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55" name="타원 54">
            <a:extLst>
              <a:ext uri="{FF2B5EF4-FFF2-40B4-BE49-F238E27FC236}">
                <a16:creationId xmlns:a16="http://schemas.microsoft.com/office/drawing/2014/main" id="{FFBE2667-7B72-611E-5E74-F52CD82131A6}"/>
              </a:ext>
            </a:extLst>
          </p:cNvPr>
          <p:cNvSpPr/>
          <p:nvPr/>
        </p:nvSpPr>
        <p:spPr>
          <a:xfrm>
            <a:off x="217713" y="2507554"/>
            <a:ext cx="247161"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8</a:t>
            </a:r>
            <a:endParaRPr lang="ko-KR" altLang="en-US" sz="900" dirty="0"/>
          </a:p>
        </p:txBody>
      </p:sp>
      <p:sp>
        <p:nvSpPr>
          <p:cNvPr id="57" name="TextBox 56">
            <a:extLst>
              <a:ext uri="{FF2B5EF4-FFF2-40B4-BE49-F238E27FC236}">
                <a16:creationId xmlns:a16="http://schemas.microsoft.com/office/drawing/2014/main" id="{C5F27CAE-9B61-7E46-535A-F4C1154B33ED}"/>
              </a:ext>
            </a:extLst>
          </p:cNvPr>
          <p:cNvSpPr txBox="1"/>
          <p:nvPr/>
        </p:nvSpPr>
        <p:spPr>
          <a:xfrm>
            <a:off x="341293" y="6336321"/>
            <a:ext cx="8461413" cy="307777"/>
          </a:xfrm>
          <a:prstGeom prst="rect">
            <a:avLst/>
          </a:prstGeom>
          <a:noFill/>
        </p:spPr>
        <p:txBody>
          <a:bodyPr wrap="square">
            <a:spAutoFit/>
          </a:bodyPr>
          <a:lstStyle/>
          <a:p>
            <a:pPr algn="ctr"/>
            <a:r>
              <a:rPr lang="vi-VN" altLang="ko-KR" b="1" dirty="0">
                <a:solidFill>
                  <a:srgbClr val="FF0000"/>
                </a:solidFill>
              </a:rPr>
              <a:t>Khi tài liệu được phòng kế toán tiếp nhận hoàn tất, chứng từ ERP sẽ được xử lý tự động.</a:t>
            </a:r>
            <a:endParaRPr lang="ko-KR" altLang="en-US" b="1" dirty="0">
              <a:solidFill>
                <a:srgbClr val="FF0000"/>
              </a:solidFill>
            </a:endParaRPr>
          </a:p>
        </p:txBody>
      </p:sp>
      <p:sp>
        <p:nvSpPr>
          <p:cNvPr id="2" name="제목 1">
            <a:extLst>
              <a:ext uri="{FF2B5EF4-FFF2-40B4-BE49-F238E27FC236}">
                <a16:creationId xmlns:a16="http://schemas.microsoft.com/office/drawing/2014/main" id="{9F340E64-7FC9-A1FE-5AB5-A061040E7C81}"/>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Process Flow for Groupware Document (Purchase Closing)</a:t>
            </a:r>
          </a:p>
        </p:txBody>
      </p:sp>
    </p:spTree>
    <p:extLst>
      <p:ext uri="{BB962C8B-B14F-4D97-AF65-F5344CB8AC3E}">
        <p14:creationId xmlns:p14="http://schemas.microsoft.com/office/powerpoint/2010/main" val="31444869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65AE-90FE-BA44-643D-F234AE64C24C}"/>
            </a:ext>
          </a:extLst>
        </p:cNvPr>
        <p:cNvGrpSpPr/>
        <p:nvPr/>
      </p:nvGrpSpPr>
      <p:grpSpPr>
        <a:xfrm>
          <a:off x="0" y="0"/>
          <a:ext cx="0" cy="0"/>
          <a:chOff x="0" y="0"/>
          <a:chExt cx="0" cy="0"/>
        </a:xfrm>
      </p:grpSpPr>
      <p:sp>
        <p:nvSpPr>
          <p:cNvPr id="6" name="Google Shape;100;p7">
            <a:extLst>
              <a:ext uri="{FF2B5EF4-FFF2-40B4-BE49-F238E27FC236}">
                <a16:creationId xmlns:a16="http://schemas.microsoft.com/office/drawing/2014/main" id="{729E006B-5958-F182-4913-6D90879457E8}"/>
              </a:ext>
            </a:extLst>
          </p:cNvPr>
          <p:cNvSpPr/>
          <p:nvPr/>
        </p:nvSpPr>
        <p:spPr>
          <a:xfrm>
            <a:off x="159154" y="789126"/>
            <a:ext cx="8148823"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dirty="0">
                <a:solidFill>
                  <a:schemeClr val="tx1"/>
                </a:solidFill>
                <a:highlight>
                  <a:srgbClr val="FFFF00"/>
                </a:highlight>
                <a:latin typeface="+mn-ea"/>
                <a:ea typeface="+mn-ea"/>
                <a:cs typeface="Calibri"/>
                <a:sym typeface="Calibri"/>
              </a:rPr>
              <a:t>8</a:t>
            </a:r>
            <a:r>
              <a:rPr lang="en-US" altLang="ko-KR" sz="1600" b="1" i="0" u="none" strike="noStrike" cap="none" dirty="0">
                <a:solidFill>
                  <a:schemeClr val="tx1"/>
                </a:solidFill>
                <a:highlight>
                  <a:srgbClr val="FFFF00"/>
                </a:highlight>
                <a:latin typeface="+mn-ea"/>
                <a:ea typeface="+mn-ea"/>
                <a:cs typeface="Calibri"/>
                <a:sym typeface="Calibri"/>
              </a:rPr>
              <a:t>. </a:t>
            </a:r>
            <a:r>
              <a:rPr lang="en-US" altLang="ko-KR" sz="1600" b="1" dirty="0">
                <a:solidFill>
                  <a:schemeClr val="tx1"/>
                </a:solidFill>
                <a:highlight>
                  <a:srgbClr val="FFFF00"/>
                </a:highlight>
                <a:latin typeface="+mn-ea"/>
                <a:ea typeface="+mn-ea"/>
                <a:cs typeface="Calibri"/>
                <a:sym typeface="Calibri"/>
              </a:rPr>
              <a:t>Purchase Total List (Home -  Purchase Management)</a:t>
            </a:r>
            <a:endParaRPr lang="en-US" sz="1200" b="1" i="0" u="none" strike="noStrike" cap="none" dirty="0">
              <a:solidFill>
                <a:schemeClr val="tx1"/>
              </a:solidFill>
              <a:highlight>
                <a:srgbClr val="FFFF00"/>
              </a:highlight>
              <a:latin typeface="+mn-ea"/>
              <a:ea typeface="+mn-ea"/>
              <a:cs typeface="Calibri"/>
              <a:sym typeface="Calibri"/>
            </a:endParaRPr>
          </a:p>
        </p:txBody>
      </p:sp>
      <p:pic>
        <p:nvPicPr>
          <p:cNvPr id="4" name="그림 3">
            <a:extLst>
              <a:ext uri="{FF2B5EF4-FFF2-40B4-BE49-F238E27FC236}">
                <a16:creationId xmlns:a16="http://schemas.microsoft.com/office/drawing/2014/main" id="{A00E5EF0-6FD7-3C75-76A3-0D96CCA95239}"/>
              </a:ext>
            </a:extLst>
          </p:cNvPr>
          <p:cNvPicPr>
            <a:picLocks noChangeAspect="1"/>
          </p:cNvPicPr>
          <p:nvPr/>
        </p:nvPicPr>
        <p:blipFill>
          <a:blip r:embed="rId3"/>
          <a:stretch>
            <a:fillRect/>
          </a:stretch>
        </p:blipFill>
        <p:spPr>
          <a:xfrm>
            <a:off x="159153" y="1224418"/>
            <a:ext cx="8723589" cy="2851193"/>
          </a:xfrm>
          <a:prstGeom prst="rect">
            <a:avLst/>
          </a:prstGeom>
        </p:spPr>
      </p:pic>
      <p:sp>
        <p:nvSpPr>
          <p:cNvPr id="5" name="직사각형 4">
            <a:extLst>
              <a:ext uri="{FF2B5EF4-FFF2-40B4-BE49-F238E27FC236}">
                <a16:creationId xmlns:a16="http://schemas.microsoft.com/office/drawing/2014/main" id="{EF70F914-626C-5AEC-392D-C541099E8FDD}"/>
              </a:ext>
            </a:extLst>
          </p:cNvPr>
          <p:cNvSpPr/>
          <p:nvPr/>
        </p:nvSpPr>
        <p:spPr>
          <a:xfrm>
            <a:off x="305890" y="1881384"/>
            <a:ext cx="5450475" cy="26627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7" name="타원 6">
            <a:extLst>
              <a:ext uri="{FF2B5EF4-FFF2-40B4-BE49-F238E27FC236}">
                <a16:creationId xmlns:a16="http://schemas.microsoft.com/office/drawing/2014/main" id="{252980EF-A51A-069C-6F20-1003ADC5081C}"/>
              </a:ext>
            </a:extLst>
          </p:cNvPr>
          <p:cNvSpPr/>
          <p:nvPr/>
        </p:nvSpPr>
        <p:spPr>
          <a:xfrm>
            <a:off x="321853" y="1831750"/>
            <a:ext cx="198505"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1</a:t>
            </a:r>
            <a:endParaRPr lang="ko-KR" altLang="en-US" sz="900" dirty="0"/>
          </a:p>
        </p:txBody>
      </p:sp>
      <p:sp>
        <p:nvSpPr>
          <p:cNvPr id="9" name="직사각형 8">
            <a:extLst>
              <a:ext uri="{FF2B5EF4-FFF2-40B4-BE49-F238E27FC236}">
                <a16:creationId xmlns:a16="http://schemas.microsoft.com/office/drawing/2014/main" id="{0187DC5A-80F8-5941-F417-DB12D09384D5}"/>
              </a:ext>
            </a:extLst>
          </p:cNvPr>
          <p:cNvSpPr/>
          <p:nvPr/>
        </p:nvSpPr>
        <p:spPr>
          <a:xfrm>
            <a:off x="475075" y="2858350"/>
            <a:ext cx="206658" cy="99083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10" name="타원 9">
            <a:extLst>
              <a:ext uri="{FF2B5EF4-FFF2-40B4-BE49-F238E27FC236}">
                <a16:creationId xmlns:a16="http://schemas.microsoft.com/office/drawing/2014/main" id="{9C25FDDA-288D-29D0-B9A0-DD46C9ABD2E8}"/>
              </a:ext>
            </a:extLst>
          </p:cNvPr>
          <p:cNvSpPr/>
          <p:nvPr/>
        </p:nvSpPr>
        <p:spPr>
          <a:xfrm>
            <a:off x="430515" y="2782590"/>
            <a:ext cx="164054"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2</a:t>
            </a:r>
            <a:endParaRPr lang="ko-KR" altLang="en-US" sz="900" dirty="0"/>
          </a:p>
        </p:txBody>
      </p:sp>
      <p:sp>
        <p:nvSpPr>
          <p:cNvPr id="13" name="직사각형 12">
            <a:extLst>
              <a:ext uri="{FF2B5EF4-FFF2-40B4-BE49-F238E27FC236}">
                <a16:creationId xmlns:a16="http://schemas.microsoft.com/office/drawing/2014/main" id="{21FBAB13-DD6E-1D36-14EB-08A109969913}"/>
              </a:ext>
            </a:extLst>
          </p:cNvPr>
          <p:cNvSpPr/>
          <p:nvPr/>
        </p:nvSpPr>
        <p:spPr>
          <a:xfrm>
            <a:off x="718227" y="2858350"/>
            <a:ext cx="206658" cy="99083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sp>
        <p:nvSpPr>
          <p:cNvPr id="15" name="타원 14">
            <a:extLst>
              <a:ext uri="{FF2B5EF4-FFF2-40B4-BE49-F238E27FC236}">
                <a16:creationId xmlns:a16="http://schemas.microsoft.com/office/drawing/2014/main" id="{010F1E28-5F7E-3B5A-E22D-BD2E33ACFA20}"/>
              </a:ext>
            </a:extLst>
          </p:cNvPr>
          <p:cNvSpPr/>
          <p:nvPr/>
        </p:nvSpPr>
        <p:spPr>
          <a:xfrm>
            <a:off x="673667" y="2782590"/>
            <a:ext cx="164054"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3</a:t>
            </a:r>
            <a:endParaRPr lang="ko-KR" altLang="en-US" sz="900" dirty="0"/>
          </a:p>
        </p:txBody>
      </p:sp>
      <p:sp>
        <p:nvSpPr>
          <p:cNvPr id="16" name="직사각형 15">
            <a:extLst>
              <a:ext uri="{FF2B5EF4-FFF2-40B4-BE49-F238E27FC236}">
                <a16:creationId xmlns:a16="http://schemas.microsoft.com/office/drawing/2014/main" id="{F23AA2D1-9ACF-D2E4-C487-26A8F3C10364}"/>
              </a:ext>
            </a:extLst>
          </p:cNvPr>
          <p:cNvSpPr/>
          <p:nvPr/>
        </p:nvSpPr>
        <p:spPr>
          <a:xfrm>
            <a:off x="988311" y="2858350"/>
            <a:ext cx="1467506" cy="99083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chemeClr val="tx1"/>
                </a:solidFill>
              </a:ln>
            </a:endParaRPr>
          </a:p>
        </p:txBody>
      </p:sp>
      <p:sp>
        <p:nvSpPr>
          <p:cNvPr id="17" name="타원 16">
            <a:extLst>
              <a:ext uri="{FF2B5EF4-FFF2-40B4-BE49-F238E27FC236}">
                <a16:creationId xmlns:a16="http://schemas.microsoft.com/office/drawing/2014/main" id="{2EB638B8-DDEC-9ED5-0D96-4C637EB28D84}"/>
              </a:ext>
            </a:extLst>
          </p:cNvPr>
          <p:cNvSpPr/>
          <p:nvPr/>
        </p:nvSpPr>
        <p:spPr>
          <a:xfrm>
            <a:off x="943751" y="2782590"/>
            <a:ext cx="164054"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4</a:t>
            </a:r>
            <a:endParaRPr lang="ko-KR" altLang="en-US" sz="900" dirty="0"/>
          </a:p>
        </p:txBody>
      </p:sp>
      <p:sp>
        <p:nvSpPr>
          <p:cNvPr id="18" name="직사각형 17">
            <a:extLst>
              <a:ext uri="{FF2B5EF4-FFF2-40B4-BE49-F238E27FC236}">
                <a16:creationId xmlns:a16="http://schemas.microsoft.com/office/drawing/2014/main" id="{3F165FF7-F268-73D4-F8E4-12EC365B5423}"/>
              </a:ext>
            </a:extLst>
          </p:cNvPr>
          <p:cNvSpPr/>
          <p:nvPr/>
        </p:nvSpPr>
        <p:spPr>
          <a:xfrm>
            <a:off x="2500376" y="2858350"/>
            <a:ext cx="2167417" cy="99083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chemeClr val="tx1"/>
                </a:solidFill>
              </a:ln>
            </a:endParaRPr>
          </a:p>
        </p:txBody>
      </p:sp>
      <p:sp>
        <p:nvSpPr>
          <p:cNvPr id="19" name="직사각형 18">
            <a:extLst>
              <a:ext uri="{FF2B5EF4-FFF2-40B4-BE49-F238E27FC236}">
                <a16:creationId xmlns:a16="http://schemas.microsoft.com/office/drawing/2014/main" id="{D6D259BE-2590-A641-DEA2-1630B8E43404}"/>
              </a:ext>
            </a:extLst>
          </p:cNvPr>
          <p:cNvSpPr/>
          <p:nvPr/>
        </p:nvSpPr>
        <p:spPr>
          <a:xfrm>
            <a:off x="4712353" y="2858350"/>
            <a:ext cx="1296562" cy="99083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chemeClr val="tx1"/>
                </a:solidFill>
              </a:ln>
            </a:endParaRPr>
          </a:p>
        </p:txBody>
      </p:sp>
      <p:sp>
        <p:nvSpPr>
          <p:cNvPr id="20" name="직사각형 19">
            <a:extLst>
              <a:ext uri="{FF2B5EF4-FFF2-40B4-BE49-F238E27FC236}">
                <a16:creationId xmlns:a16="http://schemas.microsoft.com/office/drawing/2014/main" id="{019D4FD0-0EFA-8380-828B-310DDDD83816}"/>
              </a:ext>
            </a:extLst>
          </p:cNvPr>
          <p:cNvSpPr/>
          <p:nvPr/>
        </p:nvSpPr>
        <p:spPr>
          <a:xfrm>
            <a:off x="6053475" y="2858350"/>
            <a:ext cx="2742182" cy="99083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chemeClr val="tx1"/>
                </a:solidFill>
              </a:ln>
            </a:endParaRPr>
          </a:p>
        </p:txBody>
      </p:sp>
      <p:sp>
        <p:nvSpPr>
          <p:cNvPr id="21" name="TextBox 20">
            <a:extLst>
              <a:ext uri="{FF2B5EF4-FFF2-40B4-BE49-F238E27FC236}">
                <a16:creationId xmlns:a16="http://schemas.microsoft.com/office/drawing/2014/main" id="{8D579C34-02C1-E4A1-EA99-EC1668A37245}"/>
              </a:ext>
            </a:extLst>
          </p:cNvPr>
          <p:cNvSpPr txBox="1"/>
          <p:nvPr/>
        </p:nvSpPr>
        <p:spPr>
          <a:xfrm>
            <a:off x="213506" y="4239370"/>
            <a:ext cx="8669236" cy="1600438"/>
          </a:xfrm>
          <a:prstGeom prst="rect">
            <a:avLst/>
          </a:prstGeom>
          <a:noFill/>
        </p:spPr>
        <p:txBody>
          <a:bodyPr wrap="square" rtlCol="0">
            <a:spAutoFit/>
          </a:bodyPr>
          <a:lstStyle/>
          <a:p>
            <a:r>
              <a:rPr lang="en-US" altLang="ko-KR" b="1" dirty="0"/>
              <a:t>1) </a:t>
            </a:r>
            <a:r>
              <a:rPr lang="en-US" altLang="ko-KR" b="1" dirty="0" err="1"/>
              <a:t>Bộ</a:t>
            </a:r>
            <a:r>
              <a:rPr lang="en-US" altLang="ko-KR" b="1" dirty="0"/>
              <a:t> </a:t>
            </a:r>
            <a:r>
              <a:rPr lang="en-US" altLang="ko-KR" b="1" dirty="0" err="1"/>
              <a:t>lọc</a:t>
            </a:r>
            <a:r>
              <a:rPr lang="en-US" altLang="ko-KR" b="1" dirty="0"/>
              <a:t> </a:t>
            </a:r>
            <a:r>
              <a:rPr lang="en-US" altLang="ko-KR" b="1" dirty="0" err="1"/>
              <a:t>tìm</a:t>
            </a:r>
            <a:r>
              <a:rPr lang="en-US" altLang="ko-KR" b="1" dirty="0"/>
              <a:t> </a:t>
            </a:r>
            <a:r>
              <a:rPr lang="en-US" altLang="ko-KR" b="1" dirty="0" err="1"/>
              <a:t>kiếm</a:t>
            </a:r>
            <a:r>
              <a:rPr lang="en-US" altLang="ko-KR" b="1" dirty="0"/>
              <a:t> </a:t>
            </a:r>
            <a:r>
              <a:rPr lang="en-US" altLang="ko-KR" b="1" dirty="0" err="1"/>
              <a:t>và</a:t>
            </a:r>
            <a:r>
              <a:rPr lang="en-US" altLang="ko-KR" b="1" dirty="0"/>
              <a:t> </a:t>
            </a:r>
            <a:r>
              <a:rPr lang="en-US" altLang="ko-KR" b="1" dirty="0" err="1"/>
              <a:t>tra</a:t>
            </a:r>
            <a:r>
              <a:rPr lang="en-US" altLang="ko-KR" b="1" dirty="0"/>
              <a:t> </a:t>
            </a:r>
            <a:r>
              <a:rPr lang="en-US" altLang="ko-KR" b="1" dirty="0" err="1"/>
              <a:t>cứu</a:t>
            </a:r>
            <a:endParaRPr lang="en-US" altLang="ko-KR" b="1" dirty="0"/>
          </a:p>
          <a:p>
            <a:r>
              <a:rPr lang="en-US" altLang="ko-KR" b="1" dirty="0"/>
              <a:t>2) </a:t>
            </a:r>
            <a:r>
              <a:rPr lang="vi-VN" altLang="ko-KR" b="1" dirty="0"/>
              <a:t>Khi thông tin đơn đặt hàng cần được thay đổi, nhấn nút và sau đó chỉnh sửa thông tin.</a:t>
            </a:r>
            <a:endParaRPr lang="en-US" altLang="ko-KR" b="1" dirty="0"/>
          </a:p>
          <a:p>
            <a:r>
              <a:rPr lang="en-US" altLang="ko-KR" b="1" dirty="0"/>
              <a:t>3) </a:t>
            </a:r>
            <a:r>
              <a:rPr lang="vi-VN" altLang="ko-KR" b="1" dirty="0"/>
              <a:t>Khi cần in đơn đặt hàng, nhấn vào đây.</a:t>
            </a:r>
            <a:endParaRPr lang="en-US" altLang="ko-KR" b="1" dirty="0"/>
          </a:p>
          <a:p>
            <a:r>
              <a:rPr lang="en-US" altLang="ko-KR" b="1" dirty="0"/>
              <a:t>4) </a:t>
            </a:r>
            <a:r>
              <a:rPr lang="vi-VN" altLang="ko-KR" b="1" dirty="0"/>
              <a:t>Tên tài liệu đơn đặt hàng trong Groupware</a:t>
            </a:r>
            <a:r>
              <a:rPr lang="en-US" altLang="ko-KR" b="1" dirty="0"/>
              <a:t> - Khi </a:t>
            </a:r>
            <a:r>
              <a:rPr lang="en-US" altLang="ko-KR" b="1" dirty="0" err="1"/>
              <a:t>nhấn</a:t>
            </a:r>
            <a:r>
              <a:rPr lang="en-US" altLang="ko-KR" b="1" dirty="0"/>
              <a:t> </a:t>
            </a:r>
            <a:r>
              <a:rPr lang="en-US" altLang="ko-KR" b="1" dirty="0" err="1"/>
              <a:t>vào</a:t>
            </a:r>
            <a:r>
              <a:rPr lang="en-US" altLang="ko-KR" b="1" dirty="0"/>
              <a:t>, </a:t>
            </a:r>
            <a:r>
              <a:rPr lang="en-US" altLang="ko-KR" b="1" dirty="0" err="1"/>
              <a:t>sẽ</a:t>
            </a:r>
            <a:r>
              <a:rPr lang="en-US" altLang="ko-KR" b="1" dirty="0"/>
              <a:t> in </a:t>
            </a:r>
            <a:r>
              <a:rPr lang="en-US" altLang="ko-KR" b="1" dirty="0" err="1"/>
              <a:t>nội</a:t>
            </a:r>
            <a:r>
              <a:rPr lang="en-US" altLang="ko-KR" b="1" dirty="0"/>
              <a:t> dung </a:t>
            </a:r>
            <a:r>
              <a:rPr lang="en-US" altLang="ko-KR" b="1" dirty="0" err="1"/>
              <a:t>tài</a:t>
            </a:r>
            <a:r>
              <a:rPr lang="en-US" altLang="ko-KR" b="1" dirty="0"/>
              <a:t> </a:t>
            </a:r>
            <a:r>
              <a:rPr lang="en-US" altLang="ko-KR" b="1" dirty="0" err="1"/>
              <a:t>liệu</a:t>
            </a:r>
            <a:r>
              <a:rPr lang="en-US" altLang="ko-KR" b="1" dirty="0"/>
              <a:t>.</a:t>
            </a:r>
          </a:p>
          <a:p>
            <a:r>
              <a:rPr lang="en-US" altLang="ko-KR" b="1" dirty="0"/>
              <a:t>5) </a:t>
            </a:r>
            <a:r>
              <a:rPr lang="vi-VN" altLang="ko-KR" b="1" dirty="0"/>
              <a:t>Thông tin đơn đặt hàng</a:t>
            </a:r>
            <a:endParaRPr lang="en-US" altLang="ko-KR" b="1" dirty="0"/>
          </a:p>
          <a:p>
            <a:r>
              <a:rPr lang="en-US" altLang="ko-KR" b="1" dirty="0"/>
              <a:t>6) </a:t>
            </a:r>
            <a:r>
              <a:rPr lang="vi-VN" altLang="ko-KR" b="1" dirty="0"/>
              <a:t>Số lượng đặt hàng, nhập kho, và nhập kho thực tế</a:t>
            </a:r>
            <a:endParaRPr lang="en-US" altLang="ko-KR" b="1" dirty="0"/>
          </a:p>
          <a:p>
            <a:r>
              <a:rPr lang="en-US" altLang="ko-KR" b="1" dirty="0"/>
              <a:t>7) </a:t>
            </a:r>
            <a:r>
              <a:rPr lang="vi-VN" altLang="ko-KR" b="1" dirty="0"/>
              <a:t>Tình trạng tiến trình toàn bộ tài liệu theo từng đơn đặt hàng</a:t>
            </a:r>
            <a:endParaRPr lang="en-US" altLang="ko-KR" b="1" dirty="0"/>
          </a:p>
        </p:txBody>
      </p:sp>
      <p:sp>
        <p:nvSpPr>
          <p:cNvPr id="22" name="타원 21">
            <a:extLst>
              <a:ext uri="{FF2B5EF4-FFF2-40B4-BE49-F238E27FC236}">
                <a16:creationId xmlns:a16="http://schemas.microsoft.com/office/drawing/2014/main" id="{242B4883-69D1-D5DA-D117-E6F08F1E48D5}"/>
              </a:ext>
            </a:extLst>
          </p:cNvPr>
          <p:cNvSpPr/>
          <p:nvPr/>
        </p:nvSpPr>
        <p:spPr>
          <a:xfrm>
            <a:off x="2489287" y="2782590"/>
            <a:ext cx="164054"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5</a:t>
            </a:r>
            <a:endParaRPr lang="ko-KR" altLang="en-US" sz="900" dirty="0"/>
          </a:p>
        </p:txBody>
      </p:sp>
      <p:sp>
        <p:nvSpPr>
          <p:cNvPr id="23" name="타원 22">
            <a:extLst>
              <a:ext uri="{FF2B5EF4-FFF2-40B4-BE49-F238E27FC236}">
                <a16:creationId xmlns:a16="http://schemas.microsoft.com/office/drawing/2014/main" id="{38B262AE-3EE0-ABB0-FF08-BEFB71D97350}"/>
              </a:ext>
            </a:extLst>
          </p:cNvPr>
          <p:cNvSpPr/>
          <p:nvPr/>
        </p:nvSpPr>
        <p:spPr>
          <a:xfrm>
            <a:off x="4705929" y="2782590"/>
            <a:ext cx="164054"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6</a:t>
            </a:r>
            <a:endParaRPr lang="ko-KR" altLang="en-US" sz="900" dirty="0"/>
          </a:p>
        </p:txBody>
      </p:sp>
      <p:sp>
        <p:nvSpPr>
          <p:cNvPr id="24" name="타원 23">
            <a:extLst>
              <a:ext uri="{FF2B5EF4-FFF2-40B4-BE49-F238E27FC236}">
                <a16:creationId xmlns:a16="http://schemas.microsoft.com/office/drawing/2014/main" id="{59A08232-7A28-417A-F20E-D43B0E9D5A80}"/>
              </a:ext>
            </a:extLst>
          </p:cNvPr>
          <p:cNvSpPr/>
          <p:nvPr/>
        </p:nvSpPr>
        <p:spPr>
          <a:xfrm>
            <a:off x="6060425" y="2782590"/>
            <a:ext cx="164054" cy="1252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t>7</a:t>
            </a:r>
            <a:endParaRPr lang="ko-KR" altLang="en-US" sz="900" dirty="0"/>
          </a:p>
        </p:txBody>
      </p:sp>
      <p:sp>
        <p:nvSpPr>
          <p:cNvPr id="2" name="제목 1">
            <a:extLst>
              <a:ext uri="{FF2B5EF4-FFF2-40B4-BE49-F238E27FC236}">
                <a16:creationId xmlns:a16="http://schemas.microsoft.com/office/drawing/2014/main" id="{FF235D6C-F383-E788-7472-F0ED2E9C6E3A}"/>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Purchase Management for Groupware Document</a:t>
            </a:r>
          </a:p>
        </p:txBody>
      </p:sp>
    </p:spTree>
    <p:extLst>
      <p:ext uri="{BB962C8B-B14F-4D97-AF65-F5344CB8AC3E}">
        <p14:creationId xmlns:p14="http://schemas.microsoft.com/office/powerpoint/2010/main" val="7642760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B333D-1EF9-5DF4-6DB4-DCA9A27643F6}"/>
            </a:ext>
          </a:extLst>
        </p:cNvPr>
        <p:cNvGrpSpPr/>
        <p:nvPr/>
      </p:nvGrpSpPr>
      <p:grpSpPr>
        <a:xfrm>
          <a:off x="0" y="0"/>
          <a:ext cx="0" cy="0"/>
          <a:chOff x="0" y="0"/>
          <a:chExt cx="0" cy="0"/>
        </a:xfrm>
      </p:grpSpPr>
      <p:sp>
        <p:nvSpPr>
          <p:cNvPr id="6" name="Google Shape;100;p7">
            <a:extLst>
              <a:ext uri="{FF2B5EF4-FFF2-40B4-BE49-F238E27FC236}">
                <a16:creationId xmlns:a16="http://schemas.microsoft.com/office/drawing/2014/main" id="{0947C973-22EC-C280-C7B3-7581F9506AC3}"/>
              </a:ext>
            </a:extLst>
          </p:cNvPr>
          <p:cNvSpPr/>
          <p:nvPr/>
        </p:nvSpPr>
        <p:spPr>
          <a:xfrm>
            <a:off x="159154" y="789126"/>
            <a:ext cx="8148823"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dirty="0">
                <a:solidFill>
                  <a:schemeClr val="tx1"/>
                </a:solidFill>
                <a:highlight>
                  <a:srgbClr val="FFFF00"/>
                </a:highlight>
                <a:latin typeface="+mn-ea"/>
                <a:ea typeface="+mn-ea"/>
                <a:cs typeface="Calibri"/>
                <a:sym typeface="Calibri"/>
              </a:rPr>
              <a:t>8</a:t>
            </a:r>
            <a:r>
              <a:rPr lang="en-US" altLang="ko-KR" sz="1600" b="1" i="0" u="none" strike="noStrike" cap="none" dirty="0">
                <a:solidFill>
                  <a:schemeClr val="tx1"/>
                </a:solidFill>
                <a:highlight>
                  <a:srgbClr val="FFFF00"/>
                </a:highlight>
                <a:latin typeface="+mn-ea"/>
                <a:ea typeface="+mn-ea"/>
                <a:cs typeface="Calibri"/>
                <a:sym typeface="Calibri"/>
              </a:rPr>
              <a:t>. </a:t>
            </a:r>
            <a:r>
              <a:rPr lang="en-US" altLang="ko-KR" sz="1600" b="1" dirty="0">
                <a:solidFill>
                  <a:schemeClr val="tx1"/>
                </a:solidFill>
                <a:highlight>
                  <a:srgbClr val="FFFF00"/>
                </a:highlight>
                <a:latin typeface="+mn-ea"/>
                <a:ea typeface="+mn-ea"/>
                <a:cs typeface="Calibri"/>
                <a:sym typeface="Calibri"/>
              </a:rPr>
              <a:t>Purchase Total List (Home -  Purchase Management)</a:t>
            </a:r>
            <a:endParaRPr lang="en-US" sz="1200" b="1" i="0" u="none" strike="noStrike" cap="none" dirty="0">
              <a:solidFill>
                <a:schemeClr val="tx1"/>
              </a:solidFill>
              <a:highlight>
                <a:srgbClr val="FFFF00"/>
              </a:highlight>
              <a:latin typeface="+mn-ea"/>
              <a:ea typeface="+mn-ea"/>
              <a:cs typeface="Calibri"/>
              <a:sym typeface="Calibri"/>
            </a:endParaRPr>
          </a:p>
        </p:txBody>
      </p:sp>
      <p:pic>
        <p:nvPicPr>
          <p:cNvPr id="4" name="그림 3">
            <a:extLst>
              <a:ext uri="{FF2B5EF4-FFF2-40B4-BE49-F238E27FC236}">
                <a16:creationId xmlns:a16="http://schemas.microsoft.com/office/drawing/2014/main" id="{38E332F6-855D-EF12-7DD2-2B14028F9FB1}"/>
              </a:ext>
            </a:extLst>
          </p:cNvPr>
          <p:cNvPicPr>
            <a:picLocks noChangeAspect="1"/>
          </p:cNvPicPr>
          <p:nvPr/>
        </p:nvPicPr>
        <p:blipFill>
          <a:blip r:embed="rId3"/>
          <a:stretch>
            <a:fillRect/>
          </a:stretch>
        </p:blipFill>
        <p:spPr>
          <a:xfrm>
            <a:off x="159153" y="1224418"/>
            <a:ext cx="8723589" cy="2851193"/>
          </a:xfrm>
          <a:prstGeom prst="rect">
            <a:avLst/>
          </a:prstGeom>
        </p:spPr>
      </p:pic>
      <p:sp>
        <p:nvSpPr>
          <p:cNvPr id="9" name="직사각형 8">
            <a:extLst>
              <a:ext uri="{FF2B5EF4-FFF2-40B4-BE49-F238E27FC236}">
                <a16:creationId xmlns:a16="http://schemas.microsoft.com/office/drawing/2014/main" id="{6E96A537-3618-CFC1-C5C6-B8E637632860}"/>
              </a:ext>
            </a:extLst>
          </p:cNvPr>
          <p:cNvSpPr/>
          <p:nvPr/>
        </p:nvSpPr>
        <p:spPr>
          <a:xfrm>
            <a:off x="475075" y="2858350"/>
            <a:ext cx="206658" cy="99083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cxnSp>
        <p:nvCxnSpPr>
          <p:cNvPr id="25" name="연결선: 꺾임 24">
            <a:extLst>
              <a:ext uri="{FF2B5EF4-FFF2-40B4-BE49-F238E27FC236}">
                <a16:creationId xmlns:a16="http://schemas.microsoft.com/office/drawing/2014/main" id="{0A1FA372-D193-9461-2A63-B5872DF51BA2}"/>
              </a:ext>
            </a:extLst>
          </p:cNvPr>
          <p:cNvCxnSpPr>
            <a:cxnSpLocks/>
            <a:stCxn id="9" idx="2"/>
            <a:endCxn id="27" idx="1"/>
          </p:cNvCxnSpPr>
          <p:nvPr/>
        </p:nvCxnSpPr>
        <p:spPr>
          <a:xfrm rot="16200000" flipH="1">
            <a:off x="775301" y="3652291"/>
            <a:ext cx="500531" cy="894325"/>
          </a:xfrm>
          <a:prstGeom prst="bentConnector2">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7" name="그림 26">
            <a:extLst>
              <a:ext uri="{FF2B5EF4-FFF2-40B4-BE49-F238E27FC236}">
                <a16:creationId xmlns:a16="http://schemas.microsoft.com/office/drawing/2014/main" id="{38B82FAF-C631-4437-9E50-B7F1F4C91A9A}"/>
              </a:ext>
            </a:extLst>
          </p:cNvPr>
          <p:cNvPicPr>
            <a:picLocks noChangeAspect="1"/>
          </p:cNvPicPr>
          <p:nvPr/>
        </p:nvPicPr>
        <p:blipFill>
          <a:blip r:embed="rId4"/>
          <a:stretch>
            <a:fillRect/>
          </a:stretch>
        </p:blipFill>
        <p:spPr>
          <a:xfrm>
            <a:off x="1472729" y="2858350"/>
            <a:ext cx="5921829" cy="2982739"/>
          </a:xfrm>
          <a:prstGeom prst="rect">
            <a:avLst/>
          </a:prstGeom>
          <a:ln w="22225">
            <a:solidFill>
              <a:srgbClr val="FF0000"/>
            </a:solidFill>
          </a:ln>
        </p:spPr>
      </p:pic>
      <p:sp>
        <p:nvSpPr>
          <p:cNvPr id="32" name="TextBox 31">
            <a:extLst>
              <a:ext uri="{FF2B5EF4-FFF2-40B4-BE49-F238E27FC236}">
                <a16:creationId xmlns:a16="http://schemas.microsoft.com/office/drawing/2014/main" id="{AD5968ED-8DB4-2A0C-FCD2-DEA0B0208EDB}"/>
              </a:ext>
            </a:extLst>
          </p:cNvPr>
          <p:cNvSpPr txBox="1"/>
          <p:nvPr/>
        </p:nvSpPr>
        <p:spPr>
          <a:xfrm>
            <a:off x="226707" y="5961717"/>
            <a:ext cx="8917293" cy="738664"/>
          </a:xfrm>
          <a:prstGeom prst="rect">
            <a:avLst/>
          </a:prstGeom>
          <a:noFill/>
        </p:spPr>
        <p:txBody>
          <a:bodyPr wrap="square">
            <a:spAutoFit/>
          </a:bodyPr>
          <a:lstStyle/>
          <a:p>
            <a:r>
              <a:rPr lang="vi-VN" altLang="ko-KR" b="1" dirty="0"/>
              <a:t>Sửa đổi thông tin đơn đặt hàng muốn thay đổi</a:t>
            </a:r>
            <a:br>
              <a:rPr lang="en-US" altLang="ko-KR" b="1" dirty="0"/>
            </a:br>
            <a:r>
              <a:rPr lang="en-US" altLang="ko-KR" b="1" dirty="0"/>
              <a:t>- </a:t>
            </a:r>
            <a:r>
              <a:rPr lang="vi-VN" altLang="ko-KR" dirty="0"/>
              <a:t>Tuy nhiên, đối với các đơn đặt hàng đang trong quá trình nhập kho và nhập kho thực tế, không thể sửa đổi.</a:t>
            </a:r>
            <a:br>
              <a:rPr lang="en-US" altLang="ko-KR" dirty="0"/>
            </a:br>
            <a:r>
              <a:rPr lang="en-US" altLang="ko-KR" dirty="0"/>
              <a:t>- </a:t>
            </a:r>
            <a:r>
              <a:rPr lang="vi-VN" altLang="ko-KR" dirty="0"/>
              <a:t>Khi nhấn nút thay đổi, đơn yêu cầu thay đổi đơn đặt hàng sẽ được tạo tự động.</a:t>
            </a:r>
            <a:endParaRPr lang="ko-KR" altLang="en-US" b="1" dirty="0"/>
          </a:p>
        </p:txBody>
      </p:sp>
      <p:sp>
        <p:nvSpPr>
          <p:cNvPr id="7" name="제목 1">
            <a:extLst>
              <a:ext uri="{FF2B5EF4-FFF2-40B4-BE49-F238E27FC236}">
                <a16:creationId xmlns:a16="http://schemas.microsoft.com/office/drawing/2014/main" id="{DC1E736E-F769-7B9A-D39E-62FBFA1289CA}"/>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Purchase Management for Groupware Document</a:t>
            </a:r>
          </a:p>
        </p:txBody>
      </p:sp>
    </p:spTree>
    <p:extLst>
      <p:ext uri="{BB962C8B-B14F-4D97-AF65-F5344CB8AC3E}">
        <p14:creationId xmlns:p14="http://schemas.microsoft.com/office/powerpoint/2010/main" val="28539707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47BA9-4158-4ED7-E00F-2CB7FE712BF3}"/>
            </a:ext>
          </a:extLst>
        </p:cNvPr>
        <p:cNvGrpSpPr/>
        <p:nvPr/>
      </p:nvGrpSpPr>
      <p:grpSpPr>
        <a:xfrm>
          <a:off x="0" y="0"/>
          <a:ext cx="0" cy="0"/>
          <a:chOff x="0" y="0"/>
          <a:chExt cx="0" cy="0"/>
        </a:xfrm>
      </p:grpSpPr>
      <p:sp>
        <p:nvSpPr>
          <p:cNvPr id="6" name="Google Shape;100;p7">
            <a:extLst>
              <a:ext uri="{FF2B5EF4-FFF2-40B4-BE49-F238E27FC236}">
                <a16:creationId xmlns:a16="http://schemas.microsoft.com/office/drawing/2014/main" id="{7F55834E-F9C1-A67E-6FE3-A0530273681B}"/>
              </a:ext>
            </a:extLst>
          </p:cNvPr>
          <p:cNvSpPr/>
          <p:nvPr/>
        </p:nvSpPr>
        <p:spPr>
          <a:xfrm>
            <a:off x="159154" y="789126"/>
            <a:ext cx="8148823"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ko-KR" sz="1600" b="1" dirty="0">
                <a:solidFill>
                  <a:schemeClr val="tx1"/>
                </a:solidFill>
                <a:highlight>
                  <a:srgbClr val="FFFF00"/>
                </a:highlight>
                <a:latin typeface="+mn-ea"/>
                <a:ea typeface="+mn-ea"/>
                <a:cs typeface="Calibri"/>
                <a:sym typeface="Calibri"/>
              </a:rPr>
              <a:t>8</a:t>
            </a:r>
            <a:r>
              <a:rPr lang="en-US" altLang="ko-KR" sz="1600" b="1" i="0" u="none" strike="noStrike" cap="none" dirty="0">
                <a:solidFill>
                  <a:schemeClr val="tx1"/>
                </a:solidFill>
                <a:highlight>
                  <a:srgbClr val="FFFF00"/>
                </a:highlight>
                <a:latin typeface="+mn-ea"/>
                <a:ea typeface="+mn-ea"/>
                <a:cs typeface="Calibri"/>
                <a:sym typeface="Calibri"/>
              </a:rPr>
              <a:t>. </a:t>
            </a:r>
            <a:r>
              <a:rPr lang="en-US" altLang="ko-KR" sz="1600" b="1" dirty="0">
                <a:solidFill>
                  <a:schemeClr val="tx1"/>
                </a:solidFill>
                <a:highlight>
                  <a:srgbClr val="FFFF00"/>
                </a:highlight>
                <a:latin typeface="+mn-ea"/>
                <a:ea typeface="+mn-ea"/>
                <a:cs typeface="Calibri"/>
                <a:sym typeface="Calibri"/>
              </a:rPr>
              <a:t>Purchase Total List (Home -  Purchase Management)</a:t>
            </a:r>
            <a:endParaRPr lang="en-US" sz="1200" b="1" i="0" u="none" strike="noStrike" cap="none" dirty="0">
              <a:solidFill>
                <a:schemeClr val="tx1"/>
              </a:solidFill>
              <a:highlight>
                <a:srgbClr val="FFFF00"/>
              </a:highlight>
              <a:latin typeface="+mn-ea"/>
              <a:ea typeface="+mn-ea"/>
              <a:cs typeface="Calibri"/>
              <a:sym typeface="Calibri"/>
            </a:endParaRPr>
          </a:p>
        </p:txBody>
      </p:sp>
      <p:pic>
        <p:nvPicPr>
          <p:cNvPr id="4" name="그림 3">
            <a:extLst>
              <a:ext uri="{FF2B5EF4-FFF2-40B4-BE49-F238E27FC236}">
                <a16:creationId xmlns:a16="http://schemas.microsoft.com/office/drawing/2014/main" id="{F00AEDED-ACB7-90F8-84BC-AFBE7D40DBC8}"/>
              </a:ext>
            </a:extLst>
          </p:cNvPr>
          <p:cNvPicPr>
            <a:picLocks noChangeAspect="1"/>
          </p:cNvPicPr>
          <p:nvPr/>
        </p:nvPicPr>
        <p:blipFill>
          <a:blip r:embed="rId3"/>
          <a:stretch>
            <a:fillRect/>
          </a:stretch>
        </p:blipFill>
        <p:spPr>
          <a:xfrm>
            <a:off x="159153" y="1224418"/>
            <a:ext cx="8723589" cy="2851193"/>
          </a:xfrm>
          <a:prstGeom prst="rect">
            <a:avLst/>
          </a:prstGeom>
        </p:spPr>
      </p:pic>
      <p:sp>
        <p:nvSpPr>
          <p:cNvPr id="9" name="직사각형 8">
            <a:extLst>
              <a:ext uri="{FF2B5EF4-FFF2-40B4-BE49-F238E27FC236}">
                <a16:creationId xmlns:a16="http://schemas.microsoft.com/office/drawing/2014/main" id="{137797DD-EE75-3833-6B79-4F4A0BE16C2E}"/>
              </a:ext>
            </a:extLst>
          </p:cNvPr>
          <p:cNvSpPr/>
          <p:nvPr/>
        </p:nvSpPr>
        <p:spPr>
          <a:xfrm>
            <a:off x="712612" y="2858350"/>
            <a:ext cx="206658" cy="99083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cxnSp>
        <p:nvCxnSpPr>
          <p:cNvPr id="25" name="연결선: 꺾임 24">
            <a:extLst>
              <a:ext uri="{FF2B5EF4-FFF2-40B4-BE49-F238E27FC236}">
                <a16:creationId xmlns:a16="http://schemas.microsoft.com/office/drawing/2014/main" id="{05FE64D3-793C-ACB7-8F03-2275B210773A}"/>
              </a:ext>
            </a:extLst>
          </p:cNvPr>
          <p:cNvCxnSpPr>
            <a:cxnSpLocks/>
            <a:stCxn id="9" idx="2"/>
          </p:cNvCxnSpPr>
          <p:nvPr/>
        </p:nvCxnSpPr>
        <p:spPr>
          <a:xfrm rot="16200000" flipH="1">
            <a:off x="894070" y="3771060"/>
            <a:ext cx="500531" cy="656788"/>
          </a:xfrm>
          <a:prstGeom prst="bentConnector2">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87741E08-099E-CB74-A2C6-F14EE3D8A368}"/>
              </a:ext>
            </a:extLst>
          </p:cNvPr>
          <p:cNvSpPr txBox="1"/>
          <p:nvPr/>
        </p:nvSpPr>
        <p:spPr>
          <a:xfrm>
            <a:off x="226707" y="5961717"/>
            <a:ext cx="8917293" cy="523220"/>
          </a:xfrm>
          <a:prstGeom prst="rect">
            <a:avLst/>
          </a:prstGeom>
          <a:noFill/>
        </p:spPr>
        <p:txBody>
          <a:bodyPr wrap="square">
            <a:spAutoFit/>
          </a:bodyPr>
          <a:lstStyle/>
          <a:p>
            <a:r>
              <a:rPr lang="vi-VN" altLang="ko-KR" b="1" dirty="0"/>
              <a:t>In đơn đặt hàng </a:t>
            </a:r>
            <a:br>
              <a:rPr lang="en-US" altLang="ko-KR" b="1" dirty="0"/>
            </a:br>
            <a:r>
              <a:rPr lang="vi-VN" altLang="ko-KR" dirty="0"/>
              <a:t>- Có thể chỉnh sửa nội dung cần in (trừ các mục liên quan đến mặt hàng).</a:t>
            </a:r>
            <a:endParaRPr lang="ko-KR" altLang="en-US" b="1" dirty="0"/>
          </a:p>
        </p:txBody>
      </p:sp>
      <p:pic>
        <p:nvPicPr>
          <p:cNvPr id="7" name="그림 6">
            <a:extLst>
              <a:ext uri="{FF2B5EF4-FFF2-40B4-BE49-F238E27FC236}">
                <a16:creationId xmlns:a16="http://schemas.microsoft.com/office/drawing/2014/main" id="{6AECE9FB-60CF-E5A8-E61C-024260C033AA}"/>
              </a:ext>
            </a:extLst>
          </p:cNvPr>
          <p:cNvPicPr>
            <a:picLocks noChangeAspect="1"/>
          </p:cNvPicPr>
          <p:nvPr/>
        </p:nvPicPr>
        <p:blipFill>
          <a:blip r:embed="rId4"/>
          <a:stretch>
            <a:fillRect/>
          </a:stretch>
        </p:blipFill>
        <p:spPr>
          <a:xfrm>
            <a:off x="1472729" y="2209799"/>
            <a:ext cx="2575286" cy="3731623"/>
          </a:xfrm>
          <a:prstGeom prst="rect">
            <a:avLst/>
          </a:prstGeom>
          <a:ln w="25400">
            <a:solidFill>
              <a:srgbClr val="FF0000"/>
            </a:solidFill>
          </a:ln>
        </p:spPr>
      </p:pic>
      <p:sp>
        <p:nvSpPr>
          <p:cNvPr id="8" name="직사각형 7">
            <a:extLst>
              <a:ext uri="{FF2B5EF4-FFF2-40B4-BE49-F238E27FC236}">
                <a16:creationId xmlns:a16="http://schemas.microsoft.com/office/drawing/2014/main" id="{F6E1FC42-BAA5-4B20-2ECF-684A0A74ECBB}"/>
              </a:ext>
            </a:extLst>
          </p:cNvPr>
          <p:cNvSpPr/>
          <p:nvPr/>
        </p:nvSpPr>
        <p:spPr>
          <a:xfrm>
            <a:off x="2657042" y="5451566"/>
            <a:ext cx="269037" cy="23604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n>
                <a:solidFill>
                  <a:schemeClr val="tx1"/>
                </a:solidFill>
              </a:ln>
            </a:endParaRPr>
          </a:p>
        </p:txBody>
      </p:sp>
      <p:cxnSp>
        <p:nvCxnSpPr>
          <p:cNvPr id="10" name="연결선: 꺾임 9">
            <a:extLst>
              <a:ext uri="{FF2B5EF4-FFF2-40B4-BE49-F238E27FC236}">
                <a16:creationId xmlns:a16="http://schemas.microsoft.com/office/drawing/2014/main" id="{A5EB717F-48FF-DAE4-3052-65772DF482AC}"/>
              </a:ext>
            </a:extLst>
          </p:cNvPr>
          <p:cNvCxnSpPr>
            <a:cxnSpLocks/>
            <a:stCxn id="8" idx="0"/>
            <a:endCxn id="14" idx="1"/>
          </p:cNvCxnSpPr>
          <p:nvPr/>
        </p:nvCxnSpPr>
        <p:spPr>
          <a:xfrm rot="5400000" flipH="1" flipV="1">
            <a:off x="3241403" y="3586018"/>
            <a:ext cx="1415707" cy="2315390"/>
          </a:xfrm>
          <a:prstGeom prst="bentConnector2">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4" name="그림 13">
            <a:extLst>
              <a:ext uri="{FF2B5EF4-FFF2-40B4-BE49-F238E27FC236}">
                <a16:creationId xmlns:a16="http://schemas.microsoft.com/office/drawing/2014/main" id="{25E08916-DAAA-9AF0-296D-31F302F4173C}"/>
              </a:ext>
            </a:extLst>
          </p:cNvPr>
          <p:cNvPicPr>
            <a:picLocks noChangeAspect="1"/>
          </p:cNvPicPr>
          <p:nvPr/>
        </p:nvPicPr>
        <p:blipFill>
          <a:blip r:embed="rId5"/>
          <a:stretch>
            <a:fillRect/>
          </a:stretch>
        </p:blipFill>
        <p:spPr>
          <a:xfrm>
            <a:off x="5106951" y="2170047"/>
            <a:ext cx="3072131" cy="3731623"/>
          </a:xfrm>
          <a:prstGeom prst="rect">
            <a:avLst/>
          </a:prstGeom>
          <a:ln w="25400">
            <a:solidFill>
              <a:srgbClr val="FF0000"/>
            </a:solidFill>
          </a:ln>
        </p:spPr>
      </p:pic>
      <p:sp>
        <p:nvSpPr>
          <p:cNvPr id="11" name="제목 1">
            <a:extLst>
              <a:ext uri="{FF2B5EF4-FFF2-40B4-BE49-F238E27FC236}">
                <a16:creationId xmlns:a16="http://schemas.microsoft.com/office/drawing/2014/main" id="{1BD25542-405B-9053-C028-50726583D1E8}"/>
              </a:ext>
            </a:extLst>
          </p:cNvPr>
          <p:cNvSpPr>
            <a:spLocks noGrp="1"/>
          </p:cNvSpPr>
          <p:nvPr>
            <p:ph type="title"/>
          </p:nvPr>
        </p:nvSpPr>
        <p:spPr>
          <a:xfrm>
            <a:off x="159154" y="114782"/>
            <a:ext cx="7807333" cy="504056"/>
          </a:xfrm>
        </p:spPr>
        <p:txBody>
          <a:bodyPr>
            <a:normAutofit/>
          </a:bodyPr>
          <a:lstStyle/>
          <a:p>
            <a:pPr>
              <a:spcBef>
                <a:spcPts val="750"/>
              </a:spcBef>
            </a:pPr>
            <a:r>
              <a:rPr lang="en-US" altLang="ko-KR" dirty="0"/>
              <a:t>Purchase Management for Groupware Document</a:t>
            </a:r>
          </a:p>
        </p:txBody>
      </p:sp>
    </p:spTree>
    <p:extLst>
      <p:ext uri="{BB962C8B-B14F-4D97-AF65-F5344CB8AC3E}">
        <p14:creationId xmlns:p14="http://schemas.microsoft.com/office/powerpoint/2010/main" val="3349619969"/>
      </p:ext>
    </p:extLst>
  </p:cSld>
  <p:clrMapOvr>
    <a:masterClrMapping/>
  </p:clrMapOvr>
</p:sld>
</file>

<file path=ppt/theme/theme1.xml><?xml version="1.0" encoding="utf-8"?>
<a:theme xmlns:a="http://schemas.openxmlformats.org/drawingml/2006/main" name="디자인 사용자 지정">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15754</TotalTime>
  <Words>2976</Words>
  <Application>Microsoft Office PowerPoint</Application>
  <PresentationFormat>화면 슬라이드 쇼(4:3)</PresentationFormat>
  <Paragraphs>292</Paragraphs>
  <Slides>27</Slides>
  <Notes>27</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27</vt:i4>
      </vt:variant>
    </vt:vector>
  </HeadingPairs>
  <TitlesOfParts>
    <vt:vector size="31" baseType="lpstr">
      <vt:lpstr>Noto Sans Symbols</vt:lpstr>
      <vt:lpstr>맑은 고딕</vt:lpstr>
      <vt:lpstr>Arial</vt:lpstr>
      <vt:lpstr>디자인 사용자 지정</vt:lpstr>
      <vt:lpstr>Groupware Purchase Process</vt:lpstr>
      <vt:lpstr>Overview of the Groupware Purchase Process</vt:lpstr>
      <vt:lpstr>Process Flow for Groupware Document (Purchase)</vt:lpstr>
      <vt:lpstr>Process Flow for Groupware Document (Purchase)</vt:lpstr>
      <vt:lpstr>Process Flow for Groupware Document (Purchase)</vt:lpstr>
      <vt:lpstr>Process Flow for Groupware Document (Purchase)</vt:lpstr>
      <vt:lpstr>Process Flow for Groupware Document (Purchase)</vt:lpstr>
      <vt:lpstr>Process Flow for Groupware Document (Purchase)</vt:lpstr>
      <vt:lpstr>Process Flow for Groupware Document (Purchase)</vt:lpstr>
      <vt:lpstr>Process Flow for Groupware Document (Purchase)</vt:lpstr>
      <vt:lpstr>Process Flow for Groupware Document (Purchase)</vt:lpstr>
      <vt:lpstr>Process Flow for Groupware Document (Purchase)</vt:lpstr>
      <vt:lpstr>Process Flow for Groupware Document (Purchase)</vt:lpstr>
      <vt:lpstr>Process Flow for Groupware Document (Purchase)</vt:lpstr>
      <vt:lpstr>Process Flow for Groupware Document (Purchase)</vt:lpstr>
      <vt:lpstr>Process Flow for Groupware Document (Purchase)</vt:lpstr>
      <vt:lpstr>Process Flow for Groupware Document (Purchase)</vt:lpstr>
      <vt:lpstr>Process Flow for Groupware Document (Purchase)</vt:lpstr>
      <vt:lpstr>Process Flow for Groupware Document (Purchase)</vt:lpstr>
      <vt:lpstr>Process Flow for Groupware Document (Purchase)</vt:lpstr>
      <vt:lpstr>Process Flow for Groupware Document (Purchase Closing)</vt:lpstr>
      <vt:lpstr>Process Flow for Groupware Document (Purchase Closing)</vt:lpstr>
      <vt:lpstr>Process Flow for Groupware Document (Purchase Closing)</vt:lpstr>
      <vt:lpstr>Process Flow for Groupware Document (Purchase Closing)</vt:lpstr>
      <vt:lpstr>Purchase Management for Groupware Document</vt:lpstr>
      <vt:lpstr>Purchase Management for Groupware Document</vt:lpstr>
      <vt:lpstr>Purchase Management for Groupware Document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FAST</dc:creator>
  <cp:lastModifiedBy>VINA</cp:lastModifiedBy>
  <cp:revision>906</cp:revision>
  <cp:lastPrinted>2023-04-06T03:30:08Z</cp:lastPrinted>
  <dcterms:created xsi:type="dcterms:W3CDTF">2013-08-21T02:57:00Z</dcterms:created>
  <dcterms:modified xsi:type="dcterms:W3CDTF">2025-09-09T08:29:17Z</dcterms:modified>
</cp:coreProperties>
</file>