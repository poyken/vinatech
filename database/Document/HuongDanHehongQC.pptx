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7" r:id="rId2"/>
    <p:sldId id="261" r:id="rId3"/>
    <p:sldId id="288" r:id="rId4"/>
    <p:sldId id="289" r:id="rId5"/>
    <p:sldId id="293" r:id="rId6"/>
    <p:sldId id="290" r:id="rId7"/>
    <p:sldId id="296" r:id="rId8"/>
    <p:sldId id="291" r:id="rId9"/>
    <p:sldId id="298" r:id="rId10"/>
    <p:sldId id="297" r:id="rId11"/>
    <p:sldId id="292" r:id="rId12"/>
    <p:sldId id="299" r:id="rId13"/>
    <p:sldId id="263" r:id="rId14"/>
  </p:sldIdLst>
  <p:sldSz cx="18288000" cy="10287000"/>
  <p:notesSz cx="6858000" cy="9144000"/>
  <p:embeddedFontLst>
    <p:embeddedFont>
      <p:font typeface="Cabin Bold"/>
      <p:regular r:id="rId16"/>
    </p:embeddedFont>
    <p:embeddedFont>
      <p:font typeface="Cabin Semi-Bold"/>
      <p:regular r:id="rId17"/>
    </p:embeddedFont>
    <p:embeddedFont>
      <p:font typeface="Muli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02801-4FBE-430D-93E0-7330AF9B9926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8B4F-79D5-4C35-A706-04026BFC6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9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A8B4F-79D5-4C35-A706-04026BFC6A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62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A8B4F-79D5-4C35-A706-04026BFC6A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20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712502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5" y="0"/>
                </a:lnTo>
                <a:lnTo>
                  <a:pt x="1595395" y="1595395"/>
                </a:lnTo>
                <a:lnTo>
                  <a:pt x="0" y="1595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4967902"/>
            <a:ext cx="1339996" cy="133999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729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44792" y="5247713"/>
            <a:ext cx="754347" cy="768761"/>
          </a:xfrm>
          <a:custGeom>
            <a:avLst/>
            <a:gdLst/>
            <a:ahLst/>
            <a:cxnLst/>
            <a:rect l="l" t="t" r="r" b="b"/>
            <a:pathLst>
              <a:path w="754347" h="768761">
                <a:moveTo>
                  <a:pt x="0" y="0"/>
                </a:moveTo>
                <a:lnTo>
                  <a:pt x="754346" y="0"/>
                </a:lnTo>
                <a:lnTo>
                  <a:pt x="754346" y="768761"/>
                </a:lnTo>
                <a:lnTo>
                  <a:pt x="0" y="768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463946" y="4980480"/>
            <a:ext cx="5138582" cy="1314839"/>
            <a:chOff x="0" y="0"/>
            <a:chExt cx="1353371" cy="3462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3371" cy="346295"/>
            </a:xfrm>
            <a:custGeom>
              <a:avLst/>
              <a:gdLst/>
              <a:ahLst/>
              <a:cxnLst/>
              <a:rect l="l" t="t" r="r" b="b"/>
              <a:pathLst>
                <a:path w="1353371" h="346295">
                  <a:moveTo>
                    <a:pt x="131076" y="0"/>
                  </a:moveTo>
                  <a:lnTo>
                    <a:pt x="1222295" y="0"/>
                  </a:lnTo>
                  <a:cubicBezTo>
                    <a:pt x="1257058" y="0"/>
                    <a:pt x="1290398" y="13810"/>
                    <a:pt x="1314980" y="38391"/>
                  </a:cubicBezTo>
                  <a:cubicBezTo>
                    <a:pt x="1339561" y="62973"/>
                    <a:pt x="1353371" y="96313"/>
                    <a:pt x="1353371" y="131076"/>
                  </a:cubicBezTo>
                  <a:lnTo>
                    <a:pt x="1353371" y="215219"/>
                  </a:lnTo>
                  <a:cubicBezTo>
                    <a:pt x="1353371" y="249982"/>
                    <a:pt x="1339561" y="283322"/>
                    <a:pt x="1314980" y="307904"/>
                  </a:cubicBezTo>
                  <a:cubicBezTo>
                    <a:pt x="1290398" y="332485"/>
                    <a:pt x="1257058" y="346295"/>
                    <a:pt x="1222295" y="346295"/>
                  </a:cubicBezTo>
                  <a:lnTo>
                    <a:pt x="131076" y="346295"/>
                  </a:lnTo>
                  <a:cubicBezTo>
                    <a:pt x="96313" y="346295"/>
                    <a:pt x="62973" y="332485"/>
                    <a:pt x="38391" y="307904"/>
                  </a:cubicBezTo>
                  <a:cubicBezTo>
                    <a:pt x="13810" y="283322"/>
                    <a:pt x="0" y="249982"/>
                    <a:pt x="0" y="215219"/>
                  </a:cubicBezTo>
                  <a:lnTo>
                    <a:pt x="0" y="131076"/>
                  </a:lnTo>
                  <a:cubicBezTo>
                    <a:pt x="0" y="96313"/>
                    <a:pt x="13810" y="62973"/>
                    <a:pt x="38391" y="38391"/>
                  </a:cubicBezTo>
                  <a:cubicBezTo>
                    <a:pt x="62973" y="13810"/>
                    <a:pt x="96313" y="0"/>
                    <a:pt x="131076" y="0"/>
                  </a:cubicBezTo>
                  <a:close/>
                </a:path>
              </a:pathLst>
            </a:custGeom>
            <a:solidFill>
              <a:srgbClr val="2772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53371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>
                  <a:solidFill>
                    <a:srgbClr val="FFFFFF"/>
                  </a:solidFill>
                  <a:latin typeface="Cabin Bold"/>
                </a:rPr>
                <a:t>Các màn hình hiển thị dữ liệu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3996" y="0"/>
            <a:ext cx="18264004" cy="2360401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8716841" y="3094075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5" y="0"/>
                </a:lnTo>
                <a:lnTo>
                  <a:pt x="1595395" y="1595396"/>
                </a:lnTo>
                <a:lnTo>
                  <a:pt x="0" y="1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7537495" y="6028151"/>
            <a:ext cx="4353807" cy="522568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8716841" y="3339022"/>
            <a:ext cx="1339996" cy="133999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72FF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184493" y="3374632"/>
            <a:ext cx="4724885" cy="1314839"/>
            <a:chOff x="0" y="0"/>
            <a:chExt cx="1244414" cy="34629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44414" cy="346295"/>
            </a:xfrm>
            <a:custGeom>
              <a:avLst/>
              <a:gdLst/>
              <a:ahLst/>
              <a:cxnLst/>
              <a:rect l="l" t="t" r="r" b="b"/>
              <a:pathLst>
                <a:path w="1244414" h="346295">
                  <a:moveTo>
                    <a:pt x="142553" y="0"/>
                  </a:moveTo>
                  <a:lnTo>
                    <a:pt x="1101861" y="0"/>
                  </a:lnTo>
                  <a:cubicBezTo>
                    <a:pt x="1139669" y="0"/>
                    <a:pt x="1175928" y="15019"/>
                    <a:pt x="1202661" y="41753"/>
                  </a:cubicBezTo>
                  <a:cubicBezTo>
                    <a:pt x="1229395" y="68487"/>
                    <a:pt x="1244414" y="104746"/>
                    <a:pt x="1244414" y="142553"/>
                  </a:cubicBezTo>
                  <a:lnTo>
                    <a:pt x="1244414" y="203742"/>
                  </a:lnTo>
                  <a:cubicBezTo>
                    <a:pt x="1244414" y="282472"/>
                    <a:pt x="1180591" y="346295"/>
                    <a:pt x="1101861" y="346295"/>
                  </a:cubicBezTo>
                  <a:lnTo>
                    <a:pt x="142553" y="346295"/>
                  </a:lnTo>
                  <a:cubicBezTo>
                    <a:pt x="104746" y="346295"/>
                    <a:pt x="68487" y="331276"/>
                    <a:pt x="41753" y="304542"/>
                  </a:cubicBezTo>
                  <a:cubicBezTo>
                    <a:pt x="15019" y="277808"/>
                    <a:pt x="0" y="241549"/>
                    <a:pt x="0" y="203742"/>
                  </a:cubicBezTo>
                  <a:lnTo>
                    <a:pt x="0" y="142553"/>
                  </a:lnTo>
                  <a:cubicBezTo>
                    <a:pt x="0" y="104746"/>
                    <a:pt x="15019" y="68487"/>
                    <a:pt x="41753" y="41753"/>
                  </a:cubicBezTo>
                  <a:cubicBezTo>
                    <a:pt x="68487" y="15019"/>
                    <a:pt x="104746" y="0"/>
                    <a:pt x="142553" y="0"/>
                  </a:cubicBezTo>
                  <a:close/>
                </a:path>
              </a:pathLst>
            </a:custGeom>
            <a:solidFill>
              <a:srgbClr val="FFD24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244414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 err="1">
                  <a:solidFill>
                    <a:srgbClr val="213343"/>
                  </a:solidFill>
                  <a:latin typeface="Cabin Bold"/>
                </a:rPr>
                <a:t>Cấu</a:t>
              </a:r>
              <a:r>
                <a:rPr lang="en-US" sz="2399" u="sng" dirty="0">
                  <a:solidFill>
                    <a:srgbClr val="213343"/>
                  </a:solidFill>
                  <a:latin typeface="Cabin Bold"/>
                </a:rPr>
                <a:t> hình </a:t>
              </a:r>
              <a:r>
                <a:rPr lang="en-US" sz="2399" u="sng" dirty="0" err="1">
                  <a:solidFill>
                    <a:srgbClr val="213343"/>
                  </a:solidFill>
                  <a:latin typeface="Cabin Bold"/>
                </a:rPr>
                <a:t>hệ</a:t>
              </a:r>
              <a:r>
                <a:rPr lang="en-US" sz="2399" u="sng" dirty="0">
                  <a:solidFill>
                    <a:srgbClr val="213343"/>
                  </a:solidFill>
                  <a:latin typeface="Cabin Bold"/>
                </a:rPr>
                <a:t> thống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9022541" y="3610364"/>
            <a:ext cx="789813" cy="797311"/>
          </a:xfrm>
          <a:custGeom>
            <a:avLst/>
            <a:gdLst/>
            <a:ahLst/>
            <a:cxnLst/>
            <a:rect l="l" t="t" r="r" b="b"/>
            <a:pathLst>
              <a:path w="789813" h="797311">
                <a:moveTo>
                  <a:pt x="0" y="0"/>
                </a:moveTo>
                <a:lnTo>
                  <a:pt x="789812" y="0"/>
                </a:lnTo>
                <a:lnTo>
                  <a:pt x="789812" y="797311"/>
                </a:lnTo>
                <a:lnTo>
                  <a:pt x="0" y="797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1782567" y="5540521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6" y="0"/>
                </a:lnTo>
                <a:lnTo>
                  <a:pt x="1595396" y="1595396"/>
                </a:lnTo>
                <a:lnTo>
                  <a:pt x="0" y="1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 flipH="1">
            <a:off x="7663744" y="4641496"/>
            <a:ext cx="1595395" cy="862819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7" name="Group 37"/>
          <p:cNvGrpSpPr/>
          <p:nvPr/>
        </p:nvGrpSpPr>
        <p:grpSpPr>
          <a:xfrm>
            <a:off x="11876938" y="5795921"/>
            <a:ext cx="1339996" cy="1339996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CB7E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312184" y="5808499"/>
            <a:ext cx="3887885" cy="1314839"/>
            <a:chOff x="0" y="0"/>
            <a:chExt cx="1023970" cy="34629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23970" cy="346295"/>
            </a:xfrm>
            <a:custGeom>
              <a:avLst/>
              <a:gdLst/>
              <a:ahLst/>
              <a:cxnLst/>
              <a:rect l="l" t="t" r="r" b="b"/>
              <a:pathLst>
                <a:path w="1023970" h="346295">
                  <a:moveTo>
                    <a:pt x="173148" y="0"/>
                  </a:moveTo>
                  <a:lnTo>
                    <a:pt x="850822" y="0"/>
                  </a:lnTo>
                  <a:cubicBezTo>
                    <a:pt x="946449" y="0"/>
                    <a:pt x="1023970" y="77521"/>
                    <a:pt x="1023970" y="173148"/>
                  </a:cubicBezTo>
                  <a:lnTo>
                    <a:pt x="1023970" y="173148"/>
                  </a:lnTo>
                  <a:cubicBezTo>
                    <a:pt x="1023970" y="268774"/>
                    <a:pt x="946449" y="346295"/>
                    <a:pt x="850822" y="346295"/>
                  </a:cubicBezTo>
                  <a:lnTo>
                    <a:pt x="173148" y="346295"/>
                  </a:lnTo>
                  <a:cubicBezTo>
                    <a:pt x="77521" y="346295"/>
                    <a:pt x="0" y="268774"/>
                    <a:pt x="0" y="173148"/>
                  </a:cubicBezTo>
                  <a:lnTo>
                    <a:pt x="0" y="173148"/>
                  </a:lnTo>
                  <a:cubicBezTo>
                    <a:pt x="0" y="77521"/>
                    <a:pt x="77521" y="0"/>
                    <a:pt x="173148" y="0"/>
                  </a:cubicBezTo>
                  <a:close/>
                </a:path>
              </a:pathLst>
            </a:custGeom>
            <a:solidFill>
              <a:srgbClr val="FF772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023970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>
                  <a:solidFill>
                    <a:srgbClr val="FFFFFF"/>
                  </a:solidFill>
                  <a:latin typeface="Cabin Bold"/>
                </a:rPr>
                <a:t>TÓM TẮT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12180482" y="6066135"/>
            <a:ext cx="799567" cy="799567"/>
          </a:xfrm>
          <a:custGeom>
            <a:avLst/>
            <a:gdLst/>
            <a:ahLst/>
            <a:cxnLst/>
            <a:rect l="l" t="t" r="r" b="b"/>
            <a:pathLst>
              <a:path w="799567" h="799567">
                <a:moveTo>
                  <a:pt x="0" y="0"/>
                </a:moveTo>
                <a:lnTo>
                  <a:pt x="799566" y="0"/>
                </a:lnTo>
                <a:lnTo>
                  <a:pt x="799566" y="799567"/>
                </a:lnTo>
                <a:lnTo>
                  <a:pt x="0" y="7995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TextBox 44">
            <a:extLst>
              <a:ext uri="{FF2B5EF4-FFF2-40B4-BE49-F238E27FC236}">
                <a16:creationId xmlns:a16="http://schemas.microsoft.com/office/drawing/2014/main" id="{DC3C3EF5-B830-8704-B7CC-25C6DDD9C49C}"/>
              </a:ext>
            </a:extLst>
          </p:cNvPr>
          <p:cNvSpPr txBox="1"/>
          <p:nvPr/>
        </p:nvSpPr>
        <p:spPr>
          <a:xfrm>
            <a:off x="566198" y="627100"/>
            <a:ext cx="17188401" cy="981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Một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số màn hình QC trên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hệ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thống 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705100"/>
            <a:chOff x="0" y="0"/>
            <a:chExt cx="4816593" cy="62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819400" y="2113292"/>
            <a:ext cx="3031765" cy="547718"/>
            <a:chOff x="0" y="-28575"/>
            <a:chExt cx="2032782" cy="3672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F312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649200" y="2155910"/>
            <a:ext cx="3031765" cy="547718"/>
            <a:chOff x="0" y="-28575"/>
            <a:chExt cx="2032782" cy="3672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F330</a:t>
              </a:r>
            </a:p>
          </p:txBody>
        </p:sp>
      </p:grpSp>
      <p:sp>
        <p:nvSpPr>
          <p:cNvPr id="117" name="TextBox 44">
            <a:extLst>
              <a:ext uri="{FF2B5EF4-FFF2-40B4-BE49-F238E27FC236}">
                <a16:creationId xmlns:a16="http://schemas.microsoft.com/office/drawing/2014/main" id="{A0FFA56F-44AD-7407-7E35-AFB6C89354B0}"/>
              </a:ext>
            </a:extLst>
          </p:cNvPr>
          <p:cNvSpPr txBox="1"/>
          <p:nvPr/>
        </p:nvSpPr>
        <p:spPr>
          <a:xfrm>
            <a:off x="397399" y="-6656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Tạo ghi chú nguyên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vật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liệu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4A7D78-EB62-9C7F-0BD2-D7332C09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536" y="2746245"/>
            <a:ext cx="9709609" cy="6283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1A871C-117D-D7C2-DCF3-D3080108F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3628"/>
            <a:ext cx="8491532" cy="67792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C111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81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C111 : Thông tin hằng số thống kê cơ bản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Vào màn hình C111 :</a:t>
              </a:r>
            </a:p>
            <a:p>
              <a:r>
                <a:rPr lang="en-US" dirty="0"/>
                <a:t> - Ấn vào </a:t>
              </a:r>
              <a:r>
                <a:rPr lang="en-US" dirty="0" err="1"/>
                <a:t>nút</a:t>
              </a:r>
              <a:r>
                <a:rPr lang="en-US" dirty="0"/>
                <a:t> tìm kiếm.</a:t>
              </a:r>
            </a:p>
            <a:p>
              <a:r>
                <a:rPr lang="en-US" dirty="0"/>
                <a:t> -</a:t>
              </a:r>
              <a:r>
                <a:rPr lang="vi-VN" dirty="0"/>
                <a:t>Đây là giá trị cố định theo số lượng mẫu. Bạn không cần phải thay đổi</a:t>
              </a:r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DB2B18E-6225-2B29-8D7F-1D1CCBFCC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848" y="2337480"/>
            <a:ext cx="10355122" cy="7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81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C112 : Thông tin tiêu chuẩn AQL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Khi thêm dữ liệu </a:t>
              </a:r>
              <a:r>
                <a:rPr lang="en-US" dirty="0" err="1"/>
                <a:t>bên</a:t>
              </a:r>
              <a:r>
                <a:rPr lang="en-US" dirty="0"/>
                <a:t> trên xong thì sẽ ấn dấu (+) ô </a:t>
              </a:r>
              <a:r>
                <a:rPr lang="en-US" dirty="0" err="1"/>
                <a:t>bên</a:t>
              </a:r>
              <a:r>
                <a:rPr lang="en-US" dirty="0"/>
                <a:t> dưới để thêm dữ liệu tiếp </a:t>
              </a:r>
              <a:r>
                <a:rPr lang="en-US" dirty="0" err="1"/>
                <a:t>theo.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Cột “Mã nguyên liệu” sẽ được hiển thị </a:t>
              </a:r>
              <a:r>
                <a:rPr lang="en-US" dirty="0" err="1"/>
                <a:t>theo</a:t>
              </a:r>
              <a:r>
                <a:rPr lang="en-US" dirty="0"/>
                <a:t> Code </a:t>
              </a:r>
              <a:r>
                <a:rPr lang="en-US" dirty="0" err="1"/>
                <a:t>giao</a:t>
              </a:r>
              <a:r>
                <a:rPr lang="en-US" dirty="0"/>
                <a:t> dịch </a:t>
              </a:r>
              <a:r>
                <a:rPr lang="en-US" dirty="0" err="1"/>
                <a:t>bên</a:t>
              </a:r>
              <a:r>
                <a:rPr lang="en-US" dirty="0"/>
                <a:t> trên.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Và các ô màu xanh </a:t>
              </a:r>
              <a:r>
                <a:rPr lang="en-US" dirty="0" err="1"/>
                <a:t>đậm</a:t>
              </a:r>
              <a:r>
                <a:rPr lang="en-US" dirty="0"/>
                <a:t> cũng đều bắt </a:t>
              </a:r>
              <a:r>
                <a:rPr lang="en-US" dirty="0" err="1"/>
                <a:t>buộc</a:t>
              </a:r>
              <a:r>
                <a:rPr lang="en-US" dirty="0"/>
                <a:t> phải nhập.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0CE688C-5F1B-310E-CC5A-828A72BDF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988" y="2348681"/>
            <a:ext cx="10355121" cy="774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4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F312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81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C113 : Thông tin cơ bản kiểm tra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mẫu</a:t>
            </a:r>
            <a:endParaRPr lang="en-US" sz="6549" dirty="0">
              <a:solidFill>
                <a:srgbClr val="213343"/>
              </a:solidFill>
              <a:latin typeface="Cabin Semi-Bold"/>
            </a:endParaRP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Nhập số lượng </a:t>
              </a:r>
              <a:r>
                <a:rPr lang="en-US" sz="1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vật</a:t>
              </a: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liệu yêu cầu (</a:t>
              </a:r>
              <a:r>
                <a:rPr lang="en-US" sz="1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RequestQty</a:t>
              </a: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- </a:t>
              </a:r>
              <a:r>
                <a:rPr lang="en-US" sz="1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hoặc</a:t>
              </a: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số lượng nguyên liệu thực tế được </a:t>
              </a:r>
              <a:r>
                <a:rPr lang="en-US" sz="1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giao</a:t>
              </a: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đến </a:t>
              </a:r>
              <a:r>
                <a:rPr lang="en-US" sz="1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kho</a:t>
              </a:r>
              <a:r>
                <a:rPr lang="en-US" sz="18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Bấm </a:t>
              </a:r>
              <a:r>
                <a:rPr lang="en-US" sz="1800" dirty="0" err="1">
                  <a:latin typeface="Arial" panose="020B0604020202020204" pitchFamily="34" charset="0"/>
                  <a:cs typeface="Arial" panose="020B0604020202020204" pitchFamily="34" charset="0"/>
                </a:rPr>
                <a:t>biểu</a:t>
              </a:r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 tượng Save          để lưu lại thông tin </a:t>
              </a:r>
              <a:r>
                <a:rPr lang="en-US" sz="1800" dirty="0" err="1">
                  <a:latin typeface="Arial" panose="020B0604020202020204" pitchFamily="34" charset="0"/>
                  <a:cs typeface="Arial" panose="020B0604020202020204" pitchFamily="34" charset="0"/>
                </a:rPr>
                <a:t>sau</a:t>
              </a:r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 khi nhập số lượng liệu đến</a:t>
              </a:r>
              <a:r>
                <a:rPr lang="en-US" dirty="0"/>
                <a:t>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2" name="Picture 2" descr="[F310] Vlét ghi chü giao vét lieu - NAIS System &#10;Höp thLr thoai lua chon Thöng tin Chung Quin sin xuät &#10;Thöng tin thuöc tinh quin hing tön kho &#10;Quin chit ILrgng Quin bin hing Quin vit lieu &#10;Vlét ghi chü giao vit lieu &#10;Quin sin phåm Quin thiét bi &#10;Thöng tin cung cäp vit lieu theo tÜng nhå cungcäp Chi dinh nhå cung cäp theo tirngvät lieu nhäp kho vit lieu &#10;SCM Quin nhän sv ReliabilityTestManagement_MENU DashBoard Quin he thöng &#10;Thöng tin tön kho lieu Dl@u chinh sö ILrgng 16 vit lieu &#10;Yäu cäu hoån tri vit lieu &#10;Danh muc vit lieu tön kho Kiém kä vit lieu &#10;Chi dinh vit lieu theo tÜng nhå cung cäp &#10;Thöng tin tiéu chuån &#10;CF310) Viét ghi chü giao vit lieu &#10;nhäp kho vit lieu In abel &#10;Quån nhäp kho vit lieu &#10;MaterialDocNo &#10;chuyän nöi böv lieu gia cöng ngoii v &#10;Quån di chuyén vit lieu &#10;Quån hoån tri vit lieu &#10;Quin di Quin di Hoån tri vit lieu vå in Label &#10;Tinh hinh tön khoan toån Lich sir thu chi vit lieu (vit lieu) &#10;Search &#10;From8asicDate &#10;T08asicDate &#10;SourceCustomerCode &#10;SourceCustomerName &#10;Thöng tin tön kho &#10;Hang muc déc biét &#10;IsCancel CancelUserID CancelDate &#10;O &#10;MaterialDocInfo &#10;MaterialDocNo &#10;1 191112000039 &#10;2 191112000089 &#10;3 191112000090 &#10;191115000073 &#10;O &#10;MaterialDocDetail &#10;OrderDetailNo &#10;MaterialGRDate DocStatusName Code bén giao dich Tén bén giao d Ich &#10;Target M aterialWarehouseCode &#10;TARGET MateriaWarehouseName &#10;Loai hinh mua hing &#10;2019-11-11 &#10;2019-11-11 &#10;2019-11-11 &#10;2019-11-14 &#10;MaterialCode &#10;GBHNAc-034 &#10;Finish GIR &#10;MaterialName &#10;Al Case(odl. &#10;vooll &#10;v0005 &#10;v0008 &#10;vooos &#10;IsVendorLotUse &#10;ROH &#10;ROH &#10;ROH &#10;ROH &#10;VN &#10;VN &#10;WH &#10;WH &#10;WH &#10;WH &#10;M aterialStockAttrib u te &#10;NORMAL &#10;VendorLotNo &#10;MaterialSpec &#10;MaterialTypeName &#10;BasicGrQty &#10;6500.0000 &#10;MateriallJnt &#10;pcs &#10;S5 ILtgng dét hing &#10;dét hing &#10;MaterialOrderRemainQty RequestQty S5 ILtgng noi giao hir &#10;10,ood ">
            <a:extLst>
              <a:ext uri="{FF2B5EF4-FFF2-40B4-BE49-F238E27FC236}">
                <a16:creationId xmlns:a16="http://schemas.microsoft.com/office/drawing/2014/main" id="{0AB9885F-8675-1375-E14E-983F71FA7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2221387"/>
            <a:ext cx="10206326" cy="787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16D98B-3E46-63DE-6620-DA8F582B1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857500"/>
            <a:ext cx="4191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89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C121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216" y="-177"/>
            <a:ext cx="18389510" cy="1618715"/>
            <a:chOff x="0" y="-9525"/>
            <a:chExt cx="4810273" cy="63119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69035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C121 :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Quản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lý hạng mục / kiểm tra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52316" y="2475155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Thiết lập các nhóm kiểm tra </a:t>
              </a:r>
              <a:r>
                <a:rPr lang="en-US" dirty="0" err="1"/>
                <a:t>cho</a:t>
              </a:r>
              <a:r>
                <a:rPr lang="en-US" dirty="0"/>
                <a:t> đầu vào nguyên </a:t>
              </a:r>
              <a:r>
                <a:rPr lang="en-US" dirty="0" err="1"/>
                <a:t>vật</a:t>
              </a:r>
              <a:r>
                <a:rPr lang="en-US" dirty="0"/>
                <a:t> liệu.</a:t>
              </a:r>
            </a:p>
            <a:p>
              <a:r>
                <a:rPr lang="en-US" dirty="0"/>
                <a:t> Thêm nhóm kiểm tra thì ấn       như hình ảnh </a:t>
              </a:r>
              <a:r>
                <a:rPr lang="en-US" dirty="0" err="1"/>
                <a:t>sau</a:t>
              </a:r>
              <a:r>
                <a:rPr lang="en-US" dirty="0"/>
                <a:t> đó điền thông tin cần thiết và phải </a:t>
              </a:r>
              <a:r>
                <a:rPr lang="en-US" dirty="0" err="1"/>
                <a:t>tích</a:t>
              </a:r>
              <a:r>
                <a:rPr lang="en-US" dirty="0"/>
                <a:t> chọn vào ô “</a:t>
              </a:r>
              <a:r>
                <a:rPr lang="en-US" dirty="0" err="1"/>
                <a:t>Sử</a:t>
              </a:r>
              <a:r>
                <a:rPr lang="en-US" dirty="0"/>
                <a:t> dụng” thì </a:t>
              </a:r>
              <a:r>
                <a:rPr lang="en-US" dirty="0" err="1"/>
                <a:t>mới</a:t>
              </a:r>
              <a:r>
                <a:rPr lang="en-US" dirty="0"/>
                <a:t> tìm kiếm được.</a:t>
              </a:r>
            </a:p>
            <a:p>
              <a:r>
                <a:rPr lang="en-US" dirty="0"/>
                <a:t>Tiếp </a:t>
              </a:r>
              <a:r>
                <a:rPr lang="en-US" dirty="0" err="1"/>
                <a:t>theo</a:t>
              </a:r>
              <a:r>
                <a:rPr lang="en-US" dirty="0"/>
                <a:t> ấn          lưu lại sẽ hoàn thành.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99A8877-C766-4FBB-A923-10A6F4CD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804" y="2337480"/>
            <a:ext cx="10381978" cy="7759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2F1190-08F6-95C0-BBDC-FC53F6E70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488" y="2705100"/>
            <a:ext cx="238095" cy="238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5BFEB0-30C0-0BBA-DF29-B6D9F58B2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664" y="3367092"/>
            <a:ext cx="257143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99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1A22B-FA02-1343-4879-13E2C1145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>
            <a:extLst>
              <a:ext uri="{FF2B5EF4-FFF2-40B4-BE49-F238E27FC236}">
                <a16:creationId xmlns:a16="http://schemas.microsoft.com/office/drawing/2014/main" id="{3CDCE65C-B7E7-F3F7-9D4C-2282CAA0D67D}"/>
              </a:ext>
            </a:extLst>
          </p:cNvPr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15DB9AE-B209-D11C-A86E-F03207B4C4E9}"/>
                </a:ext>
              </a:extLst>
            </p:cNvPr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C121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36B30EED-4697-6740-BA36-A5D8B2DB0040}"/>
                </a:ext>
              </a:extLst>
            </p:cNvPr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E86BFC0-B5C6-BCD9-C8A2-24B643060E88}"/>
              </a:ext>
            </a:extLst>
          </p:cNvPr>
          <p:cNvGrpSpPr/>
          <p:nvPr/>
        </p:nvGrpSpPr>
        <p:grpSpPr>
          <a:xfrm>
            <a:off x="14216" y="-177"/>
            <a:ext cx="18389510" cy="1618715"/>
            <a:chOff x="0" y="-9525"/>
            <a:chExt cx="4810273" cy="631194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60CBC33-6FAB-D8C6-0433-1CC588093997}"/>
                </a:ext>
              </a:extLst>
            </p:cNvPr>
            <p:cNvSpPr/>
            <p:nvPr/>
          </p:nvSpPr>
          <p:spPr>
            <a:xfrm>
              <a:off x="0" y="0"/>
              <a:ext cx="4769035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FE3BB92D-B6FE-D48B-0D6A-77270C724F04}"/>
                </a:ext>
              </a:extLst>
            </p:cNvPr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>
            <a:extLst>
              <a:ext uri="{FF2B5EF4-FFF2-40B4-BE49-F238E27FC236}">
                <a16:creationId xmlns:a16="http://schemas.microsoft.com/office/drawing/2014/main" id="{7BFD07FA-C956-2009-43F5-D1D945C62F06}"/>
              </a:ext>
            </a:extLst>
          </p:cNvPr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C121 :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Quản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lý hạng mục / kiểm tra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B044B049-4920-4865-BC93-BC0B459F41CB}"/>
              </a:ext>
            </a:extLst>
          </p:cNvPr>
          <p:cNvGrpSpPr/>
          <p:nvPr/>
        </p:nvGrpSpPr>
        <p:grpSpPr>
          <a:xfrm>
            <a:off x="52316" y="2475155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3F73CE84-7760-FB26-A7E4-6B1676021580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Thiết lập từng hạng mục kiểm tra </a:t>
              </a:r>
              <a:r>
                <a:rPr lang="en-US" dirty="0" err="1"/>
                <a:t>cho</a:t>
              </a:r>
              <a:r>
                <a:rPr lang="en-US" dirty="0"/>
                <a:t> đầu vào nguyên </a:t>
              </a:r>
              <a:r>
                <a:rPr lang="en-US" dirty="0" err="1"/>
                <a:t>vật</a:t>
              </a:r>
              <a:r>
                <a:rPr lang="en-US" dirty="0"/>
                <a:t> liệu.</a:t>
              </a:r>
            </a:p>
            <a:p>
              <a:r>
                <a:rPr lang="en-US" dirty="0"/>
                <a:t> Thêm nhóm kiểm tra thì ấn       như hình ảnh </a:t>
              </a:r>
              <a:r>
                <a:rPr lang="en-US" dirty="0" err="1"/>
                <a:t>sau</a:t>
              </a:r>
              <a:r>
                <a:rPr lang="en-US" dirty="0"/>
                <a:t> đó điền thông tin cần thiết chú ý các cột tiêu đề </a:t>
              </a:r>
              <a:r>
                <a:rPr lang="en-US" dirty="0" err="1"/>
                <a:t>đậm</a:t>
              </a:r>
              <a:r>
                <a:rPr lang="en-US" dirty="0"/>
                <a:t> hơn sẽ phải điền thông tin không sẽ báo lỗi.</a:t>
              </a:r>
            </a:p>
            <a:p>
              <a:r>
                <a:rPr lang="en-US" dirty="0"/>
                <a:t>Tiếp </a:t>
              </a:r>
              <a:r>
                <a:rPr lang="en-US" dirty="0" err="1"/>
                <a:t>theo</a:t>
              </a:r>
              <a:r>
                <a:rPr lang="en-US" dirty="0"/>
                <a:t> ấn          lưu lại sẽ hoàn thành.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EEB582F-B4F9-07BE-285B-815E6FF9146C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46AC905-C358-CD5A-1013-34FE310C9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216" y="2833692"/>
            <a:ext cx="238095" cy="238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831533-4EC3-2FD9-39F2-AAF4A05A1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664" y="3367092"/>
            <a:ext cx="257143" cy="2190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5A0760-8721-7ED8-59EA-C1389D061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9275" y="2475154"/>
            <a:ext cx="10277106" cy="772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5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C122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2400" y="2337480"/>
            <a:ext cx="7662536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dirty="0"/>
                <a:t>Màn hình C122 thiết lập các hạng mục kiểm tra </a:t>
              </a:r>
              <a:r>
                <a:rPr lang="en-US" dirty="0" err="1"/>
                <a:t>cho</a:t>
              </a:r>
              <a:r>
                <a:rPr lang="en-US" dirty="0"/>
                <a:t> từng nguyên </a:t>
              </a:r>
              <a:r>
                <a:rPr lang="en-US" dirty="0" err="1"/>
                <a:t>vật</a:t>
              </a:r>
              <a:r>
                <a:rPr lang="en-US" dirty="0"/>
                <a:t> liệu của nhà máy.</a:t>
              </a:r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dirty="0"/>
                <a:t>Tìm nguyên </a:t>
              </a:r>
              <a:r>
                <a:rPr lang="en-US" dirty="0" err="1"/>
                <a:t>vật</a:t>
              </a:r>
              <a:r>
                <a:rPr lang="en-US" dirty="0"/>
                <a:t> liệu cần thiết lập ấn </a:t>
              </a:r>
              <a:r>
                <a:rPr lang="en-US" dirty="0" err="1"/>
                <a:t>nút</a:t>
              </a:r>
              <a:r>
                <a:rPr lang="en-US" dirty="0"/>
                <a:t> tìm kiếm sẽ có danh sách cần kiểm tra như hình nếu không có ấn </a:t>
              </a:r>
              <a:r>
                <a:rPr lang="en-US" dirty="0" err="1"/>
                <a:t>nút</a:t>
              </a:r>
              <a:r>
                <a:rPr lang="en-US" dirty="0"/>
                <a:t> “Chọn trong nhóm/Hạng mục kiểm tra”</a:t>
              </a:r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dirty="0"/>
                <a:t>Thì sẽ có 1 cửa sổ hiển thị lên để thêm.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5" name="TextBox 44">
            <a:extLst>
              <a:ext uri="{FF2B5EF4-FFF2-40B4-BE49-F238E27FC236}">
                <a16:creationId xmlns:a16="http://schemas.microsoft.com/office/drawing/2014/main" id="{98D5C108-A399-D041-D633-94B02E7081B1}"/>
              </a:ext>
            </a:extLst>
          </p:cNvPr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C122 : Kiểm tra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vật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phẩm bằng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vật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liệu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6991F-073A-B075-2D1D-F92ADE5C6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596" y="2337479"/>
            <a:ext cx="10410689" cy="77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26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237D9-4F9F-ADAB-9E50-99317B226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>
            <a:extLst>
              <a:ext uri="{FF2B5EF4-FFF2-40B4-BE49-F238E27FC236}">
                <a16:creationId xmlns:a16="http://schemas.microsoft.com/office/drawing/2014/main" id="{B5C46D51-CF32-6E8F-6083-59B4B1E4A187}"/>
              </a:ext>
            </a:extLst>
          </p:cNvPr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9DC86EE-0E36-990A-D7A0-4905CB49EAFD}"/>
                </a:ext>
              </a:extLst>
            </p:cNvPr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C122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B13341B-EA9F-299E-1537-8DF2F9911047}"/>
                </a:ext>
              </a:extLst>
            </p:cNvPr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0549B99-D28C-8636-49E0-D454FCB809B4}"/>
              </a:ext>
            </a:extLst>
          </p:cNvPr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C34AF4C-23DD-91E3-7573-0C9856038C15}"/>
                </a:ext>
              </a:extLst>
            </p:cNvPr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326AB3E6-1BE2-8472-0000-D28B8B700BF5}"/>
                </a:ext>
              </a:extLst>
            </p:cNvPr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52" name="Group 45">
            <a:extLst>
              <a:ext uri="{FF2B5EF4-FFF2-40B4-BE49-F238E27FC236}">
                <a16:creationId xmlns:a16="http://schemas.microsoft.com/office/drawing/2014/main" id="{8AAAFFFE-3E4D-8A04-1AFA-D01F56AD2215}"/>
              </a:ext>
            </a:extLst>
          </p:cNvPr>
          <p:cNvGrpSpPr/>
          <p:nvPr/>
        </p:nvGrpSpPr>
        <p:grpSpPr>
          <a:xfrm>
            <a:off x="152400" y="2337480"/>
            <a:ext cx="7662536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0EABE254-C762-2859-4A1E-2AB90FB52697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Khi ấn “Chọn trong nhóm / Hạng mục kiểm tra” thì sẽ lên cửa sổ như hình </a:t>
              </a:r>
              <a:r>
                <a:rPr lang="en-US" dirty="0" err="1"/>
                <a:t>bên</a:t>
              </a:r>
              <a:r>
                <a:rPr lang="en-US" dirty="0"/>
                <a:t> </a:t>
              </a:r>
              <a:r>
                <a:rPr lang="en-US" dirty="0" err="1"/>
                <a:t>cạnh</a:t>
              </a:r>
              <a:r>
                <a:rPr lang="en-US" dirty="0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Tìm các mã nhóm kiểm tra cần thiết </a:t>
              </a:r>
              <a:r>
                <a:rPr lang="en-US" dirty="0" err="1"/>
                <a:t>rồi</a:t>
              </a:r>
              <a:r>
                <a:rPr lang="en-US" dirty="0"/>
                <a:t> chọn các hạng mục tương ứng cần để kiểm tra với nguyên </a:t>
              </a:r>
              <a:r>
                <a:rPr lang="en-US" dirty="0" err="1"/>
                <a:t>vật</a:t>
              </a:r>
              <a:r>
                <a:rPr lang="en-US" dirty="0"/>
                <a:t> liệu đó.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 err="1"/>
                <a:t>Tích</a:t>
              </a:r>
              <a:r>
                <a:rPr lang="en-US" dirty="0"/>
                <a:t> chọn những hạng mục cần thiết ở </a:t>
              </a:r>
              <a:r>
                <a:rPr lang="en-US" dirty="0" err="1"/>
                <a:t>cạnh</a:t>
              </a:r>
              <a:r>
                <a:rPr lang="en-US" dirty="0"/>
                <a:t> chữ Test1.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Sau đó ấn ok để hoàn thành việc lựa chọn.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Khi ấn ok </a:t>
              </a:r>
              <a:r>
                <a:rPr lang="en-US" dirty="0" err="1"/>
                <a:t>rồi</a:t>
              </a:r>
              <a:r>
                <a:rPr lang="en-US" dirty="0"/>
                <a:t> sẽ như hình 2 và ấn </a:t>
              </a:r>
              <a:r>
                <a:rPr lang="en-US" dirty="0" err="1"/>
                <a:t>nút</a:t>
              </a:r>
              <a:r>
                <a:rPr lang="en-US" dirty="0"/>
                <a:t> lưu lại để hoàn thành việc thêm hạng mục kiểm tra </a:t>
              </a:r>
              <a:r>
                <a:rPr lang="en-US" dirty="0" err="1"/>
                <a:t>cho</a:t>
              </a:r>
              <a:r>
                <a:rPr lang="en-US" dirty="0"/>
                <a:t> nguyên </a:t>
              </a:r>
              <a:r>
                <a:rPr lang="en-US" dirty="0" err="1"/>
                <a:t>vật</a:t>
              </a:r>
              <a:r>
                <a:rPr lang="en-US" dirty="0"/>
                <a:t> liệu.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600D5D23-F3DA-6F45-F133-7133565F71BD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5" name="TextBox 44">
            <a:extLst>
              <a:ext uri="{FF2B5EF4-FFF2-40B4-BE49-F238E27FC236}">
                <a16:creationId xmlns:a16="http://schemas.microsoft.com/office/drawing/2014/main" id="{2F9E7DC1-5DE7-9755-02D1-CA0CF735CD60}"/>
              </a:ext>
            </a:extLst>
          </p:cNvPr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C122 : Kiểm tra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vật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phẩm bằng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vật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liệu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802571-6C3B-67AC-A3C6-B18E59C90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595" y="2337479"/>
            <a:ext cx="10439261" cy="3416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CB4807-7EF9-9DC6-B0BC-1AF5C1A74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970" y="5905500"/>
            <a:ext cx="10388510" cy="429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3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169C8-2785-A3DB-A552-A72A347AA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>
            <a:extLst>
              <a:ext uri="{FF2B5EF4-FFF2-40B4-BE49-F238E27FC236}">
                <a16:creationId xmlns:a16="http://schemas.microsoft.com/office/drawing/2014/main" id="{39193C7B-AF2A-F6F3-ABFC-748C48045290}"/>
              </a:ext>
            </a:extLst>
          </p:cNvPr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E1FBE69-A81B-70AC-AE1B-DE22B7122636}"/>
                </a:ext>
              </a:extLst>
            </p:cNvPr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C220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B9AA044-0DCC-F390-7F36-3253E54F13E2}"/>
                </a:ext>
              </a:extLst>
            </p:cNvPr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62AF30F-4C3E-74ED-18D9-F2D48D39FA3A}"/>
              </a:ext>
            </a:extLst>
          </p:cNvPr>
          <p:cNvGrpSpPr/>
          <p:nvPr/>
        </p:nvGrpSpPr>
        <p:grpSpPr>
          <a:xfrm>
            <a:off x="41924" y="190500"/>
            <a:ext cx="18195185" cy="1403788"/>
            <a:chOff x="0" y="0"/>
            <a:chExt cx="4810273" cy="62166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17A0494-6AEE-C45D-6554-CB8E069CEBE5}"/>
                </a:ext>
              </a:extLst>
            </p:cNvPr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5600063-C167-CAB2-0210-6A4D39DA1A08}"/>
                </a:ext>
              </a:extLst>
            </p:cNvPr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52" name="Group 45">
            <a:extLst>
              <a:ext uri="{FF2B5EF4-FFF2-40B4-BE49-F238E27FC236}">
                <a16:creationId xmlns:a16="http://schemas.microsoft.com/office/drawing/2014/main" id="{6206F936-21A5-0D1E-CAB9-929070BB287C}"/>
              </a:ext>
            </a:extLst>
          </p:cNvPr>
          <p:cNvGrpSpPr/>
          <p:nvPr/>
        </p:nvGrpSpPr>
        <p:grpSpPr>
          <a:xfrm>
            <a:off x="152400" y="2337480"/>
            <a:ext cx="7662536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D46973F2-E99D-CAEA-2E7D-A6BA29984AA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Khi thêm </a:t>
              </a:r>
              <a:r>
                <a:rPr lang="en-US" dirty="0" err="1"/>
                <a:t>bên</a:t>
              </a:r>
              <a:r>
                <a:rPr lang="en-US" dirty="0"/>
                <a:t> màn hình C122 xong thì nó sẽ liên kết với các mã nguyên </a:t>
              </a:r>
              <a:r>
                <a:rPr lang="en-US" dirty="0" err="1"/>
                <a:t>vật</a:t>
              </a:r>
              <a:r>
                <a:rPr lang="en-US" dirty="0"/>
                <a:t> liệu đầu vào cần kiểm tra  ở C220 như hình.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Nếu không được config ở C122 thì nó sẽ </a:t>
              </a:r>
              <a:r>
                <a:rPr lang="en-US" dirty="0" err="1"/>
                <a:t>trống</a:t>
              </a:r>
              <a:r>
                <a:rPr lang="en-US" dirty="0"/>
                <a:t> không có hạng mục kiểm tra đầu vào </a:t>
              </a:r>
              <a:r>
                <a:rPr lang="en-US" dirty="0" err="1"/>
                <a:t>cho</a:t>
              </a:r>
              <a:r>
                <a:rPr lang="en-US" dirty="0"/>
                <a:t> nguyên liệu.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6313FD58-9FAF-A729-6CE7-36619B83A984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5" name="TextBox 44">
            <a:extLst>
              <a:ext uri="{FF2B5EF4-FFF2-40B4-BE49-F238E27FC236}">
                <a16:creationId xmlns:a16="http://schemas.microsoft.com/office/drawing/2014/main" id="{7065527B-8CDB-039F-E218-021C275CE7E9}"/>
              </a:ext>
            </a:extLst>
          </p:cNvPr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C220 : Kiểm tra NVL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E0D1E7-C469-E88E-8AB1-F6BF47623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596" y="2221387"/>
            <a:ext cx="10370464" cy="787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89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C131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0"/>
            <a:ext cx="18237110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C131 : Phân loại hiện trạng lỗi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-26894" y="2262955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Màn hình thêm hiện trạng lỗi trên công đoạn.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Thêm các nhóm mã lỗi </a:t>
              </a:r>
              <a:r>
                <a:rPr lang="en-US" dirty="0" err="1"/>
                <a:t>phù</a:t>
              </a:r>
              <a:r>
                <a:rPr lang="en-US" dirty="0"/>
                <a:t> hợp với công đoạn để có thể liên kết được với sản xuất.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Muốn thêm 1 nhóm mà lỗi thì như hình :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US" dirty="0"/>
                <a:t>Ấn dấu (+) để thêm dòng dữ liệu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US" dirty="0"/>
                <a:t>Điền đầy đủ thông tin cần thiết.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US" dirty="0"/>
                <a:t>Ấn save lại.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B3888DF-5D45-76D1-AE8C-F3E78CD89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2210181"/>
            <a:ext cx="10173357" cy="77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25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96A61-A23D-B1DC-E9AC-0287DC431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>
            <a:extLst>
              <a:ext uri="{FF2B5EF4-FFF2-40B4-BE49-F238E27FC236}">
                <a16:creationId xmlns:a16="http://schemas.microsoft.com/office/drawing/2014/main" id="{D77EE92A-6E9D-71AD-6ADD-05D0CE51FE91}"/>
              </a:ext>
            </a:extLst>
          </p:cNvPr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E8A0A07-5491-D8B7-CC21-142C6C2E1D1B}"/>
                </a:ext>
              </a:extLst>
            </p:cNvPr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C132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9A845E0-6295-4447-AC06-80D35E216C95}"/>
                </a:ext>
              </a:extLst>
            </p:cNvPr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E925D40-CCE1-87B0-FB7D-D68D2533FEDE}"/>
              </a:ext>
            </a:extLst>
          </p:cNvPr>
          <p:cNvGrpSpPr/>
          <p:nvPr/>
        </p:nvGrpSpPr>
        <p:grpSpPr>
          <a:xfrm>
            <a:off x="0" y="0"/>
            <a:ext cx="18237110" cy="1594288"/>
            <a:chOff x="0" y="0"/>
            <a:chExt cx="4810273" cy="62166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E9F6763-95DC-1EB0-F1AB-9508E61750E1}"/>
                </a:ext>
              </a:extLst>
            </p:cNvPr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A87C21F5-5F08-1003-950D-C97AEA92A2A2}"/>
                </a:ext>
              </a:extLst>
            </p:cNvPr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>
            <a:extLst>
              <a:ext uri="{FF2B5EF4-FFF2-40B4-BE49-F238E27FC236}">
                <a16:creationId xmlns:a16="http://schemas.microsoft.com/office/drawing/2014/main" id="{E761AE59-62FE-3EB9-02F4-1C47943FC6DE}"/>
              </a:ext>
            </a:extLst>
          </p:cNvPr>
          <p:cNvSpPr txBox="1"/>
          <p:nvPr/>
        </p:nvSpPr>
        <p:spPr>
          <a:xfrm>
            <a:off x="41925" y="85458"/>
            <a:ext cx="18222079" cy="981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C132 : Thông tin hiện trạng lỗi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6558BD66-42A3-5559-3E07-A600504AF9B2}"/>
              </a:ext>
            </a:extLst>
          </p:cNvPr>
          <p:cNvGrpSpPr/>
          <p:nvPr/>
        </p:nvGrpSpPr>
        <p:grpSpPr>
          <a:xfrm>
            <a:off x="-26894" y="2262955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F27338DD-E239-B681-9DDB-E9D197F6608F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Thêm sửa xóa thông tin lỗi </a:t>
              </a:r>
              <a:r>
                <a:rPr lang="en-US" dirty="0" err="1"/>
                <a:t>cho</a:t>
              </a:r>
              <a:r>
                <a:rPr lang="en-US" dirty="0"/>
                <a:t> sản xuất.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US" dirty="0"/>
                <a:t>Ấn save lại.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E18B483B-4F35-D530-5F61-060FDDD44A01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99D52B9-6C8A-999A-8DCD-3E0B91A7F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2262949"/>
            <a:ext cx="10245075" cy="77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359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31138"/>
            <a:chOff x="0" y="0"/>
            <a:chExt cx="4816593" cy="2715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1575"/>
            </a:xfrm>
            <a:custGeom>
              <a:avLst/>
              <a:gdLst/>
              <a:ahLst/>
              <a:cxnLst/>
              <a:rect l="l" t="t" r="r" b="b"/>
              <a:pathLst>
                <a:path w="4816592" h="271575">
                  <a:moveTo>
                    <a:pt x="0" y="0"/>
                  </a:moveTo>
                  <a:lnTo>
                    <a:pt x="4816592" y="0"/>
                  </a:lnTo>
                  <a:lnTo>
                    <a:pt x="4816592" y="271575"/>
                  </a:lnTo>
                  <a:lnTo>
                    <a:pt x="0" y="271575"/>
                  </a:lnTo>
                  <a:close/>
                </a:path>
              </a:pathLst>
            </a:custGeom>
            <a:solidFill>
              <a:srgbClr val="277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2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14469" y="1549395"/>
            <a:ext cx="3819158" cy="3714131"/>
          </a:xfrm>
          <a:custGeom>
            <a:avLst/>
            <a:gdLst/>
            <a:ahLst/>
            <a:cxnLst/>
            <a:rect l="l" t="t" r="r" b="b"/>
            <a:pathLst>
              <a:path w="3819158" h="3714131">
                <a:moveTo>
                  <a:pt x="0" y="0"/>
                </a:moveTo>
                <a:lnTo>
                  <a:pt x="3819158" y="0"/>
                </a:lnTo>
                <a:lnTo>
                  <a:pt x="3819158" y="3714131"/>
                </a:lnTo>
                <a:lnTo>
                  <a:pt x="0" y="3714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97166" y="1307689"/>
            <a:ext cx="1564215" cy="1594105"/>
          </a:xfrm>
          <a:custGeom>
            <a:avLst/>
            <a:gdLst/>
            <a:ahLst/>
            <a:cxnLst/>
            <a:rect l="l" t="t" r="r" b="b"/>
            <a:pathLst>
              <a:path w="1564215" h="1594105">
                <a:moveTo>
                  <a:pt x="0" y="0"/>
                </a:moveTo>
                <a:lnTo>
                  <a:pt x="1564215" y="0"/>
                </a:lnTo>
                <a:lnTo>
                  <a:pt x="1564215" y="1594104"/>
                </a:lnTo>
                <a:lnTo>
                  <a:pt x="0" y="15941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330583" y="4191430"/>
            <a:ext cx="7897382" cy="5961191"/>
            <a:chOff x="0" y="0"/>
            <a:chExt cx="10529842" cy="7948254"/>
          </a:xfrm>
        </p:grpSpPr>
        <p:sp>
          <p:nvSpPr>
            <p:cNvPr id="8" name="Freeform 8"/>
            <p:cNvSpPr/>
            <p:nvPr/>
          </p:nvSpPr>
          <p:spPr>
            <a:xfrm rot="1285143">
              <a:off x="-22445" y="4205183"/>
              <a:ext cx="10574732" cy="1877015"/>
            </a:xfrm>
            <a:custGeom>
              <a:avLst/>
              <a:gdLst/>
              <a:ahLst/>
              <a:cxnLst/>
              <a:rect l="l" t="t" r="r" b="b"/>
              <a:pathLst>
                <a:path w="10574732" h="1877015">
                  <a:moveTo>
                    <a:pt x="0" y="0"/>
                  </a:moveTo>
                  <a:lnTo>
                    <a:pt x="10574732" y="0"/>
                  </a:lnTo>
                  <a:lnTo>
                    <a:pt x="10574732" y="1877015"/>
                  </a:lnTo>
                  <a:lnTo>
                    <a:pt x="0" y="1877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431952" y="0"/>
              <a:ext cx="8216879" cy="7261667"/>
            </a:xfrm>
            <a:custGeom>
              <a:avLst/>
              <a:gdLst/>
              <a:ahLst/>
              <a:cxnLst/>
              <a:rect l="l" t="t" r="r" b="b"/>
              <a:pathLst>
                <a:path w="8216879" h="7261667">
                  <a:moveTo>
                    <a:pt x="0" y="0"/>
                  </a:moveTo>
                  <a:lnTo>
                    <a:pt x="8216879" y="0"/>
                  </a:lnTo>
                  <a:lnTo>
                    <a:pt x="8216879" y="7261667"/>
                  </a:lnTo>
                  <a:lnTo>
                    <a:pt x="0" y="7261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16662" y="6361502"/>
            <a:ext cx="2393629" cy="1612708"/>
          </a:xfrm>
          <a:custGeom>
            <a:avLst/>
            <a:gdLst/>
            <a:ahLst/>
            <a:cxnLst/>
            <a:rect l="l" t="t" r="r" b="b"/>
            <a:pathLst>
              <a:path w="2393629" h="1612708">
                <a:moveTo>
                  <a:pt x="0" y="0"/>
                </a:moveTo>
                <a:lnTo>
                  <a:pt x="2393629" y="0"/>
                </a:lnTo>
                <a:lnTo>
                  <a:pt x="2393629" y="1612707"/>
                </a:lnTo>
                <a:lnTo>
                  <a:pt x="0" y="16127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782300" y="1714559"/>
            <a:ext cx="6477000" cy="5577796"/>
            <a:chOff x="0" y="0"/>
            <a:chExt cx="8636000" cy="743706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525"/>
              <a:ext cx="8636000" cy="341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>
                  <a:solidFill>
                    <a:srgbClr val="213343"/>
                  </a:solidFill>
                  <a:latin typeface="Cabin Semi-Bold"/>
                </a:rPr>
                <a:t>Khởi động</a:t>
              </a:r>
            </a:p>
            <a:p>
              <a:pPr algn="l">
                <a:lnSpc>
                  <a:spcPts val="10199"/>
                </a:lnSpc>
              </a:pPr>
              <a:r>
                <a:rPr lang="en-US" sz="8499">
                  <a:solidFill>
                    <a:srgbClr val="213343"/>
                  </a:solidFill>
                  <a:latin typeface="Cabin Semi-Bold"/>
                </a:rPr>
                <a:t>Dự án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25181"/>
              <a:ext cx="8636000" cy="3611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Hôm nay, chúng ta sẽ sử dụng một biểu đồ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để xem các mục tiêu cho dự án.</a:t>
              </a:r>
            </a:p>
            <a:p>
              <a:pPr algn="l">
                <a:lnSpc>
                  <a:spcPts val="3600"/>
                </a:lnSpc>
              </a:pPr>
              <a:endParaRPr lang="en-US" sz="2400">
                <a:solidFill>
                  <a:srgbClr val="213343"/>
                </a:solidFill>
                <a:latin typeface="Muli"/>
              </a:endParaRP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Chúng ta sẽ chia nhỏ các mục tiêu thành các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bước cần thiết để chúng ta có thể đạt được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chúng trước thời hạn dự kiến.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291277" y="9637680"/>
            <a:ext cx="3269675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080"/>
              </a:lnSpc>
              <a:spcBef>
                <a:spcPct val="0"/>
              </a:spcBef>
            </a:pPr>
            <a:r>
              <a:rPr lang="en-US" sz="1600" u="sng">
                <a:solidFill>
                  <a:srgbClr val="FFFFFF"/>
                </a:solidFill>
                <a:latin typeface="Muli"/>
              </a:rPr>
              <a:t>Quay lại Trang Chương trình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1689</TotalTime>
  <Words>703</Words>
  <Application>Microsoft Office PowerPoint</Application>
  <PresentationFormat>Custom</PresentationFormat>
  <Paragraphs>71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Wingdings</vt:lpstr>
      <vt:lpstr>Times New Roman</vt:lpstr>
      <vt:lpstr>Cabin Bold</vt:lpstr>
      <vt:lpstr>Cabin Semi-Bold</vt:lpstr>
      <vt:lpstr>Muli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 Hồng Xanh lá Thực hiện Dự án Bản thuyết trình Lên ý tưởng</dc:title>
  <dc:creator>Duy-IT</dc:creator>
  <cp:lastModifiedBy>Vina Tech09</cp:lastModifiedBy>
  <cp:revision>80</cp:revision>
  <dcterms:created xsi:type="dcterms:W3CDTF">2006-08-16T00:00:00Z</dcterms:created>
  <dcterms:modified xsi:type="dcterms:W3CDTF">2024-11-04T10:55:09Z</dcterms:modified>
  <dc:identifier>DAGGkNqtYQ8</dc:identifier>
</cp:coreProperties>
</file>