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74" r:id="rId6"/>
    <p:sldId id="258" r:id="rId7"/>
    <p:sldId id="275" r:id="rId8"/>
    <p:sldId id="276" r:id="rId9"/>
    <p:sldId id="277" r:id="rId10"/>
    <p:sldId id="278" r:id="rId11"/>
    <p:sldId id="279" r:id="rId12"/>
    <p:sldId id="280"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7" d="100"/>
          <a:sy n="97" d="100"/>
        </p:scale>
        <p:origin x="10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2025-05-14</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2025-05-14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2025-05-14</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2025-05-14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2025-05-14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2025-05-14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2025-05-14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2025-05-14</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2025-05-14</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2025-05-14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2025-05-14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2025-05-14</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4" y="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814744"/>
            <a:ext cx="11439414" cy="897439"/>
          </a:xfrm>
        </p:spPr>
        <p:txBody>
          <a:bodyPr>
            <a:normAutofit fontScale="90000"/>
          </a:bodyPr>
          <a:lstStyle/>
          <a:p>
            <a:r>
              <a:rPr lang="en-US" sz="4400">
                <a:solidFill>
                  <a:schemeClr val="tx1"/>
                </a:solidFill>
              </a:rPr>
              <a:t>Hướng dẫn sử dụng chức năng tạo PO và kế hoạch sản xuất trên hệ thống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6016944"/>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2392449"/>
          </a:xfrm>
        </p:spPr>
        <p:txBody>
          <a:bodyPr>
            <a:normAutofit/>
          </a:bodyPr>
          <a:lstStyle/>
          <a:p>
            <a:r>
              <a:rPr lang="en-US" b="1"/>
              <a:t>I. Đăng nhập Groupware</a:t>
            </a:r>
          </a:p>
          <a:p>
            <a:pPr>
              <a:buFontTx/>
              <a:buChar char="-"/>
            </a:pPr>
            <a:r>
              <a:rPr lang="en-US"/>
              <a:t>Có hai cách để bạn đăng nhập vào hệ thống Groupware</a:t>
            </a:r>
          </a:p>
          <a:p>
            <a:pPr marL="0" indent="0">
              <a:buNone/>
            </a:pPr>
            <a:r>
              <a:rPr lang="en-US"/>
              <a:t>     + Bạn có thể truy cập bằng link sau đây: </a:t>
            </a:r>
            <a:r>
              <a:rPr lang="en-US">
                <a:solidFill>
                  <a:srgbClr val="FF0000"/>
                </a:solidFill>
              </a:rPr>
              <a:t>https://gw.vinatech.com/login</a:t>
            </a:r>
            <a:r>
              <a:rPr lang="en-US"/>
              <a:t>.</a:t>
            </a:r>
          </a:p>
          <a:p>
            <a:r>
              <a:rPr lang="en-US" b="1"/>
              <a:t>  + Bạn có thể chọn buổi tượng như hình dưới đây:</a:t>
            </a:r>
          </a:p>
          <a:p>
            <a:pPr marL="0" indent="0">
              <a:buNone/>
            </a:pPr>
            <a:r>
              <a:rPr lang="en-US"/>
              <a:t>     + Bạn mở trình duyệt lên và ỏ góc phải màn hình có biểu tượng=&gt; bạn chọn tới icon của công ty có chữ groupware click vào đó</a:t>
            </a:r>
            <a:endParaRPr lang="en-US" dirty="0"/>
          </a:p>
        </p:txBody>
      </p:sp>
      <p:pic>
        <p:nvPicPr>
          <p:cNvPr id="4" name="Picture 3">
            <a:extLst>
              <a:ext uri="{FF2B5EF4-FFF2-40B4-BE49-F238E27FC236}">
                <a16:creationId xmlns:a16="http://schemas.microsoft.com/office/drawing/2014/main" id="{3D7EDE9C-76B1-068A-B40D-1248AFC73A48}"/>
              </a:ext>
            </a:extLst>
          </p:cNvPr>
          <p:cNvPicPr>
            <a:picLocks noChangeAspect="1"/>
          </p:cNvPicPr>
          <p:nvPr/>
        </p:nvPicPr>
        <p:blipFill>
          <a:blip r:embed="rId2"/>
          <a:stretch>
            <a:fillRect/>
          </a:stretch>
        </p:blipFill>
        <p:spPr>
          <a:xfrm>
            <a:off x="4612641" y="3139440"/>
            <a:ext cx="7083396" cy="3343656"/>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507847" y="727824"/>
            <a:ext cx="3984311" cy="4521602"/>
          </a:xfrm>
        </p:spPr>
        <p:txBody>
          <a:bodyPr>
            <a:normAutofit/>
          </a:bodyPr>
          <a:lstStyle/>
          <a:p>
            <a:r>
              <a:rPr lang="en-US"/>
              <a:t>2.Thông tin đăng nhập vào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2590412"/>
          </a:xfrm>
        </p:spPr>
        <p:txBody>
          <a:bodyPr>
            <a:normAutofit/>
          </a:bodyPr>
          <a:lstStyle/>
          <a:p>
            <a:r>
              <a:rPr lang="en-US" b="1"/>
              <a:t>2. Thông tin đăng nhập</a:t>
            </a:r>
          </a:p>
          <a:p>
            <a:pPr marL="0" indent="0">
              <a:buNone/>
            </a:pPr>
            <a:r>
              <a:rPr lang="en-US"/>
              <a:t>- Bước 1: Thông tin tài khoản cũng như mật khẩu của bạn chính là mã nhân viên trên hệ thống ERP, mật khẩu mặc định từ 1 tới 4, trong trường hợp không được bạn liên hệ lại với EA</a:t>
            </a:r>
          </a:p>
          <a:p>
            <a:pPr>
              <a:buFontTx/>
              <a:buChar char="-"/>
            </a:pPr>
            <a:r>
              <a:rPr lang="en-US"/>
              <a:t>Bước 2: Trước khi login, bạn cần chọn Vinatech vina Co.,Ltd. </a:t>
            </a:r>
          </a:p>
          <a:p>
            <a:pPr>
              <a:buFontTx/>
              <a:buChar char="-"/>
            </a:pPr>
            <a:r>
              <a:rPr lang="en-US"/>
              <a:t>Bước 3: khi đã chọn xong, bạn nhập mã nhân viên và mật khẩu nhấn nút login để vào hệ thống. </a:t>
            </a:r>
            <a:endParaRPr lang="en-US" dirty="0"/>
          </a:p>
        </p:txBody>
      </p:sp>
      <p:pic>
        <p:nvPicPr>
          <p:cNvPr id="4" name="Picture 3">
            <a:extLst>
              <a:ext uri="{FF2B5EF4-FFF2-40B4-BE49-F238E27FC236}">
                <a16:creationId xmlns:a16="http://schemas.microsoft.com/office/drawing/2014/main" id="{CA6C378E-E898-C745-8CF0-21C6C02E1D47}"/>
              </a:ext>
            </a:extLst>
          </p:cNvPr>
          <p:cNvPicPr>
            <a:picLocks noChangeAspect="1"/>
          </p:cNvPicPr>
          <p:nvPr/>
        </p:nvPicPr>
        <p:blipFill>
          <a:blip r:embed="rId2"/>
          <a:stretch>
            <a:fillRect/>
          </a:stretch>
        </p:blipFill>
        <p:spPr>
          <a:xfrm>
            <a:off x="4726112" y="3312203"/>
            <a:ext cx="7094032" cy="3072899"/>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487542" y="427534"/>
            <a:ext cx="4795211" cy="552782"/>
          </a:xfrm>
        </p:spPr>
        <p:txBody>
          <a:bodyPr>
            <a:normAutofit fontScale="90000"/>
          </a:bodyPr>
          <a:lstStyle/>
          <a:p>
            <a:r>
              <a:rPr lang="en-US" sz="3700"/>
              <a:t>Giao diện khi truy cập</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680599" y="980316"/>
            <a:ext cx="5019788" cy="5292665"/>
          </a:xfrm>
        </p:spPr>
        <p:txBody>
          <a:bodyPr>
            <a:normAutofit/>
          </a:bodyPr>
          <a:lstStyle/>
          <a:p>
            <a:pPr marL="0" indent="0">
              <a:buNone/>
            </a:pPr>
            <a:r>
              <a:rPr lang="en-US" b="1"/>
              <a:t>Như bạn biết thì trên hệ thống MES, nếu bạn cần tạo PO và kế hoạch sản xuất bạn cần phải làm hai bước</a:t>
            </a:r>
          </a:p>
          <a:p>
            <a:pPr marL="0" indent="0">
              <a:buNone/>
            </a:pPr>
            <a:r>
              <a:rPr lang="en-US" b="1"/>
              <a:t>Bước 1: Tạo PO ở màn hình B310, để tạo các thông tin cơ bản, như chọn nguyên vật liệu, chọn công đoạn, chọn công đoạn đầu vào và đầu ra</a:t>
            </a:r>
          </a:p>
          <a:p>
            <a:pPr marL="0" indent="0">
              <a:buNone/>
            </a:pPr>
            <a:r>
              <a:rPr lang="en-US" b="1"/>
              <a:t>Bước 2: khi bước 1 đã được thiết lập thì bước 2 sẽ được link các dữ liệu từ bước 1 sang bước 2, với màn hình B450, xác nhận lại các thông tin và cập thông tin chi tiết, đồng thời bạn có thể in mã LOT.</a:t>
            </a:r>
          </a:p>
          <a:p>
            <a:pPr marL="0" indent="0">
              <a:buNone/>
            </a:pPr>
            <a:r>
              <a:rPr lang="en-US" b="1"/>
              <a:t>- Màn hình PO là theo tháng, màn hình kế hoạch sản xuất là theo ngày, chúng link dữ liệu với nhau, từ màn hình tạo PO sang màn hình tạo kế hoạch sản xuất theo ngày.</a:t>
            </a:r>
          </a:p>
        </p:txBody>
      </p:sp>
      <p:pic>
        <p:nvPicPr>
          <p:cNvPr id="4" name="Picture 3">
            <a:extLst>
              <a:ext uri="{FF2B5EF4-FFF2-40B4-BE49-F238E27FC236}">
                <a16:creationId xmlns:a16="http://schemas.microsoft.com/office/drawing/2014/main" id="{18DE2062-98CE-827A-2A73-4D9D44974355}"/>
              </a:ext>
            </a:extLst>
          </p:cNvPr>
          <p:cNvPicPr>
            <a:picLocks noChangeAspect="1"/>
          </p:cNvPicPr>
          <p:nvPr/>
        </p:nvPicPr>
        <p:blipFill>
          <a:blip r:embed="rId2"/>
          <a:stretch>
            <a:fillRect/>
          </a:stretch>
        </p:blipFill>
        <p:spPr>
          <a:xfrm>
            <a:off x="74124" y="98324"/>
            <a:ext cx="6189596" cy="2988498"/>
          </a:xfrm>
          <a:prstGeom prst="rect">
            <a:avLst/>
          </a:prstGeom>
        </p:spPr>
      </p:pic>
      <p:pic>
        <p:nvPicPr>
          <p:cNvPr id="6" name="Picture 5">
            <a:extLst>
              <a:ext uri="{FF2B5EF4-FFF2-40B4-BE49-F238E27FC236}">
                <a16:creationId xmlns:a16="http://schemas.microsoft.com/office/drawing/2014/main" id="{A1E7EC6E-C1DA-AC11-46BB-0B3E94C2A0FC}"/>
              </a:ext>
            </a:extLst>
          </p:cNvPr>
          <p:cNvPicPr>
            <a:picLocks noChangeAspect="1"/>
          </p:cNvPicPr>
          <p:nvPr/>
        </p:nvPicPr>
        <p:blipFill>
          <a:blip r:embed="rId3"/>
          <a:stretch>
            <a:fillRect/>
          </a:stretch>
        </p:blipFill>
        <p:spPr>
          <a:xfrm>
            <a:off x="63190" y="3429000"/>
            <a:ext cx="6189596" cy="3186146"/>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8D88-F08F-3A10-BA4E-93F1C6B9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7C15-A046-94B1-134F-1A01DD406B5E}"/>
              </a:ext>
            </a:extLst>
          </p:cNvPr>
          <p:cNvSpPr>
            <a:spLocks noGrp="1"/>
          </p:cNvSpPr>
          <p:nvPr>
            <p:ph type="title"/>
          </p:nvPr>
        </p:nvSpPr>
        <p:spPr>
          <a:xfrm>
            <a:off x="6579450" y="727627"/>
            <a:ext cx="4957553" cy="1645920"/>
          </a:xfrm>
        </p:spPr>
        <p:txBody>
          <a:bodyPr>
            <a:normAutofit fontScale="90000"/>
          </a:bodyPr>
          <a:lstStyle/>
          <a:p>
            <a:r>
              <a:rPr lang="en-US" sz="4400"/>
              <a:t>Màn hình tạo PO và kế hoạch sản xuất trên Groupware.</a:t>
            </a:r>
          </a:p>
        </p:txBody>
      </p:sp>
      <p:sp>
        <p:nvSpPr>
          <p:cNvPr id="3" name="Content Placeholder 2">
            <a:extLst>
              <a:ext uri="{FF2B5EF4-FFF2-40B4-BE49-F238E27FC236}">
                <a16:creationId xmlns:a16="http://schemas.microsoft.com/office/drawing/2014/main" id="{041FAF7B-AF7E-7F04-9099-659FCBDA6222}"/>
              </a:ext>
            </a:extLst>
          </p:cNvPr>
          <p:cNvSpPr>
            <a:spLocks noGrp="1"/>
          </p:cNvSpPr>
          <p:nvPr>
            <p:ph idx="1"/>
          </p:nvPr>
        </p:nvSpPr>
        <p:spPr>
          <a:xfrm>
            <a:off x="6579450" y="2538919"/>
            <a:ext cx="4957554" cy="3496120"/>
          </a:xfrm>
        </p:spPr>
        <p:txBody>
          <a:bodyPr>
            <a:normAutofit/>
          </a:bodyPr>
          <a:lstStyle/>
          <a:p>
            <a:r>
              <a:rPr lang="en-US"/>
              <a:t>1. Khi bạn đã truy cập vào hệ thống Groupware xong, hệ thống mặc định bạn đã ở menu “Home”=&gt; trong menu Home =&gt; bạn vào menu =&gt; “Month Production Plan”.</a:t>
            </a:r>
          </a:p>
          <a:p>
            <a:pPr marL="0" indent="0">
              <a:buNone/>
            </a:pPr>
            <a:endParaRPr lang="en-US" dirty="0"/>
          </a:p>
        </p:txBody>
      </p:sp>
      <p:pic>
        <p:nvPicPr>
          <p:cNvPr id="5" name="Picture 4">
            <a:extLst>
              <a:ext uri="{FF2B5EF4-FFF2-40B4-BE49-F238E27FC236}">
                <a16:creationId xmlns:a16="http://schemas.microsoft.com/office/drawing/2014/main" id="{008F74B0-A70B-5DAE-7669-A717181CC356}"/>
              </a:ext>
            </a:extLst>
          </p:cNvPr>
          <p:cNvPicPr>
            <a:picLocks noChangeAspect="1"/>
          </p:cNvPicPr>
          <p:nvPr/>
        </p:nvPicPr>
        <p:blipFill>
          <a:blip r:embed="rId2"/>
          <a:stretch>
            <a:fillRect/>
          </a:stretch>
        </p:blipFill>
        <p:spPr>
          <a:xfrm>
            <a:off x="0" y="314325"/>
            <a:ext cx="6238754" cy="6040176"/>
          </a:xfrm>
          <a:prstGeom prst="rect">
            <a:avLst/>
          </a:prstGeom>
        </p:spPr>
      </p:pic>
    </p:spTree>
    <p:extLst>
      <p:ext uri="{BB962C8B-B14F-4D97-AF65-F5344CB8AC3E}">
        <p14:creationId xmlns:p14="http://schemas.microsoft.com/office/powerpoint/2010/main" val="26488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08559" y="512948"/>
            <a:ext cx="2312480" cy="970860"/>
          </a:xfrm>
        </p:spPr>
        <p:txBody>
          <a:bodyPr anchor="b">
            <a:normAutofit/>
          </a:bodyPr>
          <a:lstStyle/>
          <a:p>
            <a:r>
              <a:rPr lang="en-US" sz="2800"/>
              <a:t>Trước khi tạo PO</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1583703"/>
            <a:ext cx="2312479" cy="4738438"/>
          </a:xfrm>
        </p:spPr>
        <p:txBody>
          <a:bodyPr>
            <a:normAutofit/>
          </a:bodyPr>
          <a:lstStyle/>
          <a:p>
            <a:pPr>
              <a:lnSpc>
                <a:spcPct val="100000"/>
              </a:lnSpc>
            </a:pPr>
            <a:r>
              <a:rPr lang="en-US" sz="1300">
                <a:solidFill>
                  <a:schemeClr val="tx1">
                    <a:lumMod val="85000"/>
                    <a:lumOff val="15000"/>
                  </a:schemeClr>
                </a:solidFill>
              </a:rPr>
              <a:t>1. Sau khi click vào link menu, bạn sẽ có một giao diện như hình bên tay trai của bạn.</a:t>
            </a:r>
          </a:p>
          <a:p>
            <a:pPr>
              <a:lnSpc>
                <a:spcPct val="100000"/>
              </a:lnSpc>
            </a:pPr>
            <a:r>
              <a:rPr lang="en-US" sz="1300">
                <a:solidFill>
                  <a:schemeClr val="tx1">
                    <a:lumMod val="85000"/>
                    <a:lumOff val="15000"/>
                  </a:schemeClr>
                </a:solidFill>
              </a:rPr>
              <a:t>Note: ở hình ảnh số hai có hai điểm bạn cần lưu ý</a:t>
            </a:r>
          </a:p>
          <a:p>
            <a:pPr>
              <a:lnSpc>
                <a:spcPct val="100000"/>
              </a:lnSpc>
            </a:pPr>
            <a:r>
              <a:rPr lang="en-US" sz="1300">
                <a:solidFill>
                  <a:schemeClr val="tx1">
                    <a:lumMod val="85000"/>
                    <a:lumOff val="15000"/>
                  </a:schemeClr>
                </a:solidFill>
              </a:rPr>
              <a:t>Có chữ MES là bạn đăng ký PO nó sẽ hiện ra</a:t>
            </a:r>
          </a:p>
          <a:p>
            <a:pPr>
              <a:lnSpc>
                <a:spcPct val="100000"/>
              </a:lnSpc>
            </a:pPr>
            <a:r>
              <a:rPr lang="en-US" sz="1300">
                <a:solidFill>
                  <a:schemeClr val="tx1">
                    <a:lumMod val="85000"/>
                    <a:lumOff val="15000"/>
                  </a:schemeClr>
                </a:solidFill>
              </a:rPr>
              <a:t>Có chữ “Đơn đặt hàng” thì đây là các đơn hàng do Sales của hàn quốc hoặc Sales Việt nam làm.</a:t>
            </a:r>
            <a:endParaRPr lang="en-US" sz="1300" dirty="0">
              <a:solidFill>
                <a:schemeClr val="tx1">
                  <a:lumMod val="85000"/>
                  <a:lumOff val="15000"/>
                </a:schemeClr>
              </a:solidFill>
            </a:endParaRPr>
          </a:p>
        </p:txBody>
      </p:sp>
      <p:pic>
        <p:nvPicPr>
          <p:cNvPr id="5" name="Picture 4">
            <a:extLst>
              <a:ext uri="{FF2B5EF4-FFF2-40B4-BE49-F238E27FC236}">
                <a16:creationId xmlns:a16="http://schemas.microsoft.com/office/drawing/2014/main" id="{0F5CC468-226A-2B55-F990-D5548EB860A7}"/>
              </a:ext>
            </a:extLst>
          </p:cNvPr>
          <p:cNvPicPr>
            <a:picLocks noChangeAspect="1"/>
          </p:cNvPicPr>
          <p:nvPr/>
        </p:nvPicPr>
        <p:blipFill>
          <a:blip r:embed="rId2"/>
          <a:stretch>
            <a:fillRect/>
          </a:stretch>
        </p:blipFill>
        <p:spPr>
          <a:xfrm>
            <a:off x="404136" y="413054"/>
            <a:ext cx="8212114" cy="2497294"/>
          </a:xfrm>
          <a:prstGeom prst="rect">
            <a:avLst/>
          </a:prstGeom>
        </p:spPr>
      </p:pic>
      <p:pic>
        <p:nvPicPr>
          <p:cNvPr id="7" name="Picture 6">
            <a:extLst>
              <a:ext uri="{FF2B5EF4-FFF2-40B4-BE49-F238E27FC236}">
                <a16:creationId xmlns:a16="http://schemas.microsoft.com/office/drawing/2014/main" id="{D6381B5B-DE22-045A-450F-C65D18BBA0B1}"/>
              </a:ext>
            </a:extLst>
          </p:cNvPr>
          <p:cNvPicPr>
            <a:picLocks noChangeAspect="1"/>
          </p:cNvPicPr>
          <p:nvPr/>
        </p:nvPicPr>
        <p:blipFill>
          <a:blip r:embed="rId3"/>
          <a:stretch>
            <a:fillRect/>
          </a:stretch>
        </p:blipFill>
        <p:spPr>
          <a:xfrm>
            <a:off x="419100" y="3429000"/>
            <a:ext cx="8125133" cy="2863644"/>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1D809-8F4C-DEC0-7D17-D297B83A9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26CE8-5A38-DD57-05F1-19E4FBE88573}"/>
              </a:ext>
            </a:extLst>
          </p:cNvPr>
          <p:cNvSpPr>
            <a:spLocks noGrp="1"/>
          </p:cNvSpPr>
          <p:nvPr>
            <p:ph type="title"/>
          </p:nvPr>
        </p:nvSpPr>
        <p:spPr>
          <a:xfrm>
            <a:off x="6579450" y="727627"/>
            <a:ext cx="4957553" cy="1645920"/>
          </a:xfrm>
        </p:spPr>
        <p:txBody>
          <a:bodyPr>
            <a:normAutofit fontScale="90000"/>
          </a:bodyPr>
          <a:lstStyle/>
          <a:p>
            <a:r>
              <a:rPr lang="en-US" sz="4400"/>
              <a:t>Màn hình tạo PO và kế hoạch sản xuất trên Groupware.</a:t>
            </a:r>
          </a:p>
        </p:txBody>
      </p:sp>
      <p:sp>
        <p:nvSpPr>
          <p:cNvPr id="3" name="Content Placeholder 2">
            <a:extLst>
              <a:ext uri="{FF2B5EF4-FFF2-40B4-BE49-F238E27FC236}">
                <a16:creationId xmlns:a16="http://schemas.microsoft.com/office/drawing/2014/main" id="{F206FDD9-3257-D09B-E91E-A41160D14AB8}"/>
              </a:ext>
            </a:extLst>
          </p:cNvPr>
          <p:cNvSpPr>
            <a:spLocks noGrp="1"/>
          </p:cNvSpPr>
          <p:nvPr>
            <p:ph idx="1"/>
          </p:nvPr>
        </p:nvSpPr>
        <p:spPr>
          <a:xfrm>
            <a:off x="6777872" y="2538919"/>
            <a:ext cx="4759132" cy="3856964"/>
          </a:xfrm>
        </p:spPr>
        <p:txBody>
          <a:bodyPr>
            <a:normAutofit fontScale="92500" lnSpcReduction="10000"/>
          </a:bodyPr>
          <a:lstStyle/>
          <a:p>
            <a:r>
              <a:rPr lang="en-US"/>
              <a:t>1. Nếu bạn muốn tạo mới PO thì bạn click vào “thêm kế hoạch”.</a:t>
            </a:r>
          </a:p>
          <a:p>
            <a:r>
              <a:rPr lang="en-US"/>
              <a:t>2. Nếu trường hợp bạn sửa đổi thông tin của PO đã có bạn sẽ dùng nút  “Lưu kế hoạch”.</a:t>
            </a:r>
          </a:p>
          <a:p>
            <a:r>
              <a:rPr lang="en-US"/>
              <a:t>3. Ở mục 3, bạn muốn xóa kế hoạch thì việc đầu tiên, là bạn lick vào “Xóa kế hoạch” =&gt; Sau đó bạn có thể lựa chọn các dòng dữ liệu để xóa (với điều kiện dữ liệu đó chưa được xác nhận). Rồi bạn ấn lại “Xóa kế hoạch” thêm một lần nữa là ok.</a:t>
            </a:r>
          </a:p>
          <a:p>
            <a:r>
              <a:rPr lang="en-US"/>
              <a:t>4. Ở mục số 4 bạn có rất nhiều điều kiện để lựa chọn tìm kiếm PO đã được tạo</a:t>
            </a:r>
          </a:p>
          <a:p>
            <a:r>
              <a:rPr lang="en-US"/>
              <a:t>5. Ngoài ra hệ thống còn hiển thị mặc định cho bạn 3 tháng gần nhất của PO</a:t>
            </a:r>
            <a:endParaRPr lang="en-US" dirty="0"/>
          </a:p>
        </p:txBody>
      </p:sp>
      <p:pic>
        <p:nvPicPr>
          <p:cNvPr id="6" name="Picture 5">
            <a:extLst>
              <a:ext uri="{FF2B5EF4-FFF2-40B4-BE49-F238E27FC236}">
                <a16:creationId xmlns:a16="http://schemas.microsoft.com/office/drawing/2014/main" id="{B9865FB0-8101-543C-70EE-04191A51C1D6}"/>
              </a:ext>
            </a:extLst>
          </p:cNvPr>
          <p:cNvPicPr>
            <a:picLocks noChangeAspect="1"/>
          </p:cNvPicPr>
          <p:nvPr/>
        </p:nvPicPr>
        <p:blipFill>
          <a:blip r:embed="rId2"/>
          <a:stretch>
            <a:fillRect/>
          </a:stretch>
        </p:blipFill>
        <p:spPr>
          <a:xfrm>
            <a:off x="396582" y="462117"/>
            <a:ext cx="6182868" cy="5987844"/>
          </a:xfrm>
          <a:prstGeom prst="rect">
            <a:avLst/>
          </a:prstGeom>
        </p:spPr>
      </p:pic>
    </p:spTree>
    <p:extLst>
      <p:ext uri="{BB962C8B-B14F-4D97-AF65-F5344CB8AC3E}">
        <p14:creationId xmlns:p14="http://schemas.microsoft.com/office/powerpoint/2010/main" val="4169839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29FDE-5170-3EA0-4A1C-3202F655B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F8856-BBD7-751D-09A0-8A43E9003024}"/>
              </a:ext>
            </a:extLst>
          </p:cNvPr>
          <p:cNvSpPr>
            <a:spLocks noGrp="1"/>
          </p:cNvSpPr>
          <p:nvPr>
            <p:ph type="title"/>
          </p:nvPr>
        </p:nvSpPr>
        <p:spPr>
          <a:xfrm>
            <a:off x="8416413" y="512948"/>
            <a:ext cx="3204626" cy="588265"/>
          </a:xfrm>
        </p:spPr>
        <p:txBody>
          <a:bodyPr anchor="b">
            <a:normAutofit/>
          </a:bodyPr>
          <a:lstStyle/>
          <a:p>
            <a:r>
              <a:rPr lang="en-US" sz="2800"/>
              <a:t>Các nút trong tạo PO</a:t>
            </a:r>
            <a:endParaRPr lang="en-US" sz="2800" dirty="0"/>
          </a:p>
        </p:txBody>
      </p:sp>
      <p:sp>
        <p:nvSpPr>
          <p:cNvPr id="3" name="Content Placeholder 2">
            <a:extLst>
              <a:ext uri="{FF2B5EF4-FFF2-40B4-BE49-F238E27FC236}">
                <a16:creationId xmlns:a16="http://schemas.microsoft.com/office/drawing/2014/main" id="{EE3176B6-DC76-3D8B-5FDF-49487C834CF3}"/>
              </a:ext>
            </a:extLst>
          </p:cNvPr>
          <p:cNvSpPr>
            <a:spLocks noGrp="1"/>
          </p:cNvSpPr>
          <p:nvPr>
            <p:ph idx="1"/>
          </p:nvPr>
        </p:nvSpPr>
        <p:spPr>
          <a:xfrm>
            <a:off x="8416413" y="1101213"/>
            <a:ext cx="3217867" cy="5220928"/>
          </a:xfrm>
        </p:spPr>
        <p:txBody>
          <a:bodyPr>
            <a:normAutofit/>
          </a:bodyPr>
          <a:lstStyle/>
          <a:p>
            <a:pPr>
              <a:lnSpc>
                <a:spcPct val="100000"/>
              </a:lnSpc>
            </a:pPr>
            <a:r>
              <a:rPr lang="en-US" sz="1300">
                <a:solidFill>
                  <a:schemeClr val="tx1">
                    <a:lumMod val="85000"/>
                    <a:lumOff val="15000"/>
                  </a:schemeClr>
                </a:solidFill>
              </a:rPr>
              <a:t>1. Sau khi bạn click vào “Thêm kế hoạch”, bạn kéo choột xuống dưới chân trang,một giao diện mới sẽ hiển thị ra cho bạn như hình bên trai.</a:t>
            </a:r>
          </a:p>
          <a:p>
            <a:pPr>
              <a:lnSpc>
                <a:spcPct val="100000"/>
              </a:lnSpc>
            </a:pPr>
            <a:r>
              <a:rPr lang="en-US" sz="1300">
                <a:solidFill>
                  <a:schemeClr val="tx1">
                    <a:lumMod val="85000"/>
                    <a:lumOff val="15000"/>
                  </a:schemeClr>
                </a:solidFill>
              </a:rPr>
              <a:t>2. Số 1 là bạn có thể copy dữ liệu của một tháng bất kỳ</a:t>
            </a:r>
          </a:p>
          <a:p>
            <a:pPr>
              <a:lnSpc>
                <a:spcPct val="100000"/>
              </a:lnSpc>
            </a:pPr>
            <a:r>
              <a:rPr lang="en-US" sz="1300">
                <a:solidFill>
                  <a:schemeClr val="tx1">
                    <a:lumMod val="85000"/>
                    <a:lumOff val="15000"/>
                  </a:schemeClr>
                </a:solidFill>
              </a:rPr>
              <a:t>3. Số 2 bạn sẽ click vào để chọn loại sản phẩm cần làm.</a:t>
            </a:r>
          </a:p>
          <a:p>
            <a:pPr>
              <a:lnSpc>
                <a:spcPct val="100000"/>
              </a:lnSpc>
            </a:pPr>
            <a:r>
              <a:rPr lang="en-US" sz="1300">
                <a:solidFill>
                  <a:schemeClr val="tx1">
                    <a:lumMod val="85000"/>
                    <a:lumOff val="15000"/>
                  </a:schemeClr>
                </a:solidFill>
              </a:rPr>
              <a:t>4. Số 3 bạn xác nhận mọi thông tin, kiểu như lưu lại dữ liệu</a:t>
            </a:r>
          </a:p>
          <a:p>
            <a:pPr>
              <a:lnSpc>
                <a:spcPct val="100000"/>
              </a:lnSpc>
            </a:pPr>
            <a:r>
              <a:rPr lang="en-US" sz="1300">
                <a:solidFill>
                  <a:schemeClr val="tx1">
                    <a:lumMod val="85000"/>
                    <a:lumOff val="15000"/>
                  </a:schemeClr>
                </a:solidFill>
              </a:rPr>
              <a:t>5. Số 4 là hủy bỏ đi</a:t>
            </a:r>
            <a:endParaRPr lang="en-US" sz="1300" dirty="0">
              <a:solidFill>
                <a:schemeClr val="tx1">
                  <a:lumMod val="85000"/>
                  <a:lumOff val="15000"/>
                </a:schemeClr>
              </a:solidFill>
            </a:endParaRPr>
          </a:p>
        </p:txBody>
      </p:sp>
      <p:pic>
        <p:nvPicPr>
          <p:cNvPr id="6" name="Picture 5">
            <a:extLst>
              <a:ext uri="{FF2B5EF4-FFF2-40B4-BE49-F238E27FC236}">
                <a16:creationId xmlns:a16="http://schemas.microsoft.com/office/drawing/2014/main" id="{631C68A0-AF07-3B08-8195-6E2CF917B4A2}"/>
              </a:ext>
            </a:extLst>
          </p:cNvPr>
          <p:cNvPicPr>
            <a:picLocks noChangeAspect="1"/>
          </p:cNvPicPr>
          <p:nvPr/>
        </p:nvPicPr>
        <p:blipFill>
          <a:blip r:embed="rId2"/>
          <a:stretch>
            <a:fillRect/>
          </a:stretch>
        </p:blipFill>
        <p:spPr>
          <a:xfrm>
            <a:off x="423211" y="402717"/>
            <a:ext cx="7747396" cy="2271657"/>
          </a:xfrm>
          <a:prstGeom prst="rect">
            <a:avLst/>
          </a:prstGeom>
        </p:spPr>
      </p:pic>
      <p:pic>
        <p:nvPicPr>
          <p:cNvPr id="9" name="Picture 8">
            <a:extLst>
              <a:ext uri="{FF2B5EF4-FFF2-40B4-BE49-F238E27FC236}">
                <a16:creationId xmlns:a16="http://schemas.microsoft.com/office/drawing/2014/main" id="{4CED2814-CAB7-5314-7870-5B98F96BA72B}"/>
              </a:ext>
            </a:extLst>
          </p:cNvPr>
          <p:cNvPicPr>
            <a:picLocks noChangeAspect="1"/>
          </p:cNvPicPr>
          <p:nvPr/>
        </p:nvPicPr>
        <p:blipFill>
          <a:blip r:embed="rId3"/>
          <a:stretch>
            <a:fillRect/>
          </a:stretch>
        </p:blipFill>
        <p:spPr>
          <a:xfrm>
            <a:off x="423211" y="3136490"/>
            <a:ext cx="7865384" cy="3318793"/>
          </a:xfrm>
          <a:prstGeom prst="rect">
            <a:avLst/>
          </a:prstGeom>
        </p:spPr>
      </p:pic>
    </p:spTree>
    <p:extLst>
      <p:ext uri="{BB962C8B-B14F-4D97-AF65-F5344CB8AC3E}">
        <p14:creationId xmlns:p14="http://schemas.microsoft.com/office/powerpoint/2010/main" val="3692750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5EEA-8379-E1C3-A9BC-8098A647D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09A67-9D51-CE6E-F3FC-A68724A19517}"/>
              </a:ext>
            </a:extLst>
          </p:cNvPr>
          <p:cNvSpPr>
            <a:spLocks noGrp="1"/>
          </p:cNvSpPr>
          <p:nvPr>
            <p:ph type="title"/>
          </p:nvPr>
        </p:nvSpPr>
        <p:spPr>
          <a:xfrm>
            <a:off x="6678662" y="552302"/>
            <a:ext cx="4313804" cy="1247001"/>
          </a:xfrm>
        </p:spPr>
        <p:txBody>
          <a:bodyPr>
            <a:normAutofit fontScale="90000"/>
          </a:bodyPr>
          <a:lstStyle/>
          <a:p>
            <a:r>
              <a:rPr lang="en-US" sz="4400"/>
              <a:t>Sao chép PO theo tháng.</a:t>
            </a:r>
          </a:p>
        </p:txBody>
      </p:sp>
      <p:sp>
        <p:nvSpPr>
          <p:cNvPr id="3" name="Content Placeholder 2">
            <a:extLst>
              <a:ext uri="{FF2B5EF4-FFF2-40B4-BE49-F238E27FC236}">
                <a16:creationId xmlns:a16="http://schemas.microsoft.com/office/drawing/2014/main" id="{5938BABE-3B2A-5F0A-8310-FBF0E5A9353D}"/>
              </a:ext>
            </a:extLst>
          </p:cNvPr>
          <p:cNvSpPr>
            <a:spLocks noGrp="1"/>
          </p:cNvSpPr>
          <p:nvPr>
            <p:ph idx="1"/>
          </p:nvPr>
        </p:nvSpPr>
        <p:spPr>
          <a:xfrm>
            <a:off x="6777872" y="1799303"/>
            <a:ext cx="4759132" cy="4596580"/>
          </a:xfrm>
        </p:spPr>
        <p:txBody>
          <a:bodyPr>
            <a:normAutofit/>
          </a:bodyPr>
          <a:lstStyle/>
          <a:p>
            <a:r>
              <a:rPr lang="en-US"/>
              <a:t>Khi bạn click vào “Sao chép kế hoạch sản xuất”, ngày lập tức một hộp thoại sẽ hiển thị ra, bạn chỉ cần chọn lựa tháng bạn cần, và hệ thống sẽ tự động sao chép toàn bộ dữ liệu cho bọn.</a:t>
            </a:r>
          </a:p>
          <a:p>
            <a:endParaRPr lang="en-US"/>
          </a:p>
          <a:p>
            <a:r>
              <a:rPr lang="en-US"/>
              <a:t>Ví dụ ở đây tôi chọn tháng tư bạn sẽ thấy nó copy hết toàn bộ các BOM (con hàng trong tháng tư cho bạn)</a:t>
            </a:r>
            <a:endParaRPr lang="en-US" dirty="0"/>
          </a:p>
        </p:txBody>
      </p:sp>
      <p:pic>
        <p:nvPicPr>
          <p:cNvPr id="5" name="Picture 4">
            <a:extLst>
              <a:ext uri="{FF2B5EF4-FFF2-40B4-BE49-F238E27FC236}">
                <a16:creationId xmlns:a16="http://schemas.microsoft.com/office/drawing/2014/main" id="{146D123E-C751-BC3D-6BC5-70F184B2BEA3}"/>
              </a:ext>
            </a:extLst>
          </p:cNvPr>
          <p:cNvPicPr>
            <a:picLocks noChangeAspect="1"/>
          </p:cNvPicPr>
          <p:nvPr/>
        </p:nvPicPr>
        <p:blipFill>
          <a:blip r:embed="rId2"/>
          <a:stretch>
            <a:fillRect/>
          </a:stretch>
        </p:blipFill>
        <p:spPr>
          <a:xfrm>
            <a:off x="263225" y="552302"/>
            <a:ext cx="6235898" cy="2771001"/>
          </a:xfrm>
          <a:prstGeom prst="rect">
            <a:avLst/>
          </a:prstGeom>
        </p:spPr>
      </p:pic>
      <p:pic>
        <p:nvPicPr>
          <p:cNvPr id="7" name="Picture 6">
            <a:extLst>
              <a:ext uri="{FF2B5EF4-FFF2-40B4-BE49-F238E27FC236}">
                <a16:creationId xmlns:a16="http://schemas.microsoft.com/office/drawing/2014/main" id="{C0E09AE0-1023-D88E-AE67-2F9CD80524D9}"/>
              </a:ext>
            </a:extLst>
          </p:cNvPr>
          <p:cNvPicPr>
            <a:picLocks noChangeAspect="1"/>
          </p:cNvPicPr>
          <p:nvPr/>
        </p:nvPicPr>
        <p:blipFill>
          <a:blip r:embed="rId3"/>
          <a:stretch>
            <a:fillRect/>
          </a:stretch>
        </p:blipFill>
        <p:spPr>
          <a:xfrm>
            <a:off x="402932" y="3854245"/>
            <a:ext cx="6096191" cy="2438752"/>
          </a:xfrm>
          <a:prstGeom prst="rect">
            <a:avLst/>
          </a:prstGeom>
        </p:spPr>
      </p:pic>
    </p:spTree>
    <p:extLst>
      <p:ext uri="{BB962C8B-B14F-4D97-AF65-F5344CB8AC3E}">
        <p14:creationId xmlns:p14="http://schemas.microsoft.com/office/powerpoint/2010/main" val="3013120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8D60-4BE1-F884-9905-B76805BE8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1ACBC-75A9-6D66-454C-C2357934B03B}"/>
              </a:ext>
            </a:extLst>
          </p:cNvPr>
          <p:cNvSpPr>
            <a:spLocks noGrp="1"/>
          </p:cNvSpPr>
          <p:nvPr>
            <p:ph type="title"/>
          </p:nvPr>
        </p:nvSpPr>
        <p:spPr>
          <a:xfrm>
            <a:off x="8416413" y="512948"/>
            <a:ext cx="3204626" cy="588265"/>
          </a:xfrm>
        </p:spPr>
        <p:txBody>
          <a:bodyPr anchor="b">
            <a:normAutofit/>
          </a:bodyPr>
          <a:lstStyle/>
          <a:p>
            <a:r>
              <a:rPr lang="en-US" sz="2800"/>
              <a:t>Các tác tạo PO</a:t>
            </a:r>
            <a:endParaRPr lang="en-US" sz="2800" dirty="0"/>
          </a:p>
        </p:txBody>
      </p:sp>
      <p:sp>
        <p:nvSpPr>
          <p:cNvPr id="3" name="Content Placeholder 2">
            <a:extLst>
              <a:ext uri="{FF2B5EF4-FFF2-40B4-BE49-F238E27FC236}">
                <a16:creationId xmlns:a16="http://schemas.microsoft.com/office/drawing/2014/main" id="{E5B84309-1034-0EAC-172E-0F324A81CCE1}"/>
              </a:ext>
            </a:extLst>
          </p:cNvPr>
          <p:cNvSpPr>
            <a:spLocks noGrp="1"/>
          </p:cNvSpPr>
          <p:nvPr>
            <p:ph idx="1"/>
          </p:nvPr>
        </p:nvSpPr>
        <p:spPr>
          <a:xfrm>
            <a:off x="8416413" y="1101213"/>
            <a:ext cx="3217867" cy="5220928"/>
          </a:xfrm>
        </p:spPr>
        <p:txBody>
          <a:bodyPr>
            <a:normAutofit/>
          </a:bodyPr>
          <a:lstStyle/>
          <a:p>
            <a:pPr>
              <a:lnSpc>
                <a:spcPct val="100000"/>
              </a:lnSpc>
            </a:pPr>
            <a:r>
              <a:rPr lang="en-US" sz="1300">
                <a:solidFill>
                  <a:schemeClr val="tx1">
                    <a:lumMod val="85000"/>
                    <a:lumOff val="15000"/>
                  </a:schemeClr>
                </a:solidFill>
              </a:rPr>
              <a:t>1.  Khi bạn click vào “Thêm kế hoạch” bạn kéo choột của mình xuống cuối, bạn sẽ thấy một phần giao diện hiện ra, tại đây bạn có thể click tiếp vào nút “Yêu cầu đặt hàng”, thực tế đây là các BOM.</a:t>
            </a:r>
          </a:p>
          <a:p>
            <a:pPr>
              <a:lnSpc>
                <a:spcPct val="100000"/>
              </a:lnSpc>
            </a:pPr>
            <a:r>
              <a:rPr lang="en-US" sz="1300">
                <a:solidFill>
                  <a:schemeClr val="tx1">
                    <a:lumMod val="85000"/>
                    <a:lumOff val="15000"/>
                  </a:schemeClr>
                </a:solidFill>
              </a:rPr>
              <a:t>2. Một hộp thoại mới như ảnh bên tay trai bạn sẽ hiển thị ra cho bạn, bạn có thể chọn nhiều BOM cùng một lúc cũng được, sau khi chọn xong bạn nhấn vào nút màu xanh “Áp dụng mục đã chọn”</a:t>
            </a:r>
          </a:p>
          <a:p>
            <a:pPr>
              <a:lnSpc>
                <a:spcPct val="100000"/>
              </a:lnSpc>
            </a:pPr>
            <a:r>
              <a:rPr lang="en-US" sz="1300">
                <a:solidFill>
                  <a:schemeClr val="tx1">
                    <a:lumMod val="85000"/>
                    <a:lumOff val="15000"/>
                  </a:schemeClr>
                </a:solidFill>
              </a:rPr>
              <a:t>3. Khi bạn chọn mã xong trên hội thoại bạn muốn hủy đi bạn có thể click trực tiếp vào mã, lúc tức nó sẽ bị mất đi cho bạn</a:t>
            </a:r>
            <a:endParaRPr lang="en-US" sz="1300" dirty="0">
              <a:solidFill>
                <a:schemeClr val="tx1">
                  <a:lumMod val="85000"/>
                  <a:lumOff val="15000"/>
                </a:schemeClr>
              </a:solidFill>
            </a:endParaRPr>
          </a:p>
        </p:txBody>
      </p:sp>
      <p:pic>
        <p:nvPicPr>
          <p:cNvPr id="5" name="Picture 4">
            <a:extLst>
              <a:ext uri="{FF2B5EF4-FFF2-40B4-BE49-F238E27FC236}">
                <a16:creationId xmlns:a16="http://schemas.microsoft.com/office/drawing/2014/main" id="{C56FD573-ED72-CA75-3D33-CEE1D11CD46C}"/>
              </a:ext>
            </a:extLst>
          </p:cNvPr>
          <p:cNvPicPr>
            <a:picLocks noChangeAspect="1"/>
          </p:cNvPicPr>
          <p:nvPr/>
        </p:nvPicPr>
        <p:blipFill>
          <a:blip r:embed="rId2"/>
          <a:stretch>
            <a:fillRect/>
          </a:stretch>
        </p:blipFill>
        <p:spPr>
          <a:xfrm>
            <a:off x="452284" y="512948"/>
            <a:ext cx="7749036" cy="5551437"/>
          </a:xfrm>
          <a:prstGeom prst="rect">
            <a:avLst/>
          </a:prstGeom>
        </p:spPr>
      </p:pic>
    </p:spTree>
    <p:extLst>
      <p:ext uri="{BB962C8B-B14F-4D97-AF65-F5344CB8AC3E}">
        <p14:creationId xmlns:p14="http://schemas.microsoft.com/office/powerpoint/2010/main" val="1951146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B157-E558-77BC-7AA5-EB02DDBA2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19428-397E-AC16-70E5-63352F2C9B98}"/>
              </a:ext>
            </a:extLst>
          </p:cNvPr>
          <p:cNvSpPr>
            <a:spLocks noGrp="1"/>
          </p:cNvSpPr>
          <p:nvPr>
            <p:ph type="title"/>
          </p:nvPr>
        </p:nvSpPr>
        <p:spPr>
          <a:xfrm>
            <a:off x="7000536" y="462118"/>
            <a:ext cx="4536468" cy="865238"/>
          </a:xfrm>
        </p:spPr>
        <p:txBody>
          <a:bodyPr>
            <a:normAutofit/>
          </a:bodyPr>
          <a:lstStyle/>
          <a:p>
            <a:r>
              <a:rPr lang="en-US" sz="4400"/>
              <a:t>Các tạo PO.</a:t>
            </a:r>
          </a:p>
        </p:txBody>
      </p:sp>
      <p:sp>
        <p:nvSpPr>
          <p:cNvPr id="3" name="Content Placeholder 2">
            <a:extLst>
              <a:ext uri="{FF2B5EF4-FFF2-40B4-BE49-F238E27FC236}">
                <a16:creationId xmlns:a16="http://schemas.microsoft.com/office/drawing/2014/main" id="{64B5E5E8-0D67-19FB-E4C6-F6E8D1A045F5}"/>
              </a:ext>
            </a:extLst>
          </p:cNvPr>
          <p:cNvSpPr>
            <a:spLocks noGrp="1"/>
          </p:cNvSpPr>
          <p:nvPr>
            <p:ph idx="1"/>
          </p:nvPr>
        </p:nvSpPr>
        <p:spPr>
          <a:xfrm>
            <a:off x="6777872" y="1327356"/>
            <a:ext cx="4759132" cy="5068527"/>
          </a:xfrm>
        </p:spPr>
        <p:txBody>
          <a:bodyPr>
            <a:normAutofit/>
          </a:bodyPr>
          <a:lstStyle/>
          <a:p>
            <a:r>
              <a:rPr lang="en-US"/>
              <a:t>1. Số 1 bạn chọn tháng sẽ làm PO</a:t>
            </a:r>
          </a:p>
          <a:p>
            <a:r>
              <a:rPr lang="en-US"/>
              <a:t>2. Số 2 bạn chọn tổng số lượng PO trong tháng sẽ làm.</a:t>
            </a:r>
          </a:p>
          <a:p>
            <a:r>
              <a:rPr lang="en-US"/>
              <a:t>3. Chọn kiểu của PO, có hai dạng một là “Sản xuất” tức là sẽ đồng ý tạo , hai là “không làm” tức là sẽ không tạo PO.</a:t>
            </a:r>
          </a:p>
          <a:p>
            <a:r>
              <a:rPr lang="en-US"/>
              <a:t>4. Số 4 vui lòng chọn phiên bản của BOM ở đây bắt buộc phải chọn BOM phiên bản 2001, ngoài ra không được chọn bất kỳ loại phiên bản BOM nào cả</a:t>
            </a:r>
          </a:p>
          <a:p>
            <a:r>
              <a:rPr lang="en-US"/>
              <a:t>5. Số 5 bạn có thể xóa dòng dữ liệu của loại PO đó đi</a:t>
            </a:r>
          </a:p>
          <a:p>
            <a:r>
              <a:rPr lang="en-US"/>
              <a:t>6. Số bạn có thể hủy hết đi để làm lại</a:t>
            </a:r>
            <a:endParaRPr lang="en-US" dirty="0"/>
          </a:p>
        </p:txBody>
      </p:sp>
      <p:pic>
        <p:nvPicPr>
          <p:cNvPr id="6" name="Picture 5">
            <a:extLst>
              <a:ext uri="{FF2B5EF4-FFF2-40B4-BE49-F238E27FC236}">
                <a16:creationId xmlns:a16="http://schemas.microsoft.com/office/drawing/2014/main" id="{ABFBD26F-3598-A2CF-726F-720AD0170393}"/>
              </a:ext>
            </a:extLst>
          </p:cNvPr>
          <p:cNvPicPr>
            <a:picLocks noChangeAspect="1"/>
          </p:cNvPicPr>
          <p:nvPr/>
        </p:nvPicPr>
        <p:blipFill>
          <a:blip r:embed="rId2"/>
          <a:stretch>
            <a:fillRect/>
          </a:stretch>
        </p:blipFill>
        <p:spPr>
          <a:xfrm>
            <a:off x="409283" y="412955"/>
            <a:ext cx="6269380" cy="5982928"/>
          </a:xfrm>
          <a:prstGeom prst="rect">
            <a:avLst/>
          </a:prstGeom>
        </p:spPr>
      </p:pic>
    </p:spTree>
    <p:extLst>
      <p:ext uri="{BB962C8B-B14F-4D97-AF65-F5344CB8AC3E}">
        <p14:creationId xmlns:p14="http://schemas.microsoft.com/office/powerpoint/2010/main" val="2120585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B5F6E-4655-E2E2-67EA-FD959D0DF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BC892-DE18-DE60-FC5E-EA971F81F98D}"/>
              </a:ext>
            </a:extLst>
          </p:cNvPr>
          <p:cNvSpPr>
            <a:spLocks noGrp="1"/>
          </p:cNvSpPr>
          <p:nvPr>
            <p:ph type="title"/>
          </p:nvPr>
        </p:nvSpPr>
        <p:spPr>
          <a:xfrm>
            <a:off x="8416413" y="512948"/>
            <a:ext cx="3204626" cy="588265"/>
          </a:xfrm>
        </p:spPr>
        <p:txBody>
          <a:bodyPr anchor="b">
            <a:normAutofit/>
          </a:bodyPr>
          <a:lstStyle/>
          <a:p>
            <a:r>
              <a:rPr lang="en-US" sz="2800"/>
              <a:t>Các tác tạo PO</a:t>
            </a:r>
            <a:endParaRPr lang="en-US" sz="2800" dirty="0"/>
          </a:p>
        </p:txBody>
      </p:sp>
      <p:sp>
        <p:nvSpPr>
          <p:cNvPr id="3" name="Content Placeholder 2">
            <a:extLst>
              <a:ext uri="{FF2B5EF4-FFF2-40B4-BE49-F238E27FC236}">
                <a16:creationId xmlns:a16="http://schemas.microsoft.com/office/drawing/2014/main" id="{54760CF6-ED8A-4211-3EDC-61212841216D}"/>
              </a:ext>
            </a:extLst>
          </p:cNvPr>
          <p:cNvSpPr>
            <a:spLocks noGrp="1"/>
          </p:cNvSpPr>
          <p:nvPr>
            <p:ph idx="1"/>
          </p:nvPr>
        </p:nvSpPr>
        <p:spPr>
          <a:xfrm>
            <a:off x="8416413" y="1101213"/>
            <a:ext cx="3217867" cy="5220928"/>
          </a:xfrm>
        </p:spPr>
        <p:txBody>
          <a:bodyPr>
            <a:normAutofit/>
          </a:bodyPr>
          <a:lstStyle/>
          <a:p>
            <a:pPr>
              <a:lnSpc>
                <a:spcPct val="100000"/>
              </a:lnSpc>
            </a:pPr>
            <a:r>
              <a:rPr lang="en-US" sz="1300">
                <a:solidFill>
                  <a:schemeClr val="tx1">
                    <a:lumMod val="85000"/>
                    <a:lumOff val="15000"/>
                  </a:schemeClr>
                </a:solidFill>
              </a:rPr>
              <a:t>1.  Sau khi điền đầy đủ thông tin bạn sẽ thấy như hình ảnh đầu tiên ở bên trái.</a:t>
            </a:r>
          </a:p>
          <a:p>
            <a:pPr>
              <a:lnSpc>
                <a:spcPct val="100000"/>
              </a:lnSpc>
            </a:pPr>
            <a:r>
              <a:rPr lang="en-US" sz="1300">
                <a:solidFill>
                  <a:schemeClr val="tx1">
                    <a:lumMod val="85000"/>
                    <a:lumOff val="15000"/>
                  </a:schemeClr>
                </a:solidFill>
              </a:rPr>
              <a:t>2. Nếu tất cả đã xong bạn nhấn “Đăng ký gói” nó sẽ hiển thị ra một hộp thoại và bạn có hai nữa chọn, nhấn vào “Sự đăng ký” hoặc hủy bỏ form.</a:t>
            </a:r>
          </a:p>
        </p:txBody>
      </p:sp>
      <p:pic>
        <p:nvPicPr>
          <p:cNvPr id="6" name="Picture 5">
            <a:extLst>
              <a:ext uri="{FF2B5EF4-FFF2-40B4-BE49-F238E27FC236}">
                <a16:creationId xmlns:a16="http://schemas.microsoft.com/office/drawing/2014/main" id="{92B37227-3913-8CD0-A6A9-DA2ADB9113A4}"/>
              </a:ext>
            </a:extLst>
          </p:cNvPr>
          <p:cNvPicPr>
            <a:picLocks noChangeAspect="1"/>
          </p:cNvPicPr>
          <p:nvPr/>
        </p:nvPicPr>
        <p:blipFill>
          <a:blip r:embed="rId2"/>
          <a:stretch>
            <a:fillRect/>
          </a:stretch>
        </p:blipFill>
        <p:spPr>
          <a:xfrm>
            <a:off x="463674" y="512948"/>
            <a:ext cx="7939498" cy="2525220"/>
          </a:xfrm>
          <a:prstGeom prst="rect">
            <a:avLst/>
          </a:prstGeom>
        </p:spPr>
      </p:pic>
      <p:pic>
        <p:nvPicPr>
          <p:cNvPr id="8" name="Picture 7">
            <a:extLst>
              <a:ext uri="{FF2B5EF4-FFF2-40B4-BE49-F238E27FC236}">
                <a16:creationId xmlns:a16="http://schemas.microsoft.com/office/drawing/2014/main" id="{CF2758CE-4810-950D-8586-DD35039908B7}"/>
              </a:ext>
            </a:extLst>
          </p:cNvPr>
          <p:cNvPicPr>
            <a:picLocks noChangeAspect="1"/>
          </p:cNvPicPr>
          <p:nvPr/>
        </p:nvPicPr>
        <p:blipFill>
          <a:blip r:embed="rId3"/>
          <a:stretch>
            <a:fillRect/>
          </a:stretch>
        </p:blipFill>
        <p:spPr>
          <a:xfrm>
            <a:off x="463674" y="3248117"/>
            <a:ext cx="7939498" cy="3096935"/>
          </a:xfrm>
          <a:prstGeom prst="rect">
            <a:avLst/>
          </a:prstGeom>
        </p:spPr>
      </p:pic>
    </p:spTree>
    <p:extLst>
      <p:ext uri="{BB962C8B-B14F-4D97-AF65-F5344CB8AC3E}">
        <p14:creationId xmlns:p14="http://schemas.microsoft.com/office/powerpoint/2010/main" val="1421145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endParaRPr lang="en-US"/>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8983</TotalTime>
  <Words>1159</Words>
  <Application>Microsoft Office PowerPoint</Application>
  <PresentationFormat>Widescreen</PresentationFormat>
  <Paragraphs>55</Paragraphs>
  <Slides>13</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Garamond</vt:lpstr>
      <vt:lpstr>Goudy Old Style</vt:lpstr>
      <vt:lpstr>SavonVTI</vt:lpstr>
      <vt:lpstr>Hướng dẫn sử dụng chức năng tạo PO và kế hoạch sản xuất trên hệ thống Groupware</vt:lpstr>
      <vt:lpstr>1.Đăng nhập hệ thống Groupware</vt:lpstr>
      <vt:lpstr>2.Thông tin đăng nhập vào Groupware</vt:lpstr>
      <vt:lpstr>Giao diện khi truy cập</vt:lpstr>
      <vt:lpstr>Màn hình tạo PO và kế hoạch sản xuất trên Groupware.</vt:lpstr>
      <vt:lpstr>Trước khi tạo PO</vt:lpstr>
      <vt:lpstr>Màn hình tạo PO và kế hoạch sản xuất trên Groupware.</vt:lpstr>
      <vt:lpstr>Các nút trong tạo PO</vt:lpstr>
      <vt:lpstr>Sao chép PO theo tháng.</vt:lpstr>
      <vt:lpstr>Các tác tạo PO</vt:lpstr>
      <vt:lpstr>Các tạo PO.</vt:lpstr>
      <vt:lpstr>Các tác tạo PO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Nha Nguyen</cp:lastModifiedBy>
  <cp:revision>186</cp:revision>
  <dcterms:created xsi:type="dcterms:W3CDTF">2022-04-13T01:56:23Z</dcterms:created>
  <dcterms:modified xsi:type="dcterms:W3CDTF">2025-05-15T09:39:29Z</dcterms:modified>
</cp:coreProperties>
</file>