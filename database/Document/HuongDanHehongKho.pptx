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88" r:id="rId4"/>
    <p:sldId id="289" r:id="rId5"/>
    <p:sldId id="293" r:id="rId6"/>
    <p:sldId id="290" r:id="rId7"/>
    <p:sldId id="291" r:id="rId8"/>
    <p:sldId id="292" r:id="rId9"/>
    <p:sldId id="294" r:id="rId10"/>
    <p:sldId id="295" r:id="rId11"/>
    <p:sldId id="258" r:id="rId12"/>
    <p:sldId id="262" r:id="rId13"/>
    <p:sldId id="263" r:id="rId14"/>
    <p:sldId id="264" r:id="rId15"/>
  </p:sldIdLst>
  <p:sldSz cx="18288000" cy="10287000"/>
  <p:notesSz cx="6858000" cy="9144000"/>
  <p:embeddedFontLst>
    <p:embeddedFont>
      <p:font typeface="Cabin Bold" panose="020B0604020202020204" charset="0"/>
      <p:regular r:id="rId17"/>
    </p:embeddedFont>
    <p:embeddedFont>
      <p:font typeface="Cabin Semi-Bold" panose="020B0604020202020204" charset="0"/>
      <p:regular r:id="rId18"/>
    </p:embeddedFont>
    <p:embeddedFont>
      <p:font typeface="Muli" panose="020B0604020202020204" charset="0"/>
      <p:regular r:id="rId19"/>
    </p:embeddedFont>
    <p:embeddedFont>
      <p:font typeface="Muli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02801-4FBE-430D-93E0-7330AF9B992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8B4F-79D5-4C35-A706-04026BFC6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9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8B4F-79D5-4C35-A706-04026BFC6A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6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8B4F-79D5-4C35-A706-04026BFC6A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8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18" Type="http://schemas.openxmlformats.org/officeDocument/2006/relationships/image" Target="../media/image43.png"/><Relationship Id="rId3" Type="http://schemas.openxmlformats.org/officeDocument/2006/relationships/image" Target="../media/image28.svg"/><Relationship Id="rId21" Type="http://schemas.openxmlformats.org/officeDocument/2006/relationships/image" Target="../media/image46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19" Type="http://schemas.openxmlformats.org/officeDocument/2006/relationships/image" Target="../media/image44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3.png"/><Relationship Id="rId26" Type="http://schemas.openxmlformats.org/officeDocument/2006/relationships/image" Target="../media/image49.png"/><Relationship Id="rId39" Type="http://schemas.openxmlformats.org/officeDocument/2006/relationships/image" Target="../media/image3.png"/><Relationship Id="rId21" Type="http://schemas.openxmlformats.org/officeDocument/2006/relationships/image" Target="../media/image66.png"/><Relationship Id="rId34" Type="http://schemas.openxmlformats.org/officeDocument/2006/relationships/image" Target="../media/image76.png"/><Relationship Id="rId7" Type="http://schemas.openxmlformats.org/officeDocument/2006/relationships/image" Target="../media/image23.png"/><Relationship Id="rId12" Type="http://schemas.openxmlformats.org/officeDocument/2006/relationships/image" Target="../media/image58.png"/><Relationship Id="rId17" Type="http://schemas.openxmlformats.org/officeDocument/2006/relationships/image" Target="../media/image62.png"/><Relationship Id="rId25" Type="http://schemas.openxmlformats.org/officeDocument/2006/relationships/image" Target="../media/image69.png"/><Relationship Id="rId33" Type="http://schemas.openxmlformats.org/officeDocument/2006/relationships/image" Target="../media/image75.png"/><Relationship Id="rId38" Type="http://schemas.openxmlformats.org/officeDocument/2006/relationships/image" Target="../media/image79.png"/><Relationship Id="rId2" Type="http://schemas.openxmlformats.org/officeDocument/2006/relationships/image" Target="../media/image51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47.png"/><Relationship Id="rId24" Type="http://schemas.openxmlformats.org/officeDocument/2006/relationships/image" Target="../media/image25.png"/><Relationship Id="rId32" Type="http://schemas.openxmlformats.org/officeDocument/2006/relationships/image" Target="../media/image74.png"/><Relationship Id="rId37" Type="http://schemas.openxmlformats.org/officeDocument/2006/relationships/image" Target="../media/image26.png"/><Relationship Id="rId40" Type="http://schemas.openxmlformats.org/officeDocument/2006/relationships/image" Target="../media/image80.png"/><Relationship Id="rId5" Type="http://schemas.openxmlformats.org/officeDocument/2006/relationships/image" Target="../media/image54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50.png"/><Relationship Id="rId36" Type="http://schemas.openxmlformats.org/officeDocument/2006/relationships/image" Target="../media/image78.png"/><Relationship Id="rId10" Type="http://schemas.openxmlformats.org/officeDocument/2006/relationships/image" Target="../media/image4.png"/><Relationship Id="rId19" Type="http://schemas.openxmlformats.org/officeDocument/2006/relationships/image" Target="../media/image64.png"/><Relationship Id="rId31" Type="http://schemas.openxmlformats.org/officeDocument/2006/relationships/image" Target="../media/image73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Relationship Id="rId14" Type="http://schemas.openxmlformats.org/officeDocument/2006/relationships/image" Target="../media/image5.png"/><Relationship Id="rId22" Type="http://schemas.openxmlformats.org/officeDocument/2006/relationships/image" Target="../media/image67.png"/><Relationship Id="rId27" Type="http://schemas.openxmlformats.org/officeDocument/2006/relationships/image" Target="../media/image70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8" Type="http://schemas.openxmlformats.org/officeDocument/2006/relationships/image" Target="../media/image56.png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12502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5"/>
                </a:lnTo>
                <a:lnTo>
                  <a:pt x="0" y="159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67902"/>
            <a:ext cx="1339996" cy="133999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2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4792" y="5247713"/>
            <a:ext cx="754347" cy="768761"/>
          </a:xfrm>
          <a:custGeom>
            <a:avLst/>
            <a:gdLst/>
            <a:ahLst/>
            <a:cxnLst/>
            <a:rect l="l" t="t" r="r" b="b"/>
            <a:pathLst>
              <a:path w="754347" h="768761">
                <a:moveTo>
                  <a:pt x="0" y="0"/>
                </a:moveTo>
                <a:lnTo>
                  <a:pt x="754346" y="0"/>
                </a:lnTo>
                <a:lnTo>
                  <a:pt x="754346" y="768761"/>
                </a:lnTo>
                <a:lnTo>
                  <a:pt x="0" y="768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63946" y="4980480"/>
            <a:ext cx="5138582" cy="1314839"/>
            <a:chOff x="0" y="0"/>
            <a:chExt cx="1353371" cy="3462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71" cy="346295"/>
            </a:xfrm>
            <a:custGeom>
              <a:avLst/>
              <a:gdLst/>
              <a:ahLst/>
              <a:cxnLst/>
              <a:rect l="l" t="t" r="r" b="b"/>
              <a:pathLst>
                <a:path w="1353371" h="346295">
                  <a:moveTo>
                    <a:pt x="131076" y="0"/>
                  </a:moveTo>
                  <a:lnTo>
                    <a:pt x="1222295" y="0"/>
                  </a:lnTo>
                  <a:cubicBezTo>
                    <a:pt x="1257058" y="0"/>
                    <a:pt x="1290398" y="13810"/>
                    <a:pt x="1314980" y="38391"/>
                  </a:cubicBezTo>
                  <a:cubicBezTo>
                    <a:pt x="1339561" y="62973"/>
                    <a:pt x="1353371" y="96313"/>
                    <a:pt x="1353371" y="131076"/>
                  </a:cubicBezTo>
                  <a:lnTo>
                    <a:pt x="1353371" y="215219"/>
                  </a:lnTo>
                  <a:cubicBezTo>
                    <a:pt x="1353371" y="249982"/>
                    <a:pt x="1339561" y="283322"/>
                    <a:pt x="1314980" y="307904"/>
                  </a:cubicBezTo>
                  <a:cubicBezTo>
                    <a:pt x="1290398" y="332485"/>
                    <a:pt x="1257058" y="346295"/>
                    <a:pt x="1222295" y="346295"/>
                  </a:cubicBezTo>
                  <a:lnTo>
                    <a:pt x="131076" y="346295"/>
                  </a:lnTo>
                  <a:cubicBezTo>
                    <a:pt x="96313" y="346295"/>
                    <a:pt x="62973" y="332485"/>
                    <a:pt x="38391" y="307904"/>
                  </a:cubicBezTo>
                  <a:cubicBezTo>
                    <a:pt x="13810" y="283322"/>
                    <a:pt x="0" y="249982"/>
                    <a:pt x="0" y="215219"/>
                  </a:cubicBezTo>
                  <a:lnTo>
                    <a:pt x="0" y="131076"/>
                  </a:lnTo>
                  <a:cubicBezTo>
                    <a:pt x="0" y="96313"/>
                    <a:pt x="13810" y="62973"/>
                    <a:pt x="38391" y="38391"/>
                  </a:cubicBezTo>
                  <a:cubicBezTo>
                    <a:pt x="62973" y="13810"/>
                    <a:pt x="96313" y="0"/>
                    <a:pt x="131076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53371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Các màn hình hiển thị dữ liệu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996" y="0"/>
            <a:ext cx="18264004" cy="2360401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6841" y="3094075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537495" y="6028151"/>
            <a:ext cx="3518189" cy="325820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716841" y="3339022"/>
            <a:ext cx="1339996" cy="1339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84493" y="3374632"/>
            <a:ext cx="4724885" cy="1314839"/>
            <a:chOff x="0" y="0"/>
            <a:chExt cx="1244414" cy="346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414" cy="346295"/>
            </a:xfrm>
            <a:custGeom>
              <a:avLst/>
              <a:gdLst/>
              <a:ahLst/>
              <a:cxnLst/>
              <a:rect l="l" t="t" r="r" b="b"/>
              <a:pathLst>
                <a:path w="1244414" h="346295">
                  <a:moveTo>
                    <a:pt x="142553" y="0"/>
                  </a:moveTo>
                  <a:lnTo>
                    <a:pt x="1101861" y="0"/>
                  </a:lnTo>
                  <a:cubicBezTo>
                    <a:pt x="1139669" y="0"/>
                    <a:pt x="1175928" y="15019"/>
                    <a:pt x="1202661" y="41753"/>
                  </a:cubicBezTo>
                  <a:cubicBezTo>
                    <a:pt x="1229395" y="68487"/>
                    <a:pt x="1244414" y="104746"/>
                    <a:pt x="1244414" y="142553"/>
                  </a:cubicBezTo>
                  <a:lnTo>
                    <a:pt x="1244414" y="203742"/>
                  </a:lnTo>
                  <a:cubicBezTo>
                    <a:pt x="1244414" y="282472"/>
                    <a:pt x="1180591" y="346295"/>
                    <a:pt x="1101861" y="346295"/>
                  </a:cubicBezTo>
                  <a:lnTo>
                    <a:pt x="142553" y="346295"/>
                  </a:lnTo>
                  <a:cubicBezTo>
                    <a:pt x="104746" y="346295"/>
                    <a:pt x="68487" y="331276"/>
                    <a:pt x="41753" y="304542"/>
                  </a:cubicBezTo>
                  <a:cubicBezTo>
                    <a:pt x="15019" y="277808"/>
                    <a:pt x="0" y="241549"/>
                    <a:pt x="0" y="203742"/>
                  </a:cubicBezTo>
                  <a:lnTo>
                    <a:pt x="0" y="142553"/>
                  </a:lnTo>
                  <a:cubicBezTo>
                    <a:pt x="0" y="104746"/>
                    <a:pt x="15019" y="68487"/>
                    <a:pt x="41753" y="41753"/>
                  </a:cubicBezTo>
                  <a:cubicBezTo>
                    <a:pt x="68487" y="15019"/>
                    <a:pt x="104746" y="0"/>
                    <a:pt x="142553" y="0"/>
                  </a:cubicBezTo>
                  <a:close/>
                </a:path>
              </a:pathLst>
            </a:custGeom>
            <a:solidFill>
              <a:srgbClr val="FFD2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44414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Cấu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hình </a:t>
              </a: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hệ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thống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9022541" y="3610364"/>
            <a:ext cx="789813" cy="797311"/>
          </a:xfrm>
          <a:custGeom>
            <a:avLst/>
            <a:gdLst/>
            <a:ahLst/>
            <a:cxnLst/>
            <a:rect l="l" t="t" r="r" b="b"/>
            <a:pathLst>
              <a:path w="789813" h="797311">
                <a:moveTo>
                  <a:pt x="0" y="0"/>
                </a:moveTo>
                <a:lnTo>
                  <a:pt x="789812" y="0"/>
                </a:lnTo>
                <a:lnTo>
                  <a:pt x="789812" y="797311"/>
                </a:lnTo>
                <a:lnTo>
                  <a:pt x="0" y="797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782567" y="5540521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6" y="0"/>
                </a:lnTo>
                <a:lnTo>
                  <a:pt x="1595396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H="1">
            <a:off x="7663744" y="4641496"/>
            <a:ext cx="1595395" cy="862819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876938" y="5795921"/>
            <a:ext cx="1339996" cy="133999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CB7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12184" y="5808499"/>
            <a:ext cx="3887885" cy="1314839"/>
            <a:chOff x="0" y="0"/>
            <a:chExt cx="1023970" cy="3462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3970" cy="346295"/>
            </a:xfrm>
            <a:custGeom>
              <a:avLst/>
              <a:gdLst/>
              <a:ahLst/>
              <a:cxnLst/>
              <a:rect l="l" t="t" r="r" b="b"/>
              <a:pathLst>
                <a:path w="1023970" h="346295">
                  <a:moveTo>
                    <a:pt x="173148" y="0"/>
                  </a:moveTo>
                  <a:lnTo>
                    <a:pt x="850822" y="0"/>
                  </a:lnTo>
                  <a:cubicBezTo>
                    <a:pt x="946449" y="0"/>
                    <a:pt x="1023970" y="77521"/>
                    <a:pt x="1023970" y="173148"/>
                  </a:cubicBezTo>
                  <a:lnTo>
                    <a:pt x="1023970" y="173148"/>
                  </a:lnTo>
                  <a:cubicBezTo>
                    <a:pt x="1023970" y="268774"/>
                    <a:pt x="946449" y="346295"/>
                    <a:pt x="850822" y="346295"/>
                  </a:cubicBezTo>
                  <a:lnTo>
                    <a:pt x="173148" y="346295"/>
                  </a:lnTo>
                  <a:cubicBezTo>
                    <a:pt x="77521" y="346295"/>
                    <a:pt x="0" y="268774"/>
                    <a:pt x="0" y="173148"/>
                  </a:cubicBezTo>
                  <a:lnTo>
                    <a:pt x="0" y="173148"/>
                  </a:lnTo>
                  <a:cubicBezTo>
                    <a:pt x="0" y="77521"/>
                    <a:pt x="77521" y="0"/>
                    <a:pt x="173148" y="0"/>
                  </a:cubicBezTo>
                  <a:close/>
                </a:path>
              </a:pathLst>
            </a:custGeom>
            <a:solidFill>
              <a:srgbClr val="FF772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23970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TÓM TẮT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80482" y="6066135"/>
            <a:ext cx="799567" cy="799567"/>
          </a:xfrm>
          <a:custGeom>
            <a:avLst/>
            <a:gdLst/>
            <a:ahLst/>
            <a:cxnLst/>
            <a:rect l="l" t="t" r="r" b="b"/>
            <a:pathLst>
              <a:path w="799567" h="799567">
                <a:moveTo>
                  <a:pt x="0" y="0"/>
                </a:moveTo>
                <a:lnTo>
                  <a:pt x="799566" y="0"/>
                </a:lnTo>
                <a:lnTo>
                  <a:pt x="799566" y="799567"/>
                </a:lnTo>
                <a:lnTo>
                  <a:pt x="0" y="799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4">
            <a:extLst>
              <a:ext uri="{FF2B5EF4-FFF2-40B4-BE49-F238E27FC236}">
                <a16:creationId xmlns:a16="http://schemas.microsoft.com/office/drawing/2014/main" id="{DC3C3EF5-B830-8704-B7CC-25C6DDD9C49C}"/>
              </a:ext>
            </a:extLst>
          </p:cNvPr>
          <p:cNvSpPr txBox="1"/>
          <p:nvPr/>
        </p:nvSpPr>
        <p:spPr>
          <a:xfrm>
            <a:off x="566198" y="627100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Một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số màn hình sản xuất trên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hệ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thống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19400" y="2113292"/>
            <a:ext cx="3031765" cy="547718"/>
            <a:chOff x="0" y="-28575"/>
            <a:chExt cx="2032782" cy="367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F312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649200" y="2155910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F330</a:t>
              </a:r>
            </a:p>
          </p:txBody>
        </p:sp>
      </p:grp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Tạo ghi chú nguyên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A7D78-EB62-9C7F-0BD2-D7332C09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536" y="2746245"/>
            <a:ext cx="9709609" cy="6283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A871C-117D-D7C2-DCF3-D3080108F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3628"/>
            <a:ext cx="8491532" cy="6779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F312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F312 : Viết ghi chú nguyên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 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F312 :</a:t>
              </a:r>
            </a:p>
            <a:p>
              <a:r>
                <a:rPr lang="en-US" dirty="0"/>
                <a:t> - Ấn vào </a:t>
              </a:r>
              <a:r>
                <a:rPr lang="en-US" dirty="0" err="1"/>
                <a:t>nút</a:t>
              </a:r>
              <a:r>
                <a:rPr lang="en-US" dirty="0"/>
                <a:t> tìm kiếm.</a:t>
              </a:r>
            </a:p>
            <a:p>
              <a:r>
                <a:rPr lang="en-US" dirty="0"/>
                <a:t> - Ấn vào dấu     để thêm dữ liệu.</a:t>
              </a:r>
            </a:p>
            <a:p>
              <a:r>
                <a:rPr lang="en-US" dirty="0"/>
                <a:t> - Khi ấn xong sẽ có 1 dòng dữ liệu được </a:t>
              </a:r>
              <a:r>
                <a:rPr lang="en-US" dirty="0" err="1"/>
                <a:t>bôi</a:t>
              </a:r>
              <a:r>
                <a:rPr lang="en-US" dirty="0"/>
                <a:t> đỏ như hình </a:t>
              </a:r>
              <a:r>
                <a:rPr lang="en-US" dirty="0" err="1"/>
                <a:t>sau</a:t>
              </a:r>
              <a:r>
                <a:rPr lang="en-US" dirty="0"/>
                <a:t> đó chọn và điền đầy đủ thông tin có tiêu đề màu </a:t>
              </a:r>
              <a:r>
                <a:rPr lang="en-US" dirty="0" err="1"/>
                <a:t>đậm</a:t>
              </a:r>
              <a:r>
                <a:rPr lang="en-US" dirty="0"/>
                <a:t> hơn. Bắt </a:t>
              </a:r>
              <a:r>
                <a:rPr lang="en-US" dirty="0" err="1"/>
                <a:t>buộc</a:t>
              </a:r>
              <a:r>
                <a:rPr lang="en-US" dirty="0"/>
                <a:t> phải điền dữ liệu thì </a:t>
              </a:r>
              <a:r>
                <a:rPr lang="en-US" dirty="0" err="1"/>
                <a:t>mới</a:t>
              </a:r>
              <a:r>
                <a:rPr lang="en-US" dirty="0"/>
                <a:t> có thể tùy chọn thêm được tiếp </a:t>
              </a:r>
              <a:r>
                <a:rPr lang="en-US" dirty="0" err="1"/>
                <a:t>theo.</a:t>
              </a:r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067154A-FE2E-60DA-C627-C89C37D3E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598" y="2337480"/>
            <a:ext cx="10439402" cy="7759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11C570-98DE-705D-6CB9-95EB67184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455" y="2968042"/>
            <a:ext cx="190476" cy="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F312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F312 : Viết ghi chú nguyên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 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Khi thêm dữ liệu </a:t>
              </a:r>
              <a:r>
                <a:rPr lang="en-US" dirty="0" err="1"/>
                <a:t>bên</a:t>
              </a:r>
              <a:r>
                <a:rPr lang="en-US" dirty="0"/>
                <a:t> trên xong thì sẽ ấn dấu (+) ô </a:t>
              </a:r>
              <a:r>
                <a:rPr lang="en-US" dirty="0" err="1"/>
                <a:t>bên</a:t>
              </a:r>
              <a:r>
                <a:rPr lang="en-US" dirty="0"/>
                <a:t> dưới để thêm dữ liệu tiếp </a:t>
              </a:r>
              <a:r>
                <a:rPr lang="en-US" dirty="0" err="1"/>
                <a:t>theo.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Cột “Mã nguyên liệu” sẽ được hiển thị </a:t>
              </a:r>
              <a:r>
                <a:rPr lang="en-US" dirty="0" err="1"/>
                <a:t>theo</a:t>
              </a:r>
              <a:r>
                <a:rPr lang="en-US" dirty="0"/>
                <a:t> Code </a:t>
              </a:r>
              <a:r>
                <a:rPr lang="en-US" dirty="0" err="1"/>
                <a:t>giao</a:t>
              </a:r>
              <a:r>
                <a:rPr lang="en-US" dirty="0"/>
                <a:t> dịch </a:t>
              </a:r>
              <a:r>
                <a:rPr lang="en-US" dirty="0" err="1"/>
                <a:t>bên</a:t>
              </a:r>
              <a:r>
                <a:rPr lang="en-US" dirty="0"/>
                <a:t> trên.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Và các ô màu xanh </a:t>
              </a:r>
              <a:r>
                <a:rPr lang="en-US" dirty="0" err="1"/>
                <a:t>đậm</a:t>
              </a:r>
              <a:r>
                <a:rPr lang="en-US" dirty="0"/>
                <a:t> cũng đều bắt </a:t>
              </a:r>
              <a:r>
                <a:rPr lang="en-US" dirty="0" err="1"/>
                <a:t>buộc</a:t>
              </a:r>
              <a:r>
                <a:rPr lang="en-US" dirty="0"/>
                <a:t> phải nhập.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DEA05BD-8C03-939A-6918-306EAF95E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88" y="2337480"/>
            <a:ext cx="10366773" cy="775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F312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F312 : Viết ghi chú nguyên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 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Nhập số lượng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vật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liệu yêu cầu (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RequestQty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-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hoặc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số lượng nguyên liệu thực tế được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đến </a:t>
              </a:r>
              <a:r>
                <a:rPr lang="en-US" sz="1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kho</a:t>
              </a:r>
              <a:r>
                <a:rPr lang="en-US" sz="18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Bấm </a:t>
              </a:r>
              <a:r>
                <a:rPr lang="en-US" sz="1800" dirty="0" err="1">
                  <a:latin typeface="Arial" panose="020B0604020202020204" pitchFamily="34" charset="0"/>
                  <a:cs typeface="Arial" panose="020B0604020202020204" pitchFamily="34" charset="0"/>
                </a:rPr>
                <a:t>biểu</a:t>
              </a: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 tượng Save          để lưu lại thông tin </a:t>
              </a:r>
              <a:r>
                <a:rPr lang="en-US" sz="1800" dirty="0" err="1">
                  <a:latin typeface="Arial" panose="020B0604020202020204" pitchFamily="34" charset="0"/>
                  <a:cs typeface="Arial" panose="020B0604020202020204" pitchFamily="34" charset="0"/>
                </a:rPr>
                <a:t>sau</a:t>
              </a:r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 khi nhập số lượng liệu đến</a:t>
              </a:r>
              <a:r>
                <a:rPr lang="en-US" dirty="0"/>
                <a:t>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2" name="Picture 2" descr="[F310] Vlét ghi chü giao vét lieu - NAIS System &#10;Höp thLr thoai lua chon Thöng tin Chung Quin sin xuät &#10;Thöng tin thuöc tinh quin hing tön kho &#10;Quin chit ILrgng Quin bin hing Quin vit lieu &#10;Vlét ghi chü giao vit lieu &#10;Quin sin phåm Quin thiét bi &#10;Thöng tin cung cäp vit lieu theo tÜng nhå cungcäp Chi dinh nhå cung cäp theo tirngvät lieu nhäp kho vit lieu &#10;SCM Quin nhän sv ReliabilityTestManagement_MENU DashBoard Quin he thöng &#10;Thöng tin tön kho lieu Dl@u chinh sö ILrgng 16 vit lieu &#10;Yäu cäu hoån tri vit lieu &#10;Danh muc vit lieu tön kho Kiém kä vit lieu &#10;Chi dinh vit lieu theo tÜng nhå cung cäp &#10;Thöng tin tiéu chuån &#10;CF310) Viét ghi chü giao vit lieu &#10;nhäp kho vit lieu In abel &#10;Quån nhäp kho vit lieu &#10;MaterialDocNo &#10;chuyän nöi böv lieu gia cöng ngoii v &#10;Quån di chuyén vit lieu &#10;Quån hoån tri vit lieu &#10;Quin di Quin di Hoån tri vit lieu vå in Label &#10;Tinh hinh tön khoan toån Lich sir thu chi vit lieu (vit lieu) &#10;Search &#10;From8asicDate &#10;T08asicDate &#10;SourceCustomerCode &#10;SourceCustomerName &#10;Thöng tin tön kho &#10;Hang muc déc biét &#10;IsCancel CancelUserID CancelDate &#10;O &#10;MaterialDocInfo &#10;MaterialDocNo &#10;1 191112000039 &#10;2 191112000089 &#10;3 191112000090 &#10;191115000073 &#10;O &#10;MaterialDocDetail &#10;OrderDetailNo &#10;MaterialGRDate DocStatusName Code bén giao dich Tén bén giao d Ich &#10;Target M aterialWarehouseCode &#10;TARGET MateriaWarehouseName &#10;Loai hinh mua hing &#10;2019-11-11 &#10;2019-11-11 &#10;2019-11-11 &#10;2019-11-14 &#10;MaterialCode &#10;GBHNAc-034 &#10;Finish GIR &#10;MaterialName &#10;Al Case(odl. &#10;vooll &#10;v0005 &#10;v0008 &#10;vooos &#10;IsVendorLotUse &#10;ROH &#10;ROH &#10;ROH &#10;ROH &#10;VN &#10;VN &#10;WH &#10;WH &#10;WH &#10;WH &#10;M aterialStockAttrib u te &#10;NORMAL &#10;VendorLotNo &#10;MaterialSpec &#10;MaterialTypeName &#10;BasicGrQty &#10;6500.0000 &#10;MateriallJnt &#10;pcs &#10;S5 ILtgng dét hing &#10;dét hing &#10;MaterialOrderRemainQty RequestQty S5 ILtgng noi giao hir &#10;10,ood ">
            <a:extLst>
              <a:ext uri="{FF2B5EF4-FFF2-40B4-BE49-F238E27FC236}">
                <a16:creationId xmlns:a16="http://schemas.microsoft.com/office/drawing/2014/main" id="{0AB9885F-8675-1375-E14E-983F71FA7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221387"/>
            <a:ext cx="10206326" cy="787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16D98B-3E46-63DE-6620-DA8F582B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57500"/>
            <a:ext cx="4191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kho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216" y="-177"/>
            <a:ext cx="18389510" cy="1618715"/>
            <a:chOff x="0" y="-9525"/>
            <a:chExt cx="4810273" cy="6311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69035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F330 : Nhập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và in tem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F330.</a:t>
              </a:r>
            </a:p>
            <a:p>
              <a:r>
                <a:rPr lang="en-US" dirty="0"/>
                <a:t> - Tìm đến tài liệu đã thêm ở </a:t>
              </a:r>
              <a:r>
                <a:rPr lang="en-US" dirty="0" err="1"/>
                <a:t>bên</a:t>
              </a:r>
              <a:r>
                <a:rPr lang="en-US" dirty="0"/>
                <a:t> F312.</a:t>
              </a:r>
            </a:p>
            <a:p>
              <a:r>
                <a:rPr lang="en-US" dirty="0"/>
                <a:t> - Thì cột </a:t>
              </a:r>
              <a:r>
                <a:rPr lang="en-US" dirty="0" err="1"/>
                <a:t>DocStatusName</a:t>
              </a:r>
              <a:r>
                <a:rPr lang="en-US" dirty="0"/>
                <a:t> sẽ là “Create”.</a:t>
              </a:r>
            </a:p>
            <a:p>
              <a:r>
                <a:rPr lang="en-US" dirty="0"/>
                <a:t> - Phải chọn vào bản ghi cần nhập </a:t>
              </a:r>
              <a:r>
                <a:rPr lang="en-US" dirty="0" err="1"/>
                <a:t>kho</a:t>
              </a:r>
              <a:r>
                <a:rPr lang="en-US" dirty="0"/>
                <a:t> ấn “</a:t>
              </a:r>
              <a:r>
                <a:rPr lang="en-US" dirty="0" err="1"/>
                <a:t>Xử</a:t>
              </a:r>
              <a:r>
                <a:rPr lang="en-US" dirty="0"/>
                <a:t> lý </a:t>
              </a:r>
              <a:r>
                <a:rPr lang="en-US" dirty="0" err="1"/>
                <a:t>hàng</a:t>
              </a:r>
              <a:r>
                <a:rPr lang="en-US" dirty="0"/>
                <a:t> nhập về” thì cột đó sẽ chuyển thành “ARRIVAL” lúc này </a:t>
              </a:r>
              <a:r>
                <a:rPr lang="en-US" dirty="0" err="1"/>
                <a:t>mới</a:t>
              </a:r>
              <a:r>
                <a:rPr lang="en-US" dirty="0"/>
                <a:t> tạo được lot.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D6DD26-45F8-3D32-3ED1-1609F87B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89" y="2337478"/>
            <a:ext cx="10433098" cy="775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9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F330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2400" y="2337480"/>
            <a:ext cx="7662536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Muốn chia tem :</a:t>
              </a:r>
            </a:p>
            <a:p>
              <a:r>
                <a:rPr lang="en-US" dirty="0" err="1"/>
                <a:t>PackingQty</a:t>
              </a:r>
              <a:r>
                <a:rPr lang="en-US" dirty="0"/>
                <a:t> : Là số lượng </a:t>
              </a:r>
              <a:r>
                <a:rPr lang="en-US" dirty="0" err="1"/>
                <a:t>nvl</a:t>
              </a:r>
              <a:r>
                <a:rPr lang="en-US" dirty="0"/>
                <a:t> của 1 tem.</a:t>
              </a:r>
            </a:p>
            <a:p>
              <a:r>
                <a:rPr lang="en-US" dirty="0"/>
                <a:t>Số tem  : Số lượng tem muốn chia.</a:t>
              </a:r>
            </a:p>
            <a:p>
              <a:r>
                <a:rPr lang="en-US" dirty="0"/>
                <a:t>  Số tem = </a:t>
              </a:r>
              <a:r>
                <a:rPr lang="en-US" dirty="0" err="1"/>
                <a:t>ReceiveQty</a:t>
              </a:r>
              <a:r>
                <a:rPr lang="en-US" dirty="0"/>
                <a:t> / </a:t>
              </a:r>
              <a:r>
                <a:rPr lang="en-US" dirty="0" err="1"/>
                <a:t>PackingQty</a:t>
              </a:r>
              <a:endParaRPr lang="en-US" dirty="0"/>
            </a:p>
            <a:p>
              <a:r>
                <a:rPr lang="en-US" dirty="0" err="1"/>
                <a:t>ScanQty</a:t>
              </a:r>
              <a:r>
                <a:rPr lang="en-US" dirty="0"/>
                <a:t> : là số lượng </a:t>
              </a:r>
              <a:r>
                <a:rPr lang="en-US" dirty="0" err="1"/>
                <a:t>nvl</a:t>
              </a:r>
              <a:r>
                <a:rPr lang="en-US" dirty="0"/>
                <a:t> đã tạo tem nếu tạo thiếu vẫn có thể tạo tiếp còn bằng </a:t>
              </a:r>
              <a:r>
                <a:rPr lang="en-US" dirty="0" err="1"/>
                <a:t>rồi</a:t>
              </a:r>
              <a:r>
                <a:rPr lang="en-US" dirty="0"/>
                <a:t> sẽ không tạo được nữa.</a:t>
              </a:r>
            </a:p>
            <a:p>
              <a:r>
                <a:rPr lang="en-US" dirty="0" err="1"/>
                <a:t>Rồi</a:t>
              </a:r>
              <a:r>
                <a:rPr lang="en-US" dirty="0"/>
                <a:t> ấn vào </a:t>
              </a:r>
              <a:r>
                <a:rPr lang="en-US" dirty="0" err="1"/>
                <a:t>nút</a:t>
              </a:r>
              <a:r>
                <a:rPr lang="en-US" dirty="0"/>
                <a:t> “Tạo tem”.</a:t>
              </a:r>
            </a:p>
            <a:p>
              <a:endParaRPr lang="en-US" dirty="0"/>
            </a:p>
            <a:p>
              <a:r>
                <a:rPr lang="en-US" dirty="0"/>
                <a:t>Khi tạo được tem sẽ hiển thị như hình thứ 2.</a:t>
              </a:r>
            </a:p>
            <a:p>
              <a:r>
                <a:rPr lang="en-US" dirty="0"/>
                <a:t>Sau đó điền “Số lot no” để </a:t>
              </a:r>
              <a:r>
                <a:rPr lang="en-US" dirty="0" err="1"/>
                <a:t>ra</a:t>
              </a:r>
              <a:r>
                <a:rPr lang="en-US" dirty="0"/>
                <a:t> được </a:t>
              </a:r>
              <a:r>
                <a:rPr lang="en-US" dirty="0" err="1"/>
                <a:t>đặc</a:t>
              </a:r>
              <a:r>
                <a:rPr lang="en-US" dirty="0"/>
                <a:t> tính 10 </a:t>
              </a:r>
              <a:r>
                <a:rPr lang="en-US" dirty="0" err="1"/>
                <a:t>mới</a:t>
              </a:r>
              <a:r>
                <a:rPr lang="en-US" dirty="0"/>
                <a:t> có thể xuất </a:t>
              </a:r>
              <a:r>
                <a:rPr lang="en-US" dirty="0" err="1"/>
                <a:t>ra</a:t>
              </a:r>
              <a:r>
                <a:rPr lang="en-US" dirty="0"/>
                <a:t> sản xuất.</a:t>
              </a:r>
            </a:p>
            <a:p>
              <a:r>
                <a:rPr lang="en-US" dirty="0"/>
                <a:t>Nếu điền “Số lot no” mà không </a:t>
              </a:r>
              <a:r>
                <a:rPr lang="en-US" dirty="0" err="1"/>
                <a:t>ra</a:t>
              </a:r>
              <a:r>
                <a:rPr lang="en-US" dirty="0"/>
                <a:t> “Cột </a:t>
              </a:r>
              <a:r>
                <a:rPr lang="en-US" dirty="0" err="1"/>
                <a:t>đặc</a:t>
              </a:r>
              <a:r>
                <a:rPr lang="en-US" dirty="0"/>
                <a:t> tính 10 ” thì phải báo với EA.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BD284F-1A8C-AFB0-D100-E7699A42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446" y="1659575"/>
            <a:ext cx="10219154" cy="4017325"/>
          </a:xfrm>
          <a:prstGeom prst="rect">
            <a:avLst/>
          </a:prstGeom>
        </p:spPr>
      </p:pic>
      <p:sp>
        <p:nvSpPr>
          <p:cNvPr id="5" name="TextBox 44">
            <a:extLst>
              <a:ext uri="{FF2B5EF4-FFF2-40B4-BE49-F238E27FC236}">
                <a16:creationId xmlns:a16="http://schemas.microsoft.com/office/drawing/2014/main" id="{98D5C108-A399-D041-D633-94B02E7081B1}"/>
              </a:ext>
            </a:extLst>
          </p:cNvPr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F330 : Nhập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và in 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4713F-B563-ED2F-1CD4-F4F2F351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409" y="5676900"/>
            <a:ext cx="10311701" cy="441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2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F721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18237110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F721 : Danh mục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vật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liệu tồn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kho</a:t>
            </a:r>
            <a:endParaRPr lang="en-US" sz="6549" dirty="0">
              <a:solidFill>
                <a:srgbClr val="213343"/>
              </a:solidFill>
              <a:latin typeface="Cabin Semi-Bold"/>
            </a:endParaRP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-26894" y="2262955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Tìm kiếm </a:t>
              </a:r>
              <a:r>
                <a:rPr lang="en-US" dirty="0" err="1"/>
                <a:t>theo</a:t>
              </a:r>
              <a:r>
                <a:rPr lang="en-US" dirty="0"/>
                <a:t> </a:t>
              </a:r>
              <a:r>
                <a:rPr lang="en-US" dirty="0" err="1"/>
                <a:t>kho</a:t>
              </a:r>
              <a:r>
                <a:rPr lang="en-US" dirty="0"/>
                <a:t> </a:t>
              </a:r>
              <a:r>
                <a:rPr lang="en-US" dirty="0" err="1"/>
                <a:t>nvl</a:t>
              </a:r>
              <a:r>
                <a:rPr lang="en-US" dirty="0"/>
                <a:t>. Sẽ hiển thị danh sách tất cả các lot </a:t>
              </a:r>
              <a:r>
                <a:rPr lang="en-US" dirty="0" err="1"/>
                <a:t>nvl</a:t>
              </a:r>
              <a:r>
                <a:rPr lang="en-US" dirty="0"/>
                <a:t> hiện có trong </a:t>
              </a:r>
              <a:r>
                <a:rPr lang="en-US" dirty="0" err="1"/>
                <a:t>kho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Có thể tìm </a:t>
              </a:r>
              <a:r>
                <a:rPr lang="en-US" dirty="0" err="1"/>
                <a:t>theo</a:t>
              </a:r>
              <a:r>
                <a:rPr lang="en-US" dirty="0"/>
                <a:t> mã </a:t>
              </a:r>
              <a:r>
                <a:rPr lang="en-US" dirty="0" err="1"/>
                <a:t>nvl</a:t>
              </a:r>
              <a:r>
                <a:rPr lang="en-US" dirty="0"/>
                <a:t>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04D4CE-2F67-5129-C653-BA81CE75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642" y="1943100"/>
            <a:ext cx="10417468" cy="82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2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Xuất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kho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18237110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F430 : Lịch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sử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Xuất/nhập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kho</a:t>
            </a:r>
            <a:endParaRPr lang="en-US" sz="6549" dirty="0">
              <a:solidFill>
                <a:srgbClr val="213343"/>
              </a:solidFill>
              <a:latin typeface="Cabin Semi-Bold"/>
            </a:endParaRP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41924" y="2183287"/>
            <a:ext cx="6435073" cy="7838683"/>
            <a:chOff x="-10260833" y="-4142102"/>
            <a:chExt cx="4760029" cy="5913614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53623" y="-4142102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F430 </a:t>
              </a:r>
              <a:r>
                <a:rPr lang="en-US" dirty="0" err="1"/>
                <a:t>sau</a:t>
              </a:r>
              <a:r>
                <a:rPr lang="en-US" dirty="0"/>
                <a:t> hiển thị Popup như hình </a:t>
              </a:r>
              <a:r>
                <a:rPr lang="en-US" dirty="0" err="1"/>
                <a:t>sau</a:t>
              </a:r>
              <a:r>
                <a:rPr lang="en-US" dirty="0"/>
                <a:t> đó chọn những dữ liệu </a:t>
              </a:r>
              <a:r>
                <a:rPr lang="en-US" dirty="0" err="1"/>
                <a:t>phù</a:t>
              </a:r>
              <a:r>
                <a:rPr lang="en-US" dirty="0"/>
                <a:t> hợp để xuất </a:t>
              </a:r>
              <a:r>
                <a:rPr lang="en-US" dirty="0" err="1"/>
                <a:t>kho</a:t>
              </a:r>
              <a:r>
                <a:rPr lang="en-US" dirty="0"/>
                <a:t> nguyên liệu.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 Chú ý : Nếu lot nào mà không có “</a:t>
              </a:r>
              <a:r>
                <a:rPr lang="en-US" dirty="0" err="1"/>
                <a:t>đặc</a:t>
              </a:r>
              <a:r>
                <a:rPr lang="en-US" dirty="0"/>
                <a:t> tính 10” ở F330 thì sẽ vào </a:t>
              </a:r>
              <a:r>
                <a:rPr lang="en-US" dirty="0" err="1"/>
                <a:t>kho</a:t>
              </a:r>
              <a:r>
                <a:rPr lang="en-US" dirty="0"/>
                <a:t> holding.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đó ấn </a:t>
              </a:r>
              <a:r>
                <a:rPr lang="en-US" dirty="0" err="1"/>
                <a:t>nút</a:t>
              </a:r>
              <a:r>
                <a:rPr lang="en-US" dirty="0"/>
                <a:t> “Nguyên liệu đầu </a:t>
              </a:r>
              <a:r>
                <a:rPr lang="en-US" dirty="0" err="1"/>
                <a:t>ra</a:t>
              </a:r>
              <a:r>
                <a:rPr lang="en-US" dirty="0"/>
                <a:t>”</a:t>
              </a:r>
            </a:p>
            <a:p>
              <a:r>
                <a:rPr lang="en-US" dirty="0"/>
                <a:t>Sẽ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9ABA8B-8620-31E5-FF13-FB39476AA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819" y="1618714"/>
            <a:ext cx="11731514" cy="84032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78AFCB-094D-F4FC-084D-C6EDE00D2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9" y="5600700"/>
            <a:ext cx="6306915" cy="419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kho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0"/>
            <a:ext cx="18237110" cy="1485900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F430 : Lịch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sử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Xuất/nhập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kho</a:t>
            </a:r>
            <a:endParaRPr lang="en-US" sz="6549" dirty="0">
              <a:solidFill>
                <a:srgbClr val="213343"/>
              </a:solidFill>
              <a:latin typeface="Cabin Semi-Bold"/>
            </a:endParaRP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41924" y="2183287"/>
            <a:ext cx="6435073" cy="7838683"/>
            <a:chOff x="-10260833" y="-4142102"/>
            <a:chExt cx="4760029" cy="5913614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53623" y="-4142102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Vào màn hình F430 </a:t>
              </a:r>
              <a:r>
                <a:rPr lang="en-US" dirty="0" err="1"/>
                <a:t>sau</a:t>
              </a:r>
              <a:r>
                <a:rPr lang="en-US" dirty="0"/>
                <a:t> đó ấn </a:t>
              </a:r>
              <a:r>
                <a:rPr lang="en-US" dirty="0" err="1"/>
                <a:t>nút</a:t>
              </a:r>
              <a:r>
                <a:rPr lang="en-US" dirty="0"/>
                <a:t> “Nguyên liệu đầu vào”</a:t>
              </a:r>
            </a:p>
            <a:p>
              <a:r>
                <a:rPr lang="en-US" dirty="0"/>
                <a:t>Sẽ hiển thị Popup như hình </a:t>
              </a:r>
              <a:r>
                <a:rPr lang="en-US" dirty="0" err="1"/>
                <a:t>sau</a:t>
              </a:r>
              <a:r>
                <a:rPr lang="en-US" dirty="0"/>
                <a:t> đó chọn những dữ liệu </a:t>
              </a:r>
              <a:r>
                <a:rPr lang="en-US" dirty="0" err="1"/>
                <a:t>phù</a:t>
              </a:r>
              <a:r>
                <a:rPr lang="en-US" dirty="0"/>
                <a:t> hợp để nhập </a:t>
              </a:r>
              <a:r>
                <a:rPr lang="en-US" dirty="0" err="1"/>
                <a:t>kho</a:t>
              </a:r>
              <a:r>
                <a:rPr lang="en-US" dirty="0"/>
                <a:t> nguyên liệu.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 Chú ý : chỉ khi nào xuất nhầm line </a:t>
              </a:r>
              <a:r>
                <a:rPr lang="en-US" dirty="0" err="1"/>
                <a:t>mới</a:t>
              </a:r>
              <a:r>
                <a:rPr lang="en-US" dirty="0"/>
                <a:t> vào màn hình này nhập lại. </a:t>
              </a:r>
              <a:r>
                <a:rPr lang="en-US" dirty="0" err="1"/>
                <a:t>Hoặc</a:t>
              </a:r>
              <a:r>
                <a:rPr lang="en-US" dirty="0"/>
                <a:t> xuất 500 xong nhập lại 500 </a:t>
              </a:r>
              <a:r>
                <a:rPr lang="en-US" dirty="0" err="1"/>
                <a:t>mới</a:t>
              </a:r>
              <a:r>
                <a:rPr lang="en-US" dirty="0"/>
                <a:t> dùng màn hình này.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7AB12C5-3CB4-9589-77CD-399441695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044" y="1704173"/>
            <a:ext cx="11676285" cy="831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ED27DE-4107-6810-3B5B-461594149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3900"/>
            <a:ext cx="645931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4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27980" y="1028700"/>
            <a:ext cx="6272041" cy="6272041"/>
          </a:xfrm>
          <a:custGeom>
            <a:avLst/>
            <a:gdLst/>
            <a:ahLst/>
            <a:cxnLst/>
            <a:rect l="l" t="t" r="r" b="b"/>
            <a:pathLst>
              <a:path w="6272041" h="6272041">
                <a:moveTo>
                  <a:pt x="0" y="0"/>
                </a:moveTo>
                <a:lnTo>
                  <a:pt x="6272041" y="0"/>
                </a:lnTo>
                <a:lnTo>
                  <a:pt x="6272041" y="6272041"/>
                </a:lnTo>
                <a:lnTo>
                  <a:pt x="0" y="627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701569" y="1577331"/>
            <a:ext cx="5723432" cy="5723409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t="-3143" b="-468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94906" y="7671402"/>
            <a:ext cx="3809295" cy="895739"/>
            <a:chOff x="0" y="0"/>
            <a:chExt cx="1003271" cy="235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3271" cy="235915"/>
            </a:xfrm>
            <a:custGeom>
              <a:avLst/>
              <a:gdLst/>
              <a:ahLst/>
              <a:cxnLst/>
              <a:rect l="l" t="t" r="r" b="b"/>
              <a:pathLst>
                <a:path w="1003271" h="235915">
                  <a:moveTo>
                    <a:pt x="117957" y="0"/>
                  </a:moveTo>
                  <a:lnTo>
                    <a:pt x="885314" y="0"/>
                  </a:lnTo>
                  <a:cubicBezTo>
                    <a:pt x="950460" y="0"/>
                    <a:pt x="1003271" y="52811"/>
                    <a:pt x="1003271" y="117957"/>
                  </a:cubicBezTo>
                  <a:lnTo>
                    <a:pt x="1003271" y="117957"/>
                  </a:lnTo>
                  <a:cubicBezTo>
                    <a:pt x="1003271" y="149242"/>
                    <a:pt x="990843" y="179245"/>
                    <a:pt x="968722" y="201366"/>
                  </a:cubicBezTo>
                  <a:cubicBezTo>
                    <a:pt x="946601" y="223487"/>
                    <a:pt x="916598" y="235915"/>
                    <a:pt x="885314" y="235915"/>
                  </a:cubicBezTo>
                  <a:lnTo>
                    <a:pt x="117957" y="235915"/>
                  </a:lnTo>
                  <a:cubicBezTo>
                    <a:pt x="52811" y="235915"/>
                    <a:pt x="0" y="183103"/>
                    <a:pt x="0" y="117957"/>
                  </a:cubicBezTo>
                  <a:lnTo>
                    <a:pt x="0" y="117957"/>
                  </a:lnTo>
                  <a:cubicBezTo>
                    <a:pt x="0" y="52811"/>
                    <a:pt x="52811" y="0"/>
                    <a:pt x="117957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003271" cy="23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Cabin Bold"/>
                </a:rPr>
                <a:t>NAM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9628467" y="2215482"/>
            <a:ext cx="1791034" cy="28575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331672" y="1016832"/>
            <a:ext cx="2935893" cy="686398"/>
            <a:chOff x="0" y="0"/>
            <a:chExt cx="773239" cy="1807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3239" cy="180780"/>
            </a:xfrm>
            <a:custGeom>
              <a:avLst/>
              <a:gdLst/>
              <a:ahLst/>
              <a:cxnLst/>
              <a:rect l="l" t="t" r="r" b="b"/>
              <a:pathLst>
                <a:path w="773239" h="180780">
                  <a:moveTo>
                    <a:pt x="90390" y="0"/>
                  </a:moveTo>
                  <a:lnTo>
                    <a:pt x="682850" y="0"/>
                  </a:lnTo>
                  <a:cubicBezTo>
                    <a:pt x="732770" y="0"/>
                    <a:pt x="773239" y="40469"/>
                    <a:pt x="773239" y="90390"/>
                  </a:cubicBezTo>
                  <a:lnTo>
                    <a:pt x="773239" y="90390"/>
                  </a:lnTo>
                  <a:cubicBezTo>
                    <a:pt x="773239" y="140311"/>
                    <a:pt x="732770" y="180780"/>
                    <a:pt x="682850" y="180780"/>
                  </a:cubicBezTo>
                  <a:lnTo>
                    <a:pt x="90390" y="180780"/>
                  </a:lnTo>
                  <a:cubicBezTo>
                    <a:pt x="40469" y="180780"/>
                    <a:pt x="0" y="140311"/>
                    <a:pt x="0" y="90390"/>
                  </a:cubicBezTo>
                  <a:lnTo>
                    <a:pt x="0" y="90390"/>
                  </a:lnTo>
                  <a:cubicBezTo>
                    <a:pt x="0" y="40469"/>
                    <a:pt x="40469" y="0"/>
                    <a:pt x="90390" y="0"/>
                  </a:cubicBezTo>
                  <a:close/>
                </a:path>
              </a:pathLst>
            </a:custGeom>
            <a:solidFill>
              <a:srgbClr val="EEF4F4"/>
            </a:solidFill>
            <a:ln w="38100" cap="rnd">
              <a:solidFill>
                <a:srgbClr val="21334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773239" cy="180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13343"/>
                  </a:solidFill>
                  <a:latin typeface="Muli Semi-Bold"/>
                </a:rPr>
                <a:t>Trưởng nhóm Dự án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5088947" y="7861516"/>
            <a:ext cx="830508" cy="917930"/>
          </a:xfrm>
          <a:custGeom>
            <a:avLst/>
            <a:gdLst/>
            <a:ahLst/>
            <a:cxnLst/>
            <a:rect l="l" t="t" r="r" b="b"/>
            <a:pathLst>
              <a:path w="830508" h="917930">
                <a:moveTo>
                  <a:pt x="0" y="0"/>
                </a:moveTo>
                <a:lnTo>
                  <a:pt x="830508" y="0"/>
                </a:lnTo>
                <a:lnTo>
                  <a:pt x="830508" y="917930"/>
                </a:lnTo>
                <a:lnTo>
                  <a:pt x="0" y="917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493997" y="4304511"/>
            <a:ext cx="5984662" cy="7114011"/>
          </a:xfrm>
          <a:custGeom>
            <a:avLst/>
            <a:gdLst/>
            <a:ahLst/>
            <a:cxnLst/>
            <a:rect l="l" t="t" r="r" b="b"/>
            <a:pathLst>
              <a:path w="5984662" h="7114011">
                <a:moveTo>
                  <a:pt x="0" y="0"/>
                </a:moveTo>
                <a:lnTo>
                  <a:pt x="5984662" y="0"/>
                </a:lnTo>
                <a:lnTo>
                  <a:pt x="5984662" y="7114010"/>
                </a:lnTo>
                <a:lnTo>
                  <a:pt x="0" y="7114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flipH="1">
            <a:off x="15088947" y="1269452"/>
            <a:ext cx="2143498" cy="2192057"/>
          </a:xfrm>
          <a:custGeom>
            <a:avLst/>
            <a:gdLst/>
            <a:ahLst/>
            <a:cxnLst/>
            <a:rect l="l" t="t" r="r" b="b"/>
            <a:pathLst>
              <a:path w="2143498" h="2192057">
                <a:moveTo>
                  <a:pt x="2143498" y="0"/>
                </a:moveTo>
                <a:lnTo>
                  <a:pt x="0" y="0"/>
                </a:lnTo>
                <a:lnTo>
                  <a:pt x="0" y="2192056"/>
                </a:lnTo>
                <a:lnTo>
                  <a:pt x="2143498" y="2192056"/>
                </a:lnTo>
                <a:lnTo>
                  <a:pt x="2143498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82325" y="3100778"/>
            <a:ext cx="7054266" cy="4085519"/>
            <a:chOff x="0" y="0"/>
            <a:chExt cx="9405689" cy="544735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525"/>
              <a:ext cx="9405689" cy="170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>
                  <a:solidFill>
                    <a:srgbClr val="213343"/>
                  </a:solidFill>
                  <a:latin typeface="Cabin Semi-Bold"/>
                </a:rPr>
                <a:t>Giới thiệu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523583"/>
              <a:ext cx="5810519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213343"/>
                  </a:solidFill>
                  <a:latin typeface="Cabin Bold"/>
                </a:rPr>
                <a:t>CÁC NHÓM THAM GIA: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664278"/>
              <a:ext cx="5810519" cy="1783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Các bên liên quan</a:t>
              </a:r>
            </a:p>
            <a:p>
              <a:pPr marL="518160" lvl="1" indent="-259080" algn="l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Nhóm Sản xuất</a:t>
              </a:r>
            </a:p>
            <a:p>
              <a:pPr marL="518160" lvl="1" indent="-259080" algn="l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Nhóm Tiếp thị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6487628" y="5303997"/>
            <a:ext cx="2146647" cy="2815274"/>
          </a:xfrm>
          <a:custGeom>
            <a:avLst/>
            <a:gdLst/>
            <a:ahLst/>
            <a:cxnLst/>
            <a:rect l="l" t="t" r="r" b="b"/>
            <a:pathLst>
              <a:path w="2146647" h="2815274">
                <a:moveTo>
                  <a:pt x="0" y="0"/>
                </a:moveTo>
                <a:lnTo>
                  <a:pt x="2146647" y="0"/>
                </a:lnTo>
                <a:lnTo>
                  <a:pt x="2146647" y="2815274"/>
                </a:lnTo>
                <a:lnTo>
                  <a:pt x="0" y="28152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174673"/>
            <a:chOff x="0" y="0"/>
            <a:chExt cx="4816593" cy="836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36128"/>
            </a:xfrm>
            <a:custGeom>
              <a:avLst/>
              <a:gdLst/>
              <a:ahLst/>
              <a:cxnLst/>
              <a:rect l="l" t="t" r="r" b="b"/>
              <a:pathLst>
                <a:path w="4816592" h="836128">
                  <a:moveTo>
                    <a:pt x="0" y="0"/>
                  </a:moveTo>
                  <a:lnTo>
                    <a:pt x="4816592" y="0"/>
                  </a:lnTo>
                  <a:lnTo>
                    <a:pt x="4816592" y="836128"/>
                  </a:lnTo>
                  <a:lnTo>
                    <a:pt x="0" y="8361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84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628486"/>
            <a:ext cx="5059131" cy="19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Trang</a:t>
            </a:r>
          </a:p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Tài nguyên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83369" y="835333"/>
            <a:ext cx="9780852" cy="157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213343"/>
                </a:solidFill>
                <a:latin typeface="Muli"/>
              </a:rPr>
              <a:t>Sử dụng các nguồn tài nguyên thiết kế bảng trắng này trong bản thuyết trình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213343"/>
                </a:solidFill>
                <a:latin typeface="Muli"/>
              </a:rPr>
              <a:t>Canva của bạn. Để truy cập thêm các thành phần này, nhấp chuột phải và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213343"/>
                </a:solidFill>
                <a:latin typeface="Muli"/>
              </a:rPr>
              <a:t>mở rộng bất kỳ trang nào thành bảng trắng rồi xem thẻ thành phần. Thiết kế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213343"/>
                </a:solidFill>
                <a:latin typeface="Muli"/>
              </a:rPr>
              <a:t>vui vẻ! </a:t>
            </a:r>
            <a:r>
              <a:rPr lang="en-US" sz="2100">
                <a:solidFill>
                  <a:srgbClr val="213343"/>
                </a:solidFill>
                <a:latin typeface="Muli Semi-Bold"/>
              </a:rPr>
              <a:t>Xoá hoặc</a:t>
            </a:r>
            <a:r>
              <a:rPr lang="en-US" sz="2100">
                <a:solidFill>
                  <a:srgbClr val="213343"/>
                </a:solidFill>
                <a:latin typeface="Muli"/>
              </a:rPr>
              <a:t> </a:t>
            </a:r>
            <a:r>
              <a:rPr lang="en-US" sz="2100">
                <a:solidFill>
                  <a:srgbClr val="213343"/>
                </a:solidFill>
                <a:latin typeface="Muli Semi-Bold"/>
              </a:rPr>
              <a:t>giấu trang này trước khi trình bày.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009900" y="3736648"/>
            <a:ext cx="1828800" cy="1828800"/>
            <a:chOff x="0" y="0"/>
            <a:chExt cx="3251200" cy="325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FF77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3736648"/>
            <a:ext cx="1828800" cy="1828800"/>
            <a:chOff x="0" y="0"/>
            <a:chExt cx="3251200" cy="325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91100" y="3736648"/>
            <a:ext cx="1828800" cy="1828800"/>
            <a:chOff x="0" y="0"/>
            <a:chExt cx="3251200" cy="325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2ACB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5717848"/>
            <a:ext cx="1828800" cy="1828800"/>
            <a:chOff x="0" y="0"/>
            <a:chExt cx="3251200" cy="325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09900" y="5717848"/>
            <a:ext cx="1828800" cy="1828800"/>
            <a:chOff x="0" y="0"/>
            <a:chExt cx="3251200" cy="325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91100" y="5717848"/>
            <a:ext cx="1828800" cy="1828800"/>
            <a:chOff x="0" y="0"/>
            <a:chExt cx="3251200" cy="3251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FF77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7699048"/>
            <a:ext cx="1828800" cy="1828800"/>
            <a:chOff x="0" y="0"/>
            <a:chExt cx="3251200" cy="3251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2ACB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009900" y="7699048"/>
            <a:ext cx="1828800" cy="1828800"/>
            <a:chOff x="0" y="0"/>
            <a:chExt cx="3251200" cy="3251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3251200" y="25400"/>
                  </a:moveTo>
                  <a:cubicBezTo>
                    <a:pt x="3251200" y="11372"/>
                    <a:pt x="3239833" y="0"/>
                    <a:pt x="3225800" y="0"/>
                  </a:cubicBez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3225800"/>
                  </a:lnTo>
                  <a:cubicBezTo>
                    <a:pt x="0" y="3239833"/>
                    <a:pt x="11372" y="3251200"/>
                    <a:pt x="25400" y="3251200"/>
                  </a:cubicBezTo>
                  <a:lnTo>
                    <a:pt x="3225800" y="3251200"/>
                  </a:lnTo>
                  <a:cubicBezTo>
                    <a:pt x="3239833" y="3251200"/>
                    <a:pt x="3251200" y="3239833"/>
                    <a:pt x="3251200" y="3225800"/>
                  </a:cubicBezTo>
                  <a:lnTo>
                    <a:pt x="3251200" y="25400"/>
                  </a:ln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400" y="244475"/>
              <a:ext cx="2946400" cy="2752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AutoShape 31"/>
          <p:cNvSpPr/>
          <p:nvPr/>
        </p:nvSpPr>
        <p:spPr>
          <a:xfrm>
            <a:off x="7711470" y="3813999"/>
            <a:ext cx="3365261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7745631" y="4406092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7745631" y="4998186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7745631" y="5590279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7745631" y="6182372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7745631" y="6774465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7745631" y="7366558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7745631" y="7958651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9640945" y="4408814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ysDot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9640945" y="5003628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9640945" y="5598443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9640945" y="6193258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9640945" y="6788072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>
            <a:off x="9640945" y="7382887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45"/>
          <p:cNvSpPr/>
          <p:nvPr/>
        </p:nvSpPr>
        <p:spPr>
          <a:xfrm>
            <a:off x="9640945" y="7977701"/>
            <a:ext cx="1435787" cy="0"/>
          </a:xfrm>
          <a:prstGeom prst="line">
            <a:avLst/>
          </a:prstGeom>
          <a:ln w="19050" cap="flat">
            <a:solidFill>
              <a:srgbClr val="213343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12342822" y="3810162"/>
            <a:ext cx="2181614" cy="1185306"/>
            <a:chOff x="0" y="0"/>
            <a:chExt cx="928934" cy="50470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28934" cy="504705"/>
            </a:xfrm>
            <a:custGeom>
              <a:avLst/>
              <a:gdLst/>
              <a:ahLst/>
              <a:cxnLst/>
              <a:rect l="l" t="t" r="r" b="b"/>
              <a:pathLst>
                <a:path w="928934" h="504705">
                  <a:moveTo>
                    <a:pt x="464467" y="0"/>
                  </a:moveTo>
                  <a:cubicBezTo>
                    <a:pt x="207949" y="0"/>
                    <a:pt x="0" y="112982"/>
                    <a:pt x="0" y="252352"/>
                  </a:cubicBezTo>
                  <a:cubicBezTo>
                    <a:pt x="0" y="391723"/>
                    <a:pt x="207949" y="504705"/>
                    <a:pt x="464467" y="504705"/>
                  </a:cubicBezTo>
                  <a:cubicBezTo>
                    <a:pt x="720985" y="504705"/>
                    <a:pt x="928934" y="391723"/>
                    <a:pt x="928934" y="252352"/>
                  </a:cubicBezTo>
                  <a:cubicBezTo>
                    <a:pt x="928934" y="112982"/>
                    <a:pt x="720985" y="0"/>
                    <a:pt x="464467" y="0"/>
                  </a:cubicBezTo>
                  <a:lnTo>
                    <a:pt x="464467" y="0"/>
                  </a:ln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088" y="56841"/>
              <a:ext cx="754759" cy="400548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893156" y="6895694"/>
            <a:ext cx="1912070" cy="1056229"/>
            <a:chOff x="0" y="0"/>
            <a:chExt cx="2005401" cy="110778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05401" cy="1107786"/>
            </a:xfrm>
            <a:custGeom>
              <a:avLst/>
              <a:gdLst/>
              <a:ahLst/>
              <a:cxnLst/>
              <a:rect l="l" t="t" r="r" b="b"/>
              <a:pathLst>
                <a:path w="2005401" h="1107786">
                  <a:moveTo>
                    <a:pt x="0" y="0"/>
                  </a:moveTo>
                  <a:lnTo>
                    <a:pt x="2005401" y="0"/>
                  </a:lnTo>
                  <a:lnTo>
                    <a:pt x="2005401" y="1107786"/>
                  </a:lnTo>
                  <a:lnTo>
                    <a:pt x="0" y="1107786"/>
                  </a:lnTo>
                  <a:close/>
                </a:path>
              </a:pathLst>
            </a:custGeom>
            <a:solidFill>
              <a:srgbClr val="2ACB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2005401" cy="109826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342822" y="5242548"/>
            <a:ext cx="2316265" cy="1457404"/>
            <a:chOff x="0" y="0"/>
            <a:chExt cx="812800" cy="51141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511417"/>
            </a:xfrm>
            <a:custGeom>
              <a:avLst/>
              <a:gdLst/>
              <a:ahLst/>
              <a:cxnLst/>
              <a:rect l="l" t="t" r="r" b="b"/>
              <a:pathLst>
                <a:path w="812800" h="511417">
                  <a:moveTo>
                    <a:pt x="406400" y="0"/>
                  </a:moveTo>
                  <a:lnTo>
                    <a:pt x="812800" y="255709"/>
                  </a:lnTo>
                  <a:lnTo>
                    <a:pt x="406400" y="511417"/>
                  </a:lnTo>
                  <a:lnTo>
                    <a:pt x="0" y="2557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ACB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9700" y="97425"/>
              <a:ext cx="533400" cy="326093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286450" y="6939572"/>
            <a:ext cx="2294358" cy="1057179"/>
            <a:chOff x="0" y="0"/>
            <a:chExt cx="834932" cy="38471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34932" cy="384714"/>
            </a:xfrm>
            <a:custGeom>
              <a:avLst/>
              <a:gdLst/>
              <a:ahLst/>
              <a:cxnLst/>
              <a:rect l="l" t="t" r="r" b="b"/>
              <a:pathLst>
                <a:path w="834932" h="384714">
                  <a:moveTo>
                    <a:pt x="203200" y="0"/>
                  </a:moveTo>
                  <a:lnTo>
                    <a:pt x="834932" y="0"/>
                  </a:lnTo>
                  <a:lnTo>
                    <a:pt x="631732" y="384714"/>
                  </a:lnTo>
                  <a:lnTo>
                    <a:pt x="0" y="38471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77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600" y="9525"/>
              <a:ext cx="631732" cy="37518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123670" y="5242548"/>
            <a:ext cx="1451042" cy="1451042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890169" y="3736648"/>
            <a:ext cx="1771464" cy="1283462"/>
            <a:chOff x="0" y="0"/>
            <a:chExt cx="644647" cy="4670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44647" cy="467060"/>
            </a:xfrm>
            <a:custGeom>
              <a:avLst/>
              <a:gdLst/>
              <a:ahLst/>
              <a:cxnLst/>
              <a:rect l="l" t="t" r="r" b="b"/>
              <a:pathLst>
                <a:path w="644647" h="467060">
                  <a:moveTo>
                    <a:pt x="441447" y="0"/>
                  </a:moveTo>
                  <a:lnTo>
                    <a:pt x="203200" y="0"/>
                  </a:lnTo>
                  <a:lnTo>
                    <a:pt x="0" y="233530"/>
                  </a:lnTo>
                  <a:lnTo>
                    <a:pt x="203200" y="467060"/>
                  </a:lnTo>
                  <a:lnTo>
                    <a:pt x="441447" y="467060"/>
                  </a:lnTo>
                  <a:lnTo>
                    <a:pt x="644647" y="233530"/>
                  </a:lnTo>
                  <a:lnTo>
                    <a:pt x="441447" y="0"/>
                  </a:ln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52400" y="9525"/>
              <a:ext cx="339847" cy="457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sp>
        <p:nvSpPr>
          <p:cNvPr id="64" name="Freeform 64"/>
          <p:cNvSpPr/>
          <p:nvPr/>
        </p:nvSpPr>
        <p:spPr>
          <a:xfrm>
            <a:off x="7683369" y="8742518"/>
            <a:ext cx="818051" cy="785329"/>
          </a:xfrm>
          <a:custGeom>
            <a:avLst/>
            <a:gdLst/>
            <a:ahLst/>
            <a:cxnLst/>
            <a:rect l="l" t="t" r="r" b="b"/>
            <a:pathLst>
              <a:path w="818051" h="785329">
                <a:moveTo>
                  <a:pt x="0" y="0"/>
                </a:moveTo>
                <a:lnTo>
                  <a:pt x="818051" y="0"/>
                </a:lnTo>
                <a:lnTo>
                  <a:pt x="818051" y="785330"/>
                </a:lnTo>
                <a:lnTo>
                  <a:pt x="0" y="785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8566129" y="8804244"/>
            <a:ext cx="818051" cy="661878"/>
          </a:xfrm>
          <a:custGeom>
            <a:avLst/>
            <a:gdLst/>
            <a:ahLst/>
            <a:cxnLst/>
            <a:rect l="l" t="t" r="r" b="b"/>
            <a:pathLst>
              <a:path w="818051" h="661878">
                <a:moveTo>
                  <a:pt x="0" y="0"/>
                </a:moveTo>
                <a:lnTo>
                  <a:pt x="818051" y="0"/>
                </a:lnTo>
                <a:lnTo>
                  <a:pt x="818051" y="661878"/>
                </a:lnTo>
                <a:lnTo>
                  <a:pt x="0" y="661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9427852" y="8705237"/>
            <a:ext cx="818051" cy="786817"/>
          </a:xfrm>
          <a:custGeom>
            <a:avLst/>
            <a:gdLst/>
            <a:ahLst/>
            <a:cxnLst/>
            <a:rect l="l" t="t" r="r" b="b"/>
            <a:pathLst>
              <a:path w="818051" h="786817">
                <a:moveTo>
                  <a:pt x="0" y="0"/>
                </a:moveTo>
                <a:lnTo>
                  <a:pt x="818051" y="0"/>
                </a:lnTo>
                <a:lnTo>
                  <a:pt x="818051" y="786817"/>
                </a:lnTo>
                <a:lnTo>
                  <a:pt x="0" y="786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7" name="Freeform 67"/>
          <p:cNvSpPr/>
          <p:nvPr/>
        </p:nvSpPr>
        <p:spPr>
          <a:xfrm>
            <a:off x="10328987" y="8804244"/>
            <a:ext cx="818051" cy="651466"/>
          </a:xfrm>
          <a:custGeom>
            <a:avLst/>
            <a:gdLst/>
            <a:ahLst/>
            <a:cxnLst/>
            <a:rect l="l" t="t" r="r" b="b"/>
            <a:pathLst>
              <a:path w="818051" h="651466">
                <a:moveTo>
                  <a:pt x="0" y="0"/>
                </a:moveTo>
                <a:lnTo>
                  <a:pt x="818051" y="0"/>
                </a:lnTo>
                <a:lnTo>
                  <a:pt x="818051" y="651466"/>
                </a:lnTo>
                <a:lnTo>
                  <a:pt x="0" y="6514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8" name="Freeform 68"/>
          <p:cNvSpPr/>
          <p:nvPr/>
        </p:nvSpPr>
        <p:spPr>
          <a:xfrm>
            <a:off x="11274858" y="8769291"/>
            <a:ext cx="818051" cy="731784"/>
          </a:xfrm>
          <a:custGeom>
            <a:avLst/>
            <a:gdLst/>
            <a:ahLst/>
            <a:cxnLst/>
            <a:rect l="l" t="t" r="r" b="b"/>
            <a:pathLst>
              <a:path w="818051" h="731784">
                <a:moveTo>
                  <a:pt x="0" y="0"/>
                </a:moveTo>
                <a:lnTo>
                  <a:pt x="818052" y="0"/>
                </a:lnTo>
                <a:lnTo>
                  <a:pt x="818052" y="731784"/>
                </a:lnTo>
                <a:lnTo>
                  <a:pt x="0" y="731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12220730" y="8729132"/>
            <a:ext cx="818051" cy="798715"/>
          </a:xfrm>
          <a:custGeom>
            <a:avLst/>
            <a:gdLst/>
            <a:ahLst/>
            <a:cxnLst/>
            <a:rect l="l" t="t" r="r" b="b"/>
            <a:pathLst>
              <a:path w="818051" h="798715">
                <a:moveTo>
                  <a:pt x="0" y="0"/>
                </a:moveTo>
                <a:lnTo>
                  <a:pt x="818051" y="0"/>
                </a:lnTo>
                <a:lnTo>
                  <a:pt x="818051" y="798716"/>
                </a:lnTo>
                <a:lnTo>
                  <a:pt x="0" y="7987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13234773" y="8705237"/>
            <a:ext cx="818051" cy="786817"/>
          </a:xfrm>
          <a:custGeom>
            <a:avLst/>
            <a:gdLst/>
            <a:ahLst/>
            <a:cxnLst/>
            <a:rect l="l" t="t" r="r" b="b"/>
            <a:pathLst>
              <a:path w="818051" h="786817">
                <a:moveTo>
                  <a:pt x="0" y="0"/>
                </a:moveTo>
                <a:lnTo>
                  <a:pt x="818051" y="0"/>
                </a:lnTo>
                <a:lnTo>
                  <a:pt x="818051" y="786817"/>
                </a:lnTo>
                <a:lnTo>
                  <a:pt x="0" y="7868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14095431" y="8712674"/>
            <a:ext cx="818051" cy="779380"/>
          </a:xfrm>
          <a:custGeom>
            <a:avLst/>
            <a:gdLst/>
            <a:ahLst/>
            <a:cxnLst/>
            <a:rect l="l" t="t" r="r" b="b"/>
            <a:pathLst>
              <a:path w="818051" h="779380">
                <a:moveTo>
                  <a:pt x="0" y="0"/>
                </a:moveTo>
                <a:lnTo>
                  <a:pt x="818051" y="0"/>
                </a:lnTo>
                <a:lnTo>
                  <a:pt x="818051" y="779380"/>
                </a:lnTo>
                <a:lnTo>
                  <a:pt x="0" y="7793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2" name="Freeform 72"/>
          <p:cNvSpPr/>
          <p:nvPr/>
        </p:nvSpPr>
        <p:spPr>
          <a:xfrm>
            <a:off x="15041303" y="8705237"/>
            <a:ext cx="818051" cy="786817"/>
          </a:xfrm>
          <a:custGeom>
            <a:avLst/>
            <a:gdLst/>
            <a:ahLst/>
            <a:cxnLst/>
            <a:rect l="l" t="t" r="r" b="b"/>
            <a:pathLst>
              <a:path w="818051" h="786817">
                <a:moveTo>
                  <a:pt x="0" y="0"/>
                </a:moveTo>
                <a:lnTo>
                  <a:pt x="818051" y="0"/>
                </a:lnTo>
                <a:lnTo>
                  <a:pt x="818051" y="786817"/>
                </a:lnTo>
                <a:lnTo>
                  <a:pt x="0" y="78681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15987175" y="8693338"/>
            <a:ext cx="818051" cy="798715"/>
          </a:xfrm>
          <a:custGeom>
            <a:avLst/>
            <a:gdLst/>
            <a:ahLst/>
            <a:cxnLst/>
            <a:rect l="l" t="t" r="r" b="b"/>
            <a:pathLst>
              <a:path w="818051" h="798715">
                <a:moveTo>
                  <a:pt x="0" y="0"/>
                </a:moveTo>
                <a:lnTo>
                  <a:pt x="818051" y="0"/>
                </a:lnTo>
                <a:lnTo>
                  <a:pt x="818051" y="798716"/>
                </a:lnTo>
                <a:lnTo>
                  <a:pt x="0" y="7987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31138"/>
            <a:chOff x="0" y="0"/>
            <a:chExt cx="4816593" cy="271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1575"/>
            </a:xfrm>
            <a:custGeom>
              <a:avLst/>
              <a:gdLst/>
              <a:ahLst/>
              <a:cxnLst/>
              <a:rect l="l" t="t" r="r" b="b"/>
              <a:pathLst>
                <a:path w="4816592" h="271575">
                  <a:moveTo>
                    <a:pt x="0" y="0"/>
                  </a:moveTo>
                  <a:lnTo>
                    <a:pt x="4816592" y="0"/>
                  </a:lnTo>
                  <a:lnTo>
                    <a:pt x="4816592" y="271575"/>
                  </a:lnTo>
                  <a:lnTo>
                    <a:pt x="0" y="271575"/>
                  </a:lnTo>
                  <a:close/>
                </a:path>
              </a:pathLst>
            </a:custGeom>
            <a:solidFill>
              <a:srgbClr val="277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2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14469" y="1549395"/>
            <a:ext cx="3819158" cy="3714131"/>
          </a:xfrm>
          <a:custGeom>
            <a:avLst/>
            <a:gdLst/>
            <a:ahLst/>
            <a:cxnLst/>
            <a:rect l="l" t="t" r="r" b="b"/>
            <a:pathLst>
              <a:path w="3819158" h="3714131">
                <a:moveTo>
                  <a:pt x="0" y="0"/>
                </a:moveTo>
                <a:lnTo>
                  <a:pt x="3819158" y="0"/>
                </a:lnTo>
                <a:lnTo>
                  <a:pt x="3819158" y="3714131"/>
                </a:lnTo>
                <a:lnTo>
                  <a:pt x="0" y="3714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97166" y="1307689"/>
            <a:ext cx="1564215" cy="1594105"/>
          </a:xfrm>
          <a:custGeom>
            <a:avLst/>
            <a:gdLst/>
            <a:ahLst/>
            <a:cxnLst/>
            <a:rect l="l" t="t" r="r" b="b"/>
            <a:pathLst>
              <a:path w="1564215" h="1594105">
                <a:moveTo>
                  <a:pt x="0" y="0"/>
                </a:moveTo>
                <a:lnTo>
                  <a:pt x="1564215" y="0"/>
                </a:lnTo>
                <a:lnTo>
                  <a:pt x="1564215" y="1594104"/>
                </a:lnTo>
                <a:lnTo>
                  <a:pt x="0" y="1594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330583" y="4191430"/>
            <a:ext cx="7897382" cy="5961191"/>
            <a:chOff x="0" y="0"/>
            <a:chExt cx="10529842" cy="7948254"/>
          </a:xfrm>
        </p:grpSpPr>
        <p:sp>
          <p:nvSpPr>
            <p:cNvPr id="8" name="Freeform 8"/>
            <p:cNvSpPr/>
            <p:nvPr/>
          </p:nvSpPr>
          <p:spPr>
            <a:xfrm rot="1285143">
              <a:off x="-22445" y="4205183"/>
              <a:ext cx="10574732" cy="1877015"/>
            </a:xfrm>
            <a:custGeom>
              <a:avLst/>
              <a:gdLst/>
              <a:ahLst/>
              <a:cxnLst/>
              <a:rect l="l" t="t" r="r" b="b"/>
              <a:pathLst>
                <a:path w="10574732" h="1877015">
                  <a:moveTo>
                    <a:pt x="0" y="0"/>
                  </a:moveTo>
                  <a:lnTo>
                    <a:pt x="10574732" y="0"/>
                  </a:lnTo>
                  <a:lnTo>
                    <a:pt x="10574732" y="1877015"/>
                  </a:lnTo>
                  <a:lnTo>
                    <a:pt x="0" y="187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431952" y="0"/>
              <a:ext cx="8216879" cy="7261667"/>
            </a:xfrm>
            <a:custGeom>
              <a:avLst/>
              <a:gdLst/>
              <a:ahLst/>
              <a:cxnLst/>
              <a:rect l="l" t="t" r="r" b="b"/>
              <a:pathLst>
                <a:path w="8216879" h="7261667">
                  <a:moveTo>
                    <a:pt x="0" y="0"/>
                  </a:moveTo>
                  <a:lnTo>
                    <a:pt x="8216879" y="0"/>
                  </a:lnTo>
                  <a:lnTo>
                    <a:pt x="8216879" y="7261667"/>
                  </a:lnTo>
                  <a:lnTo>
                    <a:pt x="0" y="7261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16662" y="6361502"/>
            <a:ext cx="2393629" cy="1612708"/>
          </a:xfrm>
          <a:custGeom>
            <a:avLst/>
            <a:gdLst/>
            <a:ahLst/>
            <a:cxnLst/>
            <a:rect l="l" t="t" r="r" b="b"/>
            <a:pathLst>
              <a:path w="2393629" h="1612708">
                <a:moveTo>
                  <a:pt x="0" y="0"/>
                </a:moveTo>
                <a:lnTo>
                  <a:pt x="2393629" y="0"/>
                </a:lnTo>
                <a:lnTo>
                  <a:pt x="2393629" y="1612707"/>
                </a:lnTo>
                <a:lnTo>
                  <a:pt x="0" y="1612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782300" y="1714559"/>
            <a:ext cx="6477000" cy="5577796"/>
            <a:chOff x="0" y="0"/>
            <a:chExt cx="8636000" cy="743706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525"/>
              <a:ext cx="8636000" cy="341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>
                  <a:solidFill>
                    <a:srgbClr val="213343"/>
                  </a:solidFill>
                  <a:latin typeface="Cabin Semi-Bold"/>
                </a:rPr>
                <a:t>Khởi động</a:t>
              </a:r>
            </a:p>
            <a:p>
              <a:pPr algn="l">
                <a:lnSpc>
                  <a:spcPts val="10199"/>
                </a:lnSpc>
              </a:pPr>
              <a:r>
                <a:rPr lang="en-US" sz="8499">
                  <a:solidFill>
                    <a:srgbClr val="213343"/>
                  </a:solidFill>
                  <a:latin typeface="Cabin Semi-Bold"/>
                </a:rPr>
                <a:t>Dự án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25181"/>
              <a:ext cx="8636000" cy="3611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Hôm nay, chúng ta sẽ sử dụng một biểu đồ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để xem các mục tiêu cho dự án.</a:t>
              </a:r>
            </a:p>
            <a:p>
              <a:pPr algn="l">
                <a:lnSpc>
                  <a:spcPts val="3600"/>
                </a:lnSpc>
              </a:pPr>
              <a:endParaRPr lang="en-US" sz="2400">
                <a:solidFill>
                  <a:srgbClr val="213343"/>
                </a:solidFill>
                <a:latin typeface="Muli"/>
              </a:endParaRP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Chúng ta sẽ chia nhỏ các mục tiêu thành các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bước cần thiết để chúng ta có thể đạt được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3343"/>
                  </a:solidFill>
                  <a:latin typeface="Muli"/>
                </a:rPr>
                <a:t>chúng trước thời hạn dự kiến.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91277" y="9637680"/>
            <a:ext cx="3269675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80"/>
              </a:lnSpc>
              <a:spcBef>
                <a:spcPct val="0"/>
              </a:spcBef>
            </a:pPr>
            <a:r>
              <a:rPr lang="en-US" sz="1600" u="sng">
                <a:solidFill>
                  <a:srgbClr val="FFFFFF"/>
                </a:solidFill>
                <a:latin typeface="Muli"/>
              </a:rPr>
              <a:t>Quay lại Trang Chương trình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174673"/>
            <a:chOff x="0" y="0"/>
            <a:chExt cx="4816593" cy="836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36128"/>
            </a:xfrm>
            <a:custGeom>
              <a:avLst/>
              <a:gdLst/>
              <a:ahLst/>
              <a:cxnLst/>
              <a:rect l="l" t="t" r="r" b="b"/>
              <a:pathLst>
                <a:path w="4816592" h="836128">
                  <a:moveTo>
                    <a:pt x="0" y="0"/>
                  </a:moveTo>
                  <a:lnTo>
                    <a:pt x="4816592" y="0"/>
                  </a:lnTo>
                  <a:lnTo>
                    <a:pt x="4816592" y="836128"/>
                  </a:lnTo>
                  <a:lnTo>
                    <a:pt x="0" y="836128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84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78595" y="6325054"/>
            <a:ext cx="1095055" cy="892470"/>
          </a:xfrm>
          <a:custGeom>
            <a:avLst/>
            <a:gdLst/>
            <a:ahLst/>
            <a:cxnLst/>
            <a:rect l="l" t="t" r="r" b="b"/>
            <a:pathLst>
              <a:path w="1095055" h="892470">
                <a:moveTo>
                  <a:pt x="0" y="0"/>
                </a:moveTo>
                <a:lnTo>
                  <a:pt x="1095055" y="0"/>
                </a:lnTo>
                <a:lnTo>
                  <a:pt x="1095055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94427" y="6325054"/>
            <a:ext cx="866811" cy="892470"/>
          </a:xfrm>
          <a:custGeom>
            <a:avLst/>
            <a:gdLst/>
            <a:ahLst/>
            <a:cxnLst/>
            <a:rect l="l" t="t" r="r" b="b"/>
            <a:pathLst>
              <a:path w="866811" h="892470">
                <a:moveTo>
                  <a:pt x="0" y="0"/>
                </a:moveTo>
                <a:lnTo>
                  <a:pt x="866812" y="0"/>
                </a:lnTo>
                <a:lnTo>
                  <a:pt x="86681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15695" y="6325054"/>
            <a:ext cx="699473" cy="892470"/>
          </a:xfrm>
          <a:custGeom>
            <a:avLst/>
            <a:gdLst/>
            <a:ahLst/>
            <a:cxnLst/>
            <a:rect l="l" t="t" r="r" b="b"/>
            <a:pathLst>
              <a:path w="699473" h="892470">
                <a:moveTo>
                  <a:pt x="0" y="0"/>
                </a:moveTo>
                <a:lnTo>
                  <a:pt x="699474" y="0"/>
                </a:lnTo>
                <a:lnTo>
                  <a:pt x="699474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8119104"/>
            <a:ext cx="786019" cy="1044543"/>
          </a:xfrm>
          <a:custGeom>
            <a:avLst/>
            <a:gdLst/>
            <a:ahLst/>
            <a:cxnLst/>
            <a:rect l="l" t="t" r="r" b="b"/>
            <a:pathLst>
              <a:path w="786019" h="1044543">
                <a:moveTo>
                  <a:pt x="0" y="0"/>
                </a:moveTo>
                <a:lnTo>
                  <a:pt x="786019" y="0"/>
                </a:lnTo>
                <a:lnTo>
                  <a:pt x="786019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104511" y="4207932"/>
            <a:ext cx="1072461" cy="1136382"/>
          </a:xfrm>
          <a:custGeom>
            <a:avLst/>
            <a:gdLst/>
            <a:ahLst/>
            <a:cxnLst/>
            <a:rect l="l" t="t" r="r" b="b"/>
            <a:pathLst>
              <a:path w="1072461" h="1136382">
                <a:moveTo>
                  <a:pt x="0" y="0"/>
                </a:moveTo>
                <a:lnTo>
                  <a:pt x="1072461" y="0"/>
                </a:lnTo>
                <a:lnTo>
                  <a:pt x="1072461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12684" y="4207932"/>
            <a:ext cx="1028426" cy="1136382"/>
          </a:xfrm>
          <a:custGeom>
            <a:avLst/>
            <a:gdLst/>
            <a:ahLst/>
            <a:cxnLst/>
            <a:rect l="l" t="t" r="r" b="b"/>
            <a:pathLst>
              <a:path w="1028426" h="1136382">
                <a:moveTo>
                  <a:pt x="0" y="0"/>
                </a:moveTo>
                <a:lnTo>
                  <a:pt x="1028426" y="0"/>
                </a:lnTo>
                <a:lnTo>
                  <a:pt x="1028426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614588" y="4418852"/>
            <a:ext cx="1267481" cy="714543"/>
          </a:xfrm>
          <a:custGeom>
            <a:avLst/>
            <a:gdLst/>
            <a:ahLst/>
            <a:cxnLst/>
            <a:rect l="l" t="t" r="r" b="b"/>
            <a:pathLst>
              <a:path w="1267481" h="714543">
                <a:moveTo>
                  <a:pt x="0" y="0"/>
                </a:moveTo>
                <a:lnTo>
                  <a:pt x="1267482" y="0"/>
                </a:lnTo>
                <a:lnTo>
                  <a:pt x="1267482" y="714542"/>
                </a:lnTo>
                <a:lnTo>
                  <a:pt x="0" y="714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069625" y="6325054"/>
            <a:ext cx="954513" cy="892470"/>
          </a:xfrm>
          <a:custGeom>
            <a:avLst/>
            <a:gdLst/>
            <a:ahLst/>
            <a:cxnLst/>
            <a:rect l="l" t="t" r="r" b="b"/>
            <a:pathLst>
              <a:path w="954513" h="892470">
                <a:moveTo>
                  <a:pt x="0" y="0"/>
                </a:moveTo>
                <a:lnTo>
                  <a:pt x="954513" y="0"/>
                </a:lnTo>
                <a:lnTo>
                  <a:pt x="95451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092209" y="8119104"/>
            <a:ext cx="1034098" cy="1044543"/>
          </a:xfrm>
          <a:custGeom>
            <a:avLst/>
            <a:gdLst/>
            <a:ahLst/>
            <a:cxnLst/>
            <a:rect l="l" t="t" r="r" b="b"/>
            <a:pathLst>
              <a:path w="1034098" h="1044543">
                <a:moveTo>
                  <a:pt x="0" y="0"/>
                </a:moveTo>
                <a:lnTo>
                  <a:pt x="1034098" y="0"/>
                </a:lnTo>
                <a:lnTo>
                  <a:pt x="1034098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212644" y="4173321"/>
            <a:ext cx="1239696" cy="1205604"/>
          </a:xfrm>
          <a:custGeom>
            <a:avLst/>
            <a:gdLst/>
            <a:ahLst/>
            <a:cxnLst/>
            <a:rect l="l" t="t" r="r" b="b"/>
            <a:pathLst>
              <a:path w="1239696" h="1205604">
                <a:moveTo>
                  <a:pt x="0" y="0"/>
                </a:moveTo>
                <a:lnTo>
                  <a:pt x="1239696" y="0"/>
                </a:lnTo>
                <a:lnTo>
                  <a:pt x="1239696" y="1205604"/>
                </a:lnTo>
                <a:lnTo>
                  <a:pt x="0" y="12056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11398" y="8119104"/>
            <a:ext cx="1098074" cy="1044543"/>
          </a:xfrm>
          <a:custGeom>
            <a:avLst/>
            <a:gdLst/>
            <a:ahLst/>
            <a:cxnLst/>
            <a:rect l="l" t="t" r="r" b="b"/>
            <a:pathLst>
              <a:path w="1098074" h="1044543">
                <a:moveTo>
                  <a:pt x="0" y="0"/>
                </a:moveTo>
                <a:lnTo>
                  <a:pt x="1098074" y="0"/>
                </a:lnTo>
                <a:lnTo>
                  <a:pt x="1098074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615741" y="4207932"/>
            <a:ext cx="1133542" cy="1136382"/>
          </a:xfrm>
          <a:custGeom>
            <a:avLst/>
            <a:gdLst/>
            <a:ahLst/>
            <a:cxnLst/>
            <a:rect l="l" t="t" r="r" b="b"/>
            <a:pathLst>
              <a:path w="1133542" h="1136382">
                <a:moveTo>
                  <a:pt x="0" y="0"/>
                </a:moveTo>
                <a:lnTo>
                  <a:pt x="1133542" y="0"/>
                </a:lnTo>
                <a:lnTo>
                  <a:pt x="1133542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4828569" y="8119104"/>
            <a:ext cx="1044543" cy="1044543"/>
          </a:xfrm>
          <a:custGeom>
            <a:avLst/>
            <a:gdLst/>
            <a:ahLst/>
            <a:cxnLst/>
            <a:rect l="l" t="t" r="r" b="b"/>
            <a:pathLst>
              <a:path w="1044543" h="1044543">
                <a:moveTo>
                  <a:pt x="0" y="0"/>
                </a:moveTo>
                <a:lnTo>
                  <a:pt x="1044543" y="0"/>
                </a:lnTo>
                <a:lnTo>
                  <a:pt x="1044543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824303" y="8119104"/>
            <a:ext cx="974037" cy="1044543"/>
          </a:xfrm>
          <a:custGeom>
            <a:avLst/>
            <a:gdLst/>
            <a:ahLst/>
            <a:cxnLst/>
            <a:rect l="l" t="t" r="r" b="b"/>
            <a:pathLst>
              <a:path w="974037" h="1044543">
                <a:moveTo>
                  <a:pt x="0" y="0"/>
                </a:moveTo>
                <a:lnTo>
                  <a:pt x="974037" y="0"/>
                </a:lnTo>
                <a:lnTo>
                  <a:pt x="974037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498405" y="8119104"/>
            <a:ext cx="1106801" cy="1044543"/>
          </a:xfrm>
          <a:custGeom>
            <a:avLst/>
            <a:gdLst/>
            <a:ahLst/>
            <a:cxnLst/>
            <a:rect l="l" t="t" r="r" b="b"/>
            <a:pathLst>
              <a:path w="1106801" h="1044543">
                <a:moveTo>
                  <a:pt x="0" y="0"/>
                </a:moveTo>
                <a:lnTo>
                  <a:pt x="1106801" y="0"/>
                </a:lnTo>
                <a:lnTo>
                  <a:pt x="1106801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017436" y="8119104"/>
            <a:ext cx="1085240" cy="1044543"/>
          </a:xfrm>
          <a:custGeom>
            <a:avLst/>
            <a:gdLst/>
            <a:ahLst/>
            <a:cxnLst/>
            <a:rect l="l" t="t" r="r" b="b"/>
            <a:pathLst>
              <a:path w="1085240" h="1044543">
                <a:moveTo>
                  <a:pt x="0" y="0"/>
                </a:moveTo>
                <a:lnTo>
                  <a:pt x="1085240" y="0"/>
                </a:lnTo>
                <a:lnTo>
                  <a:pt x="1085240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72637" y="4272661"/>
            <a:ext cx="1276606" cy="1006923"/>
          </a:xfrm>
          <a:custGeom>
            <a:avLst/>
            <a:gdLst/>
            <a:ahLst/>
            <a:cxnLst/>
            <a:rect l="l" t="t" r="r" b="b"/>
            <a:pathLst>
              <a:path w="1276606" h="1006923">
                <a:moveTo>
                  <a:pt x="0" y="0"/>
                </a:moveTo>
                <a:lnTo>
                  <a:pt x="1276606" y="0"/>
                </a:lnTo>
                <a:lnTo>
                  <a:pt x="1276606" y="1006924"/>
                </a:lnTo>
                <a:lnTo>
                  <a:pt x="0" y="10069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780645" y="6325054"/>
            <a:ext cx="876852" cy="892470"/>
          </a:xfrm>
          <a:custGeom>
            <a:avLst/>
            <a:gdLst/>
            <a:ahLst/>
            <a:cxnLst/>
            <a:rect l="l" t="t" r="r" b="b"/>
            <a:pathLst>
              <a:path w="876852" h="892470">
                <a:moveTo>
                  <a:pt x="0" y="0"/>
                </a:moveTo>
                <a:lnTo>
                  <a:pt x="876852" y="0"/>
                </a:lnTo>
                <a:lnTo>
                  <a:pt x="87685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33816" y="8119104"/>
            <a:ext cx="1258486" cy="1044543"/>
          </a:xfrm>
          <a:custGeom>
            <a:avLst/>
            <a:gdLst/>
            <a:ahLst/>
            <a:cxnLst/>
            <a:rect l="l" t="t" r="r" b="b"/>
            <a:pathLst>
              <a:path w="1258486" h="1044543">
                <a:moveTo>
                  <a:pt x="0" y="0"/>
                </a:moveTo>
                <a:lnTo>
                  <a:pt x="1258485" y="0"/>
                </a:lnTo>
                <a:lnTo>
                  <a:pt x="1258485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628106" y="6325054"/>
            <a:ext cx="898083" cy="892470"/>
          </a:xfrm>
          <a:custGeom>
            <a:avLst/>
            <a:gdLst/>
            <a:ahLst/>
            <a:cxnLst/>
            <a:rect l="l" t="t" r="r" b="b"/>
            <a:pathLst>
              <a:path w="898083" h="892470">
                <a:moveTo>
                  <a:pt x="0" y="0"/>
                </a:moveTo>
                <a:lnTo>
                  <a:pt x="898083" y="0"/>
                </a:lnTo>
                <a:lnTo>
                  <a:pt x="89808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911953" y="6643841"/>
            <a:ext cx="1243391" cy="254895"/>
          </a:xfrm>
          <a:custGeom>
            <a:avLst/>
            <a:gdLst/>
            <a:ahLst/>
            <a:cxnLst/>
            <a:rect l="l" t="t" r="r" b="b"/>
            <a:pathLst>
              <a:path w="1243391" h="254895">
                <a:moveTo>
                  <a:pt x="0" y="0"/>
                </a:moveTo>
                <a:lnTo>
                  <a:pt x="1243391" y="0"/>
                </a:lnTo>
                <a:lnTo>
                  <a:pt x="1243391" y="254896"/>
                </a:lnTo>
                <a:lnTo>
                  <a:pt x="0" y="25489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94427" y="4142300"/>
            <a:ext cx="614808" cy="1267645"/>
          </a:xfrm>
          <a:custGeom>
            <a:avLst/>
            <a:gdLst/>
            <a:ahLst/>
            <a:cxnLst/>
            <a:rect l="l" t="t" r="r" b="b"/>
            <a:pathLst>
              <a:path w="614808" h="1267645">
                <a:moveTo>
                  <a:pt x="0" y="0"/>
                </a:moveTo>
                <a:lnTo>
                  <a:pt x="614808" y="0"/>
                </a:lnTo>
                <a:lnTo>
                  <a:pt x="614808" y="1267646"/>
                </a:lnTo>
                <a:lnTo>
                  <a:pt x="0" y="126764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340373" y="4207932"/>
            <a:ext cx="1110814" cy="1136382"/>
          </a:xfrm>
          <a:custGeom>
            <a:avLst/>
            <a:gdLst/>
            <a:ahLst/>
            <a:cxnLst/>
            <a:rect l="l" t="t" r="r" b="b"/>
            <a:pathLst>
              <a:path w="1110814" h="1136382">
                <a:moveTo>
                  <a:pt x="0" y="0"/>
                </a:moveTo>
                <a:lnTo>
                  <a:pt x="1110814" y="0"/>
                </a:lnTo>
                <a:lnTo>
                  <a:pt x="1110814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045471" y="4244097"/>
            <a:ext cx="1183923" cy="1064051"/>
          </a:xfrm>
          <a:custGeom>
            <a:avLst/>
            <a:gdLst/>
            <a:ahLst/>
            <a:cxnLst/>
            <a:rect l="l" t="t" r="r" b="b"/>
            <a:pathLst>
              <a:path w="1183923" h="1064051">
                <a:moveTo>
                  <a:pt x="0" y="0"/>
                </a:moveTo>
                <a:lnTo>
                  <a:pt x="1183924" y="0"/>
                </a:lnTo>
                <a:lnTo>
                  <a:pt x="1183924" y="1064052"/>
                </a:lnTo>
                <a:lnTo>
                  <a:pt x="0" y="106405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843443" y="4273563"/>
            <a:ext cx="1137335" cy="1005120"/>
          </a:xfrm>
          <a:custGeom>
            <a:avLst/>
            <a:gdLst/>
            <a:ahLst/>
            <a:cxnLst/>
            <a:rect l="l" t="t" r="r" b="b"/>
            <a:pathLst>
              <a:path w="1137335" h="1005120">
                <a:moveTo>
                  <a:pt x="0" y="0"/>
                </a:moveTo>
                <a:lnTo>
                  <a:pt x="1137335" y="0"/>
                </a:lnTo>
                <a:lnTo>
                  <a:pt x="1137335" y="1005120"/>
                </a:lnTo>
                <a:lnTo>
                  <a:pt x="0" y="100512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144179" y="4243653"/>
            <a:ext cx="1115121" cy="1064941"/>
          </a:xfrm>
          <a:custGeom>
            <a:avLst/>
            <a:gdLst/>
            <a:ahLst/>
            <a:cxnLst/>
            <a:rect l="l" t="t" r="r" b="b"/>
            <a:pathLst>
              <a:path w="1115121" h="1064941">
                <a:moveTo>
                  <a:pt x="0" y="0"/>
                </a:moveTo>
                <a:lnTo>
                  <a:pt x="1115121" y="0"/>
                </a:lnTo>
                <a:lnTo>
                  <a:pt x="1115121" y="1064940"/>
                </a:lnTo>
                <a:lnTo>
                  <a:pt x="0" y="106494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409801" y="6378614"/>
            <a:ext cx="1165641" cy="785350"/>
          </a:xfrm>
          <a:custGeom>
            <a:avLst/>
            <a:gdLst/>
            <a:ahLst/>
            <a:cxnLst/>
            <a:rect l="l" t="t" r="r" b="b"/>
            <a:pathLst>
              <a:path w="1165641" h="785350">
                <a:moveTo>
                  <a:pt x="0" y="0"/>
                </a:moveTo>
                <a:lnTo>
                  <a:pt x="1165640" y="0"/>
                </a:lnTo>
                <a:lnTo>
                  <a:pt x="1165640" y="785350"/>
                </a:lnTo>
                <a:lnTo>
                  <a:pt x="0" y="785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321773" y="8047837"/>
            <a:ext cx="1212850" cy="1187077"/>
          </a:xfrm>
          <a:custGeom>
            <a:avLst/>
            <a:gdLst/>
            <a:ahLst/>
            <a:cxnLst/>
            <a:rect l="l" t="t" r="r" b="b"/>
            <a:pathLst>
              <a:path w="1212850" h="1187077">
                <a:moveTo>
                  <a:pt x="0" y="0"/>
                </a:moveTo>
                <a:lnTo>
                  <a:pt x="1212849" y="0"/>
                </a:lnTo>
                <a:lnTo>
                  <a:pt x="1212849" y="1187077"/>
                </a:lnTo>
                <a:lnTo>
                  <a:pt x="0" y="118707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582513" y="6195954"/>
            <a:ext cx="978069" cy="1150669"/>
          </a:xfrm>
          <a:custGeom>
            <a:avLst/>
            <a:gdLst/>
            <a:ahLst/>
            <a:cxnLst/>
            <a:rect l="l" t="t" r="r" b="b"/>
            <a:pathLst>
              <a:path w="978069" h="1150669">
                <a:moveTo>
                  <a:pt x="0" y="0"/>
                </a:moveTo>
                <a:lnTo>
                  <a:pt x="978068" y="0"/>
                </a:lnTo>
                <a:lnTo>
                  <a:pt x="978068" y="1150670"/>
                </a:lnTo>
                <a:lnTo>
                  <a:pt x="0" y="115067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18944" y="6126456"/>
            <a:ext cx="1109113" cy="1289666"/>
          </a:xfrm>
          <a:custGeom>
            <a:avLst/>
            <a:gdLst/>
            <a:ahLst/>
            <a:cxnLst/>
            <a:rect l="l" t="t" r="r" b="b"/>
            <a:pathLst>
              <a:path w="1109113" h="1289666">
                <a:moveTo>
                  <a:pt x="0" y="0"/>
                </a:moveTo>
                <a:lnTo>
                  <a:pt x="1109112" y="0"/>
                </a:lnTo>
                <a:lnTo>
                  <a:pt x="1109112" y="1289666"/>
                </a:lnTo>
                <a:lnTo>
                  <a:pt x="0" y="12896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392796" y="4198178"/>
            <a:ext cx="1145776" cy="1155890"/>
          </a:xfrm>
          <a:custGeom>
            <a:avLst/>
            <a:gdLst/>
            <a:ahLst/>
            <a:cxnLst/>
            <a:rect l="l" t="t" r="r" b="b"/>
            <a:pathLst>
              <a:path w="1145776" h="1155890">
                <a:moveTo>
                  <a:pt x="0" y="0"/>
                </a:moveTo>
                <a:lnTo>
                  <a:pt x="1145775" y="0"/>
                </a:lnTo>
                <a:lnTo>
                  <a:pt x="1145775" y="1155890"/>
                </a:lnTo>
                <a:lnTo>
                  <a:pt x="0" y="115589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345404" y="8102325"/>
            <a:ext cx="933905" cy="1078101"/>
          </a:xfrm>
          <a:custGeom>
            <a:avLst/>
            <a:gdLst/>
            <a:ahLst/>
            <a:cxnLst/>
            <a:rect l="l" t="t" r="r" b="b"/>
            <a:pathLst>
              <a:path w="933905" h="1078101">
                <a:moveTo>
                  <a:pt x="0" y="0"/>
                </a:moveTo>
                <a:lnTo>
                  <a:pt x="933905" y="0"/>
                </a:lnTo>
                <a:lnTo>
                  <a:pt x="933905" y="1078101"/>
                </a:lnTo>
                <a:lnTo>
                  <a:pt x="0" y="107810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968086" y="6195954"/>
            <a:ext cx="1134590" cy="1136010"/>
          </a:xfrm>
          <a:custGeom>
            <a:avLst/>
            <a:gdLst/>
            <a:ahLst/>
            <a:cxnLst/>
            <a:rect l="l" t="t" r="r" b="b"/>
            <a:pathLst>
              <a:path w="1134590" h="1136010">
                <a:moveTo>
                  <a:pt x="0" y="0"/>
                </a:moveTo>
                <a:lnTo>
                  <a:pt x="1134589" y="0"/>
                </a:lnTo>
                <a:lnTo>
                  <a:pt x="1134589" y="1136010"/>
                </a:lnTo>
                <a:lnTo>
                  <a:pt x="0" y="113601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3753719" y="8149250"/>
            <a:ext cx="935039" cy="984251"/>
          </a:xfrm>
          <a:custGeom>
            <a:avLst/>
            <a:gdLst/>
            <a:ahLst/>
            <a:cxnLst/>
            <a:rect l="l" t="t" r="r" b="b"/>
            <a:pathLst>
              <a:path w="935039" h="984251">
                <a:moveTo>
                  <a:pt x="0" y="0"/>
                </a:moveTo>
                <a:lnTo>
                  <a:pt x="935039" y="0"/>
                </a:lnTo>
                <a:lnTo>
                  <a:pt x="935039" y="984251"/>
                </a:lnTo>
                <a:lnTo>
                  <a:pt x="0" y="98425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4815038" y="6234336"/>
            <a:ext cx="820196" cy="1073907"/>
          </a:xfrm>
          <a:custGeom>
            <a:avLst/>
            <a:gdLst/>
            <a:ahLst/>
            <a:cxnLst/>
            <a:rect l="l" t="t" r="r" b="b"/>
            <a:pathLst>
              <a:path w="820196" h="1073907">
                <a:moveTo>
                  <a:pt x="0" y="0"/>
                </a:moveTo>
                <a:lnTo>
                  <a:pt x="820196" y="0"/>
                </a:lnTo>
                <a:lnTo>
                  <a:pt x="820196" y="1073906"/>
                </a:lnTo>
                <a:lnTo>
                  <a:pt x="0" y="10739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4907855" y="8054182"/>
            <a:ext cx="884857" cy="1174388"/>
          </a:xfrm>
          <a:custGeom>
            <a:avLst/>
            <a:gdLst/>
            <a:ahLst/>
            <a:cxnLst/>
            <a:rect l="l" t="t" r="r" b="b"/>
            <a:pathLst>
              <a:path w="884857" h="1174388">
                <a:moveTo>
                  <a:pt x="0" y="0"/>
                </a:moveTo>
                <a:lnTo>
                  <a:pt x="884857" y="0"/>
                </a:lnTo>
                <a:lnTo>
                  <a:pt x="884857" y="1174387"/>
                </a:lnTo>
                <a:lnTo>
                  <a:pt x="0" y="11743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r="-11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5889690" y="6290095"/>
            <a:ext cx="1212457" cy="962388"/>
          </a:xfrm>
          <a:custGeom>
            <a:avLst/>
            <a:gdLst/>
            <a:ahLst/>
            <a:cxnLst/>
            <a:rect l="l" t="t" r="r" b="b"/>
            <a:pathLst>
              <a:path w="1212457" h="962388">
                <a:moveTo>
                  <a:pt x="0" y="0"/>
                </a:moveTo>
                <a:lnTo>
                  <a:pt x="1212457" y="0"/>
                </a:lnTo>
                <a:lnTo>
                  <a:pt x="1212457" y="962388"/>
                </a:lnTo>
                <a:lnTo>
                  <a:pt x="0" y="96238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6011809" y="8060730"/>
            <a:ext cx="1139517" cy="1161291"/>
          </a:xfrm>
          <a:custGeom>
            <a:avLst/>
            <a:gdLst/>
            <a:ahLst/>
            <a:cxnLst/>
            <a:rect l="l" t="t" r="r" b="b"/>
            <a:pathLst>
              <a:path w="1139517" h="1161291">
                <a:moveTo>
                  <a:pt x="0" y="0"/>
                </a:moveTo>
                <a:lnTo>
                  <a:pt x="1139517" y="0"/>
                </a:lnTo>
                <a:lnTo>
                  <a:pt x="1139517" y="1161291"/>
                </a:lnTo>
                <a:lnTo>
                  <a:pt x="0" y="116129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3701973" y="4232751"/>
            <a:ext cx="978069" cy="1086743"/>
          </a:xfrm>
          <a:custGeom>
            <a:avLst/>
            <a:gdLst/>
            <a:ahLst/>
            <a:cxnLst/>
            <a:rect l="l" t="t" r="r" b="b"/>
            <a:pathLst>
              <a:path w="978069" h="1086743">
                <a:moveTo>
                  <a:pt x="0" y="0"/>
                </a:moveTo>
                <a:lnTo>
                  <a:pt x="978069" y="0"/>
                </a:lnTo>
                <a:lnTo>
                  <a:pt x="978069" y="1086744"/>
                </a:lnTo>
                <a:lnTo>
                  <a:pt x="0" y="108674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033078" y="628486"/>
            <a:ext cx="5059131" cy="19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Trang</a:t>
            </a:r>
          </a:p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Tài nguyên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57497" y="1099656"/>
            <a:ext cx="973986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Sử dụng các tài nguyên thiết kế này trong Bản thuyết trình Canva</a:t>
            </a:r>
          </a:p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của bạn. Thiết kế vui vẻ! </a:t>
            </a:r>
            <a:r>
              <a:rPr lang="en-US" sz="2400" spc="-19">
                <a:solidFill>
                  <a:srgbClr val="213343"/>
                </a:solidFill>
                <a:latin typeface="Muli Semi-Bold"/>
              </a:rPr>
              <a:t>Xóa hoặc giấu trang này trước khi trình bày.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778</Words>
  <Application>Microsoft Office PowerPoint</Application>
  <PresentationFormat>Custom</PresentationFormat>
  <Paragraphs>83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Muli Semi-Bold</vt:lpstr>
      <vt:lpstr>Muli</vt:lpstr>
      <vt:lpstr>Calibri</vt:lpstr>
      <vt:lpstr>Arial</vt:lpstr>
      <vt:lpstr>Cabin Bold</vt:lpstr>
      <vt:lpstr>Aptos</vt:lpstr>
      <vt:lpstr>Cabin Semi-Bold</vt:lpstr>
      <vt:lpstr>Wingdings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Hồng Xanh lá Thực hiện Dự án Bản thuyết trình Lên ý tưởng</dc:title>
  <dc:creator>Duy-IT</dc:creator>
  <cp:lastModifiedBy>Vina Tech09</cp:lastModifiedBy>
  <cp:revision>66</cp:revision>
  <dcterms:created xsi:type="dcterms:W3CDTF">2006-08-16T00:00:00Z</dcterms:created>
  <dcterms:modified xsi:type="dcterms:W3CDTF">2024-10-31T02:47:59Z</dcterms:modified>
  <dc:identifier>DAGGkNqtYQ8</dc:identifier>
</cp:coreProperties>
</file>