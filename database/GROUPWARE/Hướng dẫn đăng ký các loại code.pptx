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0" r:id="rId5"/>
    <p:sldId id="274" r:id="rId6"/>
    <p:sldId id="269" r:id="rId7"/>
    <p:sldId id="275" r:id="rId8"/>
    <p:sldId id="258" r:id="rId9"/>
    <p:sldId id="272" r:id="rId10"/>
    <p:sldId id="276" r:id="rId11"/>
    <p:sldId id="277" r:id="rId12"/>
    <p:sldId id="279" r:id="rId13"/>
    <p:sldId id="280" r:id="rId14"/>
    <p:sldId id="281" r:id="rId15"/>
    <p:sldId id="282" r:id="rId16"/>
    <p:sldId id="26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02" d="100"/>
          <a:sy n="102" d="100"/>
        </p:scale>
        <p:origin x="840"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none"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2025-03-11</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186439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2025-03-11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411109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2025-03-11</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165320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2025-03-11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659808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A7F15D8-96D1-4781-BC50-CA8A088B2FE4}" type="datetime1">
              <a:rPr lang="en-US" smtClean="0"/>
              <a:t>2025-03-11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506838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2025-03-11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539747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2025-03-11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019580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2025-03-11</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2992692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2025-03-11</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07367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2025-03-11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895615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2025-03-11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299276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F6FA2B21-3FCD-4721-B95C-427943F61125}" type="datetime1">
              <a:rPr lang="en-US" smtClean="0"/>
              <a:t>2025-03-11</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3542811422"/>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lang="en-US" sz="4800" b="1" i="1" kern="1200" cap="none" spc="-7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700" kern="1200">
          <a:solidFill>
            <a:schemeClr val="tx1"/>
          </a:solidFill>
          <a:latin typeface="+mn-lt"/>
          <a:ea typeface="+mn-ea"/>
          <a:cs typeface="+mn-cs"/>
        </a:defRPr>
      </a:lvl1pPr>
      <a:lvl2pPr marL="45720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500" kern="1200">
          <a:solidFill>
            <a:schemeClr val="tx1"/>
          </a:solidFill>
          <a:latin typeface="+mn-lt"/>
          <a:ea typeface="+mn-ea"/>
          <a:cs typeface="+mn-cs"/>
        </a:defRPr>
      </a:lvl2pPr>
      <a:lvl3pPr marL="73152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3pPr>
      <a:lvl4pPr marL="100584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4pPr>
      <a:lvl5pPr marL="128016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Video 3" descr="Background pattern, arrow&#10;&#10;Description automatically generated with medium confidence">
            <a:extLst>
              <a:ext uri="{FF2B5EF4-FFF2-40B4-BE49-F238E27FC236}">
                <a16:creationId xmlns:a16="http://schemas.microsoft.com/office/drawing/2014/main" id="{0DD25A64-4F51-638C-97E4-0FF53C7ED3C3}"/>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t="284" r="1" b="1"/>
          <a:stretch/>
        </p:blipFill>
        <p:spPr>
          <a:xfrm>
            <a:off x="-1" y="10"/>
            <a:ext cx="12192000" cy="6857988"/>
          </a:xfrm>
          <a:prstGeom prst="rect">
            <a:avLst/>
          </a:prstGeom>
        </p:spPr>
      </p:pic>
      <p:sp>
        <p:nvSpPr>
          <p:cNvPr id="9" name="Rectangle 8">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30074"/>
            <a:ext cx="12192000" cy="2327925"/>
          </a:xfrm>
          <a:prstGeom prst="rect">
            <a:avLst/>
          </a:prstGeom>
          <a:solidFill>
            <a:schemeClr val="bg1">
              <a:alpha val="30000"/>
            </a:schemeClr>
          </a:solidFill>
          <a:ln w="6350" cap="sq" cmpd="sng" algn="ctr">
            <a:noFill/>
            <a:prstDash val="solid"/>
            <a:miter lim="800000"/>
          </a:ln>
          <a:effectLst/>
        </p:spPr>
        <p:txBody>
          <a:bodyPr/>
          <a:lstStyle/>
          <a:p>
            <a:endParaRPr lang="en-US"/>
          </a:p>
        </p:txBody>
      </p:sp>
      <p:sp>
        <p:nvSpPr>
          <p:cNvPr id="11" name="Rectangle 10">
            <a:extLst>
              <a:ext uri="{FF2B5EF4-FFF2-40B4-BE49-F238E27FC236}">
                <a16:creationId xmlns:a16="http://schemas.microsoft.com/office/drawing/2014/main" id="{0B121716-8B64-478F-ABDB-17030AD1B7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 y="4530071"/>
            <a:ext cx="12191999" cy="2327926"/>
          </a:xfrm>
          <a:prstGeom prst="rect">
            <a:avLst/>
          </a:prstGeom>
          <a:solidFill>
            <a:srgbClr val="33BA34">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116" y="4692768"/>
            <a:ext cx="11859768" cy="2002536"/>
          </a:xfrm>
          <a:prstGeom prst="rect">
            <a:avLst/>
          </a:prstGeom>
          <a:noFill/>
          <a:ln w="6350" cap="sq" cmpd="sng" algn="ctr">
            <a:solidFill>
              <a:schemeClr val="tx1"/>
            </a:solidFill>
            <a:prstDash val="solid"/>
            <a:miter lim="800000"/>
          </a:ln>
          <a:effectLst>
            <a:softEdge rad="0"/>
          </a:effectLst>
        </p:spPr>
        <p:txBody>
          <a:bodyPr/>
          <a:lstStyle/>
          <a:p>
            <a:endParaRPr lang="en-US"/>
          </a:p>
        </p:txBody>
      </p:sp>
      <p:sp>
        <p:nvSpPr>
          <p:cNvPr id="2" name="Title 1">
            <a:extLst>
              <a:ext uri="{FF2B5EF4-FFF2-40B4-BE49-F238E27FC236}">
                <a16:creationId xmlns:a16="http://schemas.microsoft.com/office/drawing/2014/main" id="{C9DDF167-DBD7-4C3A-9FC3-59FBDFCE8BCE}"/>
              </a:ext>
            </a:extLst>
          </p:cNvPr>
          <p:cNvSpPr>
            <a:spLocks noGrp="1"/>
          </p:cNvSpPr>
          <p:nvPr>
            <p:ph type="ctrTitle"/>
          </p:nvPr>
        </p:nvSpPr>
        <p:spPr>
          <a:xfrm>
            <a:off x="372723" y="4814744"/>
            <a:ext cx="11439414" cy="897439"/>
          </a:xfrm>
        </p:spPr>
        <p:txBody>
          <a:bodyPr>
            <a:normAutofit fontScale="90000"/>
          </a:bodyPr>
          <a:lstStyle/>
          <a:p>
            <a:br>
              <a:rPr lang="en-US" sz="4400">
                <a:solidFill>
                  <a:schemeClr val="tx1"/>
                </a:solidFill>
              </a:rPr>
            </a:br>
            <a:r>
              <a:rPr lang="en-US" sz="4400">
                <a:solidFill>
                  <a:schemeClr val="tx1"/>
                </a:solidFill>
              </a:rPr>
              <a:t>Hướng dẫn sử dụng chức năng tạo code và sửa BOM</a:t>
            </a:r>
            <a:br>
              <a:rPr lang="en-US" sz="4400">
                <a:solidFill>
                  <a:schemeClr val="tx1"/>
                </a:solidFill>
              </a:rPr>
            </a:br>
            <a:r>
              <a:rPr lang="en-US" sz="4400">
                <a:solidFill>
                  <a:schemeClr val="tx1"/>
                </a:solidFill>
              </a:rPr>
              <a:t>trên Groupware</a:t>
            </a:r>
            <a:br>
              <a:rPr lang="en-US" sz="4400">
                <a:solidFill>
                  <a:schemeClr val="tx1"/>
                </a:solidFill>
              </a:rPr>
            </a:br>
            <a:endParaRPr lang="en-US" sz="4400" dirty="0">
              <a:solidFill>
                <a:schemeClr val="tx1"/>
              </a:solidFill>
            </a:endParaRPr>
          </a:p>
        </p:txBody>
      </p:sp>
      <p:sp>
        <p:nvSpPr>
          <p:cNvPr id="3" name="Subtitle 2">
            <a:extLst>
              <a:ext uri="{FF2B5EF4-FFF2-40B4-BE49-F238E27FC236}">
                <a16:creationId xmlns:a16="http://schemas.microsoft.com/office/drawing/2014/main" id="{B298A4C9-03F0-4958-8DA7-FF5094EF5AD3}"/>
              </a:ext>
            </a:extLst>
          </p:cNvPr>
          <p:cNvSpPr>
            <a:spLocks noGrp="1"/>
          </p:cNvSpPr>
          <p:nvPr>
            <p:ph type="subTitle" idx="1"/>
          </p:nvPr>
        </p:nvSpPr>
        <p:spPr>
          <a:xfrm>
            <a:off x="764275" y="6016944"/>
            <a:ext cx="10656310" cy="425961"/>
          </a:xfrm>
        </p:spPr>
        <p:txBody>
          <a:bodyPr>
            <a:normAutofit/>
          </a:bodyPr>
          <a:lstStyle/>
          <a:p>
            <a:r>
              <a:rPr lang="en-US">
                <a:solidFill>
                  <a:schemeClr val="tx1"/>
                </a:solidFill>
              </a:rPr>
              <a:t> </a:t>
            </a:r>
            <a:r>
              <a:rPr lang="en-US" dirty="0">
                <a:solidFill>
                  <a:schemeClr val="tx1"/>
                </a:solidFill>
              </a:rPr>
              <a:t>EA Team </a:t>
            </a:r>
            <a:r>
              <a:rPr lang="en-US" dirty="0" err="1">
                <a:solidFill>
                  <a:schemeClr val="tx1"/>
                </a:solidFill>
              </a:rPr>
              <a:t>Việt</a:t>
            </a:r>
            <a:r>
              <a:rPr lang="en-US" dirty="0">
                <a:solidFill>
                  <a:schemeClr val="tx1"/>
                </a:solidFill>
              </a:rPr>
              <a:t> Nam</a:t>
            </a:r>
          </a:p>
        </p:txBody>
      </p:sp>
    </p:spTree>
    <p:extLst>
      <p:ext uri="{BB962C8B-B14F-4D97-AF65-F5344CB8AC3E}">
        <p14:creationId xmlns:p14="http://schemas.microsoft.com/office/powerpoint/2010/main" val="317919359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4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A6DE4-2310-439F-895A-6C973CFE6A8D}"/>
              </a:ext>
            </a:extLst>
          </p:cNvPr>
          <p:cNvSpPr>
            <a:spLocks noGrp="1"/>
          </p:cNvSpPr>
          <p:nvPr>
            <p:ph type="title"/>
          </p:nvPr>
        </p:nvSpPr>
        <p:spPr>
          <a:xfrm>
            <a:off x="707830" y="727823"/>
            <a:ext cx="3329150" cy="5402353"/>
          </a:xfrm>
        </p:spPr>
        <p:txBody>
          <a:bodyPr>
            <a:normAutofit/>
          </a:bodyPr>
          <a:lstStyle/>
          <a:p>
            <a:r>
              <a:rPr lang="en-US"/>
              <a:t>1.Đăng nhập hệ thống Groupware</a:t>
            </a:r>
            <a:endParaRPr lang="en-US" dirty="0"/>
          </a:p>
        </p:txBody>
      </p:sp>
      <p:sp>
        <p:nvSpPr>
          <p:cNvPr id="3" name="Content Placeholder 2">
            <a:extLst>
              <a:ext uri="{FF2B5EF4-FFF2-40B4-BE49-F238E27FC236}">
                <a16:creationId xmlns:a16="http://schemas.microsoft.com/office/drawing/2014/main" id="{D41F7103-67B3-4191-BB4A-9FF0DFE9DA07}"/>
              </a:ext>
            </a:extLst>
          </p:cNvPr>
          <p:cNvSpPr>
            <a:spLocks noGrp="1"/>
          </p:cNvSpPr>
          <p:nvPr>
            <p:ph idx="1"/>
          </p:nvPr>
        </p:nvSpPr>
        <p:spPr>
          <a:xfrm>
            <a:off x="4521614" y="727823"/>
            <a:ext cx="6927842" cy="3072900"/>
          </a:xfrm>
        </p:spPr>
        <p:txBody>
          <a:bodyPr>
            <a:normAutofit/>
          </a:bodyPr>
          <a:lstStyle/>
          <a:p>
            <a:r>
              <a:rPr lang="en-US" b="1" dirty="0"/>
              <a:t>I</a:t>
            </a:r>
            <a:r>
              <a:rPr lang="en-US" b="1"/>
              <a:t>. Đăng nhập Groupware</a:t>
            </a:r>
            <a:endParaRPr lang="en-US" b="1" dirty="0"/>
          </a:p>
          <a:p>
            <a:pPr>
              <a:buFontTx/>
              <a:buChar char="-"/>
            </a:pPr>
            <a:r>
              <a:rPr lang="en-US"/>
              <a:t>Có hai cách để bạn đăng nhập vào hệ thống Groupware</a:t>
            </a:r>
          </a:p>
          <a:p>
            <a:pPr marL="0" indent="0">
              <a:buNone/>
            </a:pPr>
            <a:r>
              <a:rPr lang="en-US"/>
              <a:t>     + Bạn có thể truy cập bằng link sau đây: </a:t>
            </a:r>
            <a:r>
              <a:rPr lang="en-US">
                <a:solidFill>
                  <a:srgbClr val="FF0000"/>
                </a:solidFill>
              </a:rPr>
              <a:t>https://gw.vinatech.com/login</a:t>
            </a:r>
            <a:r>
              <a:rPr lang="en-US"/>
              <a:t>.</a:t>
            </a:r>
            <a:endParaRPr lang="en-US" dirty="0"/>
          </a:p>
          <a:p>
            <a:r>
              <a:rPr lang="en-US" b="1"/>
              <a:t>  + Bạn có thể chọn buổi tượng như hình dưới đây:</a:t>
            </a:r>
            <a:endParaRPr lang="en-US" b="1" dirty="0"/>
          </a:p>
          <a:p>
            <a:pPr marL="0" indent="0">
              <a:buNone/>
            </a:pPr>
            <a:r>
              <a:rPr lang="en-US"/>
              <a:t>     + Bạn mở trình duyệt lên và ỏ góc phải màn hình có biểu tượng=&gt; bạn chọn tới icon của công ty có chữ groupware click vào đó</a:t>
            </a:r>
            <a:endParaRPr lang="en-US" dirty="0"/>
          </a:p>
        </p:txBody>
      </p:sp>
      <p:pic>
        <p:nvPicPr>
          <p:cNvPr id="5" name="Picture 4">
            <a:extLst>
              <a:ext uri="{FF2B5EF4-FFF2-40B4-BE49-F238E27FC236}">
                <a16:creationId xmlns:a16="http://schemas.microsoft.com/office/drawing/2014/main" id="{A8A6CD58-D79C-277D-3509-03C77F29C2B2}"/>
              </a:ext>
            </a:extLst>
          </p:cNvPr>
          <p:cNvPicPr>
            <a:picLocks noChangeAspect="1"/>
          </p:cNvPicPr>
          <p:nvPr/>
        </p:nvPicPr>
        <p:blipFill>
          <a:blip r:embed="rId2"/>
          <a:stretch>
            <a:fillRect/>
          </a:stretch>
        </p:blipFill>
        <p:spPr>
          <a:xfrm>
            <a:off x="4612641" y="3139440"/>
            <a:ext cx="7083396" cy="3343656"/>
          </a:xfrm>
          <a:prstGeom prst="rect">
            <a:avLst/>
          </a:prstGeom>
        </p:spPr>
      </p:pic>
    </p:spTree>
    <p:extLst>
      <p:ext uri="{BB962C8B-B14F-4D97-AF65-F5344CB8AC3E}">
        <p14:creationId xmlns:p14="http://schemas.microsoft.com/office/powerpoint/2010/main" val="3109597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A6DE4-2310-439F-895A-6C973CFE6A8D}"/>
              </a:ext>
            </a:extLst>
          </p:cNvPr>
          <p:cNvSpPr>
            <a:spLocks noGrp="1"/>
          </p:cNvSpPr>
          <p:nvPr>
            <p:ph type="title"/>
          </p:nvPr>
        </p:nvSpPr>
        <p:spPr>
          <a:xfrm>
            <a:off x="707830" y="727823"/>
            <a:ext cx="3329150" cy="5402353"/>
          </a:xfrm>
        </p:spPr>
        <p:txBody>
          <a:bodyPr>
            <a:normAutofit/>
          </a:bodyPr>
          <a:lstStyle/>
          <a:p>
            <a:r>
              <a:rPr lang="en-US"/>
              <a:t>2.Thông tin đăng nhập vào Groupware</a:t>
            </a:r>
            <a:endParaRPr lang="en-US" dirty="0"/>
          </a:p>
        </p:txBody>
      </p:sp>
      <p:sp>
        <p:nvSpPr>
          <p:cNvPr id="3" name="Content Placeholder 2">
            <a:extLst>
              <a:ext uri="{FF2B5EF4-FFF2-40B4-BE49-F238E27FC236}">
                <a16:creationId xmlns:a16="http://schemas.microsoft.com/office/drawing/2014/main" id="{D41F7103-67B3-4191-BB4A-9FF0DFE9DA07}"/>
              </a:ext>
            </a:extLst>
          </p:cNvPr>
          <p:cNvSpPr>
            <a:spLocks noGrp="1"/>
          </p:cNvSpPr>
          <p:nvPr>
            <p:ph idx="1"/>
          </p:nvPr>
        </p:nvSpPr>
        <p:spPr>
          <a:xfrm>
            <a:off x="4521614" y="727823"/>
            <a:ext cx="6927842" cy="3072900"/>
          </a:xfrm>
        </p:spPr>
        <p:txBody>
          <a:bodyPr>
            <a:normAutofit/>
          </a:bodyPr>
          <a:lstStyle/>
          <a:p>
            <a:r>
              <a:rPr lang="en-US" b="1"/>
              <a:t>2. Thông tin đăng nhập</a:t>
            </a:r>
            <a:endParaRPr lang="en-US" b="1" dirty="0"/>
          </a:p>
          <a:p>
            <a:pPr marL="0" indent="0">
              <a:buNone/>
            </a:pPr>
            <a:r>
              <a:rPr lang="en-US" dirty="0"/>
              <a:t>- </a:t>
            </a:r>
            <a:r>
              <a:rPr lang="en-US" dirty="0" err="1"/>
              <a:t>Bước</a:t>
            </a:r>
            <a:r>
              <a:rPr lang="en-US" dirty="0"/>
              <a:t> 1</a:t>
            </a:r>
            <a:r>
              <a:rPr lang="en-US"/>
              <a:t>: Thông tin tài khoản cũng như mật khẩu của bạn chính là mã nhân viên trên hệ thống ERP, mật khẩu mặc định từ 1 tới 4, trong trường hợp không được bạn liên hệ lại với EA</a:t>
            </a:r>
            <a:endParaRPr lang="en-US" dirty="0"/>
          </a:p>
          <a:p>
            <a:pPr>
              <a:buFontTx/>
              <a:buChar char="-"/>
            </a:pPr>
            <a:r>
              <a:rPr lang="en-US"/>
              <a:t>Bước </a:t>
            </a:r>
            <a:r>
              <a:rPr lang="en-US" dirty="0"/>
              <a:t>2</a:t>
            </a:r>
            <a:r>
              <a:rPr lang="en-US"/>
              <a:t>: Trước khi login, bạn cần chọn Vinatech vina Co.,Ltd. </a:t>
            </a:r>
          </a:p>
          <a:p>
            <a:pPr>
              <a:buFontTx/>
              <a:buChar char="-"/>
            </a:pPr>
            <a:r>
              <a:rPr lang="en-US"/>
              <a:t>Bước 3: khi đã chọn xong, bạn nhập mã nhân viên và mật khẩu nhấn nút login để vào hệ thống. </a:t>
            </a:r>
            <a:endParaRPr lang="en-US" dirty="0"/>
          </a:p>
          <a:p>
            <a:endParaRPr lang="en-US" dirty="0"/>
          </a:p>
        </p:txBody>
      </p:sp>
      <p:pic>
        <p:nvPicPr>
          <p:cNvPr id="6" name="Picture 5">
            <a:extLst>
              <a:ext uri="{FF2B5EF4-FFF2-40B4-BE49-F238E27FC236}">
                <a16:creationId xmlns:a16="http://schemas.microsoft.com/office/drawing/2014/main" id="{AE4062FB-B594-DA1B-F4CD-4DAB58D97270}"/>
              </a:ext>
            </a:extLst>
          </p:cNvPr>
          <p:cNvPicPr>
            <a:picLocks noChangeAspect="1"/>
          </p:cNvPicPr>
          <p:nvPr/>
        </p:nvPicPr>
        <p:blipFill>
          <a:blip r:embed="rId2"/>
          <a:stretch>
            <a:fillRect/>
          </a:stretch>
        </p:blipFill>
        <p:spPr>
          <a:xfrm>
            <a:off x="4726112" y="3312203"/>
            <a:ext cx="7094032" cy="3072899"/>
          </a:xfrm>
          <a:prstGeom prst="rect">
            <a:avLst/>
          </a:prstGeom>
        </p:spPr>
      </p:pic>
    </p:spTree>
    <p:extLst>
      <p:ext uri="{BB962C8B-B14F-4D97-AF65-F5344CB8AC3E}">
        <p14:creationId xmlns:p14="http://schemas.microsoft.com/office/powerpoint/2010/main" val="2850996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8632963-757B-40C2-BB84-FC6107A54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2853AE55-7E35-44B0-89F1-3F52B262AF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9709" y="253548"/>
            <a:ext cx="5612193" cy="6361598"/>
          </a:xfrm>
          <a:prstGeom prst="rect">
            <a:avLst/>
          </a:prstGeom>
          <a:solidFill>
            <a:schemeClr val="bg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BC4BE4D-4B50-4F51-9F85-4B5D60B02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87542"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FA6DE4-2310-439F-895A-6C973CFE6A8D}"/>
              </a:ext>
            </a:extLst>
          </p:cNvPr>
          <p:cNvSpPr>
            <a:spLocks noGrp="1"/>
          </p:cNvSpPr>
          <p:nvPr>
            <p:ph type="title"/>
          </p:nvPr>
        </p:nvSpPr>
        <p:spPr>
          <a:xfrm>
            <a:off x="6846137" y="804073"/>
            <a:ext cx="4602152" cy="1345449"/>
          </a:xfrm>
        </p:spPr>
        <p:txBody>
          <a:bodyPr>
            <a:normAutofit/>
          </a:bodyPr>
          <a:lstStyle/>
          <a:p>
            <a:r>
              <a:rPr lang="en-US" sz="3700"/>
              <a:t>Thay thế MES bằng Groupware.</a:t>
            </a:r>
            <a:endParaRPr lang="en-US" sz="3700" dirty="0"/>
          </a:p>
        </p:txBody>
      </p:sp>
      <p:sp>
        <p:nvSpPr>
          <p:cNvPr id="39" name="Content Placeholder 2">
            <a:extLst>
              <a:ext uri="{FF2B5EF4-FFF2-40B4-BE49-F238E27FC236}">
                <a16:creationId xmlns:a16="http://schemas.microsoft.com/office/drawing/2014/main" id="{D41F7103-67B3-4191-BB4A-9FF0DFE9DA07}"/>
              </a:ext>
            </a:extLst>
          </p:cNvPr>
          <p:cNvSpPr>
            <a:spLocks noGrp="1"/>
          </p:cNvSpPr>
          <p:nvPr>
            <p:ph idx="1"/>
          </p:nvPr>
        </p:nvSpPr>
        <p:spPr>
          <a:xfrm>
            <a:off x="6846136" y="2303563"/>
            <a:ext cx="4852527" cy="3715424"/>
          </a:xfrm>
        </p:spPr>
        <p:txBody>
          <a:bodyPr>
            <a:normAutofit/>
          </a:bodyPr>
          <a:lstStyle/>
          <a:p>
            <a:r>
              <a:rPr lang="en-US"/>
              <a:t>Như bạn biết trước đây người dùng có thể dùng màn hình A230, là màn hình cấu hình các loại nguyên vật liệu cho cell line, module, điện cực.</a:t>
            </a:r>
          </a:p>
          <a:p>
            <a:r>
              <a:rPr lang="en-US"/>
              <a:t>Theo yêu cầu của EA hàn quốc toàn bộ các dữ liệu các code của A230 trên hệ thống MES sẽ được đăng ký trên hệ thống Groupware.</a:t>
            </a:r>
          </a:p>
          <a:p>
            <a:r>
              <a:rPr lang="en-US"/>
              <a:t>Sau khi bạn đăng nhập vào hệ thống thành công, bạn vào menu sau =&gt; Electronic Document =&gt; Item =&gt; Item Registration Document.</a:t>
            </a:r>
          </a:p>
          <a:p>
            <a:pPr marL="0" indent="0">
              <a:buNone/>
            </a:pPr>
            <a:endParaRPr lang="en-US" b="1" dirty="0"/>
          </a:p>
        </p:txBody>
      </p:sp>
      <p:pic>
        <p:nvPicPr>
          <p:cNvPr id="4" name="Picture 3">
            <a:extLst>
              <a:ext uri="{FF2B5EF4-FFF2-40B4-BE49-F238E27FC236}">
                <a16:creationId xmlns:a16="http://schemas.microsoft.com/office/drawing/2014/main" id="{B089ACEC-F0C8-A2D6-BAE9-5B5FF2B647E7}"/>
              </a:ext>
            </a:extLst>
          </p:cNvPr>
          <p:cNvPicPr>
            <a:picLocks noChangeAspect="1"/>
          </p:cNvPicPr>
          <p:nvPr/>
        </p:nvPicPr>
        <p:blipFill>
          <a:blip r:embed="rId2"/>
          <a:stretch>
            <a:fillRect/>
          </a:stretch>
        </p:blipFill>
        <p:spPr>
          <a:xfrm>
            <a:off x="62003" y="281132"/>
            <a:ext cx="6191313" cy="2391329"/>
          </a:xfrm>
          <a:prstGeom prst="rect">
            <a:avLst/>
          </a:prstGeom>
        </p:spPr>
      </p:pic>
      <p:pic>
        <p:nvPicPr>
          <p:cNvPr id="6" name="Picture 5">
            <a:extLst>
              <a:ext uri="{FF2B5EF4-FFF2-40B4-BE49-F238E27FC236}">
                <a16:creationId xmlns:a16="http://schemas.microsoft.com/office/drawing/2014/main" id="{0501D39B-848D-0DEF-01EA-225673ED49C8}"/>
              </a:ext>
            </a:extLst>
          </p:cNvPr>
          <p:cNvPicPr>
            <a:picLocks noChangeAspect="1"/>
          </p:cNvPicPr>
          <p:nvPr/>
        </p:nvPicPr>
        <p:blipFill>
          <a:blip r:embed="rId3"/>
          <a:stretch>
            <a:fillRect/>
          </a:stretch>
        </p:blipFill>
        <p:spPr>
          <a:xfrm>
            <a:off x="85416" y="2953592"/>
            <a:ext cx="6165646" cy="3732343"/>
          </a:xfrm>
          <a:prstGeom prst="rect">
            <a:avLst/>
          </a:prstGeom>
        </p:spPr>
      </p:pic>
    </p:spTree>
    <p:extLst>
      <p:ext uri="{BB962C8B-B14F-4D97-AF65-F5344CB8AC3E}">
        <p14:creationId xmlns:p14="http://schemas.microsoft.com/office/powerpoint/2010/main" val="1414725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88D88-F08F-3A10-BA4E-93F1C6B91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027C15-A046-94B1-134F-1A01DD406B5E}"/>
              </a:ext>
            </a:extLst>
          </p:cNvPr>
          <p:cNvSpPr>
            <a:spLocks noGrp="1"/>
          </p:cNvSpPr>
          <p:nvPr>
            <p:ph type="title"/>
          </p:nvPr>
        </p:nvSpPr>
        <p:spPr>
          <a:xfrm>
            <a:off x="6579450" y="727627"/>
            <a:ext cx="4957553" cy="1645920"/>
          </a:xfrm>
        </p:spPr>
        <p:txBody>
          <a:bodyPr>
            <a:normAutofit fontScale="90000"/>
          </a:bodyPr>
          <a:lstStyle/>
          <a:p>
            <a:r>
              <a:rPr lang="en-US" sz="4400" i="1">
                <a:solidFill>
                  <a:srgbClr val="262626"/>
                </a:solidFill>
                <a:effectLst/>
                <a:latin typeface="Goudy Old Style" panose="02020502050305020303" pitchFamily="18" charset="0"/>
              </a:rPr>
              <a:t>Chọn thông tin phê duyệt, tiêu đề, người làm form, upload file.</a:t>
            </a:r>
            <a:endParaRPr lang="en-US" sz="4400"/>
          </a:p>
        </p:txBody>
      </p:sp>
      <p:sp>
        <p:nvSpPr>
          <p:cNvPr id="3" name="Content Placeholder 2">
            <a:extLst>
              <a:ext uri="{FF2B5EF4-FFF2-40B4-BE49-F238E27FC236}">
                <a16:creationId xmlns:a16="http://schemas.microsoft.com/office/drawing/2014/main" id="{041FAF7B-AF7E-7F04-9099-659FCBDA6222}"/>
              </a:ext>
            </a:extLst>
          </p:cNvPr>
          <p:cNvSpPr>
            <a:spLocks noGrp="1"/>
          </p:cNvSpPr>
          <p:nvPr>
            <p:ph idx="1"/>
          </p:nvPr>
        </p:nvSpPr>
        <p:spPr>
          <a:xfrm>
            <a:off x="6579450" y="2538919"/>
            <a:ext cx="4957554" cy="3496120"/>
          </a:xfrm>
        </p:spPr>
        <p:txBody>
          <a:bodyPr>
            <a:normAutofit/>
          </a:bodyPr>
          <a:lstStyle/>
          <a:p>
            <a:r>
              <a:rPr lang="en-US"/>
              <a:t>1. Chọn người duyệt</a:t>
            </a:r>
          </a:p>
          <a:p>
            <a:r>
              <a:rPr lang="en-US"/>
              <a:t>2. Ghi tiêu đề form</a:t>
            </a:r>
          </a:p>
          <a:p>
            <a:r>
              <a:rPr lang="en-US"/>
              <a:t>3. Tải file đính kèm.</a:t>
            </a:r>
          </a:p>
          <a:p>
            <a:r>
              <a:rPr lang="en-US"/>
              <a:t>4. Làm form giúp ai đó không phải mình làm.</a:t>
            </a:r>
            <a:endParaRPr lang="en-US" dirty="0"/>
          </a:p>
        </p:txBody>
      </p:sp>
      <p:pic>
        <p:nvPicPr>
          <p:cNvPr id="9" name="Picture 8">
            <a:extLst>
              <a:ext uri="{FF2B5EF4-FFF2-40B4-BE49-F238E27FC236}">
                <a16:creationId xmlns:a16="http://schemas.microsoft.com/office/drawing/2014/main" id="{A3657750-3B64-6BF0-66CA-051B81DC34DD}"/>
              </a:ext>
            </a:extLst>
          </p:cNvPr>
          <p:cNvPicPr>
            <a:picLocks noChangeAspect="1"/>
          </p:cNvPicPr>
          <p:nvPr/>
        </p:nvPicPr>
        <p:blipFill>
          <a:blip r:embed="rId2"/>
          <a:stretch>
            <a:fillRect/>
          </a:stretch>
        </p:blipFill>
        <p:spPr>
          <a:xfrm>
            <a:off x="530942" y="491613"/>
            <a:ext cx="5830529" cy="5899355"/>
          </a:xfrm>
          <a:prstGeom prst="rect">
            <a:avLst/>
          </a:prstGeom>
        </p:spPr>
      </p:pic>
    </p:spTree>
    <p:extLst>
      <p:ext uri="{BB962C8B-B14F-4D97-AF65-F5344CB8AC3E}">
        <p14:creationId xmlns:p14="http://schemas.microsoft.com/office/powerpoint/2010/main" val="2648808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1F13E-FB38-FE99-4042-33B45D945F58}"/>
              </a:ext>
            </a:extLst>
          </p:cNvPr>
          <p:cNvSpPr>
            <a:spLocks noGrp="1"/>
          </p:cNvSpPr>
          <p:nvPr>
            <p:ph type="title"/>
          </p:nvPr>
        </p:nvSpPr>
        <p:spPr>
          <a:xfrm>
            <a:off x="6579450" y="727627"/>
            <a:ext cx="4957553" cy="1645920"/>
          </a:xfrm>
        </p:spPr>
        <p:txBody>
          <a:bodyPr>
            <a:normAutofit/>
          </a:bodyPr>
          <a:lstStyle/>
          <a:p>
            <a:r>
              <a:rPr lang="en-US"/>
              <a:t>Chọn kiểu code của vật liệu.</a:t>
            </a:r>
            <a:endParaRPr lang="en-US" dirty="0"/>
          </a:p>
        </p:txBody>
      </p:sp>
      <p:sp>
        <p:nvSpPr>
          <p:cNvPr id="32" name="Rectangle 11">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US"/>
          </a:p>
        </p:txBody>
      </p:sp>
      <p:sp>
        <p:nvSpPr>
          <p:cNvPr id="33" name="Rectangle 13">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US"/>
          </a:p>
        </p:txBody>
      </p:sp>
      <p:sp>
        <p:nvSpPr>
          <p:cNvPr id="34" name="Content Placeholder 8">
            <a:extLst>
              <a:ext uri="{FF2B5EF4-FFF2-40B4-BE49-F238E27FC236}">
                <a16:creationId xmlns:a16="http://schemas.microsoft.com/office/drawing/2014/main" id="{0825DAB4-0A8A-40F6-1DCD-2F323D126DE1}"/>
              </a:ext>
            </a:extLst>
          </p:cNvPr>
          <p:cNvSpPr>
            <a:spLocks noGrp="1"/>
          </p:cNvSpPr>
          <p:nvPr>
            <p:ph idx="1"/>
          </p:nvPr>
        </p:nvSpPr>
        <p:spPr>
          <a:xfrm>
            <a:off x="6579450" y="2373547"/>
            <a:ext cx="4957554" cy="3756826"/>
          </a:xfrm>
        </p:spPr>
        <p:txBody>
          <a:bodyPr>
            <a:normAutofit/>
          </a:bodyPr>
          <a:lstStyle/>
          <a:p>
            <a:r>
              <a:rPr lang="en-US"/>
              <a:t>Trong phần “Phân loại tài liệu” có ba loại code để bạn chọn</a:t>
            </a:r>
          </a:p>
          <a:p>
            <a:r>
              <a:rPr lang="en-US" b="1"/>
              <a:t>1. Module</a:t>
            </a:r>
          </a:p>
          <a:p>
            <a:r>
              <a:rPr lang="en-US" b="1"/>
              <a:t>2. Cell</a:t>
            </a:r>
          </a:p>
          <a:p>
            <a:r>
              <a:rPr lang="en-US" b="1"/>
              <a:t>3. Raw material</a:t>
            </a:r>
          </a:p>
          <a:p>
            <a:pPr>
              <a:buFontTx/>
              <a:buChar char="-"/>
            </a:pPr>
            <a:r>
              <a:rPr lang="en-US"/>
              <a:t>Khi bạn chọn đường line phê duyệt, vui lòng đúng phần loại như dưới đây</a:t>
            </a:r>
          </a:p>
          <a:p>
            <a:pPr marL="342900" indent="-342900">
              <a:buAutoNum type="arabicPeriod"/>
            </a:pPr>
            <a:r>
              <a:rPr lang="en-US"/>
              <a:t>[Cell] = &gt; Single Cell</a:t>
            </a:r>
          </a:p>
          <a:p>
            <a:pPr marL="342900" indent="-342900">
              <a:buAutoNum type="arabicPeriod"/>
            </a:pPr>
            <a:r>
              <a:rPr lang="en-US"/>
              <a:t>[Module] =&gt; Module</a:t>
            </a:r>
          </a:p>
          <a:p>
            <a:pPr marL="342900" indent="-342900">
              <a:buAutoNum type="arabicPeriod"/>
            </a:pPr>
            <a:r>
              <a:rPr lang="en-US"/>
              <a:t> [Raw material] =&gt; Raw materials</a:t>
            </a:r>
          </a:p>
        </p:txBody>
      </p:sp>
      <p:pic>
        <p:nvPicPr>
          <p:cNvPr id="4" name="Picture 3">
            <a:extLst>
              <a:ext uri="{FF2B5EF4-FFF2-40B4-BE49-F238E27FC236}">
                <a16:creationId xmlns:a16="http://schemas.microsoft.com/office/drawing/2014/main" id="{4B944470-AD25-D624-B6EF-9EEFF87EE8C1}"/>
              </a:ext>
            </a:extLst>
          </p:cNvPr>
          <p:cNvPicPr>
            <a:picLocks noChangeAspect="1"/>
          </p:cNvPicPr>
          <p:nvPr/>
        </p:nvPicPr>
        <p:blipFill>
          <a:blip r:embed="rId2"/>
          <a:stretch>
            <a:fillRect/>
          </a:stretch>
        </p:blipFill>
        <p:spPr>
          <a:xfrm>
            <a:off x="991240" y="988334"/>
            <a:ext cx="4887046" cy="1961342"/>
          </a:xfrm>
          <a:prstGeom prst="rect">
            <a:avLst/>
          </a:prstGeom>
        </p:spPr>
      </p:pic>
      <p:pic>
        <p:nvPicPr>
          <p:cNvPr id="7" name="Picture 6">
            <a:extLst>
              <a:ext uri="{FF2B5EF4-FFF2-40B4-BE49-F238E27FC236}">
                <a16:creationId xmlns:a16="http://schemas.microsoft.com/office/drawing/2014/main" id="{8E31E925-9D9F-ECF7-AA37-4FA9D11BF6DB}"/>
              </a:ext>
            </a:extLst>
          </p:cNvPr>
          <p:cNvPicPr>
            <a:picLocks noChangeAspect="1"/>
          </p:cNvPicPr>
          <p:nvPr/>
        </p:nvPicPr>
        <p:blipFill>
          <a:blip r:embed="rId3"/>
          <a:stretch>
            <a:fillRect/>
          </a:stretch>
        </p:blipFill>
        <p:spPr>
          <a:xfrm>
            <a:off x="991240" y="3356345"/>
            <a:ext cx="4912103" cy="2513321"/>
          </a:xfrm>
          <a:prstGeom prst="rect">
            <a:avLst/>
          </a:prstGeom>
        </p:spPr>
      </p:pic>
    </p:spTree>
    <p:extLst>
      <p:ext uri="{BB962C8B-B14F-4D97-AF65-F5344CB8AC3E}">
        <p14:creationId xmlns:p14="http://schemas.microsoft.com/office/powerpoint/2010/main" val="2116149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926E9-E357-5F39-F7A0-FC88D7C6C8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1459B0-EA19-A175-E674-BC4FC6ED1BE5}"/>
              </a:ext>
            </a:extLst>
          </p:cNvPr>
          <p:cNvSpPr>
            <a:spLocks noGrp="1"/>
          </p:cNvSpPr>
          <p:nvPr>
            <p:ph type="title"/>
          </p:nvPr>
        </p:nvSpPr>
        <p:spPr>
          <a:xfrm>
            <a:off x="6672047" y="436697"/>
            <a:ext cx="4957553" cy="1645920"/>
          </a:xfrm>
        </p:spPr>
        <p:txBody>
          <a:bodyPr>
            <a:normAutofit fontScale="90000"/>
          </a:bodyPr>
          <a:lstStyle/>
          <a:p>
            <a:r>
              <a:rPr lang="en-US" sz="4400"/>
              <a:t>Item Registration Document Classification.</a:t>
            </a:r>
          </a:p>
        </p:txBody>
      </p:sp>
      <p:sp>
        <p:nvSpPr>
          <p:cNvPr id="3" name="Content Placeholder 2">
            <a:extLst>
              <a:ext uri="{FF2B5EF4-FFF2-40B4-BE49-F238E27FC236}">
                <a16:creationId xmlns:a16="http://schemas.microsoft.com/office/drawing/2014/main" id="{FB23ED4C-FF15-5B59-4420-0077670A1B64}"/>
              </a:ext>
            </a:extLst>
          </p:cNvPr>
          <p:cNvSpPr>
            <a:spLocks noGrp="1"/>
          </p:cNvSpPr>
          <p:nvPr>
            <p:ph idx="1"/>
          </p:nvPr>
        </p:nvSpPr>
        <p:spPr>
          <a:xfrm>
            <a:off x="6762312" y="2082617"/>
            <a:ext cx="4957554" cy="4338686"/>
          </a:xfrm>
        </p:spPr>
        <p:txBody>
          <a:bodyPr>
            <a:normAutofit/>
          </a:bodyPr>
          <a:lstStyle/>
          <a:p>
            <a:r>
              <a:rPr lang="en-US"/>
              <a:t>1. Ở nút “</a:t>
            </a:r>
            <a:r>
              <a:rPr lang="en-US" b="1"/>
              <a:t>Add</a:t>
            </a:r>
            <a:r>
              <a:rPr lang="en-US"/>
              <a:t>” bạn có thể them một tab nữa để thêm các mã code khác</a:t>
            </a:r>
          </a:p>
          <a:p>
            <a:r>
              <a:rPr lang="en-US"/>
              <a:t>2. Ở nút “</a:t>
            </a:r>
            <a:r>
              <a:rPr lang="en-US" b="1"/>
              <a:t>Copy</a:t>
            </a:r>
            <a:r>
              <a:rPr lang="en-US"/>
              <a:t>” bạn có thể nguyên nội dung của tab trước và có thể sửa lại</a:t>
            </a:r>
          </a:p>
          <a:p>
            <a:r>
              <a:rPr lang="en-US"/>
              <a:t>3. Ở nút “</a:t>
            </a:r>
            <a:r>
              <a:rPr lang="en-US" b="1"/>
              <a:t>Delete</a:t>
            </a:r>
            <a:r>
              <a:rPr lang="en-US"/>
              <a:t>”, trường hợp bạn không cần nữa bạn có thể xóa các tab đi.</a:t>
            </a:r>
          </a:p>
          <a:p>
            <a:r>
              <a:rPr lang="en-US"/>
              <a:t>4. Chọn kiểu của mã code (ở đây bạn có thể chọn kiểu bán thành phầm, nguyên vật liệu, </a:t>
            </a:r>
          </a:p>
          <a:p>
            <a:r>
              <a:rPr lang="en-US"/>
              <a:t>5. ở đây bạn có thể nhập thông số như Voltage (ví dụ: 12- 3.0 C035)</a:t>
            </a:r>
          </a:p>
          <a:p>
            <a:r>
              <a:rPr lang="en-US"/>
              <a:t>6. Ở đây bạn có thể nhập Farad (Ví dụ: 3.5 mm).</a:t>
            </a:r>
            <a:endParaRPr lang="en-US" dirty="0"/>
          </a:p>
        </p:txBody>
      </p:sp>
      <p:pic>
        <p:nvPicPr>
          <p:cNvPr id="5" name="Picture 4">
            <a:extLst>
              <a:ext uri="{FF2B5EF4-FFF2-40B4-BE49-F238E27FC236}">
                <a16:creationId xmlns:a16="http://schemas.microsoft.com/office/drawing/2014/main" id="{180F2A6F-5303-8CD0-EDEC-353FC81C40F3}"/>
              </a:ext>
            </a:extLst>
          </p:cNvPr>
          <p:cNvPicPr>
            <a:picLocks noChangeAspect="1"/>
          </p:cNvPicPr>
          <p:nvPr/>
        </p:nvPicPr>
        <p:blipFill>
          <a:blip r:embed="rId2"/>
          <a:stretch>
            <a:fillRect/>
          </a:stretch>
        </p:blipFill>
        <p:spPr>
          <a:xfrm>
            <a:off x="472134" y="436697"/>
            <a:ext cx="6107316" cy="3128306"/>
          </a:xfrm>
          <a:prstGeom prst="rect">
            <a:avLst/>
          </a:prstGeom>
        </p:spPr>
      </p:pic>
    </p:spTree>
    <p:extLst>
      <p:ext uri="{BB962C8B-B14F-4D97-AF65-F5344CB8AC3E}">
        <p14:creationId xmlns:p14="http://schemas.microsoft.com/office/powerpoint/2010/main" val="1934041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9">
            <a:extLst>
              <a:ext uri="{FF2B5EF4-FFF2-40B4-BE49-F238E27FC236}">
                <a16:creationId xmlns:a16="http://schemas.microsoft.com/office/drawing/2014/main" id="{282E2A95-1A08-4118-83C6-B1CA5648E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
        <p:nvSpPr>
          <p:cNvPr id="17" name="Rectangle 11">
            <a:extLst>
              <a:ext uri="{FF2B5EF4-FFF2-40B4-BE49-F238E27FC236}">
                <a16:creationId xmlns:a16="http://schemas.microsoft.com/office/drawing/2014/main" id="{68DC0EC7-60EA-4BD3-BC04-D547DE1B28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0122" y="413053"/>
            <a:ext cx="8212114" cy="6064596"/>
          </a:xfrm>
          <a:prstGeom prst="rect">
            <a:avLst/>
          </a:prstGeom>
          <a:noFill/>
          <a:ln w="6350" cap="sq" cmpd="sng" algn="ctr">
            <a:solidFill>
              <a:srgbClr val="404040"/>
            </a:solidFill>
            <a:prstDash val="solid"/>
            <a:miter lim="800000"/>
          </a:ln>
          <a:effectLst/>
        </p:spPr>
        <p:txBody>
          <a:bodyPr/>
          <a:lstStyle/>
          <a:p>
            <a:endParaRPr lang="en-US"/>
          </a:p>
        </p:txBody>
      </p:sp>
      <p:sp>
        <p:nvSpPr>
          <p:cNvPr id="14" name="Rectangle 13">
            <a:extLst>
              <a:ext uri="{FF2B5EF4-FFF2-40B4-BE49-F238E27FC236}">
                <a16:creationId xmlns:a16="http://schemas.microsoft.com/office/drawing/2014/main" id="{2FFEFC7E-85EE-4AC9-A351-FBEB13A1D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20386" y="237744"/>
            <a:ext cx="2926080"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CB2511BB-FC4C-45F3-94EB-661D6806C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56699" y="413053"/>
            <a:ext cx="2616201" cy="6064596"/>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AA97E2-9502-487B-86C7-37C69151E524}"/>
              </a:ext>
            </a:extLst>
          </p:cNvPr>
          <p:cNvSpPr>
            <a:spLocks noGrp="1"/>
          </p:cNvSpPr>
          <p:nvPr>
            <p:ph type="title"/>
          </p:nvPr>
        </p:nvSpPr>
        <p:spPr>
          <a:xfrm>
            <a:off x="9321801" y="612843"/>
            <a:ext cx="2312480" cy="838885"/>
          </a:xfrm>
        </p:spPr>
        <p:txBody>
          <a:bodyPr anchor="b">
            <a:normAutofit fontScale="90000"/>
          </a:bodyPr>
          <a:lstStyle/>
          <a:p>
            <a:r>
              <a:rPr lang="en-US" sz="2800"/>
              <a:t>The request information</a:t>
            </a:r>
            <a:endParaRPr lang="en-US" sz="2800" dirty="0"/>
          </a:p>
        </p:txBody>
      </p:sp>
      <p:sp>
        <p:nvSpPr>
          <p:cNvPr id="3" name="Content Placeholder 2">
            <a:extLst>
              <a:ext uri="{FF2B5EF4-FFF2-40B4-BE49-F238E27FC236}">
                <a16:creationId xmlns:a16="http://schemas.microsoft.com/office/drawing/2014/main" id="{9D191F4A-7CD3-48F7-B8A7-959531787847}"/>
              </a:ext>
            </a:extLst>
          </p:cNvPr>
          <p:cNvSpPr>
            <a:spLocks noGrp="1"/>
          </p:cNvSpPr>
          <p:nvPr>
            <p:ph idx="1"/>
          </p:nvPr>
        </p:nvSpPr>
        <p:spPr>
          <a:xfrm>
            <a:off x="9321802" y="1518252"/>
            <a:ext cx="2312479" cy="4825987"/>
          </a:xfrm>
        </p:spPr>
        <p:txBody>
          <a:bodyPr>
            <a:normAutofit/>
          </a:bodyPr>
          <a:lstStyle/>
          <a:p>
            <a:pPr>
              <a:lnSpc>
                <a:spcPct val="100000"/>
              </a:lnSpc>
            </a:pPr>
            <a:r>
              <a:rPr lang="en-US" sz="1300">
                <a:solidFill>
                  <a:schemeClr val="tx1">
                    <a:lumMod val="85000"/>
                    <a:lumOff val="15000"/>
                  </a:schemeClr>
                </a:solidFill>
              </a:rPr>
              <a:t>1. Chọn loại hàng, hàng để phát triển, hàng để sản xuất hàng loạt.</a:t>
            </a:r>
          </a:p>
          <a:p>
            <a:pPr>
              <a:lnSpc>
                <a:spcPct val="100000"/>
              </a:lnSpc>
            </a:pPr>
            <a:r>
              <a:rPr lang="en-US" sz="1300">
                <a:solidFill>
                  <a:schemeClr val="tx1">
                    <a:lumMod val="85000"/>
                    <a:lumOff val="15000"/>
                  </a:schemeClr>
                </a:solidFill>
              </a:rPr>
              <a:t>2. Tên của khách hàng.</a:t>
            </a:r>
          </a:p>
          <a:p>
            <a:pPr>
              <a:lnSpc>
                <a:spcPct val="100000"/>
              </a:lnSpc>
            </a:pPr>
            <a:r>
              <a:rPr lang="en-US" sz="1300">
                <a:solidFill>
                  <a:schemeClr val="tx1">
                    <a:lumMod val="85000"/>
                    <a:lumOff val="15000"/>
                  </a:schemeClr>
                </a:solidFill>
              </a:rPr>
              <a:t>3. Mặt hàng này thuộc bộ phận nào sản xuất</a:t>
            </a:r>
          </a:p>
          <a:p>
            <a:pPr>
              <a:lnSpc>
                <a:spcPct val="100000"/>
              </a:lnSpc>
            </a:pPr>
            <a:r>
              <a:rPr lang="en-US" sz="1300">
                <a:solidFill>
                  <a:schemeClr val="tx1">
                    <a:lumMod val="85000"/>
                    <a:lumOff val="15000"/>
                  </a:schemeClr>
                </a:solidFill>
              </a:rPr>
              <a:t>4. Người dùng loại code này là ai</a:t>
            </a:r>
          </a:p>
          <a:p>
            <a:pPr>
              <a:lnSpc>
                <a:spcPct val="100000"/>
              </a:lnSpc>
            </a:pPr>
            <a:r>
              <a:rPr lang="en-US" sz="1300">
                <a:solidFill>
                  <a:schemeClr val="tx1">
                    <a:lumMod val="85000"/>
                    <a:lumOff val="15000"/>
                  </a:schemeClr>
                </a:solidFill>
              </a:rPr>
              <a:t>5.Ngày đặt hàng dự kiến khi nào.</a:t>
            </a:r>
            <a:endParaRPr lang="en-US" sz="1300" dirty="0">
              <a:solidFill>
                <a:schemeClr val="tx1">
                  <a:lumMod val="85000"/>
                  <a:lumOff val="15000"/>
                </a:schemeClr>
              </a:solidFill>
            </a:endParaRPr>
          </a:p>
        </p:txBody>
      </p:sp>
      <p:pic>
        <p:nvPicPr>
          <p:cNvPr id="5" name="Picture 4">
            <a:extLst>
              <a:ext uri="{FF2B5EF4-FFF2-40B4-BE49-F238E27FC236}">
                <a16:creationId xmlns:a16="http://schemas.microsoft.com/office/drawing/2014/main" id="{8787A69D-9878-6875-20C3-AA88BC3219B6}"/>
              </a:ext>
            </a:extLst>
          </p:cNvPr>
          <p:cNvPicPr>
            <a:picLocks noChangeAspect="1"/>
          </p:cNvPicPr>
          <p:nvPr/>
        </p:nvPicPr>
        <p:blipFill>
          <a:blip r:embed="rId2"/>
          <a:stretch>
            <a:fillRect/>
          </a:stretch>
        </p:blipFill>
        <p:spPr>
          <a:xfrm>
            <a:off x="419099" y="380351"/>
            <a:ext cx="8203137" cy="6097298"/>
          </a:xfrm>
          <a:prstGeom prst="rect">
            <a:avLst/>
          </a:prstGeom>
        </p:spPr>
      </p:pic>
    </p:spTree>
    <p:extLst>
      <p:ext uri="{BB962C8B-B14F-4D97-AF65-F5344CB8AC3E}">
        <p14:creationId xmlns:p14="http://schemas.microsoft.com/office/powerpoint/2010/main" val="3010030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6C450-9A12-63E2-A5BB-73709C48C275}"/>
              </a:ext>
            </a:extLst>
          </p:cNvPr>
          <p:cNvSpPr>
            <a:spLocks noGrp="1"/>
          </p:cNvSpPr>
          <p:nvPr>
            <p:ph type="title"/>
          </p:nvPr>
        </p:nvSpPr>
        <p:spPr>
          <a:xfrm>
            <a:off x="6579450" y="727627"/>
            <a:ext cx="4957553" cy="1022515"/>
          </a:xfrm>
        </p:spPr>
        <p:txBody>
          <a:bodyPr>
            <a:normAutofit/>
          </a:bodyPr>
          <a:lstStyle/>
          <a:p>
            <a:r>
              <a:rPr lang="en-US" sz="4400"/>
              <a:t>Kiểm tra chi tiết.</a:t>
            </a:r>
          </a:p>
        </p:txBody>
      </p:sp>
      <p:sp>
        <p:nvSpPr>
          <p:cNvPr id="10" name="Rectangle 9">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US"/>
          </a:p>
        </p:txBody>
      </p:sp>
      <p:sp>
        <p:nvSpPr>
          <p:cNvPr id="12" name="Rectangle 11">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US"/>
          </a:p>
        </p:txBody>
      </p:sp>
      <p:sp>
        <p:nvSpPr>
          <p:cNvPr id="3" name="Content Placeholder 2">
            <a:extLst>
              <a:ext uri="{FF2B5EF4-FFF2-40B4-BE49-F238E27FC236}">
                <a16:creationId xmlns:a16="http://schemas.microsoft.com/office/drawing/2014/main" id="{32E1A9D1-237E-6E27-310F-EA76F2B91DD0}"/>
              </a:ext>
            </a:extLst>
          </p:cNvPr>
          <p:cNvSpPr>
            <a:spLocks noGrp="1"/>
          </p:cNvSpPr>
          <p:nvPr>
            <p:ph idx="1"/>
          </p:nvPr>
        </p:nvSpPr>
        <p:spPr>
          <a:xfrm>
            <a:off x="6579450" y="1750142"/>
            <a:ext cx="4957554" cy="4284897"/>
          </a:xfrm>
        </p:spPr>
        <p:txBody>
          <a:bodyPr>
            <a:normAutofit/>
          </a:bodyPr>
          <a:lstStyle/>
          <a:p>
            <a:r>
              <a:rPr lang="en-US"/>
              <a:t>1. Chọn đơn vị </a:t>
            </a:r>
          </a:p>
          <a:p>
            <a:r>
              <a:rPr lang="en-US"/>
              <a:t>2. Chọn danh mục loại hàng</a:t>
            </a:r>
          </a:p>
          <a:p>
            <a:r>
              <a:rPr lang="en-US"/>
              <a:t>3. Chọn phân loại hàng</a:t>
            </a:r>
          </a:p>
          <a:p>
            <a:r>
              <a:rPr lang="en-US"/>
              <a:t>4. Chọn nhóm danh mục sản phẩm</a:t>
            </a:r>
          </a:p>
          <a:p>
            <a:r>
              <a:rPr lang="en-US"/>
              <a:t>5. Chọn kích cỡ con hàng.</a:t>
            </a:r>
          </a:p>
          <a:p>
            <a:r>
              <a:rPr lang="en-US"/>
              <a:t>6. Chọn kiểu mua sắm con hàng</a:t>
            </a:r>
          </a:p>
          <a:p>
            <a:r>
              <a:rPr lang="en-US"/>
              <a:t>7. Chọn kiểu loại mặt hàng</a:t>
            </a:r>
          </a:p>
          <a:p>
            <a:r>
              <a:rPr lang="en-US"/>
              <a:t>8. Chọn kiểu ở trong nước hay ở nước ngoài.</a:t>
            </a:r>
            <a:endParaRPr lang="en-US" dirty="0"/>
          </a:p>
        </p:txBody>
      </p:sp>
      <p:pic>
        <p:nvPicPr>
          <p:cNvPr id="5" name="Picture 4">
            <a:extLst>
              <a:ext uri="{FF2B5EF4-FFF2-40B4-BE49-F238E27FC236}">
                <a16:creationId xmlns:a16="http://schemas.microsoft.com/office/drawing/2014/main" id="{9FE7F0A0-E832-095D-C0A1-5230734C112B}"/>
              </a:ext>
            </a:extLst>
          </p:cNvPr>
          <p:cNvPicPr>
            <a:picLocks noChangeAspect="1"/>
          </p:cNvPicPr>
          <p:nvPr/>
        </p:nvPicPr>
        <p:blipFill>
          <a:blip r:embed="rId2"/>
          <a:stretch>
            <a:fillRect/>
          </a:stretch>
        </p:blipFill>
        <p:spPr>
          <a:xfrm>
            <a:off x="885216" y="892220"/>
            <a:ext cx="5054518" cy="5073559"/>
          </a:xfrm>
          <a:prstGeom prst="rect">
            <a:avLst/>
          </a:prstGeom>
        </p:spPr>
      </p:pic>
    </p:spTree>
    <p:extLst>
      <p:ext uri="{BB962C8B-B14F-4D97-AF65-F5344CB8AC3E}">
        <p14:creationId xmlns:p14="http://schemas.microsoft.com/office/powerpoint/2010/main" val="3051464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3A59-D23F-EDCA-7E6B-070B2847C88E}"/>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697BBE1-FAB0-31F1-DC50-F264AF06F397}"/>
              </a:ext>
            </a:extLst>
          </p:cNvPr>
          <p:cNvSpPr>
            <a:spLocks noGrp="1"/>
          </p:cNvSpPr>
          <p:nvPr>
            <p:ph idx="1"/>
          </p:nvPr>
        </p:nvSpPr>
        <p:spPr>
          <a:xfrm>
            <a:off x="603315" y="2103120"/>
            <a:ext cx="11123629" cy="3849624"/>
          </a:xfrm>
        </p:spPr>
        <p:txBody>
          <a:bodyPr/>
          <a:lstStyle/>
          <a:p>
            <a:endParaRPr lang="en-US"/>
          </a:p>
          <a:p>
            <a:endParaRPr lang="en-US"/>
          </a:p>
          <a:p>
            <a:endParaRPr lang="en-US"/>
          </a:p>
          <a:p>
            <a:pPr marL="0" indent="0">
              <a:buNone/>
            </a:pPr>
            <a:r>
              <a:rPr lang="en-US" sz="4000" b="1">
                <a:solidFill>
                  <a:srgbClr val="FF0000"/>
                </a:solidFill>
              </a:rPr>
              <a:t>THAY ĐỔI THÔNG TIN CỦA CÁC LOẠI CODE</a:t>
            </a:r>
          </a:p>
        </p:txBody>
      </p:sp>
    </p:spTree>
    <p:extLst>
      <p:ext uri="{BB962C8B-B14F-4D97-AF65-F5344CB8AC3E}">
        <p14:creationId xmlns:p14="http://schemas.microsoft.com/office/powerpoint/2010/main" val="1134492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E848F-88A1-1FF2-DD85-3EA2B5151B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64C257-E942-BC29-4C90-9A96E076ADE5}"/>
              </a:ext>
            </a:extLst>
          </p:cNvPr>
          <p:cNvSpPr>
            <a:spLocks noGrp="1"/>
          </p:cNvSpPr>
          <p:nvPr>
            <p:ph type="title"/>
          </p:nvPr>
        </p:nvSpPr>
        <p:spPr>
          <a:xfrm>
            <a:off x="6579450" y="727627"/>
            <a:ext cx="4957553" cy="1022515"/>
          </a:xfrm>
        </p:spPr>
        <p:txBody>
          <a:bodyPr>
            <a:normAutofit fontScale="90000"/>
          </a:bodyPr>
          <a:lstStyle/>
          <a:p>
            <a:r>
              <a:rPr lang="en-US" sz="4400"/>
              <a:t>Cập nhật lại thông tin code.</a:t>
            </a:r>
          </a:p>
        </p:txBody>
      </p:sp>
      <p:sp>
        <p:nvSpPr>
          <p:cNvPr id="3" name="Content Placeholder 2">
            <a:extLst>
              <a:ext uri="{FF2B5EF4-FFF2-40B4-BE49-F238E27FC236}">
                <a16:creationId xmlns:a16="http://schemas.microsoft.com/office/drawing/2014/main" id="{50A17431-5084-9FB6-5A61-A552E770D90F}"/>
              </a:ext>
            </a:extLst>
          </p:cNvPr>
          <p:cNvSpPr>
            <a:spLocks noGrp="1"/>
          </p:cNvSpPr>
          <p:nvPr>
            <p:ph idx="1"/>
          </p:nvPr>
        </p:nvSpPr>
        <p:spPr>
          <a:xfrm>
            <a:off x="6579450" y="1750142"/>
            <a:ext cx="4957554" cy="4284897"/>
          </a:xfrm>
        </p:spPr>
        <p:txBody>
          <a:bodyPr>
            <a:normAutofit/>
          </a:bodyPr>
          <a:lstStyle/>
          <a:p>
            <a:r>
              <a:rPr lang="en-US"/>
              <a:t>Để thay đổi, hoặc cập nhật bất kỳ thông tin nào cho mã code, bạn cần vào menu như hình bên trai =&gt; Electronic =&gt; Item =&gt; Item Change Document.</a:t>
            </a:r>
            <a:endParaRPr lang="en-US" dirty="0"/>
          </a:p>
        </p:txBody>
      </p:sp>
      <p:pic>
        <p:nvPicPr>
          <p:cNvPr id="5" name="Picture 4">
            <a:extLst>
              <a:ext uri="{FF2B5EF4-FFF2-40B4-BE49-F238E27FC236}">
                <a16:creationId xmlns:a16="http://schemas.microsoft.com/office/drawing/2014/main" id="{E4231868-FAF1-8981-17E8-0D63EF4B2720}"/>
              </a:ext>
            </a:extLst>
          </p:cNvPr>
          <p:cNvPicPr>
            <a:picLocks noChangeAspect="1"/>
          </p:cNvPicPr>
          <p:nvPr/>
        </p:nvPicPr>
        <p:blipFill>
          <a:blip r:embed="rId2"/>
          <a:stretch>
            <a:fillRect/>
          </a:stretch>
        </p:blipFill>
        <p:spPr>
          <a:xfrm>
            <a:off x="412955" y="403124"/>
            <a:ext cx="6076335" cy="6037006"/>
          </a:xfrm>
          <a:prstGeom prst="rect">
            <a:avLst/>
          </a:prstGeom>
        </p:spPr>
      </p:pic>
    </p:spTree>
    <p:extLst>
      <p:ext uri="{BB962C8B-B14F-4D97-AF65-F5344CB8AC3E}">
        <p14:creationId xmlns:p14="http://schemas.microsoft.com/office/powerpoint/2010/main" val="2937155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54660-3EE1-4822-BCE4-2F945A6010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A4A812-0748-8BB0-311E-8D70E0BE89BF}"/>
              </a:ext>
            </a:extLst>
          </p:cNvPr>
          <p:cNvSpPr>
            <a:spLocks noGrp="1"/>
          </p:cNvSpPr>
          <p:nvPr>
            <p:ph type="title"/>
          </p:nvPr>
        </p:nvSpPr>
        <p:spPr>
          <a:xfrm>
            <a:off x="6579450" y="727627"/>
            <a:ext cx="4957553" cy="1022515"/>
          </a:xfrm>
        </p:spPr>
        <p:txBody>
          <a:bodyPr>
            <a:normAutofit fontScale="90000"/>
          </a:bodyPr>
          <a:lstStyle/>
          <a:p>
            <a:r>
              <a:rPr lang="en-US" sz="4400"/>
              <a:t>Chọn loại mã code để cập nhật</a:t>
            </a:r>
          </a:p>
        </p:txBody>
      </p:sp>
      <p:sp>
        <p:nvSpPr>
          <p:cNvPr id="3" name="Content Placeholder 2">
            <a:extLst>
              <a:ext uri="{FF2B5EF4-FFF2-40B4-BE49-F238E27FC236}">
                <a16:creationId xmlns:a16="http://schemas.microsoft.com/office/drawing/2014/main" id="{E8302CEB-C5BD-F4A8-468B-EE71AD3DC4C4}"/>
              </a:ext>
            </a:extLst>
          </p:cNvPr>
          <p:cNvSpPr>
            <a:spLocks noGrp="1"/>
          </p:cNvSpPr>
          <p:nvPr>
            <p:ph idx="1"/>
          </p:nvPr>
        </p:nvSpPr>
        <p:spPr>
          <a:xfrm>
            <a:off x="6579450" y="1750142"/>
            <a:ext cx="4957554" cy="4284897"/>
          </a:xfrm>
        </p:spPr>
        <p:txBody>
          <a:bodyPr>
            <a:normAutofit/>
          </a:bodyPr>
          <a:lstStyle/>
          <a:p>
            <a:r>
              <a:rPr lang="en-US"/>
              <a:t>1. ở nút “Tìm kiếm mặt hàng”, bạn cần click choột vào đó</a:t>
            </a:r>
          </a:p>
          <a:p>
            <a:r>
              <a:rPr lang="en-US"/>
              <a:t>2. Một cửa số mới sẽ hiện ra, bạn có thể tìm kiếm và chọn bất kỳ mã code hàng nào bạn cần cập nhật lại.</a:t>
            </a:r>
          </a:p>
          <a:p>
            <a:r>
              <a:rPr lang="en-US"/>
              <a:t>3 Sau khi đã chọn xong bạn có thể nhấn Áp dụng nữa chọn</a:t>
            </a:r>
            <a:endParaRPr lang="en-US" dirty="0"/>
          </a:p>
        </p:txBody>
      </p:sp>
      <p:pic>
        <p:nvPicPr>
          <p:cNvPr id="5" name="Picture 4">
            <a:extLst>
              <a:ext uri="{FF2B5EF4-FFF2-40B4-BE49-F238E27FC236}">
                <a16:creationId xmlns:a16="http://schemas.microsoft.com/office/drawing/2014/main" id="{13B4F0EB-B0A9-CC28-08E7-51D3A1259E09}"/>
              </a:ext>
            </a:extLst>
          </p:cNvPr>
          <p:cNvPicPr>
            <a:picLocks noChangeAspect="1"/>
          </p:cNvPicPr>
          <p:nvPr/>
        </p:nvPicPr>
        <p:blipFill>
          <a:blip r:embed="rId2"/>
          <a:stretch>
            <a:fillRect/>
          </a:stretch>
        </p:blipFill>
        <p:spPr>
          <a:xfrm>
            <a:off x="412955" y="435103"/>
            <a:ext cx="5997677" cy="2740716"/>
          </a:xfrm>
          <a:prstGeom prst="rect">
            <a:avLst/>
          </a:prstGeom>
        </p:spPr>
      </p:pic>
      <p:pic>
        <p:nvPicPr>
          <p:cNvPr id="7" name="Picture 6">
            <a:extLst>
              <a:ext uri="{FF2B5EF4-FFF2-40B4-BE49-F238E27FC236}">
                <a16:creationId xmlns:a16="http://schemas.microsoft.com/office/drawing/2014/main" id="{4757E287-2899-44D4-EE1F-05CE65C972BA}"/>
              </a:ext>
            </a:extLst>
          </p:cNvPr>
          <p:cNvPicPr>
            <a:picLocks noChangeAspect="1"/>
          </p:cNvPicPr>
          <p:nvPr/>
        </p:nvPicPr>
        <p:blipFill>
          <a:blip r:embed="rId3"/>
          <a:stretch>
            <a:fillRect/>
          </a:stretch>
        </p:blipFill>
        <p:spPr>
          <a:xfrm>
            <a:off x="450560" y="3323303"/>
            <a:ext cx="5960072" cy="3017321"/>
          </a:xfrm>
          <a:prstGeom prst="rect">
            <a:avLst/>
          </a:prstGeom>
        </p:spPr>
      </p:pic>
    </p:spTree>
    <p:extLst>
      <p:ext uri="{BB962C8B-B14F-4D97-AF65-F5344CB8AC3E}">
        <p14:creationId xmlns:p14="http://schemas.microsoft.com/office/powerpoint/2010/main" val="919657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D144A-6A17-06D9-6921-44D924CDC0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D52D75-61E9-B994-52A2-DEDBC8DABDEA}"/>
              </a:ext>
            </a:extLst>
          </p:cNvPr>
          <p:cNvSpPr>
            <a:spLocks noGrp="1"/>
          </p:cNvSpPr>
          <p:nvPr>
            <p:ph type="title"/>
          </p:nvPr>
        </p:nvSpPr>
        <p:spPr>
          <a:xfrm>
            <a:off x="6579450" y="727627"/>
            <a:ext cx="4957553" cy="1022515"/>
          </a:xfrm>
        </p:spPr>
        <p:txBody>
          <a:bodyPr>
            <a:normAutofit fontScale="90000"/>
          </a:bodyPr>
          <a:lstStyle/>
          <a:p>
            <a:r>
              <a:rPr lang="en-US" sz="4400"/>
              <a:t>Cập nhật lại thông tin code.</a:t>
            </a:r>
          </a:p>
        </p:txBody>
      </p:sp>
      <p:sp>
        <p:nvSpPr>
          <p:cNvPr id="3" name="Content Placeholder 2">
            <a:extLst>
              <a:ext uri="{FF2B5EF4-FFF2-40B4-BE49-F238E27FC236}">
                <a16:creationId xmlns:a16="http://schemas.microsoft.com/office/drawing/2014/main" id="{43A0C424-A416-3594-E75A-A5046BC8CE49}"/>
              </a:ext>
            </a:extLst>
          </p:cNvPr>
          <p:cNvSpPr>
            <a:spLocks noGrp="1"/>
          </p:cNvSpPr>
          <p:nvPr>
            <p:ph idx="1"/>
          </p:nvPr>
        </p:nvSpPr>
        <p:spPr>
          <a:xfrm>
            <a:off x="6579450" y="1750142"/>
            <a:ext cx="4957554" cy="4284897"/>
          </a:xfrm>
        </p:spPr>
        <p:txBody>
          <a:bodyPr>
            <a:normAutofit/>
          </a:bodyPr>
          <a:lstStyle/>
          <a:p>
            <a:r>
              <a:rPr lang="en-US"/>
              <a:t>Sau khi bạn chọn một mã code bất kỳ chương trình sẽ tự động sinh ra cho bạn các mã code như hình bên cạnh, sau đó bạn thể cập nhật lại thông tin, theo ý muốn của bạn.</a:t>
            </a:r>
            <a:endParaRPr lang="en-US" dirty="0"/>
          </a:p>
        </p:txBody>
      </p:sp>
      <p:pic>
        <p:nvPicPr>
          <p:cNvPr id="9" name="Picture 8">
            <a:extLst>
              <a:ext uri="{FF2B5EF4-FFF2-40B4-BE49-F238E27FC236}">
                <a16:creationId xmlns:a16="http://schemas.microsoft.com/office/drawing/2014/main" id="{10E5D5E2-09C5-0101-88F3-64ADA4078389}"/>
              </a:ext>
            </a:extLst>
          </p:cNvPr>
          <p:cNvPicPr>
            <a:picLocks noChangeAspect="1"/>
          </p:cNvPicPr>
          <p:nvPr/>
        </p:nvPicPr>
        <p:blipFill>
          <a:blip r:embed="rId2"/>
          <a:stretch>
            <a:fillRect/>
          </a:stretch>
        </p:blipFill>
        <p:spPr>
          <a:xfrm>
            <a:off x="440451" y="441310"/>
            <a:ext cx="6235651" cy="5969322"/>
          </a:xfrm>
          <a:prstGeom prst="rect">
            <a:avLst/>
          </a:prstGeom>
        </p:spPr>
      </p:pic>
    </p:spTree>
    <p:extLst>
      <p:ext uri="{BB962C8B-B14F-4D97-AF65-F5344CB8AC3E}">
        <p14:creationId xmlns:p14="http://schemas.microsoft.com/office/powerpoint/2010/main" val="2325770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FBEA0-330D-DCDC-2A6B-59AD8D6D74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CDE0B0-51DE-3100-BCB4-B2820979A5DA}"/>
              </a:ext>
            </a:extLst>
          </p:cNvPr>
          <p:cNvSpPr>
            <a:spLocks noGrp="1"/>
          </p:cNvSpPr>
          <p:nvPr>
            <p:ph type="title"/>
          </p:nvPr>
        </p:nvSpPr>
        <p:spPr>
          <a:xfrm>
            <a:off x="6579450" y="727627"/>
            <a:ext cx="4957553" cy="1022515"/>
          </a:xfrm>
        </p:spPr>
        <p:txBody>
          <a:bodyPr>
            <a:normAutofit fontScale="90000"/>
          </a:bodyPr>
          <a:lstStyle/>
          <a:p>
            <a:r>
              <a:rPr lang="en-US" sz="4400"/>
              <a:t>Cập nhật lại thông tin code.</a:t>
            </a:r>
          </a:p>
        </p:txBody>
      </p:sp>
      <p:sp>
        <p:nvSpPr>
          <p:cNvPr id="3" name="Content Placeholder 2">
            <a:extLst>
              <a:ext uri="{FF2B5EF4-FFF2-40B4-BE49-F238E27FC236}">
                <a16:creationId xmlns:a16="http://schemas.microsoft.com/office/drawing/2014/main" id="{F190A592-009E-4530-395F-22CDFD129919}"/>
              </a:ext>
            </a:extLst>
          </p:cNvPr>
          <p:cNvSpPr>
            <a:spLocks noGrp="1"/>
          </p:cNvSpPr>
          <p:nvPr>
            <p:ph idx="1"/>
          </p:nvPr>
        </p:nvSpPr>
        <p:spPr>
          <a:xfrm>
            <a:off x="6579449" y="1750142"/>
            <a:ext cx="4957555" cy="4284897"/>
          </a:xfrm>
        </p:spPr>
        <p:txBody>
          <a:bodyPr>
            <a:normAutofit/>
          </a:bodyPr>
          <a:lstStyle/>
          <a:p>
            <a:r>
              <a:rPr lang="en-US"/>
              <a:t>1. Chọn kiểu loại mua hàng</a:t>
            </a:r>
          </a:p>
          <a:p>
            <a:r>
              <a:rPr lang="en-US"/>
              <a:t>2. Chọn kho đưa vào</a:t>
            </a:r>
          </a:p>
          <a:p>
            <a:r>
              <a:rPr lang="en-US"/>
              <a:t>3. Chọn kho đưa ra</a:t>
            </a:r>
          </a:p>
          <a:p>
            <a:r>
              <a:rPr lang="en-US"/>
              <a:t>4. Chọn bộ phận chịu cost</a:t>
            </a:r>
            <a:endParaRPr lang="en-US" dirty="0"/>
          </a:p>
        </p:txBody>
      </p:sp>
      <p:pic>
        <p:nvPicPr>
          <p:cNvPr id="5" name="Picture 4">
            <a:extLst>
              <a:ext uri="{FF2B5EF4-FFF2-40B4-BE49-F238E27FC236}">
                <a16:creationId xmlns:a16="http://schemas.microsoft.com/office/drawing/2014/main" id="{45567F3A-CAF8-D1A3-1869-DE8040E75843}"/>
              </a:ext>
            </a:extLst>
          </p:cNvPr>
          <p:cNvPicPr>
            <a:picLocks noChangeAspect="1"/>
          </p:cNvPicPr>
          <p:nvPr/>
        </p:nvPicPr>
        <p:blipFill>
          <a:blip r:embed="rId2"/>
          <a:stretch>
            <a:fillRect/>
          </a:stretch>
        </p:blipFill>
        <p:spPr>
          <a:xfrm>
            <a:off x="393290" y="418140"/>
            <a:ext cx="6186159" cy="6041654"/>
          </a:xfrm>
          <a:prstGeom prst="rect">
            <a:avLst/>
          </a:prstGeom>
        </p:spPr>
      </p:pic>
    </p:spTree>
    <p:extLst>
      <p:ext uri="{BB962C8B-B14F-4D97-AF65-F5344CB8AC3E}">
        <p14:creationId xmlns:p14="http://schemas.microsoft.com/office/powerpoint/2010/main" val="3189475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35AD7-7756-C8C3-343E-C669745438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9666DE-0173-20CD-6AD9-388A9D6965A6}"/>
              </a:ext>
            </a:extLst>
          </p:cNvPr>
          <p:cNvSpPr>
            <a:spLocks noGrp="1"/>
          </p:cNvSpPr>
          <p:nvPr>
            <p:ph type="title"/>
          </p:nvPr>
        </p:nvSpPr>
        <p:spPr>
          <a:xfrm>
            <a:off x="6579450" y="727627"/>
            <a:ext cx="4957553" cy="1022515"/>
          </a:xfrm>
        </p:spPr>
        <p:txBody>
          <a:bodyPr>
            <a:normAutofit fontScale="90000"/>
          </a:bodyPr>
          <a:lstStyle/>
          <a:p>
            <a:r>
              <a:rPr lang="en-US" sz="4400"/>
              <a:t>Cập nhật lại thông tin code.</a:t>
            </a:r>
          </a:p>
        </p:txBody>
      </p:sp>
      <p:sp>
        <p:nvSpPr>
          <p:cNvPr id="3" name="Content Placeholder 2">
            <a:extLst>
              <a:ext uri="{FF2B5EF4-FFF2-40B4-BE49-F238E27FC236}">
                <a16:creationId xmlns:a16="http://schemas.microsoft.com/office/drawing/2014/main" id="{65C3A098-AD82-7DF5-DEC6-8A3E16B4E269}"/>
              </a:ext>
            </a:extLst>
          </p:cNvPr>
          <p:cNvSpPr>
            <a:spLocks noGrp="1"/>
          </p:cNvSpPr>
          <p:nvPr>
            <p:ph idx="1"/>
          </p:nvPr>
        </p:nvSpPr>
        <p:spPr>
          <a:xfrm>
            <a:off x="6579449" y="1750142"/>
            <a:ext cx="4957555" cy="4284897"/>
          </a:xfrm>
        </p:spPr>
        <p:txBody>
          <a:bodyPr>
            <a:normAutofit/>
          </a:bodyPr>
          <a:lstStyle/>
          <a:p>
            <a:r>
              <a:rPr lang="en-US"/>
              <a:t>1. Gửi tới người duyệt.</a:t>
            </a:r>
          </a:p>
          <a:p>
            <a:r>
              <a:rPr lang="en-US"/>
              <a:t>2. Lưu tạm vào hệ thống, để sửa sau, hoặc dùng sau.</a:t>
            </a:r>
          </a:p>
          <a:p>
            <a:r>
              <a:rPr lang="en-US"/>
              <a:t>3. Xóa form đi.</a:t>
            </a:r>
          </a:p>
          <a:p>
            <a:r>
              <a:rPr lang="en-US"/>
              <a:t>4. Xem tổng thể trước khi gửi đi.</a:t>
            </a:r>
          </a:p>
          <a:p>
            <a:r>
              <a:rPr lang="en-US"/>
              <a:t>5. Nhập lại mới các thông tin.</a:t>
            </a:r>
          </a:p>
          <a:p>
            <a:r>
              <a:rPr lang="en-US"/>
              <a:t>6. Giải thích tại sao cần cập nhật.</a:t>
            </a:r>
            <a:endParaRPr lang="en-US" dirty="0"/>
          </a:p>
        </p:txBody>
      </p:sp>
      <p:pic>
        <p:nvPicPr>
          <p:cNvPr id="6" name="Picture 5">
            <a:extLst>
              <a:ext uri="{FF2B5EF4-FFF2-40B4-BE49-F238E27FC236}">
                <a16:creationId xmlns:a16="http://schemas.microsoft.com/office/drawing/2014/main" id="{7BB9A1CF-A26F-48FE-65A1-59E7489B3550}"/>
              </a:ext>
            </a:extLst>
          </p:cNvPr>
          <p:cNvPicPr>
            <a:picLocks noChangeAspect="1"/>
          </p:cNvPicPr>
          <p:nvPr/>
        </p:nvPicPr>
        <p:blipFill>
          <a:blip r:embed="rId2"/>
          <a:stretch>
            <a:fillRect/>
          </a:stretch>
        </p:blipFill>
        <p:spPr>
          <a:xfrm>
            <a:off x="422786" y="422787"/>
            <a:ext cx="6156661" cy="6017341"/>
          </a:xfrm>
          <a:prstGeom prst="rect">
            <a:avLst/>
          </a:prstGeom>
        </p:spPr>
      </p:pic>
    </p:spTree>
    <p:extLst>
      <p:ext uri="{BB962C8B-B14F-4D97-AF65-F5344CB8AC3E}">
        <p14:creationId xmlns:p14="http://schemas.microsoft.com/office/powerpoint/2010/main" val="15857193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A82C4D5-F48D-7707-F1E6-7BE4AA31F7CE}"/>
              </a:ext>
            </a:extLst>
          </p:cNvPr>
          <p:cNvSpPr>
            <a:spLocks noGrp="1"/>
          </p:cNvSpPr>
          <p:nvPr>
            <p:ph type="title"/>
          </p:nvPr>
        </p:nvSpPr>
        <p:spPr>
          <a:xfrm>
            <a:off x="657546" y="642594"/>
            <a:ext cx="10972800" cy="5470530"/>
          </a:xfrm>
        </p:spPr>
        <p:txBody>
          <a:bodyPr/>
          <a:lstStyle/>
          <a:p>
            <a:r>
              <a:rPr lang="en-US"/>
              <a:t>Người</a:t>
            </a:r>
          </a:p>
        </p:txBody>
      </p:sp>
      <p:pic>
        <p:nvPicPr>
          <p:cNvPr id="1026" name="Picture 2" descr="Thank You For Listening Handwritten Lettering. Template for Banner, Flier, Poster, Print, Sticker or Web Product. Vector Illustration, Objects Isolated on White Background.">
            <a:extLst>
              <a:ext uri="{FF2B5EF4-FFF2-40B4-BE49-F238E27FC236}">
                <a16:creationId xmlns:a16="http://schemas.microsoft.com/office/drawing/2014/main" id="{FA15E2DE-5E9A-7305-FB73-4502B79FDC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546" y="642594"/>
            <a:ext cx="10972800" cy="5470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58428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AnalogousFromLightSeedRightStep">
      <a:dk1>
        <a:srgbClr val="000000"/>
      </a:dk1>
      <a:lt1>
        <a:srgbClr val="FFFFFF"/>
      </a:lt1>
      <a:dk2>
        <a:srgbClr val="242E41"/>
      </a:dk2>
      <a:lt2>
        <a:srgbClr val="E8E2E8"/>
      </a:lt2>
      <a:accent1>
        <a:srgbClr val="33BA34"/>
      </a:accent1>
      <a:accent2>
        <a:srgbClr val="38B66D"/>
      </a:accent2>
      <a:accent3>
        <a:srgbClr val="3EB3A0"/>
      </a:accent3>
      <a:accent4>
        <a:srgbClr val="29ACDA"/>
      </a:accent4>
      <a:accent5>
        <a:srgbClr val="7199EC"/>
      </a:accent5>
      <a:accent6>
        <a:srgbClr val="5F51E7"/>
      </a:accent6>
      <a:hlink>
        <a:srgbClr val="AE69AE"/>
      </a:hlink>
      <a:folHlink>
        <a:srgbClr val="7F7F7F"/>
      </a:folHlink>
    </a:clrScheme>
    <a:fontScheme name="Savon">
      <a:majorFont>
        <a:latin typeface="Goudy Old Style"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oudy Old Style"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docProps/app.xml><?xml version="1.0" encoding="utf-8"?>
<Properties xmlns="http://schemas.openxmlformats.org/officeDocument/2006/extended-properties" xmlns:vt="http://schemas.openxmlformats.org/officeDocument/2006/docPropsVTypes">
  <TotalTime>6380</TotalTime>
  <Words>926</Words>
  <Application>Microsoft Office PowerPoint</Application>
  <PresentationFormat>Widescreen</PresentationFormat>
  <Paragraphs>78</Paragraphs>
  <Slides>16</Slides>
  <Notes>0</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Garamond</vt:lpstr>
      <vt:lpstr>Goudy Old Style</vt:lpstr>
      <vt:lpstr>SavonVTI</vt:lpstr>
      <vt:lpstr> Hướng dẫn sử dụng chức năng tạo code và sửa BOM trên Groupware </vt:lpstr>
      <vt:lpstr>1.Đăng nhập hệ thống Groupware</vt:lpstr>
      <vt:lpstr>2.Thông tin đăng nhập vào Groupware</vt:lpstr>
      <vt:lpstr>Thay thế MES bằng Groupware.</vt:lpstr>
      <vt:lpstr>Chọn thông tin phê duyệt, tiêu đề, người làm form, upload file.</vt:lpstr>
      <vt:lpstr>Chọn kiểu code của vật liệu.</vt:lpstr>
      <vt:lpstr>Item Registration Document Classification.</vt:lpstr>
      <vt:lpstr>The request information</vt:lpstr>
      <vt:lpstr>Kiểm tra chi tiết.</vt:lpstr>
      <vt:lpstr>PowerPoint Presentation</vt:lpstr>
      <vt:lpstr>Cập nhật lại thông tin code.</vt:lpstr>
      <vt:lpstr>Chọn loại mã code để cập nhật</vt:lpstr>
      <vt:lpstr>Cập nhật lại thông tin code.</vt:lpstr>
      <vt:lpstr>Cập nhật lại thông tin code.</vt:lpstr>
      <vt:lpstr>Cập nhật lại thông tin code.</vt:lpstr>
      <vt:lpstr>Người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 guide function evaluate contract in CMS</dc:title>
  <dc:creator>Nha Nguyễn</dc:creator>
  <cp:lastModifiedBy>Nha Nguyen</cp:lastModifiedBy>
  <cp:revision>193</cp:revision>
  <dcterms:created xsi:type="dcterms:W3CDTF">2022-04-13T01:56:23Z</dcterms:created>
  <dcterms:modified xsi:type="dcterms:W3CDTF">2025-03-11T08:26:51Z</dcterms:modified>
</cp:coreProperties>
</file>