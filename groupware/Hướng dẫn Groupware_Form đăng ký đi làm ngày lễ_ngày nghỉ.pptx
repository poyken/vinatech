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69" r:id="rId7"/>
    <p:sldId id="258" r:id="rId8"/>
    <p:sldId id="262" r:id="rId9"/>
    <p:sldId id="281" r:id="rId10"/>
    <p:sldId id="282" r:id="rId11"/>
    <p:sldId id="283" r:id="rId12"/>
    <p:sldId id="284" r:id="rId13"/>
    <p:sldId id="285" r:id="rId14"/>
    <p:sldId id="286"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63" d="100"/>
          <a:sy n="63" d="100"/>
        </p:scale>
        <p:origin x="7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2025-01-06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2025-01-06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2025-01-06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2025-01-06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2025-01-06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2025-01-06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2025-01-06</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2025-01-06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2025-01-06</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956811"/>
            <a:ext cx="11439414" cy="897439"/>
          </a:xfrm>
        </p:spPr>
        <p:txBody>
          <a:bodyPr>
            <a:normAutofit fontScale="90000"/>
          </a:bodyPr>
          <a:lstStyle/>
          <a:p>
            <a:r>
              <a:rPr lang="en-US" sz="4400">
                <a:solidFill>
                  <a:schemeClr val="tx1"/>
                </a:solidFill>
              </a:rPr>
              <a:t>Hướng dẫn sử dụng chức năng SBC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5783001"/>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Groupware</a:t>
            </a:r>
            <a:endParaRPr lang="en-US" b="1" dirty="0"/>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endParaRPr lang="en-US" dirty="0"/>
          </a:p>
          <a:p>
            <a:r>
              <a:rPr lang="en-US" b="1"/>
              <a:t>  + Bạn có thể chọn buổi tượng như hình dưới đây:</a:t>
            </a:r>
            <a:endParaRPr lang="en-US" b="1" dirty="0"/>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5" name="Picture 4">
            <a:extLst>
              <a:ext uri="{FF2B5EF4-FFF2-40B4-BE49-F238E27FC236}">
                <a16:creationId xmlns:a16="http://schemas.microsoft.com/office/drawing/2014/main" id="{A8A6CD58-D79C-277D-3509-03C77F29C2B2}"/>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2. Thông tin đăng nhập</a:t>
            </a:r>
            <a:endParaRPr lang="en-US" b="1" dirty="0"/>
          </a:p>
          <a:p>
            <a:pPr marL="0" indent="0">
              <a:buNone/>
            </a:pPr>
            <a:r>
              <a:rPr lang="en-US" dirty="0"/>
              <a:t>- </a:t>
            </a:r>
            <a:r>
              <a:rPr lang="en-US" dirty="0" err="1"/>
              <a:t>Bước</a:t>
            </a:r>
            <a:r>
              <a:rPr lang="en-US" dirty="0"/>
              <a:t> 1</a:t>
            </a:r>
            <a:r>
              <a:rPr lang="en-US"/>
              <a:t>: Thông tin tài khoản cũng như mật khẩu của bạn chính là mã nhân viên trên hệ thống ERP, mật khẩu mặc định từ 1 tới 4, trong trường hợp không được bạn liên hệ lại với EA</a:t>
            </a:r>
            <a:endParaRPr lang="en-US" dirty="0"/>
          </a:p>
          <a:p>
            <a:pPr>
              <a:buFontTx/>
              <a:buChar char="-"/>
            </a:pPr>
            <a:r>
              <a:rPr lang="en-US"/>
              <a:t>Bước </a:t>
            </a:r>
            <a:r>
              <a:rPr lang="en-US" dirty="0"/>
              <a:t>2</a:t>
            </a:r>
            <a:r>
              <a:rPr lang="en-US"/>
              <a:t>: Trước khi login, bạn cần chọn Vinatech vina Co.,Ltd. </a:t>
            </a:r>
          </a:p>
          <a:p>
            <a:pPr>
              <a:buFontTx/>
              <a:buChar char="-"/>
            </a:pPr>
            <a:r>
              <a:rPr lang="en-US"/>
              <a:t>Bước 3: khi đã chọn xong, bạn nhập mã nhân viên và mật khẩu nhấn nút login để vào hệ thống. </a:t>
            </a:r>
            <a:endParaRPr lang="en-US" dirty="0"/>
          </a:p>
          <a:p>
            <a:endParaRPr lang="en-US" dirty="0"/>
          </a:p>
        </p:txBody>
      </p:sp>
      <p:pic>
        <p:nvPicPr>
          <p:cNvPr id="6" name="Picture 5">
            <a:extLst>
              <a:ext uri="{FF2B5EF4-FFF2-40B4-BE49-F238E27FC236}">
                <a16:creationId xmlns:a16="http://schemas.microsoft.com/office/drawing/2014/main" id="{AE4062FB-B594-DA1B-F4CD-4DAB58D97270}"/>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Form đăng ký đi làm ngày lễ, ngày nghỉ</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7" y="2303563"/>
            <a:ext cx="4602152" cy="3715424"/>
          </a:xfrm>
        </p:spPr>
        <p:txBody>
          <a:bodyPr>
            <a:normAutofit/>
          </a:bodyPr>
          <a:lstStyle/>
          <a:p>
            <a:r>
              <a:rPr lang="en-US" b="1"/>
              <a:t>1. Bạn truy cập vào phần menu chọn mục Electronic Document =&gt; Holiday Work Reuqest”.</a:t>
            </a:r>
            <a:endParaRPr lang="en-US" b="1" dirty="0"/>
          </a:p>
          <a:p>
            <a:pPr>
              <a:buFontTx/>
              <a:buChar char="-"/>
            </a:pPr>
            <a:r>
              <a:rPr lang="en-US" dirty="0" err="1"/>
              <a:t>Bước</a:t>
            </a:r>
            <a:r>
              <a:rPr lang="en-US" dirty="0"/>
              <a:t> 1: </a:t>
            </a:r>
            <a:r>
              <a:rPr lang="en-US" err="1"/>
              <a:t>Chọn</a:t>
            </a:r>
            <a:r>
              <a:rPr lang="en-US"/>
              <a:t> đường line phê duyệt, ở đây bạn có thể chọn hai kiểu đường line phê duyệt.</a:t>
            </a:r>
          </a:p>
          <a:p>
            <a:pPr marL="0" indent="0">
              <a:buNone/>
            </a:pPr>
            <a:r>
              <a:rPr lang="en-US"/>
              <a:t>  + Một đã được cài đặt trong hệ thống, bạn chỉ cần chọn.</a:t>
            </a:r>
          </a:p>
          <a:p>
            <a:pPr marL="0" indent="0">
              <a:buNone/>
            </a:pPr>
            <a:r>
              <a:rPr lang="en-US"/>
              <a:t>  + Hai bạn có thể tự lựa chọn những ai có thể duyệt form cho bạn.</a:t>
            </a:r>
          </a:p>
          <a:p>
            <a:pPr marL="0" indent="0">
              <a:buNone/>
            </a:pPr>
            <a:endParaRPr lang="en-US" b="1" dirty="0"/>
          </a:p>
        </p:txBody>
      </p:sp>
      <p:pic>
        <p:nvPicPr>
          <p:cNvPr id="3" name="Picture 2">
            <a:extLst>
              <a:ext uri="{FF2B5EF4-FFF2-40B4-BE49-F238E27FC236}">
                <a16:creationId xmlns:a16="http://schemas.microsoft.com/office/drawing/2014/main" id="{726270B3-5AA3-A81F-5E66-53AAC45148FD}"/>
              </a:ext>
            </a:extLst>
          </p:cNvPr>
          <p:cNvPicPr>
            <a:picLocks noChangeAspect="1"/>
          </p:cNvPicPr>
          <p:nvPr/>
        </p:nvPicPr>
        <p:blipFill>
          <a:blip r:embed="rId2"/>
          <a:stretch>
            <a:fillRect/>
          </a:stretch>
        </p:blipFill>
        <p:spPr>
          <a:xfrm>
            <a:off x="-1866" y="253548"/>
            <a:ext cx="6324816" cy="2696686"/>
          </a:xfrm>
          <a:prstGeom prst="rect">
            <a:avLst/>
          </a:prstGeom>
        </p:spPr>
      </p:pic>
      <p:pic>
        <p:nvPicPr>
          <p:cNvPr id="5" name="Picture 4">
            <a:extLst>
              <a:ext uri="{FF2B5EF4-FFF2-40B4-BE49-F238E27FC236}">
                <a16:creationId xmlns:a16="http://schemas.microsoft.com/office/drawing/2014/main" id="{3CF97889-722F-9A7F-EE15-F1C7535307C0}"/>
              </a:ext>
            </a:extLst>
          </p:cNvPr>
          <p:cNvPicPr>
            <a:picLocks noChangeAspect="1"/>
          </p:cNvPicPr>
          <p:nvPr/>
        </p:nvPicPr>
        <p:blipFill>
          <a:blip r:embed="rId3"/>
          <a:stretch>
            <a:fillRect/>
          </a:stretch>
        </p:blipFill>
        <p:spPr>
          <a:xfrm>
            <a:off x="16759" y="3528204"/>
            <a:ext cx="6322950" cy="3076248"/>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a:bodyPr>
          <a:lstStyle/>
          <a:p>
            <a:r>
              <a:rPr lang="en-US" sz="4400"/>
              <a:t>Form đăng ký đi làm ngày lễ, ngày nghỉ.</a:t>
            </a:r>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Số 1: bạn cần viết tiêu đề form của bạn.</a:t>
            </a:r>
          </a:p>
          <a:p>
            <a:r>
              <a:rPr lang="en-US"/>
              <a:t>Số 2: bạn có thể đính kèm file ở đây.</a:t>
            </a:r>
          </a:p>
          <a:p>
            <a:r>
              <a:rPr lang="en-US"/>
              <a:t>Số 3: là thông tin người làm form, bạn có thể điền tên người làm form hộ bạn ở đây</a:t>
            </a:r>
            <a:endParaRPr lang="en-US" dirty="0"/>
          </a:p>
        </p:txBody>
      </p:sp>
      <p:pic>
        <p:nvPicPr>
          <p:cNvPr id="4" name="Picture 3">
            <a:extLst>
              <a:ext uri="{FF2B5EF4-FFF2-40B4-BE49-F238E27FC236}">
                <a16:creationId xmlns:a16="http://schemas.microsoft.com/office/drawing/2014/main" id="{C2F5A70A-B66D-501B-114A-C6EA1DCFF189}"/>
              </a:ext>
            </a:extLst>
          </p:cNvPr>
          <p:cNvPicPr>
            <a:picLocks noChangeAspect="1"/>
          </p:cNvPicPr>
          <p:nvPr/>
        </p:nvPicPr>
        <p:blipFill>
          <a:blip r:embed="rId2"/>
          <a:stretch>
            <a:fillRect/>
          </a:stretch>
        </p:blipFill>
        <p:spPr>
          <a:xfrm>
            <a:off x="387372" y="435893"/>
            <a:ext cx="6192078" cy="6041756"/>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881374" y="149657"/>
            <a:ext cx="4957553" cy="1645920"/>
          </a:xfrm>
        </p:spPr>
        <p:txBody>
          <a:bodyPr>
            <a:normAutofit fontScale="90000"/>
          </a:bodyPr>
          <a:lstStyle/>
          <a:p>
            <a:r>
              <a:rPr lang="en-US" sz="4800"/>
              <a:t>Form đăng ký đi làm ngày lễ, ngày nghỉ</a:t>
            </a:r>
            <a:r>
              <a:rPr lang="en-US"/>
              <a:t>.</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734725" y="1561381"/>
            <a:ext cx="4957552" cy="4796287"/>
          </a:xfrm>
        </p:spPr>
        <p:txBody>
          <a:bodyPr>
            <a:normAutofit/>
          </a:bodyPr>
          <a:lstStyle/>
          <a:p>
            <a:r>
              <a:rPr lang="en-US"/>
              <a:t>Số 1: Lựa chọn nhân viên để đi làm.</a:t>
            </a:r>
          </a:p>
          <a:p>
            <a:r>
              <a:rPr lang="en-US"/>
              <a:t>Số 2: Chọn thêm người đi làm nếu cần trong form.</a:t>
            </a:r>
          </a:p>
          <a:p>
            <a:r>
              <a:rPr lang="en-US"/>
              <a:t>Số 3: Chọn ngày đi làm.</a:t>
            </a:r>
          </a:p>
          <a:p>
            <a:r>
              <a:rPr lang="en-US"/>
              <a:t>Số 4:  Thời gian đi làm tính theo tiếng</a:t>
            </a:r>
          </a:p>
          <a:p>
            <a:r>
              <a:rPr lang="en-US"/>
              <a:t>Số 5: Số giờ hệ thống tự động tính.</a:t>
            </a:r>
          </a:p>
          <a:p>
            <a:r>
              <a:rPr lang="en-US"/>
              <a:t>Số 6: Thêm ngày giời, cho người đã có trong danh sách</a:t>
            </a:r>
          </a:p>
          <a:p>
            <a:endParaRPr lang="en-US"/>
          </a:p>
        </p:txBody>
      </p:sp>
      <p:pic>
        <p:nvPicPr>
          <p:cNvPr id="5" name="Picture 4">
            <a:extLst>
              <a:ext uri="{FF2B5EF4-FFF2-40B4-BE49-F238E27FC236}">
                <a16:creationId xmlns:a16="http://schemas.microsoft.com/office/drawing/2014/main" id="{D1664A8C-E80A-5570-4181-A27F8D993B7F}"/>
              </a:ext>
            </a:extLst>
          </p:cNvPr>
          <p:cNvPicPr>
            <a:picLocks noChangeAspect="1"/>
          </p:cNvPicPr>
          <p:nvPr/>
        </p:nvPicPr>
        <p:blipFill>
          <a:blip r:embed="rId2"/>
          <a:stretch>
            <a:fillRect/>
          </a:stretch>
        </p:blipFill>
        <p:spPr>
          <a:xfrm>
            <a:off x="885217" y="972617"/>
            <a:ext cx="4933521" cy="2095048"/>
          </a:xfrm>
          <a:prstGeom prst="rect">
            <a:avLst/>
          </a:prstGeom>
        </p:spPr>
      </p:pic>
      <p:pic>
        <p:nvPicPr>
          <p:cNvPr id="7" name="Picture 6">
            <a:extLst>
              <a:ext uri="{FF2B5EF4-FFF2-40B4-BE49-F238E27FC236}">
                <a16:creationId xmlns:a16="http://schemas.microsoft.com/office/drawing/2014/main" id="{71D18205-69DF-DD65-119F-61F4643E33BB}"/>
              </a:ext>
            </a:extLst>
          </p:cNvPr>
          <p:cNvPicPr>
            <a:picLocks noChangeAspect="1"/>
          </p:cNvPicPr>
          <p:nvPr/>
        </p:nvPicPr>
        <p:blipFill>
          <a:blip r:embed="rId3"/>
          <a:stretch>
            <a:fillRect/>
          </a:stretch>
        </p:blipFill>
        <p:spPr>
          <a:xfrm>
            <a:off x="904268" y="2969343"/>
            <a:ext cx="4914470" cy="3093698"/>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a:bodyPr>
          <a:lstStyle/>
          <a:p>
            <a:r>
              <a:rPr lang="en-US" sz="2800"/>
              <a:t>Form đăng ký nhà thầu khách hàng.</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3854197"/>
          </a:xfrm>
        </p:spPr>
        <p:txBody>
          <a:bodyPr>
            <a:normAutofit/>
          </a:bodyPr>
          <a:lstStyle/>
          <a:p>
            <a:pPr>
              <a:lnSpc>
                <a:spcPct val="100000"/>
              </a:lnSpc>
            </a:pPr>
            <a:r>
              <a:rPr lang="en-US" sz="1300">
                <a:solidFill>
                  <a:schemeClr val="tx1">
                    <a:lumMod val="85000"/>
                    <a:lumOff val="15000"/>
                  </a:schemeClr>
                </a:solidFill>
              </a:rPr>
              <a:t>Ghi chú chi tiết các nếu bạn cần thiết.</a:t>
            </a:r>
          </a:p>
          <a:p>
            <a:pPr>
              <a:lnSpc>
                <a:spcPct val="100000"/>
              </a:lnSpc>
            </a:pPr>
            <a:r>
              <a:rPr lang="en-US" sz="1300">
                <a:solidFill>
                  <a:schemeClr val="tx1">
                    <a:lumMod val="85000"/>
                    <a:lumOff val="15000"/>
                  </a:schemeClr>
                </a:solidFill>
              </a:rPr>
              <a:t>Sau khi các thông tin form đã chính xác, bạn có thể nhấn vào nút “Gửi đi”</a:t>
            </a:r>
          </a:p>
          <a:p>
            <a:pPr>
              <a:lnSpc>
                <a:spcPct val="100000"/>
              </a:lnSpc>
            </a:pPr>
            <a:r>
              <a:rPr lang="en-US" sz="1300">
                <a:solidFill>
                  <a:schemeClr val="tx1">
                    <a:lumMod val="85000"/>
                    <a:lumOff val="15000"/>
                  </a:schemeClr>
                </a:solidFill>
              </a:rPr>
              <a:t>Trường hợp bạn chưa muốn gửi đi ngày, bạn có thể nhấn vào nút “Lưu trữ tạm thời”</a:t>
            </a:r>
          </a:p>
          <a:p>
            <a:pPr>
              <a:lnSpc>
                <a:spcPct val="100000"/>
              </a:lnSpc>
            </a:pPr>
            <a:r>
              <a:rPr lang="en-US" sz="1300">
                <a:solidFill>
                  <a:schemeClr val="tx1">
                    <a:lumMod val="85000"/>
                    <a:lumOff val="15000"/>
                  </a:schemeClr>
                </a:solidFill>
              </a:rPr>
              <a:t>Trường hợp bạn cũng có thể xóa nhớ tạm thời”</a:t>
            </a:r>
          </a:p>
          <a:p>
            <a:pPr>
              <a:lnSpc>
                <a:spcPct val="100000"/>
              </a:lnSpc>
            </a:pPr>
            <a:r>
              <a:rPr lang="en-US" sz="1300">
                <a:solidFill>
                  <a:schemeClr val="tx1">
                    <a:lumMod val="85000"/>
                    <a:lumOff val="15000"/>
                  </a:schemeClr>
                </a:solidFill>
              </a:rPr>
              <a:t>Khi các thông tin đã nhập xong bạn có thể xem lại bằng cách nhấn vào nút “Xem trước”</a:t>
            </a:r>
          </a:p>
          <a:p>
            <a:pPr>
              <a:lnSpc>
                <a:spcPct val="100000"/>
              </a:lnSpc>
            </a:pPr>
            <a:r>
              <a:rPr lang="en-US" sz="1300">
                <a:solidFill>
                  <a:schemeClr val="tx1">
                    <a:lumMod val="85000"/>
                    <a:lumOff val="15000"/>
                  </a:schemeClr>
                </a:solidFill>
              </a:rPr>
              <a:t>Bạn cũng có thể làm mới lại form.</a:t>
            </a:r>
          </a:p>
        </p:txBody>
      </p:sp>
      <p:pic>
        <p:nvPicPr>
          <p:cNvPr id="6" name="Picture 5">
            <a:extLst>
              <a:ext uri="{FF2B5EF4-FFF2-40B4-BE49-F238E27FC236}">
                <a16:creationId xmlns:a16="http://schemas.microsoft.com/office/drawing/2014/main" id="{3D274F3C-4AC4-3624-2DF9-3077D6857838}"/>
              </a:ext>
            </a:extLst>
          </p:cNvPr>
          <p:cNvPicPr>
            <a:picLocks noChangeAspect="1"/>
          </p:cNvPicPr>
          <p:nvPr/>
        </p:nvPicPr>
        <p:blipFill>
          <a:blip r:embed="rId2"/>
          <a:stretch>
            <a:fillRect/>
          </a:stretch>
        </p:blipFill>
        <p:spPr>
          <a:xfrm>
            <a:off x="481770" y="413053"/>
            <a:ext cx="8140466" cy="6064596"/>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C33D1-061C-4DA9-96ED-83E935B286C0}"/>
              </a:ext>
            </a:extLst>
          </p:cNvPr>
          <p:cNvSpPr>
            <a:spLocks noGrp="1"/>
          </p:cNvSpPr>
          <p:nvPr>
            <p:ph idx="1"/>
          </p:nvPr>
        </p:nvSpPr>
        <p:spPr>
          <a:xfrm>
            <a:off x="0" y="0"/>
            <a:ext cx="12192000" cy="6839744"/>
          </a:xfrm>
        </p:spPr>
        <p:txBody>
          <a:bodyPr>
            <a:normAutofit/>
          </a:bodyPr>
          <a:lstStyle/>
          <a:p>
            <a:pPr marL="0" indent="0">
              <a:buNone/>
            </a:pPr>
            <a:endParaRPr lang="en-US" sz="3000" b="1">
              <a:latin typeface="Times New Roman" panose="02020603050405020304" pitchFamily="18" charset="0"/>
              <a:cs typeface="Times New Roman" panose="02020603050405020304" pitchFamily="18" charset="0"/>
            </a:endParaRPr>
          </a:p>
          <a:p>
            <a:pPr marL="0" indent="0">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r>
              <a:rPr lang="en-US" sz="4800" b="1">
                <a:latin typeface="Times New Roman" panose="02020603050405020304" pitchFamily="18" charset="0"/>
                <a:cs typeface="Times New Roman" panose="02020603050405020304" pitchFamily="18" charset="0"/>
              </a:rPr>
              <a:t>FORM VIẾT BÁO CÁO KHI ĐI LÀM NGÀY NGHỈ, NGÀY LỄ.</a:t>
            </a:r>
          </a:p>
        </p:txBody>
      </p:sp>
    </p:spTree>
    <p:extLst>
      <p:ext uri="{BB962C8B-B14F-4D97-AF65-F5344CB8AC3E}">
        <p14:creationId xmlns:p14="http://schemas.microsoft.com/office/powerpoint/2010/main" val="2406122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16C034-81C2-6ACF-24E3-21823EBB9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F98AA-B3E5-8DB1-5301-69FBEE34C20F}"/>
              </a:ext>
            </a:extLst>
          </p:cNvPr>
          <p:cNvSpPr>
            <a:spLocks noGrp="1"/>
          </p:cNvSpPr>
          <p:nvPr>
            <p:ph type="title"/>
          </p:nvPr>
        </p:nvSpPr>
        <p:spPr>
          <a:xfrm>
            <a:off x="6579450" y="727627"/>
            <a:ext cx="4957553" cy="1645920"/>
          </a:xfrm>
        </p:spPr>
        <p:txBody>
          <a:bodyPr>
            <a:normAutofit/>
          </a:bodyPr>
          <a:lstStyle/>
          <a:p>
            <a:r>
              <a:rPr lang="en-US" sz="3700"/>
              <a:t>Form đăng ký báo cáo đi làm ngày nghỉ, ngày lễ.</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pic>
        <p:nvPicPr>
          <p:cNvPr id="5" name="Picture 4" descr="A screenshot of a computer&#10;&#10;Description automatically generated">
            <a:extLst>
              <a:ext uri="{FF2B5EF4-FFF2-40B4-BE49-F238E27FC236}">
                <a16:creationId xmlns:a16="http://schemas.microsoft.com/office/drawing/2014/main" id="{90BCA2CE-583C-26D6-6DDC-90858E602B04}"/>
              </a:ext>
            </a:extLst>
          </p:cNvPr>
          <p:cNvPicPr>
            <a:picLocks noChangeAspect="1"/>
          </p:cNvPicPr>
          <p:nvPr/>
        </p:nvPicPr>
        <p:blipFill>
          <a:blip r:embed="rId2"/>
          <a:stretch>
            <a:fillRect/>
          </a:stretch>
        </p:blipFill>
        <p:spPr>
          <a:xfrm>
            <a:off x="885216" y="905748"/>
            <a:ext cx="5054517" cy="1467799"/>
          </a:xfrm>
          <a:prstGeom prst="rect">
            <a:avLst/>
          </a:prstGeom>
        </p:spPr>
      </p:pic>
      <p:sp>
        <p:nvSpPr>
          <p:cNvPr id="3" name="Content Placeholder 2">
            <a:extLst>
              <a:ext uri="{FF2B5EF4-FFF2-40B4-BE49-F238E27FC236}">
                <a16:creationId xmlns:a16="http://schemas.microsoft.com/office/drawing/2014/main" id="{8489904A-00B7-3FE4-0B59-A37B92F0240E}"/>
              </a:ext>
            </a:extLst>
          </p:cNvPr>
          <p:cNvSpPr>
            <a:spLocks noGrp="1"/>
          </p:cNvSpPr>
          <p:nvPr>
            <p:ph idx="1"/>
          </p:nvPr>
        </p:nvSpPr>
        <p:spPr>
          <a:xfrm>
            <a:off x="6579450" y="2538919"/>
            <a:ext cx="4957554" cy="3496120"/>
          </a:xfrm>
        </p:spPr>
        <p:txBody>
          <a:bodyPr>
            <a:normAutofit/>
          </a:bodyPr>
          <a:lstStyle/>
          <a:p>
            <a:r>
              <a:rPr lang="en-US"/>
              <a:t>Đầu tiên bạn vào menu Electronic =&gt; Sau đó bạn chọn chức năng =&gt; Attendance =&gt; Holiday Work Request.</a:t>
            </a:r>
            <a:endParaRPr lang="en-US" dirty="0"/>
          </a:p>
          <a:p>
            <a:r>
              <a:rPr lang="en-US"/>
              <a:t>Số 1: Bạn click vào nút “Liên kết tài liệu”.</a:t>
            </a:r>
          </a:p>
          <a:p>
            <a:r>
              <a:rPr lang="en-US"/>
              <a:t>Một hộp thoại mới mở ra, bạn sẽ nhìn thấy toàn bộ form xin đi làm ngày nghỉ, ngày lễ đã được duyệt sẽ hiện ra.</a:t>
            </a:r>
          </a:p>
          <a:p>
            <a:r>
              <a:rPr lang="en-US"/>
              <a:t>Số 2: Bạn có thể xem nhấn vào nút “Nhìn” bạn sẽ xem được chi tiết.</a:t>
            </a:r>
          </a:p>
          <a:p>
            <a:r>
              <a:rPr lang="en-US"/>
              <a:t>Số 3: Bạn có thể nhấn vào nút “lựa chọn”.</a:t>
            </a:r>
            <a:endParaRPr lang="en-US" dirty="0"/>
          </a:p>
        </p:txBody>
      </p:sp>
      <p:pic>
        <p:nvPicPr>
          <p:cNvPr id="8" name="Picture 7">
            <a:extLst>
              <a:ext uri="{FF2B5EF4-FFF2-40B4-BE49-F238E27FC236}">
                <a16:creationId xmlns:a16="http://schemas.microsoft.com/office/drawing/2014/main" id="{77E665E1-D911-E120-4734-11911E0BA09F}"/>
              </a:ext>
            </a:extLst>
          </p:cNvPr>
          <p:cNvPicPr>
            <a:picLocks noChangeAspect="1"/>
          </p:cNvPicPr>
          <p:nvPr/>
        </p:nvPicPr>
        <p:blipFill>
          <a:blip r:embed="rId3"/>
          <a:stretch>
            <a:fillRect/>
          </a:stretch>
        </p:blipFill>
        <p:spPr>
          <a:xfrm>
            <a:off x="885216" y="3789802"/>
            <a:ext cx="5054516" cy="2199503"/>
          </a:xfrm>
          <a:prstGeom prst="rect">
            <a:avLst/>
          </a:prstGeom>
        </p:spPr>
      </p:pic>
    </p:spTree>
    <p:extLst>
      <p:ext uri="{BB962C8B-B14F-4D97-AF65-F5344CB8AC3E}">
        <p14:creationId xmlns:p14="http://schemas.microsoft.com/office/powerpoint/2010/main" val="2333904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1FFD-A282-71B7-AE2D-CDB01C3E0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A5112-98BA-01E2-F8C1-806585F341BF}"/>
              </a:ext>
            </a:extLst>
          </p:cNvPr>
          <p:cNvSpPr>
            <a:spLocks noGrp="1"/>
          </p:cNvSpPr>
          <p:nvPr>
            <p:ph type="title"/>
          </p:nvPr>
        </p:nvSpPr>
        <p:spPr>
          <a:xfrm>
            <a:off x="6579450" y="727627"/>
            <a:ext cx="4957553" cy="1645920"/>
          </a:xfrm>
        </p:spPr>
        <p:txBody>
          <a:bodyPr>
            <a:normAutofit fontScale="90000"/>
          </a:bodyPr>
          <a:lstStyle/>
          <a:p>
            <a:r>
              <a:rPr lang="en-US"/>
              <a:t>Form đăng ký báo cáo đi làm ngày nghỉ, ngày lễ.</a:t>
            </a:r>
            <a:endParaRPr lang="en-US" dirty="0"/>
          </a:p>
        </p:txBody>
      </p:sp>
      <p:sp>
        <p:nvSpPr>
          <p:cNvPr id="3" name="Content Placeholder 2">
            <a:extLst>
              <a:ext uri="{FF2B5EF4-FFF2-40B4-BE49-F238E27FC236}">
                <a16:creationId xmlns:a16="http://schemas.microsoft.com/office/drawing/2014/main" id="{AAC80B6E-B8CF-5046-DE15-8A85E5E81C0C}"/>
              </a:ext>
            </a:extLst>
          </p:cNvPr>
          <p:cNvSpPr>
            <a:spLocks noGrp="1"/>
          </p:cNvSpPr>
          <p:nvPr>
            <p:ph idx="1"/>
          </p:nvPr>
        </p:nvSpPr>
        <p:spPr>
          <a:xfrm>
            <a:off x="6682966" y="2545316"/>
            <a:ext cx="4957554" cy="3496120"/>
          </a:xfrm>
        </p:spPr>
        <p:txBody>
          <a:bodyPr>
            <a:normAutofit/>
          </a:bodyPr>
          <a:lstStyle/>
          <a:p>
            <a:r>
              <a:rPr lang="en-US"/>
              <a:t>Sau khi bạn chọn form đăng ký làm việc ngày nghỉ, ngày lễ, một giao diện mới sẽ được tạo ra ở đây</a:t>
            </a:r>
          </a:p>
          <a:p>
            <a:r>
              <a:rPr lang="en-US"/>
              <a:t>Gồm thông tin bạn đã đăng ký đi làm ngày lễ, ngày nghỉ.</a:t>
            </a:r>
          </a:p>
          <a:p>
            <a:endParaRPr lang="en-US" dirty="0"/>
          </a:p>
          <a:p>
            <a:endParaRPr lang="en-US" dirty="0"/>
          </a:p>
        </p:txBody>
      </p:sp>
      <p:pic>
        <p:nvPicPr>
          <p:cNvPr id="6" name="Picture 5">
            <a:extLst>
              <a:ext uri="{FF2B5EF4-FFF2-40B4-BE49-F238E27FC236}">
                <a16:creationId xmlns:a16="http://schemas.microsoft.com/office/drawing/2014/main" id="{BB5671A7-066E-074D-E90E-F7D656A7D63D}"/>
              </a:ext>
            </a:extLst>
          </p:cNvPr>
          <p:cNvPicPr>
            <a:picLocks noChangeAspect="1"/>
          </p:cNvPicPr>
          <p:nvPr/>
        </p:nvPicPr>
        <p:blipFill>
          <a:blip r:embed="rId2"/>
          <a:stretch>
            <a:fillRect/>
          </a:stretch>
        </p:blipFill>
        <p:spPr>
          <a:xfrm>
            <a:off x="420491" y="494160"/>
            <a:ext cx="6158959" cy="5884606"/>
          </a:xfrm>
          <a:prstGeom prst="rect">
            <a:avLst/>
          </a:prstGeom>
        </p:spPr>
      </p:pic>
    </p:spTree>
    <p:extLst>
      <p:ext uri="{BB962C8B-B14F-4D97-AF65-F5344CB8AC3E}">
        <p14:creationId xmlns:p14="http://schemas.microsoft.com/office/powerpoint/2010/main" val="111059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19C3-D4D8-CABF-500B-840779A5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B447A-EFAD-A31A-A69F-4D64B91FAB74}"/>
              </a:ext>
            </a:extLst>
          </p:cNvPr>
          <p:cNvSpPr>
            <a:spLocks noGrp="1"/>
          </p:cNvSpPr>
          <p:nvPr>
            <p:ph type="title"/>
          </p:nvPr>
        </p:nvSpPr>
        <p:spPr>
          <a:xfrm>
            <a:off x="6579450" y="727627"/>
            <a:ext cx="4957553" cy="1645920"/>
          </a:xfrm>
        </p:spPr>
        <p:txBody>
          <a:bodyPr>
            <a:normAutofit fontScale="90000"/>
          </a:bodyPr>
          <a:lstStyle/>
          <a:p>
            <a:r>
              <a:rPr lang="en-US"/>
              <a:t>Form đăng ký báo cáo đi làm ngày nghỉ, ngày lễ.</a:t>
            </a:r>
            <a:endParaRPr lang="en-US" dirty="0"/>
          </a:p>
        </p:txBody>
      </p:sp>
      <p:sp>
        <p:nvSpPr>
          <p:cNvPr id="3" name="Content Placeholder 2">
            <a:extLst>
              <a:ext uri="{FF2B5EF4-FFF2-40B4-BE49-F238E27FC236}">
                <a16:creationId xmlns:a16="http://schemas.microsoft.com/office/drawing/2014/main" id="{F596B6D4-6893-CF48-B4C0-613E6192B0E3}"/>
              </a:ext>
            </a:extLst>
          </p:cNvPr>
          <p:cNvSpPr>
            <a:spLocks noGrp="1"/>
          </p:cNvSpPr>
          <p:nvPr>
            <p:ph idx="1"/>
          </p:nvPr>
        </p:nvSpPr>
        <p:spPr>
          <a:xfrm>
            <a:off x="6691592" y="2519436"/>
            <a:ext cx="4957554" cy="3496120"/>
          </a:xfrm>
        </p:spPr>
        <p:txBody>
          <a:bodyPr>
            <a:normAutofit/>
          </a:bodyPr>
          <a:lstStyle/>
          <a:p>
            <a:r>
              <a:rPr lang="en-US"/>
              <a:t>Trong form này bạn có thể chỉnh sửa lại thời gian thực tế bạn đã làm trong ngày nghỉ, ngày lễ.</a:t>
            </a:r>
          </a:p>
          <a:p>
            <a:r>
              <a:rPr lang="en-US"/>
              <a:t>Bạn có thể lại sửa thông tin tin về giờ ra bắt đầu, thời gian kết thúc, ngày làm việc thực tế.</a:t>
            </a:r>
          </a:p>
          <a:p>
            <a:r>
              <a:rPr lang="en-US"/>
              <a:t>Ngoài ra bạn cũng cần upload file báo cáo vào cùng bạn đã làm được việc gì trong ngày hôm đó (cái này không bắt buộc có hoặc không tùy bạn)</a:t>
            </a:r>
            <a:endParaRPr lang="en-US" dirty="0"/>
          </a:p>
          <a:p>
            <a:endParaRPr lang="en-US" dirty="0"/>
          </a:p>
        </p:txBody>
      </p:sp>
      <p:pic>
        <p:nvPicPr>
          <p:cNvPr id="6" name="Picture 5">
            <a:extLst>
              <a:ext uri="{FF2B5EF4-FFF2-40B4-BE49-F238E27FC236}">
                <a16:creationId xmlns:a16="http://schemas.microsoft.com/office/drawing/2014/main" id="{E08CEE4B-C51D-F194-25F6-5EADB60433BF}"/>
              </a:ext>
            </a:extLst>
          </p:cNvPr>
          <p:cNvPicPr>
            <a:picLocks noChangeAspect="1"/>
          </p:cNvPicPr>
          <p:nvPr/>
        </p:nvPicPr>
        <p:blipFill>
          <a:blip r:embed="rId2"/>
          <a:stretch>
            <a:fillRect/>
          </a:stretch>
        </p:blipFill>
        <p:spPr>
          <a:xfrm>
            <a:off x="408682" y="407624"/>
            <a:ext cx="6170768" cy="6070293"/>
          </a:xfrm>
          <a:prstGeom prst="rect">
            <a:avLst/>
          </a:prstGeom>
        </p:spPr>
      </p:pic>
    </p:spTree>
    <p:extLst>
      <p:ext uri="{BB962C8B-B14F-4D97-AF65-F5344CB8AC3E}">
        <p14:creationId xmlns:p14="http://schemas.microsoft.com/office/powerpoint/2010/main" val="420958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1B1C-CBCE-7D34-C472-EF049A2AB6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147ED-8DFC-35EC-FF08-7C3FCE18E26F}"/>
              </a:ext>
            </a:extLst>
          </p:cNvPr>
          <p:cNvSpPr>
            <a:spLocks noGrp="1"/>
          </p:cNvSpPr>
          <p:nvPr>
            <p:ph idx="1"/>
          </p:nvPr>
        </p:nvSpPr>
        <p:spPr>
          <a:xfrm>
            <a:off x="0" y="0"/>
            <a:ext cx="12192000" cy="6839744"/>
          </a:xfrm>
        </p:spPr>
        <p:txBody>
          <a:bodyPr>
            <a:normAutofit/>
          </a:bodyPr>
          <a:lstStyle/>
          <a:p>
            <a:pPr marL="0" indent="0">
              <a:buNone/>
            </a:pPr>
            <a:endParaRPr lang="en-US" sz="3000" b="1">
              <a:latin typeface="Times New Roman" panose="02020603050405020304" pitchFamily="18" charset="0"/>
              <a:cs typeface="Times New Roman" panose="02020603050405020304" pitchFamily="18" charset="0"/>
            </a:endParaRPr>
          </a:p>
          <a:p>
            <a:pPr marL="0" indent="0">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r>
              <a:rPr lang="en-US" sz="4800" b="1">
                <a:latin typeface="Times New Roman" panose="02020603050405020304" pitchFamily="18" charset="0"/>
                <a:cs typeface="Times New Roman" panose="02020603050405020304" pitchFamily="18" charset="0"/>
              </a:rPr>
              <a:t>FORM TỔNG HỢP  KHI ĐI LÀM NGÀY NGHỈ, NGÀY LỄ.</a:t>
            </a:r>
          </a:p>
        </p:txBody>
      </p:sp>
    </p:spTree>
    <p:extLst>
      <p:ext uri="{BB962C8B-B14F-4D97-AF65-F5344CB8AC3E}">
        <p14:creationId xmlns:p14="http://schemas.microsoft.com/office/powerpoint/2010/main" val="97228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61D28-34DD-24CA-39A7-507F8C024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B27BB-6B11-6D2F-47F2-89A4C9E2BBBB}"/>
              </a:ext>
            </a:extLst>
          </p:cNvPr>
          <p:cNvSpPr>
            <a:spLocks noGrp="1"/>
          </p:cNvSpPr>
          <p:nvPr>
            <p:ph type="title"/>
          </p:nvPr>
        </p:nvSpPr>
        <p:spPr>
          <a:xfrm>
            <a:off x="6579450" y="727627"/>
            <a:ext cx="4957553" cy="1645920"/>
          </a:xfrm>
        </p:spPr>
        <p:txBody>
          <a:bodyPr>
            <a:normAutofit fontScale="90000"/>
          </a:bodyPr>
          <a:lstStyle/>
          <a:p>
            <a:r>
              <a:rPr lang="en-US"/>
              <a:t>Form xem đăng ký đi làm vào ngày nghỉ, lễ.</a:t>
            </a:r>
            <a:endParaRPr lang="en-US" dirty="0"/>
          </a:p>
        </p:txBody>
      </p:sp>
      <p:sp>
        <p:nvSpPr>
          <p:cNvPr id="3" name="Content Placeholder 2">
            <a:extLst>
              <a:ext uri="{FF2B5EF4-FFF2-40B4-BE49-F238E27FC236}">
                <a16:creationId xmlns:a16="http://schemas.microsoft.com/office/drawing/2014/main" id="{979C935E-EF3E-E81F-E536-C8875992EA2E}"/>
              </a:ext>
            </a:extLst>
          </p:cNvPr>
          <p:cNvSpPr>
            <a:spLocks noGrp="1"/>
          </p:cNvSpPr>
          <p:nvPr>
            <p:ph idx="1"/>
          </p:nvPr>
        </p:nvSpPr>
        <p:spPr>
          <a:xfrm>
            <a:off x="6691592" y="2519436"/>
            <a:ext cx="4957554" cy="3496120"/>
          </a:xfrm>
        </p:spPr>
        <p:txBody>
          <a:bodyPr>
            <a:normAutofit/>
          </a:bodyPr>
          <a:lstStyle/>
          <a:p>
            <a:r>
              <a:rPr lang="en-US"/>
              <a:t>Để xem được thông tin tổng hợp đã đăng ký đi làm vào ngày nghỉ, lễ bạn vào menu sau đây: Management =&gt; Holiday Work Management =&gt; Holiday Work Ledger.</a:t>
            </a:r>
          </a:p>
          <a:p>
            <a:r>
              <a:rPr lang="en-US"/>
              <a:t>Ở đây bạn có thể xem được toàn bộ những người đã đăng ký đi làm, với điều kiện là form của họ đã được duyệt</a:t>
            </a:r>
          </a:p>
          <a:p>
            <a:r>
              <a:rPr lang="en-US"/>
              <a:t>Bạn cũng có thể xuất file excel ra.</a:t>
            </a:r>
          </a:p>
          <a:p>
            <a:r>
              <a:rPr lang="en-US"/>
              <a:t>Note: phần này là dành cho nhân sự kiểm tra dữ liệu</a:t>
            </a:r>
            <a:endParaRPr lang="en-US" dirty="0"/>
          </a:p>
        </p:txBody>
      </p:sp>
      <p:pic>
        <p:nvPicPr>
          <p:cNvPr id="5" name="Picture 4">
            <a:extLst>
              <a:ext uri="{FF2B5EF4-FFF2-40B4-BE49-F238E27FC236}">
                <a16:creationId xmlns:a16="http://schemas.microsoft.com/office/drawing/2014/main" id="{84AF1A87-CE57-7425-7763-76E1A56B38B3}"/>
              </a:ext>
            </a:extLst>
          </p:cNvPr>
          <p:cNvPicPr>
            <a:picLocks noChangeAspect="1"/>
          </p:cNvPicPr>
          <p:nvPr/>
        </p:nvPicPr>
        <p:blipFill>
          <a:blip r:embed="rId2"/>
          <a:stretch>
            <a:fillRect/>
          </a:stretch>
        </p:blipFill>
        <p:spPr>
          <a:xfrm>
            <a:off x="362309" y="405442"/>
            <a:ext cx="6217141" cy="6029864"/>
          </a:xfrm>
          <a:prstGeom prst="rect">
            <a:avLst/>
          </a:prstGeom>
        </p:spPr>
      </p:pic>
    </p:spTree>
    <p:extLst>
      <p:ext uri="{BB962C8B-B14F-4D97-AF65-F5344CB8AC3E}">
        <p14:creationId xmlns:p14="http://schemas.microsoft.com/office/powerpoint/2010/main" val="3368271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24B8-5D10-000F-34E2-64D9CB4A0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93964-DDE1-D9B0-D520-D69B4020AD8F}"/>
              </a:ext>
            </a:extLst>
          </p:cNvPr>
          <p:cNvSpPr>
            <a:spLocks noGrp="1"/>
          </p:cNvSpPr>
          <p:nvPr>
            <p:ph type="title"/>
          </p:nvPr>
        </p:nvSpPr>
        <p:spPr>
          <a:xfrm>
            <a:off x="6579450" y="727627"/>
            <a:ext cx="4957553" cy="1645920"/>
          </a:xfrm>
        </p:spPr>
        <p:txBody>
          <a:bodyPr>
            <a:normAutofit fontScale="90000"/>
          </a:bodyPr>
          <a:lstStyle/>
          <a:p>
            <a:r>
              <a:rPr lang="en-US"/>
              <a:t>Form đăng ký báo cáo đi làm ngày nghỉ, ngày lễ.</a:t>
            </a:r>
            <a:endParaRPr lang="en-US" dirty="0"/>
          </a:p>
        </p:txBody>
      </p:sp>
      <p:sp>
        <p:nvSpPr>
          <p:cNvPr id="3" name="Content Placeholder 2">
            <a:extLst>
              <a:ext uri="{FF2B5EF4-FFF2-40B4-BE49-F238E27FC236}">
                <a16:creationId xmlns:a16="http://schemas.microsoft.com/office/drawing/2014/main" id="{12761AA6-9FBC-E7B6-593D-76A0EE671B9B}"/>
              </a:ext>
            </a:extLst>
          </p:cNvPr>
          <p:cNvSpPr>
            <a:spLocks noGrp="1"/>
          </p:cNvSpPr>
          <p:nvPr>
            <p:ph idx="1"/>
          </p:nvPr>
        </p:nvSpPr>
        <p:spPr>
          <a:xfrm>
            <a:off x="6691592" y="2519436"/>
            <a:ext cx="4957554" cy="3496120"/>
          </a:xfrm>
        </p:spPr>
        <p:txBody>
          <a:bodyPr>
            <a:normAutofit/>
          </a:bodyPr>
          <a:lstStyle/>
          <a:p>
            <a:r>
              <a:rPr lang="en-US"/>
              <a:t>Với hình ảnh bên góc trái là bạn có thể tìm kiếm được các form bạn đã đăng ký đi làm thêm vào ngày nghỉ, ngày lễ, với điều kiện là bạn đã làm báo cáo nó mới hiển thị ra.</a:t>
            </a:r>
          </a:p>
          <a:p>
            <a:r>
              <a:rPr lang="en-US"/>
              <a:t>Bạn cần vào menu sau: management =&gt; Holiday Work Management =&gt; Holiday Work Calculate Management.</a:t>
            </a:r>
          </a:p>
          <a:p>
            <a:r>
              <a:rPr lang="en-US"/>
              <a:t>Note: Phần này là dành cho kế toán để thanh toán</a:t>
            </a:r>
            <a:endParaRPr lang="en-US" dirty="0"/>
          </a:p>
        </p:txBody>
      </p:sp>
      <p:pic>
        <p:nvPicPr>
          <p:cNvPr id="5" name="Picture 4">
            <a:extLst>
              <a:ext uri="{FF2B5EF4-FFF2-40B4-BE49-F238E27FC236}">
                <a16:creationId xmlns:a16="http://schemas.microsoft.com/office/drawing/2014/main" id="{65DB4B42-F3AE-2AC5-4095-05FA6C979730}"/>
              </a:ext>
            </a:extLst>
          </p:cNvPr>
          <p:cNvPicPr>
            <a:picLocks noChangeAspect="1"/>
          </p:cNvPicPr>
          <p:nvPr/>
        </p:nvPicPr>
        <p:blipFill>
          <a:blip r:embed="rId2"/>
          <a:stretch>
            <a:fillRect/>
          </a:stretch>
        </p:blipFill>
        <p:spPr>
          <a:xfrm>
            <a:off x="412955" y="412955"/>
            <a:ext cx="6166495" cy="6086168"/>
          </a:xfrm>
          <a:prstGeom prst="rect">
            <a:avLst/>
          </a:prstGeom>
        </p:spPr>
      </p:pic>
    </p:spTree>
    <p:extLst>
      <p:ext uri="{BB962C8B-B14F-4D97-AF65-F5344CB8AC3E}">
        <p14:creationId xmlns:p14="http://schemas.microsoft.com/office/powerpoint/2010/main" val="1572549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8311</TotalTime>
  <Words>980</Words>
  <Application>Microsoft Office PowerPoint</Application>
  <PresentationFormat>Widescreen</PresentationFormat>
  <Paragraphs>68</Paragraphs>
  <Slides>15</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Garamond</vt:lpstr>
      <vt:lpstr>Goudy Old Style</vt:lpstr>
      <vt:lpstr>Times New Roman</vt:lpstr>
      <vt:lpstr>SavonVTI</vt:lpstr>
      <vt:lpstr>Hướng dẫn sử dụng chức năng SBC trên hệ thống Groupware</vt:lpstr>
      <vt:lpstr>1.Đăng nhập hệ thống Groupware</vt:lpstr>
      <vt:lpstr>2.Thông tin đăng nhập vào Groupware</vt:lpstr>
      <vt:lpstr>Form đăng ký đi làm ngày lễ, ngày nghỉ</vt:lpstr>
      <vt:lpstr>Form đăng ký đi làm ngày lễ, ngày nghỉ.</vt:lpstr>
      <vt:lpstr>Form đăng ký đi làm ngày lễ, ngày nghỉ.</vt:lpstr>
      <vt:lpstr>Form đăng ký nhà thầu khách hàng.</vt:lpstr>
      <vt:lpstr>PowerPoint Presentation</vt:lpstr>
      <vt:lpstr>Form đăng ký báo cáo đi làm ngày nghỉ, ngày lễ.</vt:lpstr>
      <vt:lpstr>Form đăng ký báo cáo đi làm ngày nghỉ, ngày lễ.</vt:lpstr>
      <vt:lpstr>Form đăng ký báo cáo đi làm ngày nghỉ, ngày lễ.</vt:lpstr>
      <vt:lpstr>PowerPoint Presentation</vt:lpstr>
      <vt:lpstr>Form xem đăng ký đi làm vào ngày nghỉ, lễ.</vt:lpstr>
      <vt:lpstr>Form đăng ký báo cáo đi làm ngày nghỉ, ngày lễ.</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Vina Tech06</cp:lastModifiedBy>
  <cp:revision>174</cp:revision>
  <dcterms:created xsi:type="dcterms:W3CDTF">2022-04-13T01:56:23Z</dcterms:created>
  <dcterms:modified xsi:type="dcterms:W3CDTF">2025-01-06T10:57:53Z</dcterms:modified>
</cp:coreProperties>
</file>