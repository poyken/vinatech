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74" r:id="rId6"/>
    <p:sldId id="269" r:id="rId7"/>
    <p:sldId id="258" r:id="rId8"/>
    <p:sldId id="279" r:id="rId9"/>
    <p:sldId id="272" r:id="rId10"/>
    <p:sldId id="277" r:id="rId11"/>
    <p:sldId id="262" r:id="rId12"/>
    <p:sldId id="281" r:id="rId13"/>
    <p:sldId id="282" r:id="rId14"/>
    <p:sldId id="283"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2025-01-02</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186439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2025-01-02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4111095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2025-01-02</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165320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2025-01-02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659808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8A7F15D8-96D1-4781-BC50-CA8A088B2FE4}" type="datetime1">
              <a:rPr lang="en-US" smtClean="0"/>
              <a:t>2025-01-02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06838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2025-01-02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539747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2025-01-02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019580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2025-01-02</a:t>
            </a:fld>
            <a:endParaRPr lang="en-US"/>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2992692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2025-01-02</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7367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2025-01-02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89561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2025-01-02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29927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F6FA2B21-3FCD-4721-B95C-427943F61125}" type="datetime1">
              <a:rPr lang="en-US" smtClean="0"/>
              <a:t>2025-01-02</a:t>
            </a:fld>
            <a:endParaRPr lang="en-US"/>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35428114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lang="en-US" sz="4800" b="1" i="1" kern="1200" cap="none" spc="-7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700" kern="1200">
          <a:solidFill>
            <a:schemeClr val="tx1"/>
          </a:solidFill>
          <a:latin typeface="+mn-lt"/>
          <a:ea typeface="+mn-ea"/>
          <a:cs typeface="+mn-cs"/>
        </a:defRPr>
      </a:lvl1pPr>
      <a:lvl2pPr marL="45720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500" kern="1200">
          <a:solidFill>
            <a:schemeClr val="tx1"/>
          </a:solidFill>
          <a:latin typeface="+mn-lt"/>
          <a:ea typeface="+mn-ea"/>
          <a:cs typeface="+mn-cs"/>
        </a:defRPr>
      </a:lvl2pPr>
      <a:lvl3pPr marL="73152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3pPr>
      <a:lvl4pPr marL="100584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4pPr>
      <a:lvl5pPr marL="1280160" indent="-182880" algn="l" defTabSz="914400" rtl="0" eaLnBrk="1" latinLnBrk="0" hangingPunct="1">
        <a:lnSpc>
          <a:spcPct val="11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Video 3" descr="Background pattern, arrow&#10;&#10;Description automatically generated with medium confidence">
            <a:extLst>
              <a:ext uri="{FF2B5EF4-FFF2-40B4-BE49-F238E27FC236}">
                <a16:creationId xmlns:a16="http://schemas.microsoft.com/office/drawing/2014/main" id="{0DD25A64-4F51-638C-97E4-0FF53C7ED3C3}"/>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10"/>
            <a:ext cx="12192000" cy="6857988"/>
          </a:xfrm>
          <a:prstGeom prst="rect">
            <a:avLst/>
          </a:prstGeom>
        </p:spPr>
      </p:pic>
      <p:sp>
        <p:nvSpPr>
          <p:cNvPr id="9" name="Rectangle 8">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30074"/>
            <a:ext cx="12192000" cy="2327925"/>
          </a:xfrm>
          <a:prstGeom prst="rect">
            <a:avLst/>
          </a:prstGeom>
          <a:solidFill>
            <a:schemeClr val="bg1">
              <a:alpha val="30000"/>
            </a:schemeClr>
          </a:solidFill>
          <a:ln w="6350" cap="sq" cmpd="sng" algn="ctr">
            <a:noFill/>
            <a:prstDash val="solid"/>
            <a:miter lim="800000"/>
          </a:ln>
          <a:effectLst/>
        </p:spPr>
        <p:txBody>
          <a:bodyPr/>
          <a:lstStyle/>
          <a:p>
            <a:endParaRPr lang="en-US"/>
          </a:p>
        </p:txBody>
      </p:sp>
      <p:sp>
        <p:nvSpPr>
          <p:cNvPr id="11" name="Rectangle 10">
            <a:extLst>
              <a:ext uri="{FF2B5EF4-FFF2-40B4-BE49-F238E27FC236}">
                <a16:creationId xmlns:a16="http://schemas.microsoft.com/office/drawing/2014/main" id="{0B121716-8B64-478F-ABDB-17030AD1B7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 y="4530071"/>
            <a:ext cx="12191999" cy="2327926"/>
          </a:xfrm>
          <a:prstGeom prst="rect">
            <a:avLst/>
          </a:prstGeom>
          <a:solidFill>
            <a:srgbClr val="33BA3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6116" y="4692768"/>
            <a:ext cx="11859768" cy="2002536"/>
          </a:xfrm>
          <a:prstGeom prst="rect">
            <a:avLst/>
          </a:prstGeom>
          <a:noFill/>
          <a:ln w="6350" cap="sq" cmpd="sng" algn="ctr">
            <a:solidFill>
              <a:schemeClr val="tx1"/>
            </a:solidFill>
            <a:prstDash val="solid"/>
            <a:miter lim="800000"/>
          </a:ln>
          <a:effectLst>
            <a:softEdge rad="0"/>
          </a:effectLst>
        </p:spPr>
        <p:txBody>
          <a:bodyPr/>
          <a:lstStyle/>
          <a:p>
            <a:endParaRPr lang="en-US"/>
          </a:p>
        </p:txBody>
      </p:sp>
      <p:sp>
        <p:nvSpPr>
          <p:cNvPr id="2" name="Title 1">
            <a:extLst>
              <a:ext uri="{FF2B5EF4-FFF2-40B4-BE49-F238E27FC236}">
                <a16:creationId xmlns:a16="http://schemas.microsoft.com/office/drawing/2014/main" id="{C9DDF167-DBD7-4C3A-9FC3-59FBDFCE8BCE}"/>
              </a:ext>
            </a:extLst>
          </p:cNvPr>
          <p:cNvSpPr>
            <a:spLocks noGrp="1"/>
          </p:cNvSpPr>
          <p:nvPr>
            <p:ph type="ctrTitle"/>
          </p:nvPr>
        </p:nvSpPr>
        <p:spPr>
          <a:xfrm>
            <a:off x="372723" y="4956811"/>
            <a:ext cx="11439414" cy="897439"/>
          </a:xfrm>
        </p:spPr>
        <p:txBody>
          <a:bodyPr>
            <a:normAutofit fontScale="90000"/>
          </a:bodyPr>
          <a:lstStyle/>
          <a:p>
            <a:r>
              <a:rPr lang="en-US" sz="4400">
                <a:solidFill>
                  <a:schemeClr val="tx1"/>
                </a:solidFill>
              </a:rPr>
              <a:t>Hướng dẫn sử dụng chức năng SBC trên hệ thống Groupware</a:t>
            </a:r>
            <a:endParaRPr lang="en-US" sz="4400" dirty="0">
              <a:solidFill>
                <a:schemeClr val="tx1"/>
              </a:solidFill>
            </a:endParaRPr>
          </a:p>
        </p:txBody>
      </p:sp>
      <p:sp>
        <p:nvSpPr>
          <p:cNvPr id="3" name="Subtitle 2">
            <a:extLst>
              <a:ext uri="{FF2B5EF4-FFF2-40B4-BE49-F238E27FC236}">
                <a16:creationId xmlns:a16="http://schemas.microsoft.com/office/drawing/2014/main" id="{B298A4C9-03F0-4958-8DA7-FF5094EF5AD3}"/>
              </a:ext>
            </a:extLst>
          </p:cNvPr>
          <p:cNvSpPr>
            <a:spLocks noGrp="1"/>
          </p:cNvSpPr>
          <p:nvPr>
            <p:ph type="subTitle" idx="1"/>
          </p:nvPr>
        </p:nvSpPr>
        <p:spPr>
          <a:xfrm>
            <a:off x="764275" y="5783001"/>
            <a:ext cx="10656310" cy="425961"/>
          </a:xfrm>
        </p:spPr>
        <p:txBody>
          <a:bodyPr>
            <a:normAutofit/>
          </a:bodyPr>
          <a:lstStyle/>
          <a:p>
            <a:r>
              <a:rPr lang="en-US">
                <a:solidFill>
                  <a:schemeClr val="tx1"/>
                </a:solidFill>
              </a:rPr>
              <a:t> </a:t>
            </a:r>
            <a:r>
              <a:rPr lang="en-US" dirty="0">
                <a:solidFill>
                  <a:schemeClr val="tx1"/>
                </a:solidFill>
              </a:rPr>
              <a:t>EA Team </a:t>
            </a:r>
            <a:r>
              <a:rPr lang="en-US" dirty="0" err="1">
                <a:solidFill>
                  <a:schemeClr val="tx1"/>
                </a:solidFill>
              </a:rPr>
              <a:t>Việt</a:t>
            </a:r>
            <a:r>
              <a:rPr lang="en-US" dirty="0">
                <a:solidFill>
                  <a:schemeClr val="tx1"/>
                </a:solidFill>
              </a:rPr>
              <a:t> Nam</a:t>
            </a:r>
          </a:p>
        </p:txBody>
      </p:sp>
    </p:spTree>
    <p:extLst>
      <p:ext uri="{BB962C8B-B14F-4D97-AF65-F5344CB8AC3E}">
        <p14:creationId xmlns:p14="http://schemas.microsoft.com/office/powerpoint/2010/main" val="317919359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4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1.Đăng nhập hệ thống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dirty="0"/>
              <a:t>I</a:t>
            </a:r>
            <a:r>
              <a:rPr lang="en-US" b="1"/>
              <a:t>. Đăng nhập Groupware</a:t>
            </a:r>
            <a:endParaRPr lang="en-US" b="1" dirty="0"/>
          </a:p>
          <a:p>
            <a:pPr>
              <a:buFontTx/>
              <a:buChar char="-"/>
            </a:pPr>
            <a:r>
              <a:rPr lang="en-US"/>
              <a:t>Có hai cách để bạn đăng nhập vào hệ thống Groupware</a:t>
            </a:r>
          </a:p>
          <a:p>
            <a:pPr marL="0" indent="0">
              <a:buNone/>
            </a:pPr>
            <a:r>
              <a:rPr lang="en-US"/>
              <a:t>     + Bạn có thể truy cập bằng link sau đây: </a:t>
            </a:r>
            <a:r>
              <a:rPr lang="en-US">
                <a:solidFill>
                  <a:srgbClr val="FF0000"/>
                </a:solidFill>
              </a:rPr>
              <a:t>https://gw.vinatech.com/login</a:t>
            </a:r>
            <a:r>
              <a:rPr lang="en-US"/>
              <a:t>.</a:t>
            </a:r>
            <a:endParaRPr lang="en-US" dirty="0"/>
          </a:p>
          <a:p>
            <a:r>
              <a:rPr lang="en-US" b="1"/>
              <a:t>  + Bạn có thể chọn buổi tượng như hình dưới đây:</a:t>
            </a:r>
            <a:endParaRPr lang="en-US" b="1" dirty="0"/>
          </a:p>
          <a:p>
            <a:pPr marL="0" indent="0">
              <a:buNone/>
            </a:pPr>
            <a:r>
              <a:rPr lang="en-US"/>
              <a:t>     + Bạn mở trình duyệt lên và ỏ góc phải màn hình có biểu tượng=&gt; bạn chọn tới icon của công ty có chữ groupware click vào đó</a:t>
            </a:r>
            <a:endParaRPr lang="en-US" dirty="0"/>
          </a:p>
        </p:txBody>
      </p:sp>
      <p:pic>
        <p:nvPicPr>
          <p:cNvPr id="5" name="Picture 4">
            <a:extLst>
              <a:ext uri="{FF2B5EF4-FFF2-40B4-BE49-F238E27FC236}">
                <a16:creationId xmlns:a16="http://schemas.microsoft.com/office/drawing/2014/main" id="{A8A6CD58-D79C-277D-3509-03C77F29C2B2}"/>
              </a:ext>
            </a:extLst>
          </p:cNvPr>
          <p:cNvPicPr>
            <a:picLocks noChangeAspect="1"/>
          </p:cNvPicPr>
          <p:nvPr/>
        </p:nvPicPr>
        <p:blipFill>
          <a:blip r:embed="rId2"/>
          <a:stretch>
            <a:fillRect/>
          </a:stretch>
        </p:blipFill>
        <p:spPr>
          <a:xfrm>
            <a:off x="4612641" y="3139440"/>
            <a:ext cx="7083396" cy="3343656"/>
          </a:xfrm>
          <a:prstGeom prst="rect">
            <a:avLst/>
          </a:prstGeom>
        </p:spPr>
      </p:pic>
    </p:spTree>
    <p:extLst>
      <p:ext uri="{BB962C8B-B14F-4D97-AF65-F5344CB8AC3E}">
        <p14:creationId xmlns:p14="http://schemas.microsoft.com/office/powerpoint/2010/main" val="310959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6E92D59-FD1B-47BC-9D02-0F3B959A6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92AE646-CC19-4A1F-900B-E512D06A7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4696" y="237744"/>
            <a:ext cx="11722608"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14E4F834-34CB-4787-920F-CD1E1B8BC7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707830" y="727823"/>
            <a:ext cx="3329150" cy="5402353"/>
          </a:xfrm>
        </p:spPr>
        <p:txBody>
          <a:bodyPr>
            <a:normAutofit/>
          </a:bodyPr>
          <a:lstStyle/>
          <a:p>
            <a:r>
              <a:rPr lang="en-US"/>
              <a:t>2.Thông tin đăng nhập vào Groupware</a:t>
            </a:r>
            <a:endParaRPr lang="en-US" dirty="0"/>
          </a:p>
        </p:txBody>
      </p:sp>
      <p:sp>
        <p:nvSpPr>
          <p:cNvPr id="3" name="Content Placeholder 2">
            <a:extLst>
              <a:ext uri="{FF2B5EF4-FFF2-40B4-BE49-F238E27FC236}">
                <a16:creationId xmlns:a16="http://schemas.microsoft.com/office/drawing/2014/main" id="{D41F7103-67B3-4191-BB4A-9FF0DFE9DA07}"/>
              </a:ext>
            </a:extLst>
          </p:cNvPr>
          <p:cNvSpPr>
            <a:spLocks noGrp="1"/>
          </p:cNvSpPr>
          <p:nvPr>
            <p:ph idx="1"/>
          </p:nvPr>
        </p:nvSpPr>
        <p:spPr>
          <a:xfrm>
            <a:off x="4521614" y="727823"/>
            <a:ext cx="6927842" cy="3072900"/>
          </a:xfrm>
        </p:spPr>
        <p:txBody>
          <a:bodyPr>
            <a:normAutofit/>
          </a:bodyPr>
          <a:lstStyle/>
          <a:p>
            <a:r>
              <a:rPr lang="en-US" b="1"/>
              <a:t>2. Thông tin đăng nhập</a:t>
            </a:r>
            <a:endParaRPr lang="en-US" b="1" dirty="0"/>
          </a:p>
          <a:p>
            <a:pPr marL="0" indent="0">
              <a:buNone/>
            </a:pPr>
            <a:r>
              <a:rPr lang="en-US" dirty="0"/>
              <a:t>- </a:t>
            </a:r>
            <a:r>
              <a:rPr lang="en-US" dirty="0" err="1"/>
              <a:t>Bước</a:t>
            </a:r>
            <a:r>
              <a:rPr lang="en-US" dirty="0"/>
              <a:t> 1</a:t>
            </a:r>
            <a:r>
              <a:rPr lang="en-US"/>
              <a:t>: Thông tin tài khoản cũng như mật khẩu của bạn chính là mã nhân viên trên hệ thống ERP, mật khẩu mặc định từ 1 tới 4, trong trường hợp không được bạn liên hệ lại với EA</a:t>
            </a:r>
            <a:endParaRPr lang="en-US" dirty="0"/>
          </a:p>
          <a:p>
            <a:pPr>
              <a:buFontTx/>
              <a:buChar char="-"/>
            </a:pPr>
            <a:r>
              <a:rPr lang="en-US"/>
              <a:t>Bước </a:t>
            </a:r>
            <a:r>
              <a:rPr lang="en-US" dirty="0"/>
              <a:t>2</a:t>
            </a:r>
            <a:r>
              <a:rPr lang="en-US"/>
              <a:t>: Trước khi login, bạn cần chọn Vinatech vina Co.,Ltd. </a:t>
            </a:r>
          </a:p>
          <a:p>
            <a:pPr>
              <a:buFontTx/>
              <a:buChar char="-"/>
            </a:pPr>
            <a:r>
              <a:rPr lang="en-US"/>
              <a:t>Bước 3: khi đã chọn xong, bạn nhập mã nhân viên và mật khẩu nhấn nút login để vào hệ thống. </a:t>
            </a:r>
            <a:endParaRPr lang="en-US" dirty="0"/>
          </a:p>
          <a:p>
            <a:endParaRPr lang="en-US" dirty="0"/>
          </a:p>
        </p:txBody>
      </p:sp>
      <p:pic>
        <p:nvPicPr>
          <p:cNvPr id="6" name="Picture 5">
            <a:extLst>
              <a:ext uri="{FF2B5EF4-FFF2-40B4-BE49-F238E27FC236}">
                <a16:creationId xmlns:a16="http://schemas.microsoft.com/office/drawing/2014/main" id="{AE4062FB-B594-DA1B-F4CD-4DAB58D97270}"/>
              </a:ext>
            </a:extLst>
          </p:cNvPr>
          <p:cNvPicPr>
            <a:picLocks noChangeAspect="1"/>
          </p:cNvPicPr>
          <p:nvPr/>
        </p:nvPicPr>
        <p:blipFill>
          <a:blip r:embed="rId2"/>
          <a:stretch>
            <a:fillRect/>
          </a:stretch>
        </p:blipFill>
        <p:spPr>
          <a:xfrm>
            <a:off x="4726112" y="3312203"/>
            <a:ext cx="7094032" cy="3072899"/>
          </a:xfrm>
          <a:prstGeom prst="rect">
            <a:avLst/>
          </a:prstGeom>
        </p:spPr>
      </p:pic>
    </p:spTree>
    <p:extLst>
      <p:ext uri="{BB962C8B-B14F-4D97-AF65-F5344CB8AC3E}">
        <p14:creationId xmlns:p14="http://schemas.microsoft.com/office/powerpoint/2010/main" val="2850996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8632963-757B-40C2-BB84-FC6107A54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6" y="0"/>
            <a:ext cx="1219386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853AE55-7E35-44B0-89F1-3F52B262AF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39709" y="253548"/>
            <a:ext cx="5612193" cy="6361598"/>
          </a:xfrm>
          <a:prstGeom prst="rect">
            <a:avLst/>
          </a:prstGeom>
          <a:solidFill>
            <a:schemeClr val="bg1">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BC4BE4D-4B50-4F51-9F85-4B5D60B02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87542" y="407588"/>
            <a:ext cx="5299768" cy="6022878"/>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FA6DE4-2310-439F-895A-6C973CFE6A8D}"/>
              </a:ext>
            </a:extLst>
          </p:cNvPr>
          <p:cNvSpPr>
            <a:spLocks noGrp="1"/>
          </p:cNvSpPr>
          <p:nvPr>
            <p:ph type="title"/>
          </p:nvPr>
        </p:nvSpPr>
        <p:spPr>
          <a:xfrm>
            <a:off x="6846137" y="804073"/>
            <a:ext cx="4602152" cy="1345449"/>
          </a:xfrm>
        </p:spPr>
        <p:txBody>
          <a:bodyPr>
            <a:normAutofit/>
          </a:bodyPr>
          <a:lstStyle/>
          <a:p>
            <a:r>
              <a:rPr lang="en-US" sz="3700"/>
              <a:t>Form đăng ký nhà thầu khách hàng.</a:t>
            </a:r>
            <a:endParaRPr lang="en-US" sz="3700" dirty="0"/>
          </a:p>
        </p:txBody>
      </p:sp>
      <p:sp>
        <p:nvSpPr>
          <p:cNvPr id="39" name="Content Placeholder 2">
            <a:extLst>
              <a:ext uri="{FF2B5EF4-FFF2-40B4-BE49-F238E27FC236}">
                <a16:creationId xmlns:a16="http://schemas.microsoft.com/office/drawing/2014/main" id="{D41F7103-67B3-4191-BB4A-9FF0DFE9DA07}"/>
              </a:ext>
            </a:extLst>
          </p:cNvPr>
          <p:cNvSpPr>
            <a:spLocks noGrp="1"/>
          </p:cNvSpPr>
          <p:nvPr>
            <p:ph idx="1"/>
          </p:nvPr>
        </p:nvSpPr>
        <p:spPr>
          <a:xfrm>
            <a:off x="6846137" y="2303563"/>
            <a:ext cx="4602152" cy="3715424"/>
          </a:xfrm>
        </p:spPr>
        <p:txBody>
          <a:bodyPr>
            <a:normAutofit/>
          </a:bodyPr>
          <a:lstStyle/>
          <a:p>
            <a:r>
              <a:rPr lang="en-US" b="1"/>
              <a:t>1. Bạn truy cập vào phần menu chọn mục Electronic Document =&gt; Tiếp theo bạn chọn mục Basic=&gt; bạn chọn chức năng “Partner Managerment”</a:t>
            </a:r>
            <a:endParaRPr lang="en-US" b="1" dirty="0"/>
          </a:p>
          <a:p>
            <a:pPr>
              <a:buFontTx/>
              <a:buChar char="-"/>
            </a:pPr>
            <a:r>
              <a:rPr lang="en-US" dirty="0" err="1"/>
              <a:t>Bước</a:t>
            </a:r>
            <a:r>
              <a:rPr lang="en-US" dirty="0"/>
              <a:t> 1: </a:t>
            </a:r>
            <a:r>
              <a:rPr lang="en-US" err="1"/>
              <a:t>Chọn</a:t>
            </a:r>
            <a:r>
              <a:rPr lang="en-US"/>
              <a:t> đường line phê duyệt, ở đây bạn có thể chọn hai kiểu đường line phê duyệt.</a:t>
            </a:r>
          </a:p>
          <a:p>
            <a:pPr marL="0" indent="0">
              <a:buNone/>
            </a:pPr>
            <a:r>
              <a:rPr lang="en-US"/>
              <a:t>  + Một đã được cài đặt trong hệ thống, bạn chỉ cần chọn.</a:t>
            </a:r>
          </a:p>
          <a:p>
            <a:pPr marL="0" indent="0">
              <a:buNone/>
            </a:pPr>
            <a:r>
              <a:rPr lang="en-US"/>
              <a:t>  + Hai bạn có thể tự lựa chọn những ai có thể duyệt form cho bạn.</a:t>
            </a:r>
          </a:p>
          <a:p>
            <a:pPr marL="0" indent="0">
              <a:buNone/>
            </a:pPr>
            <a:endParaRPr lang="en-US" b="1" dirty="0"/>
          </a:p>
        </p:txBody>
      </p:sp>
      <p:pic>
        <p:nvPicPr>
          <p:cNvPr id="4" name="Picture 3">
            <a:extLst>
              <a:ext uri="{FF2B5EF4-FFF2-40B4-BE49-F238E27FC236}">
                <a16:creationId xmlns:a16="http://schemas.microsoft.com/office/drawing/2014/main" id="{E94313CA-17B7-866A-789E-E84E415875C5}"/>
              </a:ext>
            </a:extLst>
          </p:cNvPr>
          <p:cNvPicPr>
            <a:picLocks noChangeAspect="1"/>
          </p:cNvPicPr>
          <p:nvPr/>
        </p:nvPicPr>
        <p:blipFill>
          <a:blip r:embed="rId2"/>
          <a:stretch>
            <a:fillRect/>
          </a:stretch>
        </p:blipFill>
        <p:spPr>
          <a:xfrm>
            <a:off x="89193" y="253549"/>
            <a:ext cx="6085924" cy="3048452"/>
          </a:xfrm>
          <a:prstGeom prst="rect">
            <a:avLst/>
          </a:prstGeom>
        </p:spPr>
      </p:pic>
      <p:pic>
        <p:nvPicPr>
          <p:cNvPr id="6" name="Picture 5">
            <a:extLst>
              <a:ext uri="{FF2B5EF4-FFF2-40B4-BE49-F238E27FC236}">
                <a16:creationId xmlns:a16="http://schemas.microsoft.com/office/drawing/2014/main" id="{BAE23B98-86E6-CC66-40D2-20B6136E7986}"/>
              </a:ext>
            </a:extLst>
          </p:cNvPr>
          <p:cNvPicPr>
            <a:picLocks noChangeAspect="1"/>
          </p:cNvPicPr>
          <p:nvPr/>
        </p:nvPicPr>
        <p:blipFill>
          <a:blip r:embed="rId3"/>
          <a:stretch>
            <a:fillRect/>
          </a:stretch>
        </p:blipFill>
        <p:spPr>
          <a:xfrm>
            <a:off x="179869" y="3555550"/>
            <a:ext cx="6085924" cy="3302450"/>
          </a:xfrm>
          <a:prstGeom prst="rect">
            <a:avLst/>
          </a:prstGeom>
        </p:spPr>
      </p:pic>
    </p:spTree>
    <p:extLst>
      <p:ext uri="{BB962C8B-B14F-4D97-AF65-F5344CB8AC3E}">
        <p14:creationId xmlns:p14="http://schemas.microsoft.com/office/powerpoint/2010/main" val="1414725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88D88-F08F-3A10-BA4E-93F1C6B91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7C15-A046-94B1-134F-1A01DD406B5E}"/>
              </a:ext>
            </a:extLst>
          </p:cNvPr>
          <p:cNvSpPr>
            <a:spLocks noGrp="1"/>
          </p:cNvSpPr>
          <p:nvPr>
            <p:ph type="title"/>
          </p:nvPr>
        </p:nvSpPr>
        <p:spPr>
          <a:xfrm>
            <a:off x="6579450" y="727627"/>
            <a:ext cx="4957553" cy="1645920"/>
          </a:xfrm>
        </p:spPr>
        <p:txBody>
          <a:bodyPr>
            <a:normAutofit/>
          </a:bodyPr>
          <a:lstStyle/>
          <a:p>
            <a:r>
              <a:rPr lang="en-US" sz="4400"/>
              <a:t>Form đăng ký nhà thầu khách hàng.</a:t>
            </a:r>
          </a:p>
        </p:txBody>
      </p:sp>
      <p:sp>
        <p:nvSpPr>
          <p:cNvPr id="3" name="Content Placeholder 2">
            <a:extLst>
              <a:ext uri="{FF2B5EF4-FFF2-40B4-BE49-F238E27FC236}">
                <a16:creationId xmlns:a16="http://schemas.microsoft.com/office/drawing/2014/main" id="{041FAF7B-AF7E-7F04-9099-659FCBDA6222}"/>
              </a:ext>
            </a:extLst>
          </p:cNvPr>
          <p:cNvSpPr>
            <a:spLocks noGrp="1"/>
          </p:cNvSpPr>
          <p:nvPr>
            <p:ph idx="1"/>
          </p:nvPr>
        </p:nvSpPr>
        <p:spPr>
          <a:xfrm>
            <a:off x="6579450" y="2538919"/>
            <a:ext cx="4957554" cy="3496120"/>
          </a:xfrm>
        </p:spPr>
        <p:txBody>
          <a:bodyPr>
            <a:normAutofit/>
          </a:bodyPr>
          <a:lstStyle/>
          <a:p>
            <a:r>
              <a:rPr lang="en-US"/>
              <a:t>Số 1: bạn cần viết tiêu đề form của bạn.</a:t>
            </a:r>
          </a:p>
          <a:p>
            <a:r>
              <a:rPr lang="en-US"/>
              <a:t>Số 2: bạn có thể đính kèm file ở đây.</a:t>
            </a:r>
          </a:p>
          <a:p>
            <a:r>
              <a:rPr lang="en-US"/>
              <a:t>Số 3: là thông tin người làm form, bạn có thể điền tên người làm form hộ bạn ở đây</a:t>
            </a:r>
            <a:endParaRPr lang="en-US" dirty="0"/>
          </a:p>
        </p:txBody>
      </p:sp>
      <p:pic>
        <p:nvPicPr>
          <p:cNvPr id="5" name="Picture 4">
            <a:extLst>
              <a:ext uri="{FF2B5EF4-FFF2-40B4-BE49-F238E27FC236}">
                <a16:creationId xmlns:a16="http://schemas.microsoft.com/office/drawing/2014/main" id="{6FD8B86A-8BFE-5AA7-77CD-3F21BFF038DD}"/>
              </a:ext>
            </a:extLst>
          </p:cNvPr>
          <p:cNvPicPr>
            <a:picLocks noChangeAspect="1"/>
          </p:cNvPicPr>
          <p:nvPr/>
        </p:nvPicPr>
        <p:blipFill>
          <a:blip r:embed="rId2"/>
          <a:stretch>
            <a:fillRect/>
          </a:stretch>
        </p:blipFill>
        <p:spPr>
          <a:xfrm>
            <a:off x="516413" y="525866"/>
            <a:ext cx="6063037" cy="5863917"/>
          </a:xfrm>
          <a:prstGeom prst="rect">
            <a:avLst/>
          </a:prstGeom>
        </p:spPr>
      </p:pic>
    </p:spTree>
    <p:extLst>
      <p:ext uri="{BB962C8B-B14F-4D97-AF65-F5344CB8AC3E}">
        <p14:creationId xmlns:p14="http://schemas.microsoft.com/office/powerpoint/2010/main" val="2648808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1F13E-FB38-FE99-4042-33B45D945F58}"/>
              </a:ext>
            </a:extLst>
          </p:cNvPr>
          <p:cNvSpPr>
            <a:spLocks noGrp="1"/>
          </p:cNvSpPr>
          <p:nvPr>
            <p:ph type="title"/>
          </p:nvPr>
        </p:nvSpPr>
        <p:spPr>
          <a:xfrm>
            <a:off x="6881374" y="149657"/>
            <a:ext cx="4957553" cy="1645920"/>
          </a:xfrm>
        </p:spPr>
        <p:txBody>
          <a:bodyPr>
            <a:normAutofit fontScale="90000"/>
          </a:bodyPr>
          <a:lstStyle/>
          <a:p>
            <a:r>
              <a:rPr lang="en-US"/>
              <a:t>Form đăng ký đi nhà thầu khách hàng.</a:t>
            </a:r>
            <a:endParaRPr lang="en-US" dirty="0"/>
          </a:p>
        </p:txBody>
      </p:sp>
      <p:sp>
        <p:nvSpPr>
          <p:cNvPr id="32" name="Rectangle 11">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33" name="Rectangle 13">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4" name="Content Placeholder 8">
            <a:extLst>
              <a:ext uri="{FF2B5EF4-FFF2-40B4-BE49-F238E27FC236}">
                <a16:creationId xmlns:a16="http://schemas.microsoft.com/office/drawing/2014/main" id="{0825DAB4-0A8A-40F6-1DCD-2F323D126DE1}"/>
              </a:ext>
            </a:extLst>
          </p:cNvPr>
          <p:cNvSpPr>
            <a:spLocks noGrp="1"/>
          </p:cNvSpPr>
          <p:nvPr>
            <p:ph idx="1"/>
          </p:nvPr>
        </p:nvSpPr>
        <p:spPr>
          <a:xfrm>
            <a:off x="6734725" y="1561381"/>
            <a:ext cx="4957552" cy="4796287"/>
          </a:xfrm>
        </p:spPr>
        <p:txBody>
          <a:bodyPr>
            <a:normAutofit fontScale="55000" lnSpcReduction="20000"/>
          </a:bodyPr>
          <a:lstStyle/>
          <a:p>
            <a:r>
              <a:rPr lang="en-US"/>
              <a:t>Số 1: Chọn quốc gia công ty đó đang ở.</a:t>
            </a:r>
          </a:p>
          <a:p>
            <a:r>
              <a:rPr lang="en-US"/>
              <a:t>Số 2: Nhập tên công ty.</a:t>
            </a:r>
          </a:p>
          <a:p>
            <a:r>
              <a:rPr lang="en-US"/>
              <a:t>Số 3: Nhập tên đại diện của công ty.</a:t>
            </a:r>
          </a:p>
          <a:p>
            <a:r>
              <a:rPr lang="en-US"/>
              <a:t>Số 4:  Nhập điện chỉ email </a:t>
            </a:r>
          </a:p>
          <a:p>
            <a:r>
              <a:rPr lang="en-US"/>
              <a:t>Số 5: Nhập mã số thuế của công ty.</a:t>
            </a:r>
          </a:p>
          <a:p>
            <a:r>
              <a:rPr lang="en-US"/>
              <a:t>Số 6: Chọn danh mục thuế của doanh nghiệp đó. (thường thì lên chọn”người nộp thuế chung” vì doanh nghiệp đó cả hai phương thức vừa mua và vừa bán)</a:t>
            </a:r>
          </a:p>
          <a:p>
            <a:r>
              <a:rPr lang="en-US"/>
              <a:t>Số 7: Chọn đây là công ty chính hay là công ty con của công ty chính (thường là bạn chọn N). </a:t>
            </a:r>
          </a:p>
          <a:p>
            <a:r>
              <a:rPr lang="en-US"/>
              <a:t>Số 8: Chọn định dạng hóa đơn phát hành của nhà thầu, khách hàng, hoặc vendor đó.( đây là kiểu hóa đơn)</a:t>
            </a:r>
          </a:p>
          <a:p>
            <a:r>
              <a:rPr lang="en-US"/>
              <a:t>Số 9: </a:t>
            </a:r>
            <a:r>
              <a:rPr lang="vi-VN">
                <a:latin typeface="Goudy Old Style (Body)"/>
              </a:rPr>
              <a:t>Mục đích là để phân biệt xem đối tác kinh doanh được đăng ký là khách hàng bán hàng, khách hàng mua hàng, công ty thẻ tín dụng hay đối tác ngân hàng.</a:t>
            </a:r>
            <a:endParaRPr lang="en-US">
              <a:latin typeface="Goudy Old Style (Body)"/>
            </a:endParaRPr>
          </a:p>
          <a:p>
            <a:r>
              <a:rPr lang="en-US"/>
              <a:t>Số 10: Chọn phân loại khách hàng là, mua, hay bán, hoặc khác.</a:t>
            </a:r>
          </a:p>
          <a:p>
            <a:r>
              <a:rPr lang="en-US"/>
              <a:t>Số 11: Chọn loại hình của đối tác đang kinh doan.</a:t>
            </a:r>
          </a:p>
          <a:p>
            <a:r>
              <a:rPr lang="en-US"/>
              <a:t>Số 12: Nhập lĩnh vực kinh doanh của đối tác.</a:t>
            </a:r>
          </a:p>
          <a:p>
            <a:r>
              <a:rPr lang="en-US"/>
              <a:t>Số 13: Nhập địa chỉ chi tiết của công ty.</a:t>
            </a:r>
          </a:p>
          <a:p>
            <a:r>
              <a:rPr lang="en-US"/>
              <a:t>Số 14: Nhập địa chỉ chi tiết của công ty.</a:t>
            </a:r>
          </a:p>
          <a:p>
            <a:r>
              <a:rPr lang="en-US"/>
              <a:t>Số 15:  Trạng thái công ty hay vendor này còn hoạt động hay không.</a:t>
            </a:r>
          </a:p>
          <a:p>
            <a:r>
              <a:rPr lang="en-US"/>
              <a:t>Số 16: Chọn sửa dụng hoặc không sử dụng</a:t>
            </a:r>
          </a:p>
          <a:p>
            <a:pPr marL="0" indent="0">
              <a:buNone/>
            </a:pPr>
            <a:r>
              <a:rPr lang="en-US"/>
              <a:t>           + Trường hợp bạn chọn : Use là đã sử dụng nhà thầu, khách hàng này trong hệ thống.</a:t>
            </a:r>
          </a:p>
          <a:p>
            <a:pPr marL="0" indent="0">
              <a:buNone/>
            </a:pPr>
            <a:r>
              <a:rPr lang="en-US"/>
              <a:t>           + Trường hợp bạn chọn: For mass use, tức là bạn chưa sử dụng.</a:t>
            </a:r>
          </a:p>
          <a:p>
            <a:endParaRPr lang="en-US"/>
          </a:p>
        </p:txBody>
      </p:sp>
      <p:pic>
        <p:nvPicPr>
          <p:cNvPr id="3" name="Picture 2">
            <a:extLst>
              <a:ext uri="{FF2B5EF4-FFF2-40B4-BE49-F238E27FC236}">
                <a16:creationId xmlns:a16="http://schemas.microsoft.com/office/drawing/2014/main" id="{F496F9EA-FCDC-50CC-3D7F-6A7CDB6228B2}"/>
              </a:ext>
            </a:extLst>
          </p:cNvPr>
          <p:cNvPicPr>
            <a:picLocks noChangeAspect="1"/>
          </p:cNvPicPr>
          <p:nvPr/>
        </p:nvPicPr>
        <p:blipFill>
          <a:blip r:embed="rId2"/>
          <a:stretch>
            <a:fillRect/>
          </a:stretch>
        </p:blipFill>
        <p:spPr>
          <a:xfrm>
            <a:off x="499724" y="457884"/>
            <a:ext cx="6088352" cy="5899784"/>
          </a:xfrm>
          <a:prstGeom prst="rect">
            <a:avLst/>
          </a:prstGeom>
        </p:spPr>
      </p:pic>
    </p:spTree>
    <p:extLst>
      <p:ext uri="{BB962C8B-B14F-4D97-AF65-F5344CB8AC3E}">
        <p14:creationId xmlns:p14="http://schemas.microsoft.com/office/powerpoint/2010/main" val="2116149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9">
            <a:extLst>
              <a:ext uri="{FF2B5EF4-FFF2-40B4-BE49-F238E27FC236}">
                <a16:creationId xmlns:a16="http://schemas.microsoft.com/office/drawing/2014/main" id="{282E2A95-1A08-4118-83C6-B1CA5648E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68DC0EC7-60EA-4BD3-BC04-D547DE1B2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0122" y="413053"/>
            <a:ext cx="8212114" cy="6064596"/>
          </a:xfrm>
          <a:prstGeom prst="rect">
            <a:avLst/>
          </a:prstGeom>
          <a:noFill/>
          <a:ln w="6350" cap="sq" cmpd="sng" algn="ctr">
            <a:solidFill>
              <a:srgbClr val="404040"/>
            </a:solidFill>
            <a:prstDash val="solid"/>
            <a:miter lim="800000"/>
          </a:ln>
          <a:effectLst/>
        </p:spPr>
        <p:txBody>
          <a:bodyPr/>
          <a:lstStyle/>
          <a:p>
            <a:endParaRPr lang="en-US"/>
          </a:p>
        </p:txBody>
      </p:sp>
      <p:sp>
        <p:nvSpPr>
          <p:cNvPr id="14" name="Rectangle 13">
            <a:extLst>
              <a:ext uri="{FF2B5EF4-FFF2-40B4-BE49-F238E27FC236}">
                <a16:creationId xmlns:a16="http://schemas.microsoft.com/office/drawing/2014/main" id="{2FFEFC7E-85EE-4AC9-A351-FBEB13A1D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020386" y="237744"/>
            <a:ext cx="2926080"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CB2511BB-FC4C-45F3-94EB-661D6806C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56699" y="413053"/>
            <a:ext cx="2616201" cy="6064596"/>
          </a:xfrm>
          <a:prstGeom prst="rect">
            <a:avLst/>
          </a:prstGeom>
          <a:noFill/>
          <a:ln w="63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AA97E2-9502-487B-86C7-37C69151E524}"/>
              </a:ext>
            </a:extLst>
          </p:cNvPr>
          <p:cNvSpPr>
            <a:spLocks noGrp="1"/>
          </p:cNvSpPr>
          <p:nvPr>
            <p:ph type="title"/>
          </p:nvPr>
        </p:nvSpPr>
        <p:spPr>
          <a:xfrm>
            <a:off x="9321801" y="612843"/>
            <a:ext cx="2312480" cy="1499738"/>
          </a:xfrm>
        </p:spPr>
        <p:txBody>
          <a:bodyPr anchor="b">
            <a:normAutofit/>
          </a:bodyPr>
          <a:lstStyle/>
          <a:p>
            <a:r>
              <a:rPr lang="en-US" sz="2800"/>
              <a:t>Form đăng ký nhà thầu khách hàng.</a:t>
            </a:r>
            <a:endParaRPr lang="en-US" sz="2800" dirty="0"/>
          </a:p>
        </p:txBody>
      </p:sp>
      <p:sp>
        <p:nvSpPr>
          <p:cNvPr id="3" name="Content Placeholder 2">
            <a:extLst>
              <a:ext uri="{FF2B5EF4-FFF2-40B4-BE49-F238E27FC236}">
                <a16:creationId xmlns:a16="http://schemas.microsoft.com/office/drawing/2014/main" id="{9D191F4A-7CD3-48F7-B8A7-959531787847}"/>
              </a:ext>
            </a:extLst>
          </p:cNvPr>
          <p:cNvSpPr>
            <a:spLocks noGrp="1"/>
          </p:cNvSpPr>
          <p:nvPr>
            <p:ph idx="1"/>
          </p:nvPr>
        </p:nvSpPr>
        <p:spPr>
          <a:xfrm>
            <a:off x="9321801" y="2149813"/>
            <a:ext cx="2312479" cy="3854197"/>
          </a:xfrm>
        </p:spPr>
        <p:txBody>
          <a:bodyPr>
            <a:normAutofit/>
          </a:bodyPr>
          <a:lstStyle/>
          <a:p>
            <a:pPr>
              <a:lnSpc>
                <a:spcPct val="100000"/>
              </a:lnSpc>
            </a:pPr>
            <a:r>
              <a:rPr lang="en-US" sz="1300">
                <a:solidFill>
                  <a:schemeClr val="tx1">
                    <a:lumMod val="85000"/>
                    <a:lumOff val="15000"/>
                  </a:schemeClr>
                </a:solidFill>
              </a:rPr>
              <a:t>Số 1: Bạn cần chọn ngân hàng mà khách hàng hoặc nhà thầu, hoặc vendor đang sử dụng, để giao dịch với công ty mình.</a:t>
            </a:r>
          </a:p>
          <a:p>
            <a:pPr>
              <a:lnSpc>
                <a:spcPct val="100000"/>
              </a:lnSpc>
            </a:pPr>
            <a:r>
              <a:rPr lang="en-US" sz="1300">
                <a:solidFill>
                  <a:schemeClr val="tx1">
                    <a:lumMod val="85000"/>
                    <a:lumOff val="15000"/>
                  </a:schemeClr>
                </a:solidFill>
              </a:rPr>
              <a:t>Số 2: Số tài khoản của khách hàng, nhà thấu, hoặc vendor.</a:t>
            </a:r>
          </a:p>
          <a:p>
            <a:pPr>
              <a:lnSpc>
                <a:spcPct val="100000"/>
              </a:lnSpc>
            </a:pPr>
            <a:r>
              <a:rPr lang="en-US" sz="1300">
                <a:solidFill>
                  <a:schemeClr val="tx1">
                    <a:lumMod val="85000"/>
                    <a:lumOff val="15000"/>
                  </a:schemeClr>
                </a:solidFill>
              </a:rPr>
              <a:t>Số 3: Cần nhập số tài khoản của khách hàng, nhà thầu, vendor.</a:t>
            </a:r>
          </a:p>
        </p:txBody>
      </p:sp>
      <p:pic>
        <p:nvPicPr>
          <p:cNvPr id="5" name="Picture 4">
            <a:extLst>
              <a:ext uri="{FF2B5EF4-FFF2-40B4-BE49-F238E27FC236}">
                <a16:creationId xmlns:a16="http://schemas.microsoft.com/office/drawing/2014/main" id="{A44733CD-750F-1B31-A228-F866E6A60827}"/>
              </a:ext>
            </a:extLst>
          </p:cNvPr>
          <p:cNvPicPr>
            <a:picLocks noChangeAspect="1"/>
          </p:cNvPicPr>
          <p:nvPr/>
        </p:nvPicPr>
        <p:blipFill>
          <a:blip r:embed="rId2"/>
          <a:stretch>
            <a:fillRect/>
          </a:stretch>
        </p:blipFill>
        <p:spPr>
          <a:xfrm>
            <a:off x="410121" y="413053"/>
            <a:ext cx="8212113" cy="6207204"/>
          </a:xfrm>
          <a:prstGeom prst="rect">
            <a:avLst/>
          </a:prstGeom>
        </p:spPr>
      </p:pic>
    </p:spTree>
    <p:extLst>
      <p:ext uri="{BB962C8B-B14F-4D97-AF65-F5344CB8AC3E}">
        <p14:creationId xmlns:p14="http://schemas.microsoft.com/office/powerpoint/2010/main" val="3010030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33D8-BCC2-6874-16CF-654845813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A25116-7C90-7621-D74B-7F5248D68573}"/>
              </a:ext>
            </a:extLst>
          </p:cNvPr>
          <p:cNvSpPr>
            <a:spLocks noGrp="1"/>
          </p:cNvSpPr>
          <p:nvPr>
            <p:ph type="title"/>
          </p:nvPr>
        </p:nvSpPr>
        <p:spPr>
          <a:xfrm>
            <a:off x="6579450" y="727627"/>
            <a:ext cx="4957553" cy="1645920"/>
          </a:xfrm>
        </p:spPr>
        <p:txBody>
          <a:bodyPr>
            <a:normAutofit/>
          </a:bodyPr>
          <a:lstStyle/>
          <a:p>
            <a:r>
              <a:rPr lang="en-US" sz="4800"/>
              <a:t>Form đăng ký nhà thầu khách hàng.</a:t>
            </a:r>
            <a:endParaRPr lang="en-US" dirty="0"/>
          </a:p>
        </p:txBody>
      </p:sp>
      <p:sp>
        <p:nvSpPr>
          <p:cNvPr id="3" name="Content Placeholder 2">
            <a:extLst>
              <a:ext uri="{FF2B5EF4-FFF2-40B4-BE49-F238E27FC236}">
                <a16:creationId xmlns:a16="http://schemas.microsoft.com/office/drawing/2014/main" id="{437A0062-2B61-7B07-3843-48FE2E95D8A4}"/>
              </a:ext>
            </a:extLst>
          </p:cNvPr>
          <p:cNvSpPr>
            <a:spLocks noGrp="1"/>
          </p:cNvSpPr>
          <p:nvPr>
            <p:ph idx="1"/>
          </p:nvPr>
        </p:nvSpPr>
        <p:spPr>
          <a:xfrm>
            <a:off x="6579449" y="2148501"/>
            <a:ext cx="4957554" cy="3496120"/>
          </a:xfrm>
        </p:spPr>
        <p:txBody>
          <a:bodyPr>
            <a:normAutofit/>
          </a:bodyPr>
          <a:lstStyle/>
          <a:p>
            <a:r>
              <a:rPr lang="en-US"/>
              <a:t>Số 1: bạn có thể gửi form tới người duyệt.</a:t>
            </a:r>
          </a:p>
          <a:p>
            <a:r>
              <a:rPr lang="en-US"/>
              <a:t>Số 2: là bạn có thể lưu lại tạm thời, để khi nào cần thì bạn có thể dùng.</a:t>
            </a:r>
          </a:p>
          <a:p>
            <a:r>
              <a:rPr lang="en-US"/>
              <a:t>Số 3: là bạn có thể xóa nhớ tạm thời đi để làm lại</a:t>
            </a:r>
          </a:p>
          <a:p>
            <a:r>
              <a:rPr lang="en-US"/>
              <a:t>Số 4: bạn có thể xem lại tổng thể form một lần nữa</a:t>
            </a:r>
          </a:p>
          <a:p>
            <a:r>
              <a:rPr lang="en-US"/>
              <a:t>Số 5: là reset lại form làm mới và nhập mới thông tin lại từ đầu.</a:t>
            </a:r>
            <a:endParaRPr lang="en-US" dirty="0"/>
          </a:p>
          <a:p>
            <a:endParaRPr lang="en-US" dirty="0"/>
          </a:p>
        </p:txBody>
      </p:sp>
      <p:pic>
        <p:nvPicPr>
          <p:cNvPr id="5" name="Picture 4">
            <a:extLst>
              <a:ext uri="{FF2B5EF4-FFF2-40B4-BE49-F238E27FC236}">
                <a16:creationId xmlns:a16="http://schemas.microsoft.com/office/drawing/2014/main" id="{5D4332ED-4D2A-89E8-9273-02C9C7C13C26}"/>
              </a:ext>
            </a:extLst>
          </p:cNvPr>
          <p:cNvPicPr>
            <a:picLocks noChangeAspect="1"/>
          </p:cNvPicPr>
          <p:nvPr/>
        </p:nvPicPr>
        <p:blipFill>
          <a:blip r:embed="rId2"/>
          <a:stretch>
            <a:fillRect/>
          </a:stretch>
        </p:blipFill>
        <p:spPr>
          <a:xfrm>
            <a:off x="469863" y="511277"/>
            <a:ext cx="6109586" cy="5683046"/>
          </a:xfrm>
          <a:prstGeom prst="rect">
            <a:avLst/>
          </a:prstGeom>
        </p:spPr>
      </p:pic>
    </p:spTree>
    <p:extLst>
      <p:ext uri="{BB962C8B-B14F-4D97-AF65-F5344CB8AC3E}">
        <p14:creationId xmlns:p14="http://schemas.microsoft.com/office/powerpoint/2010/main" val="776473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6C450-9A12-63E2-A5BB-73709C48C275}"/>
              </a:ext>
            </a:extLst>
          </p:cNvPr>
          <p:cNvSpPr>
            <a:spLocks noGrp="1"/>
          </p:cNvSpPr>
          <p:nvPr>
            <p:ph type="title"/>
          </p:nvPr>
        </p:nvSpPr>
        <p:spPr>
          <a:xfrm>
            <a:off x="6579450" y="727627"/>
            <a:ext cx="4957553" cy="1645920"/>
          </a:xfrm>
        </p:spPr>
        <p:txBody>
          <a:bodyPr>
            <a:normAutofit/>
          </a:bodyPr>
          <a:lstStyle/>
          <a:p>
            <a:r>
              <a:rPr lang="en-US" sz="4400"/>
              <a:t>Form đăng ký nhà thầu khách hàng.</a:t>
            </a:r>
          </a:p>
        </p:txBody>
      </p:sp>
      <p:sp>
        <p:nvSpPr>
          <p:cNvPr id="10" name="Rectangle 9">
            <a:extLst>
              <a:ext uri="{FF2B5EF4-FFF2-40B4-BE49-F238E27FC236}">
                <a16:creationId xmlns:a16="http://schemas.microsoft.com/office/drawing/2014/main" id="{0BBB6B01-5B73-410C-B70E-8CF2FA470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8836" y="721224"/>
            <a:ext cx="5367164" cy="5415552"/>
          </a:xfrm>
          <a:prstGeom prst="rect">
            <a:avLst/>
          </a:prstGeom>
          <a:solidFill>
            <a:srgbClr val="FFFFFF"/>
          </a:solidFill>
          <a:ln w="6350" cap="flat" cmpd="sng" algn="ctr">
            <a:noFill/>
            <a:prstDash val="solid"/>
          </a:ln>
          <a:effectLst>
            <a:softEdge rad="0"/>
          </a:effectLst>
        </p:spPr>
        <p:txBody>
          <a:bodyPr/>
          <a:lstStyle/>
          <a:p>
            <a:endParaRPr lang="en-US"/>
          </a:p>
        </p:txBody>
      </p:sp>
      <p:sp>
        <p:nvSpPr>
          <p:cNvPr id="12" name="Rectangle 11">
            <a:extLst>
              <a:ext uri="{FF2B5EF4-FFF2-40B4-BE49-F238E27FC236}">
                <a16:creationId xmlns:a16="http://schemas.microsoft.com/office/drawing/2014/main" id="{8712F587-12D0-435C-8E3F-F44C36EE7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5217" y="892220"/>
            <a:ext cx="5054517" cy="5097085"/>
          </a:xfrm>
          <a:prstGeom prst="rect">
            <a:avLst/>
          </a:prstGeom>
          <a:noFill/>
          <a:ln w="6350" cap="sq" cmpd="sng" algn="ctr">
            <a:solidFill>
              <a:srgbClr val="404040"/>
            </a:solidFill>
            <a:prstDash val="solid"/>
            <a:miter lim="800000"/>
          </a:ln>
          <a:effectLst/>
        </p:spPr>
        <p:txBody>
          <a:bodyPr/>
          <a:lstStyle/>
          <a:p>
            <a:endParaRPr lang="en-US"/>
          </a:p>
        </p:txBody>
      </p:sp>
      <p:sp>
        <p:nvSpPr>
          <p:cNvPr id="3" name="Content Placeholder 2">
            <a:extLst>
              <a:ext uri="{FF2B5EF4-FFF2-40B4-BE49-F238E27FC236}">
                <a16:creationId xmlns:a16="http://schemas.microsoft.com/office/drawing/2014/main" id="{32E1A9D1-237E-6E27-310F-EA76F2B91DD0}"/>
              </a:ext>
            </a:extLst>
          </p:cNvPr>
          <p:cNvSpPr>
            <a:spLocks noGrp="1"/>
          </p:cNvSpPr>
          <p:nvPr>
            <p:ph idx="1"/>
          </p:nvPr>
        </p:nvSpPr>
        <p:spPr>
          <a:xfrm>
            <a:off x="6579450" y="2538919"/>
            <a:ext cx="4957554" cy="3496120"/>
          </a:xfrm>
        </p:spPr>
        <p:txBody>
          <a:bodyPr>
            <a:normAutofit/>
          </a:bodyPr>
          <a:lstStyle/>
          <a:p>
            <a:r>
              <a:rPr lang="en-US"/>
              <a:t>Số 1: theo mặc định form sẽ tự động lấy tên người đăng ký, trường hợp bạn không đi công tác mà làm hộ người khác bạn có thể xóa để thêm người mới vào.</a:t>
            </a:r>
          </a:p>
          <a:p>
            <a:r>
              <a:rPr lang="en-US"/>
              <a:t>Số 2: bạn có thể chọn nhiều người dùng trong một form.</a:t>
            </a:r>
            <a:endParaRPr lang="en-US" dirty="0"/>
          </a:p>
        </p:txBody>
      </p:sp>
      <p:pic>
        <p:nvPicPr>
          <p:cNvPr id="5" name="Picture 4">
            <a:extLst>
              <a:ext uri="{FF2B5EF4-FFF2-40B4-BE49-F238E27FC236}">
                <a16:creationId xmlns:a16="http://schemas.microsoft.com/office/drawing/2014/main" id="{6A9B3919-60CE-FB24-D28C-2C49A6BC1F2B}"/>
              </a:ext>
            </a:extLst>
          </p:cNvPr>
          <p:cNvPicPr>
            <a:picLocks noChangeAspect="1"/>
          </p:cNvPicPr>
          <p:nvPr/>
        </p:nvPicPr>
        <p:blipFill>
          <a:blip r:embed="rId2"/>
          <a:stretch>
            <a:fillRect/>
          </a:stretch>
        </p:blipFill>
        <p:spPr>
          <a:xfrm>
            <a:off x="919801" y="966543"/>
            <a:ext cx="5019933" cy="5068496"/>
          </a:xfrm>
          <a:prstGeom prst="rect">
            <a:avLst/>
          </a:prstGeom>
        </p:spPr>
      </p:pic>
    </p:spTree>
    <p:extLst>
      <p:ext uri="{BB962C8B-B14F-4D97-AF65-F5344CB8AC3E}">
        <p14:creationId xmlns:p14="http://schemas.microsoft.com/office/powerpoint/2010/main" val="305146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E6DD5-0EA7-F18F-6629-81F7F2540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B0BC6-DBE5-FD47-16ED-7374BEB2A0DD}"/>
              </a:ext>
            </a:extLst>
          </p:cNvPr>
          <p:cNvSpPr>
            <a:spLocks noGrp="1"/>
          </p:cNvSpPr>
          <p:nvPr>
            <p:ph type="title"/>
          </p:nvPr>
        </p:nvSpPr>
        <p:spPr>
          <a:xfrm>
            <a:off x="6579450" y="727627"/>
            <a:ext cx="4957553" cy="1645920"/>
          </a:xfrm>
        </p:spPr>
        <p:txBody>
          <a:bodyPr>
            <a:normAutofit/>
          </a:bodyPr>
          <a:lstStyle/>
          <a:p>
            <a:r>
              <a:rPr lang="en-US" sz="4800"/>
              <a:t>Form đăng ký nhà thầu khách hàng.</a:t>
            </a:r>
            <a:endParaRPr lang="en-US" dirty="0"/>
          </a:p>
        </p:txBody>
      </p:sp>
      <p:sp>
        <p:nvSpPr>
          <p:cNvPr id="3" name="Content Placeholder 2">
            <a:extLst>
              <a:ext uri="{FF2B5EF4-FFF2-40B4-BE49-F238E27FC236}">
                <a16:creationId xmlns:a16="http://schemas.microsoft.com/office/drawing/2014/main" id="{C90119C3-CE75-DBAC-1EF5-1BF5A07B6E9A}"/>
              </a:ext>
            </a:extLst>
          </p:cNvPr>
          <p:cNvSpPr>
            <a:spLocks noGrp="1"/>
          </p:cNvSpPr>
          <p:nvPr>
            <p:ph idx="1"/>
          </p:nvPr>
        </p:nvSpPr>
        <p:spPr>
          <a:xfrm>
            <a:off x="6726098" y="2277898"/>
            <a:ext cx="4957554" cy="3915868"/>
          </a:xfrm>
        </p:spPr>
        <p:txBody>
          <a:bodyPr>
            <a:normAutofit/>
          </a:bodyPr>
          <a:lstStyle/>
          <a:p>
            <a:r>
              <a:rPr lang="en-US"/>
              <a:t>Số 1: Bạn có thể ghi nội dung về nhà thầu, khách hàng vendor ở đây.</a:t>
            </a:r>
          </a:p>
          <a:p>
            <a:r>
              <a:rPr lang="en-US"/>
              <a:t>Số 2: Bạn có thể nhấn nút gửi đi, tới người duyệt ở đây.</a:t>
            </a:r>
          </a:p>
          <a:p>
            <a:r>
              <a:rPr lang="en-US"/>
              <a:t>Số 3: Bạn có thể lưu trữ tạm thời form, để sau này gửi ở đây</a:t>
            </a:r>
          </a:p>
          <a:p>
            <a:r>
              <a:rPr lang="en-US"/>
              <a:t>Số 4: Bạn có thể xóa  form lưu trữ tạm thời đi.</a:t>
            </a:r>
          </a:p>
          <a:p>
            <a:r>
              <a:rPr lang="en-US"/>
              <a:t>Số 5: Bạn có thể xem trước, để review lại form mình đã làm</a:t>
            </a:r>
          </a:p>
          <a:p>
            <a:r>
              <a:rPr lang="en-US"/>
              <a:t>Số 5: Làm lại mới hoàn toàn.</a:t>
            </a:r>
            <a:endParaRPr lang="en-US" dirty="0"/>
          </a:p>
          <a:p>
            <a:endParaRPr lang="en-US" dirty="0"/>
          </a:p>
        </p:txBody>
      </p:sp>
      <p:pic>
        <p:nvPicPr>
          <p:cNvPr id="5" name="Picture 4">
            <a:extLst>
              <a:ext uri="{FF2B5EF4-FFF2-40B4-BE49-F238E27FC236}">
                <a16:creationId xmlns:a16="http://schemas.microsoft.com/office/drawing/2014/main" id="{91E974EA-E941-CB47-A8F1-AA642EF9652C}"/>
              </a:ext>
            </a:extLst>
          </p:cNvPr>
          <p:cNvPicPr>
            <a:picLocks noChangeAspect="1"/>
          </p:cNvPicPr>
          <p:nvPr/>
        </p:nvPicPr>
        <p:blipFill>
          <a:blip r:embed="rId2"/>
          <a:stretch>
            <a:fillRect/>
          </a:stretch>
        </p:blipFill>
        <p:spPr>
          <a:xfrm>
            <a:off x="414809" y="504665"/>
            <a:ext cx="6164639" cy="5801244"/>
          </a:xfrm>
          <a:prstGeom prst="rect">
            <a:avLst/>
          </a:prstGeom>
        </p:spPr>
      </p:pic>
    </p:spTree>
    <p:extLst>
      <p:ext uri="{BB962C8B-B14F-4D97-AF65-F5344CB8AC3E}">
        <p14:creationId xmlns:p14="http://schemas.microsoft.com/office/powerpoint/2010/main" val="3522953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8C33D1-061C-4DA9-96ED-83E935B286C0}"/>
              </a:ext>
            </a:extLst>
          </p:cNvPr>
          <p:cNvSpPr>
            <a:spLocks noGrp="1"/>
          </p:cNvSpPr>
          <p:nvPr>
            <p:ph idx="1"/>
          </p:nvPr>
        </p:nvSpPr>
        <p:spPr>
          <a:xfrm>
            <a:off x="0" y="0"/>
            <a:ext cx="12192000" cy="6839744"/>
          </a:xfrm>
        </p:spPr>
        <p:txBody>
          <a:bodyPr>
            <a:normAutofit/>
          </a:bodyPr>
          <a:lstStyle/>
          <a:p>
            <a:pPr marL="0" indent="0">
              <a:buNone/>
            </a:pPr>
            <a:endParaRPr lang="en-US" sz="3000" b="1">
              <a:latin typeface="Times New Roman" panose="02020603050405020304" pitchFamily="18" charset="0"/>
              <a:cs typeface="Times New Roman" panose="02020603050405020304" pitchFamily="18" charset="0"/>
            </a:endParaRPr>
          </a:p>
          <a:p>
            <a:pPr marL="0" indent="0">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endParaRPr lang="en-US" sz="3000" b="1">
              <a:latin typeface="Times New Roman" panose="02020603050405020304" pitchFamily="18" charset="0"/>
              <a:cs typeface="Times New Roman" panose="02020603050405020304" pitchFamily="18" charset="0"/>
            </a:endParaRPr>
          </a:p>
          <a:p>
            <a:pPr marL="0" indent="0" algn="ctr">
              <a:buNone/>
            </a:pPr>
            <a:r>
              <a:rPr lang="en-US" sz="4800" b="1">
                <a:latin typeface="Times New Roman" panose="02020603050405020304" pitchFamily="18" charset="0"/>
                <a:cs typeface="Times New Roman" panose="02020603050405020304" pitchFamily="18" charset="0"/>
              </a:rPr>
              <a:t>THAY ĐỔI, CẬP NHẬT LẠI THÔNG TIN CỦA NHÀ THẦU, KHÁCH HÀNG.</a:t>
            </a:r>
          </a:p>
        </p:txBody>
      </p:sp>
    </p:spTree>
    <p:extLst>
      <p:ext uri="{BB962C8B-B14F-4D97-AF65-F5344CB8AC3E}">
        <p14:creationId xmlns:p14="http://schemas.microsoft.com/office/powerpoint/2010/main" val="2406122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C034-81C2-6ACF-24E3-21823EBB9D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F98AA-B3E5-8DB1-5301-69FBEE34C20F}"/>
              </a:ext>
            </a:extLst>
          </p:cNvPr>
          <p:cNvSpPr>
            <a:spLocks noGrp="1"/>
          </p:cNvSpPr>
          <p:nvPr>
            <p:ph type="title"/>
          </p:nvPr>
        </p:nvSpPr>
        <p:spPr>
          <a:xfrm>
            <a:off x="6579450" y="727627"/>
            <a:ext cx="4957553" cy="1645920"/>
          </a:xfrm>
        </p:spPr>
        <p:txBody>
          <a:bodyPr>
            <a:normAutofit fontScale="90000"/>
          </a:bodyPr>
          <a:lstStyle/>
          <a:p>
            <a:r>
              <a:rPr lang="en-US"/>
              <a:t>Cập nhật lại thông tin nhà thầu, khách hàng.</a:t>
            </a:r>
            <a:endParaRPr lang="en-US" dirty="0"/>
          </a:p>
        </p:txBody>
      </p:sp>
      <p:sp>
        <p:nvSpPr>
          <p:cNvPr id="3" name="Content Placeholder 2">
            <a:extLst>
              <a:ext uri="{FF2B5EF4-FFF2-40B4-BE49-F238E27FC236}">
                <a16:creationId xmlns:a16="http://schemas.microsoft.com/office/drawing/2014/main" id="{8489904A-00B7-3FE4-0B59-A37B92F0240E}"/>
              </a:ext>
            </a:extLst>
          </p:cNvPr>
          <p:cNvSpPr>
            <a:spLocks noGrp="1"/>
          </p:cNvSpPr>
          <p:nvPr>
            <p:ph idx="1"/>
          </p:nvPr>
        </p:nvSpPr>
        <p:spPr>
          <a:xfrm>
            <a:off x="6579449" y="2312403"/>
            <a:ext cx="4957554" cy="3496120"/>
          </a:xfrm>
        </p:spPr>
        <p:txBody>
          <a:bodyPr>
            <a:normAutofit/>
          </a:bodyPr>
          <a:lstStyle/>
          <a:p>
            <a:r>
              <a:rPr lang="en-US"/>
              <a:t>Đầu tiên bạn vào menu Basic =&gt; Sau đó bạn chọn chức năng =&gt; Modify Partner Managerment.</a:t>
            </a:r>
            <a:endParaRPr lang="en-US" dirty="0"/>
          </a:p>
          <a:p>
            <a:r>
              <a:rPr lang="en-US"/>
              <a:t>Số 1: chọn người phê duyệt cho form của bạn.</a:t>
            </a:r>
          </a:p>
          <a:p>
            <a:r>
              <a:rPr lang="en-US"/>
              <a:t>Số 2: Đặt tiêu đề cho form.</a:t>
            </a:r>
          </a:p>
          <a:p>
            <a:r>
              <a:rPr lang="en-US"/>
              <a:t>Số 3: thêm tệp đính kèm nếu có.</a:t>
            </a:r>
          </a:p>
          <a:p>
            <a:r>
              <a:rPr lang="en-US"/>
              <a:t>Số 4: chọn nhà thầu vendor , khách hàng cần thay đổi thông tin.</a:t>
            </a:r>
            <a:endParaRPr lang="en-US" dirty="0"/>
          </a:p>
        </p:txBody>
      </p:sp>
      <p:pic>
        <p:nvPicPr>
          <p:cNvPr id="7" name="Picture 6">
            <a:extLst>
              <a:ext uri="{FF2B5EF4-FFF2-40B4-BE49-F238E27FC236}">
                <a16:creationId xmlns:a16="http://schemas.microsoft.com/office/drawing/2014/main" id="{BAB9A315-E524-0AAF-5BEC-B4BC4702A7BA}"/>
              </a:ext>
            </a:extLst>
          </p:cNvPr>
          <p:cNvPicPr>
            <a:picLocks noChangeAspect="1"/>
          </p:cNvPicPr>
          <p:nvPr/>
        </p:nvPicPr>
        <p:blipFill>
          <a:blip r:embed="rId2"/>
          <a:stretch>
            <a:fillRect/>
          </a:stretch>
        </p:blipFill>
        <p:spPr>
          <a:xfrm>
            <a:off x="431319" y="425684"/>
            <a:ext cx="5978107" cy="1947863"/>
          </a:xfrm>
          <a:prstGeom prst="rect">
            <a:avLst/>
          </a:prstGeom>
        </p:spPr>
      </p:pic>
      <p:pic>
        <p:nvPicPr>
          <p:cNvPr id="9" name="Picture 8">
            <a:extLst>
              <a:ext uri="{FF2B5EF4-FFF2-40B4-BE49-F238E27FC236}">
                <a16:creationId xmlns:a16="http://schemas.microsoft.com/office/drawing/2014/main" id="{5637D03B-19F1-F183-1E19-3C2BEFBB0DD8}"/>
              </a:ext>
            </a:extLst>
          </p:cNvPr>
          <p:cNvPicPr>
            <a:picLocks noChangeAspect="1"/>
          </p:cNvPicPr>
          <p:nvPr/>
        </p:nvPicPr>
        <p:blipFill>
          <a:blip r:embed="rId3"/>
          <a:stretch>
            <a:fillRect/>
          </a:stretch>
        </p:blipFill>
        <p:spPr>
          <a:xfrm>
            <a:off x="431319" y="2579298"/>
            <a:ext cx="5978107" cy="2191110"/>
          </a:xfrm>
          <a:prstGeom prst="rect">
            <a:avLst/>
          </a:prstGeom>
        </p:spPr>
      </p:pic>
    </p:spTree>
    <p:extLst>
      <p:ext uri="{BB962C8B-B14F-4D97-AF65-F5344CB8AC3E}">
        <p14:creationId xmlns:p14="http://schemas.microsoft.com/office/powerpoint/2010/main" val="2333904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61FFD-A282-71B7-AE2D-CDB01C3E0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A5112-98BA-01E2-F8C1-806585F341BF}"/>
              </a:ext>
            </a:extLst>
          </p:cNvPr>
          <p:cNvSpPr>
            <a:spLocks noGrp="1"/>
          </p:cNvSpPr>
          <p:nvPr>
            <p:ph type="title"/>
          </p:nvPr>
        </p:nvSpPr>
        <p:spPr>
          <a:xfrm>
            <a:off x="6579450" y="727627"/>
            <a:ext cx="4957553" cy="1645920"/>
          </a:xfrm>
        </p:spPr>
        <p:txBody>
          <a:bodyPr>
            <a:normAutofit fontScale="90000"/>
          </a:bodyPr>
          <a:lstStyle/>
          <a:p>
            <a:r>
              <a:rPr lang="en-US"/>
              <a:t>Cập nhật lại thông tin nhà thầu, khách hàng.</a:t>
            </a:r>
            <a:endParaRPr lang="en-US" dirty="0"/>
          </a:p>
        </p:txBody>
      </p:sp>
      <p:sp>
        <p:nvSpPr>
          <p:cNvPr id="3" name="Content Placeholder 2">
            <a:extLst>
              <a:ext uri="{FF2B5EF4-FFF2-40B4-BE49-F238E27FC236}">
                <a16:creationId xmlns:a16="http://schemas.microsoft.com/office/drawing/2014/main" id="{AAC80B6E-B8CF-5046-DE15-8A85E5E81C0C}"/>
              </a:ext>
            </a:extLst>
          </p:cNvPr>
          <p:cNvSpPr>
            <a:spLocks noGrp="1"/>
          </p:cNvSpPr>
          <p:nvPr>
            <p:ph idx="1"/>
          </p:nvPr>
        </p:nvSpPr>
        <p:spPr>
          <a:xfrm>
            <a:off x="6682966" y="2545316"/>
            <a:ext cx="4957554" cy="3496120"/>
          </a:xfrm>
        </p:spPr>
        <p:txBody>
          <a:bodyPr>
            <a:normAutofit/>
          </a:bodyPr>
          <a:lstStyle/>
          <a:p>
            <a:r>
              <a:rPr lang="en-US"/>
              <a:t>Ở màn hình bên tay trái nếu bạn muốn thay đổi bất kỳ thông tin nào, bạn có thể thay đổi thông tin đó, bằng việc nhập các thông tin vào. Các textbox hoặc chọn lại các thông tin trong combox.</a:t>
            </a:r>
            <a:endParaRPr lang="en-US" dirty="0"/>
          </a:p>
          <a:p>
            <a:endParaRPr lang="en-US" dirty="0"/>
          </a:p>
        </p:txBody>
      </p:sp>
      <p:pic>
        <p:nvPicPr>
          <p:cNvPr id="5" name="Picture 4">
            <a:extLst>
              <a:ext uri="{FF2B5EF4-FFF2-40B4-BE49-F238E27FC236}">
                <a16:creationId xmlns:a16="http://schemas.microsoft.com/office/drawing/2014/main" id="{42FF5003-C645-F382-0FB7-034B876DE713}"/>
              </a:ext>
            </a:extLst>
          </p:cNvPr>
          <p:cNvPicPr>
            <a:picLocks noChangeAspect="1"/>
          </p:cNvPicPr>
          <p:nvPr/>
        </p:nvPicPr>
        <p:blipFill>
          <a:blip r:embed="rId2"/>
          <a:stretch>
            <a:fillRect/>
          </a:stretch>
        </p:blipFill>
        <p:spPr>
          <a:xfrm>
            <a:off x="420516" y="465810"/>
            <a:ext cx="6158934" cy="5952243"/>
          </a:xfrm>
          <a:prstGeom prst="rect">
            <a:avLst/>
          </a:prstGeom>
        </p:spPr>
      </p:pic>
    </p:spTree>
    <p:extLst>
      <p:ext uri="{BB962C8B-B14F-4D97-AF65-F5344CB8AC3E}">
        <p14:creationId xmlns:p14="http://schemas.microsoft.com/office/powerpoint/2010/main" val="1110592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C19C3-D4D8-CABF-500B-840779A535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6B447A-EFAD-A31A-A69F-4D64B91FAB74}"/>
              </a:ext>
            </a:extLst>
          </p:cNvPr>
          <p:cNvSpPr>
            <a:spLocks noGrp="1"/>
          </p:cNvSpPr>
          <p:nvPr>
            <p:ph type="title"/>
          </p:nvPr>
        </p:nvSpPr>
        <p:spPr>
          <a:xfrm>
            <a:off x="6579450" y="727627"/>
            <a:ext cx="4957553" cy="1645920"/>
          </a:xfrm>
        </p:spPr>
        <p:txBody>
          <a:bodyPr>
            <a:normAutofit fontScale="90000"/>
          </a:bodyPr>
          <a:lstStyle/>
          <a:p>
            <a:r>
              <a:rPr lang="en-US"/>
              <a:t>Cập nhật lại thông tin nhà thầu, khách hàng.</a:t>
            </a:r>
            <a:endParaRPr lang="en-US" dirty="0"/>
          </a:p>
        </p:txBody>
      </p:sp>
      <p:sp>
        <p:nvSpPr>
          <p:cNvPr id="3" name="Content Placeholder 2">
            <a:extLst>
              <a:ext uri="{FF2B5EF4-FFF2-40B4-BE49-F238E27FC236}">
                <a16:creationId xmlns:a16="http://schemas.microsoft.com/office/drawing/2014/main" id="{F596B6D4-6893-CF48-B4C0-613E6192B0E3}"/>
              </a:ext>
            </a:extLst>
          </p:cNvPr>
          <p:cNvSpPr>
            <a:spLocks noGrp="1"/>
          </p:cNvSpPr>
          <p:nvPr>
            <p:ph idx="1"/>
          </p:nvPr>
        </p:nvSpPr>
        <p:spPr>
          <a:xfrm>
            <a:off x="6691592" y="2519436"/>
            <a:ext cx="4957554" cy="3496120"/>
          </a:xfrm>
        </p:spPr>
        <p:txBody>
          <a:bodyPr>
            <a:normAutofit/>
          </a:bodyPr>
          <a:lstStyle/>
          <a:p>
            <a:r>
              <a:rPr lang="en-US"/>
              <a:t>Cũng ở hình ảnh bên tay trái bạn cũng có thể ghi, các thông tin ghi chú, và nhấn nút gửi đi, hoặc bạn cũng có thể lưu trữ tạm thời, để sau này gửi lại, ngoài ra bạn cũng có thể xem trước được.</a:t>
            </a:r>
            <a:endParaRPr lang="en-US" dirty="0"/>
          </a:p>
          <a:p>
            <a:endParaRPr lang="en-US" dirty="0"/>
          </a:p>
        </p:txBody>
      </p:sp>
      <p:pic>
        <p:nvPicPr>
          <p:cNvPr id="5" name="Picture 4">
            <a:extLst>
              <a:ext uri="{FF2B5EF4-FFF2-40B4-BE49-F238E27FC236}">
                <a16:creationId xmlns:a16="http://schemas.microsoft.com/office/drawing/2014/main" id="{4AA4EB61-9793-7ECB-2EA5-7297C8A846E0}"/>
              </a:ext>
            </a:extLst>
          </p:cNvPr>
          <p:cNvPicPr>
            <a:picLocks noChangeAspect="1"/>
          </p:cNvPicPr>
          <p:nvPr/>
        </p:nvPicPr>
        <p:blipFill>
          <a:blip r:embed="rId2"/>
          <a:stretch>
            <a:fillRect/>
          </a:stretch>
        </p:blipFill>
        <p:spPr>
          <a:xfrm>
            <a:off x="457200" y="455748"/>
            <a:ext cx="5900468" cy="5893294"/>
          </a:xfrm>
          <a:prstGeom prst="rect">
            <a:avLst/>
          </a:prstGeom>
        </p:spPr>
      </p:pic>
    </p:spTree>
    <p:extLst>
      <p:ext uri="{BB962C8B-B14F-4D97-AF65-F5344CB8AC3E}">
        <p14:creationId xmlns:p14="http://schemas.microsoft.com/office/powerpoint/2010/main" val="4209582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A82C4D5-F48D-7707-F1E6-7BE4AA31F7CE}"/>
              </a:ext>
            </a:extLst>
          </p:cNvPr>
          <p:cNvSpPr>
            <a:spLocks noGrp="1"/>
          </p:cNvSpPr>
          <p:nvPr>
            <p:ph type="title"/>
          </p:nvPr>
        </p:nvSpPr>
        <p:spPr>
          <a:xfrm>
            <a:off x="657546" y="642594"/>
            <a:ext cx="10972800" cy="5470530"/>
          </a:xfrm>
        </p:spPr>
        <p:txBody>
          <a:bodyPr/>
          <a:lstStyle/>
          <a:p>
            <a:endParaRPr lang="en-US"/>
          </a:p>
        </p:txBody>
      </p:sp>
      <p:pic>
        <p:nvPicPr>
          <p:cNvPr id="1026" name="Picture 2" descr="Thank You For Listening Handwritten Lettering. Template for Banner, Flier, Poster, Print, Sticker or Web Product. Vector Illustration, Objects Isolated on White Background.">
            <a:extLst>
              <a:ext uri="{FF2B5EF4-FFF2-40B4-BE49-F238E27FC236}">
                <a16:creationId xmlns:a16="http://schemas.microsoft.com/office/drawing/2014/main" id="{FA15E2DE-5E9A-7305-FB73-4502B79FD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546" y="642594"/>
            <a:ext cx="10972800" cy="547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8428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AnalogousFromLightSeedRightStep">
      <a:dk1>
        <a:srgbClr val="000000"/>
      </a:dk1>
      <a:lt1>
        <a:srgbClr val="FFFFFF"/>
      </a:lt1>
      <a:dk2>
        <a:srgbClr val="242E41"/>
      </a:dk2>
      <a:lt2>
        <a:srgbClr val="E8E2E8"/>
      </a:lt2>
      <a:accent1>
        <a:srgbClr val="33BA34"/>
      </a:accent1>
      <a:accent2>
        <a:srgbClr val="38B66D"/>
      </a:accent2>
      <a:accent3>
        <a:srgbClr val="3EB3A0"/>
      </a:accent3>
      <a:accent4>
        <a:srgbClr val="29ACDA"/>
      </a:accent4>
      <a:accent5>
        <a:srgbClr val="7199EC"/>
      </a:accent5>
      <a:accent6>
        <a:srgbClr val="5F51E7"/>
      </a:accent6>
      <a:hlink>
        <a:srgbClr val="AE69AE"/>
      </a:hlink>
      <a:folHlink>
        <a:srgbClr val="7F7F7F"/>
      </a:folHlink>
    </a:clrScheme>
    <a:fontScheme name="Savon">
      <a:maj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oudy Old Style"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docProps/app.xml><?xml version="1.0" encoding="utf-8"?>
<Properties xmlns="http://schemas.openxmlformats.org/officeDocument/2006/extended-properties" xmlns:vt="http://schemas.openxmlformats.org/officeDocument/2006/docPropsVTypes">
  <TotalTime>7842</TotalTime>
  <Words>1196</Words>
  <Application>Microsoft Office PowerPoint</Application>
  <PresentationFormat>Widescreen</PresentationFormat>
  <Paragraphs>76</Paragraphs>
  <Slides>15</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Goudy Old Style (Body)</vt:lpstr>
      <vt:lpstr>Garamond</vt:lpstr>
      <vt:lpstr>Goudy Old Style</vt:lpstr>
      <vt:lpstr>Times New Roman</vt:lpstr>
      <vt:lpstr>SavonVTI</vt:lpstr>
      <vt:lpstr>Hướng dẫn sử dụng chức năng SBC trên hệ thống Groupware</vt:lpstr>
      <vt:lpstr>1.Đăng nhập hệ thống Groupware</vt:lpstr>
      <vt:lpstr>2.Thông tin đăng nhập vào Groupware</vt:lpstr>
      <vt:lpstr>Form đăng ký nhà thầu khách hàng.</vt:lpstr>
      <vt:lpstr>Form đăng ký nhà thầu khách hàng.</vt:lpstr>
      <vt:lpstr>Form đăng ký đi nhà thầu khách hàng.</vt:lpstr>
      <vt:lpstr>Form đăng ký nhà thầu khách hàng.</vt:lpstr>
      <vt:lpstr>Form đăng ký nhà thầu khách hàng.</vt:lpstr>
      <vt:lpstr>Form đăng ký nhà thầu khách hàng.</vt:lpstr>
      <vt:lpstr>Form đăng ký nhà thầu khách hàng.</vt:lpstr>
      <vt:lpstr>PowerPoint Presentation</vt:lpstr>
      <vt:lpstr>Cập nhật lại thông tin nhà thầu, khách hàng.</vt:lpstr>
      <vt:lpstr>Cập nhật lại thông tin nhà thầu, khách hàng.</vt:lpstr>
      <vt:lpstr>Cập nhật lại thông tin nhà thầu, khách hàng.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 function evaluate contract in CMS</dc:title>
  <dc:creator>Nha Nguyễn</dc:creator>
  <cp:lastModifiedBy>Vina Tech06</cp:lastModifiedBy>
  <cp:revision>154</cp:revision>
  <dcterms:created xsi:type="dcterms:W3CDTF">2022-04-13T01:56:23Z</dcterms:created>
  <dcterms:modified xsi:type="dcterms:W3CDTF">2025-01-02T09:50:02Z</dcterms:modified>
</cp:coreProperties>
</file>