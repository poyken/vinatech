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74" r:id="rId5"/>
    <p:sldId id="258" r:id="rId6"/>
    <p:sldId id="281" r:id="rId7"/>
    <p:sldId id="28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43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0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320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0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3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47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80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7/7/2025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92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7/7/2025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7367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15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7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1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b="1" i="1" kern="1200" cap="none" spc="-7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 3" descr="Background pattern, arrow&#10;&#10;Description automatically generated with medium confidence">
            <a:extLst>
              <a:ext uri="{FF2B5EF4-FFF2-40B4-BE49-F238E27FC236}">
                <a16:creationId xmlns:a16="http://schemas.microsoft.com/office/drawing/2014/main" id="{0DD25A64-4F51-638C-97E4-0FF53C7ED3C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1" b="1"/>
          <a:stretch/>
        </p:blipFill>
        <p:spPr>
          <a:xfrm>
            <a:off x="-4" y="0"/>
            <a:ext cx="12192000" cy="68579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30074"/>
            <a:ext cx="12192000" cy="2327925"/>
          </a:xfrm>
          <a:prstGeom prst="rect">
            <a:avLst/>
          </a:prstGeom>
          <a:solidFill>
            <a:schemeClr val="bg1">
              <a:alpha val="30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121716-8B64-478F-ABDB-17030AD1B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solidFill>
            <a:srgbClr val="33BA34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116" y="4692768"/>
            <a:ext cx="11859768" cy="2002536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DF167-DBD7-4C3A-9FC3-59FBDFCE8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723" y="4814744"/>
            <a:ext cx="11439414" cy="897439"/>
          </a:xfrm>
        </p:spPr>
        <p:txBody>
          <a:bodyPr>
            <a:normAutofit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Hướng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dẫn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sử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dụng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chức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năng</a:t>
            </a:r>
            <a:r>
              <a:rPr lang="en-US" sz="4400" dirty="0">
                <a:solidFill>
                  <a:schemeClr val="tx1"/>
                </a:solidFill>
              </a:rPr>
              <a:t> Draft Document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8A4C9-03F0-4958-8DA7-FF5094EF5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275" y="6016944"/>
            <a:ext cx="10656310" cy="42596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EA Team </a:t>
            </a:r>
            <a:r>
              <a:rPr lang="en-US" dirty="0" err="1">
                <a:solidFill>
                  <a:schemeClr val="tx1"/>
                </a:solidFill>
              </a:rPr>
              <a:t>Việt</a:t>
            </a:r>
            <a:r>
              <a:rPr lang="en-US" dirty="0">
                <a:solidFill>
                  <a:schemeClr val="tx1"/>
                </a:solidFill>
              </a:rPr>
              <a:t> Nam</a:t>
            </a:r>
          </a:p>
        </p:txBody>
      </p:sp>
    </p:spTree>
    <p:extLst>
      <p:ext uri="{BB962C8B-B14F-4D97-AF65-F5344CB8AC3E}">
        <p14:creationId xmlns:p14="http://schemas.microsoft.com/office/powerpoint/2010/main" val="3179193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6E92D59-FD1B-47BC-9D02-0F3B959A6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92AE646-CC19-4A1F-900B-E512D06A7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E4F834-34CB-4787-920F-CD1E1B8BC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6DE4-2310-439F-895A-6C973CFE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830" y="727823"/>
            <a:ext cx="3329150" cy="5402353"/>
          </a:xfrm>
        </p:spPr>
        <p:txBody>
          <a:bodyPr>
            <a:normAutofit/>
          </a:bodyPr>
          <a:lstStyle/>
          <a:p>
            <a:r>
              <a:rPr lang="en-US"/>
              <a:t>1.Đăng nhập hệ thống Groupware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7103-67B3-4191-BB4A-9FF0DFE9D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1614" y="727823"/>
            <a:ext cx="6927842" cy="2392449"/>
          </a:xfrm>
        </p:spPr>
        <p:txBody>
          <a:bodyPr>
            <a:normAutofit/>
          </a:bodyPr>
          <a:lstStyle/>
          <a:p>
            <a:r>
              <a:rPr lang="en-US" b="1"/>
              <a:t>I. Đăng nhập Groupware</a:t>
            </a:r>
          </a:p>
          <a:p>
            <a:pPr>
              <a:buFontTx/>
              <a:buChar char="-"/>
            </a:pPr>
            <a:r>
              <a:rPr lang="en-US"/>
              <a:t>Có hai cách để bạn đăng nhập vào hệ thống Groupware</a:t>
            </a:r>
          </a:p>
          <a:p>
            <a:pPr marL="0" indent="0">
              <a:buNone/>
            </a:pPr>
            <a:r>
              <a:rPr lang="en-US"/>
              <a:t>     + Bạn có thể truy cập bằng link sau đây: </a:t>
            </a:r>
            <a:r>
              <a:rPr lang="en-US">
                <a:solidFill>
                  <a:srgbClr val="FF0000"/>
                </a:solidFill>
              </a:rPr>
              <a:t>https://gw.vinatech.com/login</a:t>
            </a:r>
            <a:r>
              <a:rPr lang="en-US"/>
              <a:t>.</a:t>
            </a:r>
          </a:p>
          <a:p>
            <a:r>
              <a:rPr lang="en-US" b="1"/>
              <a:t>  + Bạn có thể chọn buổi tượng như hình dưới đây:</a:t>
            </a:r>
          </a:p>
          <a:p>
            <a:pPr marL="0" indent="0">
              <a:buNone/>
            </a:pPr>
            <a:r>
              <a:rPr lang="en-US"/>
              <a:t>     + Bạn mở trình duyệt lên và ỏ góc phải màn hình có biểu tượng=&gt; bạn chọn tới icon của công ty có chữ groupware click vào đó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7EDE9C-76B1-068A-B40D-1248AFC73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641" y="3139440"/>
            <a:ext cx="7083396" cy="334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597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6E92D59-FD1B-47BC-9D02-0F3B959A6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2AE646-CC19-4A1F-900B-E512D06A7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E4F834-34CB-4787-920F-CD1E1B8BC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6DE4-2310-439F-895A-6C973CFE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7" y="727824"/>
            <a:ext cx="3984311" cy="4521602"/>
          </a:xfrm>
        </p:spPr>
        <p:txBody>
          <a:bodyPr>
            <a:normAutofit/>
          </a:bodyPr>
          <a:lstStyle/>
          <a:p>
            <a:r>
              <a:rPr lang="en-US"/>
              <a:t>2.Thông tin đăng nhập vào Groupware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7103-67B3-4191-BB4A-9FF0DFE9D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1614" y="727823"/>
            <a:ext cx="6927842" cy="2590412"/>
          </a:xfrm>
        </p:spPr>
        <p:txBody>
          <a:bodyPr>
            <a:normAutofit/>
          </a:bodyPr>
          <a:lstStyle/>
          <a:p>
            <a:r>
              <a:rPr lang="en-US" b="1"/>
              <a:t>2. Thông tin đăng nhập</a:t>
            </a:r>
          </a:p>
          <a:p>
            <a:pPr marL="0" indent="0">
              <a:buNone/>
            </a:pPr>
            <a:r>
              <a:rPr lang="en-US"/>
              <a:t>- Bước 1: Thông tin tài khoản cũng như mật khẩu của bạn chính là mã nhân viên trên hệ thống ERP, mật khẩu mặc định từ 1 tới 4, trong trường hợp không được bạn liên hệ lại với EA</a:t>
            </a:r>
          </a:p>
          <a:p>
            <a:pPr>
              <a:buFontTx/>
              <a:buChar char="-"/>
            </a:pPr>
            <a:r>
              <a:rPr lang="en-US"/>
              <a:t>Bước 2: Trước khi login, bạn cần chọn Vinatech vina Co.,Ltd. </a:t>
            </a:r>
          </a:p>
          <a:p>
            <a:pPr>
              <a:buFontTx/>
              <a:buChar char="-"/>
            </a:pPr>
            <a:r>
              <a:rPr lang="en-US"/>
              <a:t>Bước 3: khi đã chọn xong, bạn nhập mã nhân viên và mật khẩu nhấn nút login để vào hệ thống.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6C378E-E898-C745-8CF0-21C6C02E1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112" y="3312203"/>
            <a:ext cx="7094032" cy="307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996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88D88-F08F-3A10-BA4E-93F1C6B9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7C15-A046-94B1-134F-1A01DD406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58686"/>
            <a:ext cx="4957553" cy="877055"/>
          </a:xfrm>
        </p:spPr>
        <p:txBody>
          <a:bodyPr>
            <a:normAutofit/>
          </a:bodyPr>
          <a:lstStyle/>
          <a:p>
            <a:r>
              <a:rPr lang="en-US" sz="4400" dirty="0"/>
              <a:t>Draft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FAF7B-AF7E-7F04-9099-659FCBDA6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658471"/>
            <a:ext cx="5617085" cy="3049791"/>
          </a:xfrm>
        </p:spPr>
        <p:txBody>
          <a:bodyPr>
            <a:normAutofit/>
          </a:bodyPr>
          <a:lstStyle/>
          <a:p>
            <a:r>
              <a:rPr lang="en-US" sz="2000" b="1" dirty="0" err="1"/>
              <a:t>Mục</a:t>
            </a:r>
            <a:r>
              <a:rPr lang="en-US" sz="2000" b="1" dirty="0"/>
              <a:t> </a:t>
            </a:r>
            <a:r>
              <a:rPr lang="en-US" sz="2000" b="1" dirty="0" err="1"/>
              <a:t>đích</a:t>
            </a:r>
            <a:r>
              <a:rPr lang="en-US" sz="2000" dirty="0"/>
              <a:t>: Khi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phê</a:t>
            </a:r>
            <a:r>
              <a:rPr lang="en-US" sz="2000" dirty="0"/>
              <a:t> </a:t>
            </a:r>
            <a:r>
              <a:rPr lang="en-US" sz="2000" dirty="0" err="1"/>
              <a:t>duyệt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yêu</a:t>
            </a:r>
            <a:r>
              <a:rPr lang="en-US" sz="2000" dirty="0"/>
              <a:t> </a:t>
            </a:r>
            <a:r>
              <a:rPr lang="en-US" sz="2000" dirty="0" err="1"/>
              <a:t>cầu</a:t>
            </a:r>
            <a:r>
              <a:rPr lang="en-US" sz="2000" dirty="0"/>
              <a:t> </a:t>
            </a:r>
            <a:r>
              <a:rPr lang="en-US" sz="2000" dirty="0" err="1"/>
              <a:t>biểu</a:t>
            </a:r>
            <a:r>
              <a:rPr lang="en-US" sz="2000" dirty="0"/>
              <a:t> </a:t>
            </a:r>
            <a:r>
              <a:rPr lang="en-US" sz="2000" dirty="0" err="1"/>
              <a:t>mẫu</a:t>
            </a:r>
            <a:r>
              <a:rPr lang="en-US" sz="2000" dirty="0"/>
              <a:t> </a:t>
            </a:r>
            <a:r>
              <a:rPr lang="en-US" sz="2000" dirty="0" err="1"/>
              <a:t>nhập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đặc</a:t>
            </a:r>
            <a:r>
              <a:rPr lang="en-US" sz="2000" dirty="0"/>
              <a:t> </a:t>
            </a:r>
            <a:r>
              <a:rPr lang="en-US" sz="2000" dirty="0" err="1"/>
              <a:t>biệt</a:t>
            </a:r>
            <a:r>
              <a:rPr lang="en-US" sz="2000" dirty="0"/>
              <a:t>, </a:t>
            </a:r>
            <a:r>
              <a:rPr lang="en-US" sz="2000" dirty="0" err="1"/>
              <a:t>chỉ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 </a:t>
            </a:r>
            <a:r>
              <a:rPr lang="en-US" sz="2000" dirty="0" err="1"/>
              <a:t>giản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xin</a:t>
            </a:r>
            <a:r>
              <a:rPr lang="en-US" sz="2000" dirty="0"/>
              <a:t> ý </a:t>
            </a:r>
            <a:r>
              <a:rPr lang="en-US" sz="2000" dirty="0" err="1"/>
              <a:t>kiến</a:t>
            </a:r>
            <a:r>
              <a:rPr lang="en-US" sz="2000" dirty="0"/>
              <a:t>, </a:t>
            </a:r>
            <a:r>
              <a:rPr lang="en-US" sz="2000" dirty="0" err="1"/>
              <a:t>xin</a:t>
            </a:r>
            <a:r>
              <a:rPr lang="en-US" sz="2000" dirty="0"/>
              <a:t> </a:t>
            </a:r>
            <a:r>
              <a:rPr lang="en-US" sz="2000" dirty="0" err="1"/>
              <a:t>phê</a:t>
            </a:r>
            <a:r>
              <a:rPr lang="en-US" sz="2000" dirty="0"/>
              <a:t> </a:t>
            </a:r>
            <a:r>
              <a:rPr lang="en-US" sz="2000" dirty="0" err="1"/>
              <a:t>duyệt</a:t>
            </a:r>
            <a:r>
              <a:rPr lang="en-US" sz="2000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Vào</a:t>
            </a:r>
            <a:r>
              <a:rPr lang="en-US" dirty="0"/>
              <a:t> menu Electronic Document =&gt;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Basic =&gt;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Draft Document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01D4C2-9606-7073-68D3-A842DC6FF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3" y="394447"/>
            <a:ext cx="5617085" cy="608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80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:a16="http://schemas.microsoft.com/office/drawing/2014/main" id="{282E2A95-1A08-4118-83C6-B1CA5648E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68DC0EC7-60EA-4BD3-BC04-D547DE1B2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0122" y="413053"/>
            <a:ext cx="8212114" cy="6064596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FC7E-85EE-4AC9-A351-FBEB13A1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2511BB-FC4C-45F3-94EB-661D6806C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56699" y="413053"/>
            <a:ext cx="2616201" cy="60645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A97E2-9502-487B-86C7-37C69151E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8559" y="512947"/>
            <a:ext cx="2312480" cy="1472555"/>
          </a:xfrm>
        </p:spPr>
        <p:txBody>
          <a:bodyPr anchor="b">
            <a:noAutofit/>
          </a:bodyPr>
          <a:lstStyle/>
          <a:p>
            <a:r>
              <a:rPr lang="en-US" sz="3200" dirty="0" err="1"/>
              <a:t>Bước</a:t>
            </a:r>
            <a:r>
              <a:rPr lang="en-US" sz="3200" dirty="0"/>
              <a:t> 1: </a:t>
            </a:r>
            <a:r>
              <a:rPr lang="en-US" sz="3200" dirty="0" err="1"/>
              <a:t>Chọn</a:t>
            </a:r>
            <a:r>
              <a:rPr lang="en-US" sz="3200" dirty="0"/>
              <a:t> </a:t>
            </a:r>
            <a:r>
              <a:rPr lang="en-US" sz="3200" dirty="0" err="1"/>
              <a:t>dòng</a:t>
            </a:r>
            <a:r>
              <a:rPr lang="en-US" sz="3200" dirty="0"/>
              <a:t> </a:t>
            </a:r>
            <a:r>
              <a:rPr lang="en-US" sz="3200" dirty="0" err="1"/>
              <a:t>phê</a:t>
            </a:r>
            <a:r>
              <a:rPr lang="en-US" sz="3200" dirty="0"/>
              <a:t> </a:t>
            </a:r>
            <a:r>
              <a:rPr lang="en-US" sz="3200" dirty="0" err="1"/>
              <a:t>duyệt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91F4A-7CD3-48F7-B8A7-959531787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682" y="2223247"/>
            <a:ext cx="2465293" cy="40988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Tại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giao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diện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có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thể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chọn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dòng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mặc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định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là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Team Leader =&gt; Group Leader.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cũng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có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thể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thêm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người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vào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form,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hoặc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thêm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người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CC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vào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form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Cuối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cùng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chọn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Áp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dụng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dòng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duyệt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ABE070-A6A2-97D5-ED14-7F5B0492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41228"/>
            <a:ext cx="8203136" cy="2755931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2543E1-7107-CDD6-F059-76F2A5B5A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1" y="3285636"/>
            <a:ext cx="8203134" cy="3186206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003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2C464-E309-43FB-E3E3-02555CA6E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DC3C3-04B9-539E-9BC8-76BB34C55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6118" y="512948"/>
            <a:ext cx="3014921" cy="1226206"/>
          </a:xfrm>
        </p:spPr>
        <p:txBody>
          <a:bodyPr anchor="b">
            <a:noAutofit/>
          </a:bodyPr>
          <a:lstStyle/>
          <a:p>
            <a:r>
              <a:rPr lang="en-US" sz="3200" dirty="0" err="1"/>
              <a:t>Bước</a:t>
            </a:r>
            <a:r>
              <a:rPr lang="en-US" sz="3200" dirty="0"/>
              <a:t> 2: Điền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trường</a:t>
            </a:r>
            <a:r>
              <a:rPr lang="en-US" sz="3200" dirty="0"/>
              <a:t> </a:t>
            </a:r>
            <a:r>
              <a:rPr lang="en-US" sz="3200" dirty="0" err="1"/>
              <a:t>cần</a:t>
            </a:r>
            <a:r>
              <a:rPr lang="en-US" sz="3200" dirty="0"/>
              <a:t> </a:t>
            </a:r>
            <a:r>
              <a:rPr lang="en-US" sz="3200" dirty="0" err="1"/>
              <a:t>thiết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E84E7-EB56-DEBC-1644-937ABA89D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6118" y="1739154"/>
            <a:ext cx="3083857" cy="45829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Thêm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tiêu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đề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của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(2.1)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Thêm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tập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tin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đính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kèm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nếu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có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(2.2)</a:t>
            </a:r>
          </a:p>
          <a:p>
            <a:pPr>
              <a:lnSpc>
                <a:spcPct val="100000"/>
              </a:lnSpc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Nếu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làm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hộ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ai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đó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chọn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Thay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đổi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người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sử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dụng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(2.3)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Điền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nội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dung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của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(2.4)</a:t>
            </a:r>
          </a:p>
          <a:p>
            <a:pPr>
              <a:lnSpc>
                <a:spcPct val="100000"/>
              </a:lnSpc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Sau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khi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hoàn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tất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ấn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Gửi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sau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đó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xác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nhận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Gửi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đi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917CEB-6E45-13DD-E413-E7D6F4C18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06" y="512947"/>
            <a:ext cx="8050306" cy="59267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F3FE26-B1CB-EF50-07C6-927054CB0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211" y="3429000"/>
            <a:ext cx="3399555" cy="102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8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3EE86-0CB6-C60C-651F-21845683A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3AD5C-F8D1-D9A5-AF2C-83B5CAFF6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6118" y="430307"/>
            <a:ext cx="3191435" cy="842681"/>
          </a:xfrm>
        </p:spPr>
        <p:txBody>
          <a:bodyPr anchor="b">
            <a:noAutofit/>
          </a:bodyPr>
          <a:lstStyle/>
          <a:p>
            <a:r>
              <a:rPr lang="en-US" sz="3200" dirty="0" err="1"/>
              <a:t>Hủy</a:t>
            </a:r>
            <a:r>
              <a:rPr lang="en-US" sz="3200" dirty="0"/>
              <a:t> </a:t>
            </a:r>
            <a:r>
              <a:rPr lang="en-US" sz="3200" dirty="0" err="1"/>
              <a:t>đơn</a:t>
            </a:r>
            <a:r>
              <a:rPr lang="en-US" sz="3200" dirty="0"/>
              <a:t> </a:t>
            </a:r>
            <a:r>
              <a:rPr lang="en-US" sz="3200" dirty="0" err="1"/>
              <a:t>đăng</a:t>
            </a:r>
            <a:r>
              <a:rPr lang="en-US" sz="3200" dirty="0"/>
              <a:t> </a:t>
            </a:r>
            <a:r>
              <a:rPr lang="en-US" sz="3200" dirty="0" err="1"/>
              <a:t>ký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EAA5B-5FB0-E696-37D3-B150DD5C2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6118" y="1416424"/>
            <a:ext cx="3083857" cy="490571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Trường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hợp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muốn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rút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lại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để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chỉnh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sửa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hủy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Bấm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chọn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Hủy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đăng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ký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(3)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Lưu ý: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Chỉ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hủy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được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trong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trường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hợp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chưa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được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xong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Sau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khi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hủy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sẽ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chuyển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sang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mục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lưu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trữ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tạm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thời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Temporary Storage (4).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có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thể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truy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cập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vào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đó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để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chỉnh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sửa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xóa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71A9A2-BC84-2EFB-F8DA-8038563FD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47" y="402402"/>
            <a:ext cx="8211671" cy="602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731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A82C4D5-F48D-7707-F1E6-7BE4AA31F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46" y="642594"/>
            <a:ext cx="10972800" cy="5470530"/>
          </a:xfrm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Thank You For Listening Handwritten Lettering. Template for Banner, Flier, Poster, Print, Sticker or Web Product. Vector Illustration, Objects Isolated on White Background.">
            <a:extLst>
              <a:ext uri="{FF2B5EF4-FFF2-40B4-BE49-F238E27FC236}">
                <a16:creationId xmlns:a16="http://schemas.microsoft.com/office/drawing/2014/main" id="{FA15E2DE-5E9A-7305-FB73-4502B79FD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46" y="642594"/>
            <a:ext cx="10972800" cy="547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8428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LightSeedRightStep">
      <a:dk1>
        <a:srgbClr val="000000"/>
      </a:dk1>
      <a:lt1>
        <a:srgbClr val="FFFFFF"/>
      </a:lt1>
      <a:dk2>
        <a:srgbClr val="242E41"/>
      </a:dk2>
      <a:lt2>
        <a:srgbClr val="E8E2E8"/>
      </a:lt2>
      <a:accent1>
        <a:srgbClr val="33BA34"/>
      </a:accent1>
      <a:accent2>
        <a:srgbClr val="38B66D"/>
      </a:accent2>
      <a:accent3>
        <a:srgbClr val="3EB3A0"/>
      </a:accent3>
      <a:accent4>
        <a:srgbClr val="29ACDA"/>
      </a:accent4>
      <a:accent5>
        <a:srgbClr val="7199EC"/>
      </a:accent5>
      <a:accent6>
        <a:srgbClr val="5F51E7"/>
      </a:accent6>
      <a:hlink>
        <a:srgbClr val="AE69AE"/>
      </a:hlink>
      <a:folHlink>
        <a:srgbClr val="7F7F7F"/>
      </a:folHlink>
    </a:clrScheme>
    <a:fontScheme name="Savon">
      <a:majorFont>
        <a:latin typeface="Goudy Old Style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oudy Old Style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9027</TotalTime>
  <Words>437</Words>
  <Application>Microsoft Office PowerPoint</Application>
  <PresentationFormat>Widescreen</PresentationFormat>
  <Paragraphs>35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Garamond</vt:lpstr>
      <vt:lpstr>Goudy Old Style</vt:lpstr>
      <vt:lpstr>SavonVTI</vt:lpstr>
      <vt:lpstr>Hướng dẫn sử dụng chức năng Draft Document</vt:lpstr>
      <vt:lpstr>1.Đăng nhập hệ thống Groupware</vt:lpstr>
      <vt:lpstr>2.Thông tin đăng nhập vào Groupware</vt:lpstr>
      <vt:lpstr>Draft Document</vt:lpstr>
      <vt:lpstr>Bước 1: Chọn dòng phê duyệt</vt:lpstr>
      <vt:lpstr>Bước 2: Điền các trường cần thiết</vt:lpstr>
      <vt:lpstr>Hủy đơn đăng ký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guide function evaluate contract in CMS</dc:title>
  <dc:creator>Nha Nguyễn</dc:creator>
  <cp:lastModifiedBy>DI JAN</cp:lastModifiedBy>
  <cp:revision>191</cp:revision>
  <dcterms:created xsi:type="dcterms:W3CDTF">2022-04-13T01:56:23Z</dcterms:created>
  <dcterms:modified xsi:type="dcterms:W3CDTF">2025-07-07T01:31:34Z</dcterms:modified>
</cp:coreProperties>
</file>