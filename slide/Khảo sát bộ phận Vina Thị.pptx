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Montserrat SemiBold"/>
      <p:regular r:id="rId44"/>
      <p:bold r:id="rId45"/>
      <p:italic r:id="rId46"/>
      <p:boldItalic r:id="rId47"/>
    </p:embeddedFont>
    <p:embeddedFont>
      <p:font typeface="Mate"/>
      <p:regular r:id="rId48"/>
      <p:italic r:id="rId49"/>
    </p:embeddedFont>
    <p:embeddedFont>
      <p:font typeface="Inter SemiBold"/>
      <p:regular r:id="rId50"/>
      <p:bold r:id="rId51"/>
      <p:italic r:id="rId52"/>
      <p:boldItalic r:id="rId53"/>
    </p:embeddedFont>
    <p:embeddedFont>
      <p:font typeface="Montserrat"/>
      <p:regular r:id="rId54"/>
      <p:bold r:id="rId55"/>
      <p:italic r:id="rId56"/>
      <p:boldItalic r:id="rId57"/>
    </p:embeddedFont>
    <p:embeddedFont>
      <p:font typeface="Inter"/>
      <p:regular r:id="rId58"/>
      <p:bold r:id="rId59"/>
      <p:italic r:id="rId60"/>
      <p:boldItalic r:id="rId61"/>
    </p:embeddedFont>
    <p:embeddedFont>
      <p:font typeface="Inter ExtraBold"/>
      <p:bold r:id="rId62"/>
      <p:boldItalic r:id="rId63"/>
    </p:embeddedFont>
    <p:embeddedFont>
      <p:font typeface="Montserrat ExtraBold"/>
      <p:bold r:id="rId64"/>
      <p:boldItalic r:id="rId65"/>
    </p:embeddedFont>
    <p:embeddedFont>
      <p:font typeface="Inter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MontserratSemiBold-regular.fntdata"/><Relationship Id="rId43" Type="http://schemas.openxmlformats.org/officeDocument/2006/relationships/slide" Target="slides/slide38.xml"/><Relationship Id="rId46" Type="http://schemas.openxmlformats.org/officeDocument/2006/relationships/font" Target="fonts/MontserratSemiBold-italic.fntdata"/><Relationship Id="rId45" Type="http://schemas.openxmlformats.org/officeDocument/2006/relationships/font" Target="fonts/Montserrat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ate-regular.fntdata"/><Relationship Id="rId47" Type="http://schemas.openxmlformats.org/officeDocument/2006/relationships/font" Target="fonts/MontserratSemiBold-boldItalic.fntdata"/><Relationship Id="rId49" Type="http://schemas.openxmlformats.org/officeDocument/2006/relationships/font" Target="fonts/Mat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ExtraBold-bold.fntdata"/><Relationship Id="rId61" Type="http://schemas.openxmlformats.org/officeDocument/2006/relationships/font" Target="fonts/Inter-boldItalic.fntdata"/><Relationship Id="rId20" Type="http://schemas.openxmlformats.org/officeDocument/2006/relationships/slide" Target="slides/slide15.xml"/><Relationship Id="rId64" Type="http://schemas.openxmlformats.org/officeDocument/2006/relationships/font" Target="fonts/MontserratExtraBold-bold.fntdata"/><Relationship Id="rId63" Type="http://schemas.openxmlformats.org/officeDocument/2006/relationships/font" Target="fonts/InterExtraBold-boldItalic.fntdata"/><Relationship Id="rId22" Type="http://schemas.openxmlformats.org/officeDocument/2006/relationships/slide" Target="slides/slide17.xml"/><Relationship Id="rId66" Type="http://schemas.openxmlformats.org/officeDocument/2006/relationships/font" Target="fonts/InterMedium-regular.fntdata"/><Relationship Id="rId21" Type="http://schemas.openxmlformats.org/officeDocument/2006/relationships/slide" Target="slides/slide16.xml"/><Relationship Id="rId65" Type="http://schemas.openxmlformats.org/officeDocument/2006/relationships/font" Target="fonts/MontserratExtraBold-boldItalic.fntdata"/><Relationship Id="rId24" Type="http://schemas.openxmlformats.org/officeDocument/2006/relationships/slide" Target="slides/slide19.xml"/><Relationship Id="rId68" Type="http://schemas.openxmlformats.org/officeDocument/2006/relationships/font" Target="fonts/InterMedium-italic.fntdata"/><Relationship Id="rId23" Type="http://schemas.openxmlformats.org/officeDocument/2006/relationships/slide" Target="slides/slide18.xml"/><Relationship Id="rId67" Type="http://schemas.openxmlformats.org/officeDocument/2006/relationships/font" Target="fonts/InterMedium-bold.fntdata"/><Relationship Id="rId60" Type="http://schemas.openxmlformats.org/officeDocument/2006/relationships/font" Target="fonts/Inter-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Inter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SemiBold-bold.fntdata"/><Relationship Id="rId50" Type="http://schemas.openxmlformats.org/officeDocument/2006/relationships/font" Target="fonts/InterSemiBold-regular.fntdata"/><Relationship Id="rId53" Type="http://schemas.openxmlformats.org/officeDocument/2006/relationships/font" Target="fonts/InterSemiBold-boldItalic.fntdata"/><Relationship Id="rId52" Type="http://schemas.openxmlformats.org/officeDocument/2006/relationships/font" Target="fonts/InterSemiBold-italic.fntdata"/><Relationship Id="rId11" Type="http://schemas.openxmlformats.org/officeDocument/2006/relationships/slide" Target="slides/slide6.xml"/><Relationship Id="rId55" Type="http://schemas.openxmlformats.org/officeDocument/2006/relationships/font" Target="fonts/Montserrat-bold.fntdata"/><Relationship Id="rId10" Type="http://schemas.openxmlformats.org/officeDocument/2006/relationships/slide" Target="slides/slide5.xml"/><Relationship Id="rId54" Type="http://schemas.openxmlformats.org/officeDocument/2006/relationships/font" Target="fonts/Montserrat-regular.fntdata"/><Relationship Id="rId13" Type="http://schemas.openxmlformats.org/officeDocument/2006/relationships/slide" Target="slides/slide8.xml"/><Relationship Id="rId57" Type="http://schemas.openxmlformats.org/officeDocument/2006/relationships/font" Target="fonts/Montserrat-boldItalic.fntdata"/><Relationship Id="rId12" Type="http://schemas.openxmlformats.org/officeDocument/2006/relationships/slide" Target="slides/slide7.xml"/><Relationship Id="rId56" Type="http://schemas.openxmlformats.org/officeDocument/2006/relationships/font" Target="fonts/Montserrat-italic.fntdata"/><Relationship Id="rId15" Type="http://schemas.openxmlformats.org/officeDocument/2006/relationships/slide" Target="slides/slide10.xml"/><Relationship Id="rId59" Type="http://schemas.openxmlformats.org/officeDocument/2006/relationships/font" Target="fonts/Inter-bold.fntdata"/><Relationship Id="rId14" Type="http://schemas.openxmlformats.org/officeDocument/2006/relationships/slide" Target="slides/slide9.xml"/><Relationship Id="rId58" Type="http://schemas.openxmlformats.org/officeDocument/2006/relationships/font" Target="fonts/Inter-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9872250dc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e9872250dc_2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9872250dc_2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e9872250dc_2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9872250dc_2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e9872250dc_2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9872250dc_2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e9872250dc_2_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9872250dc_0_5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e9872250dc_0_53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9872250dc_0_5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e9872250dc_0_53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9872250dc_2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e9872250dc_2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9872250dc_2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e9872250dc_2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9872250dc_2_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e9872250dc_2_2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9872250dc_2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3e9872250dc_2_2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9872250dc_2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g3e9872250dc_2_2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e9872250dc_2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e9872250dc_2_2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9872250dc_2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g3e9872250dc_2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9872250dc_2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g3e9872250dc_2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e9872250dc_2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g3e9872250dc_2_3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e9872250dc_2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g3e9872250dc_2_4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9872250dc_2_4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g3e9872250dc_2_4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9872250dc_2_4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e9872250dc_2_4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9872250dc_2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g3e9872250dc_2_4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9872250dc_2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g3e9872250dc_2_4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9872250dc_2_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7" name="Google Shape;627;g3e9872250dc_2_4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9872250dc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g3e9872250dc_0_15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9872250dc_2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g3e9872250dc_2_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e9872250dc_2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7" name="Google Shape;687;g3e9872250dc_2_5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e9872250dc_2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g3e9872250dc_2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9872250dc_2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6" name="Google Shape;716;g3e9872250dc_2_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e9872250dc_2_5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7" name="Google Shape;737;g3e9872250dc_2_5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e9872250dc_2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0" name="Google Shape;760;g3e9872250dc_2_5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9872250dc_2_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4" name="Google Shape;804;g3e9872250dc_2_6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9872250dc_2_6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6" name="Google Shape;846;g3e9872250dc_2_6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e9872250dc_2_6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3" name="Google Shape;873;g3e9872250dc_2_6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9872250dc_0_29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5" name="Google Shape;895;g3e9872250dc_0_29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9872250dc_0_3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1" name="Google Shape;951;g3e9872250dc_0_3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9872250dc_0_3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5" name="Google Shape;975;g3e9872250dc_0_33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e9872250dc_0_6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0" name="Google Shape;1000;g3e9872250dc_0_6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e9872250dc_0_65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4" name="Google Shape;1034;g3e9872250dc_0_65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e9872250dc_0_65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2" name="Google Shape;1052;g3e9872250dc_0_65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3e9872250dc_2_7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7" name="Google Shape;1067;g3e9872250dc_2_7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597819"/>
            <a:ext cx="5829300" cy="11025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3"/>
          <p:cNvSpPr txBox="1"/>
          <p:nvPr>
            <p:ph idx="1" type="subTitle"/>
          </p:nvPr>
        </p:nvSpPr>
        <p:spPr>
          <a:xfrm>
            <a:off x="1028700" y="2914650"/>
            <a:ext cx="4800600" cy="13146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8" name="Google Shape;18;p3"/>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4" name="Google Shape;24;p4"/>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541735" y="3305175"/>
            <a:ext cx="5829300" cy="10215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5"/>
          <p:cNvSpPr txBox="1"/>
          <p:nvPr>
            <p:ph idx="1" type="body"/>
          </p:nvPr>
        </p:nvSpPr>
        <p:spPr>
          <a:xfrm>
            <a:off x="541735" y="2180035"/>
            <a:ext cx="5829300" cy="1125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30" name="Google Shape;30;p5"/>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5"/>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6"/>
          <p:cNvSpPr txBox="1"/>
          <p:nvPr>
            <p:ph idx="1" type="body"/>
          </p:nvPr>
        </p:nvSpPr>
        <p:spPr>
          <a:xfrm>
            <a:off x="34290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36" name="Google Shape;36;p6"/>
          <p:cNvSpPr txBox="1"/>
          <p:nvPr>
            <p:ph idx="2" type="body"/>
          </p:nvPr>
        </p:nvSpPr>
        <p:spPr>
          <a:xfrm>
            <a:off x="348615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37" name="Google Shape;37;p6"/>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6"/>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6"/>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7"/>
          <p:cNvSpPr txBox="1"/>
          <p:nvPr>
            <p:ph idx="1" type="body"/>
          </p:nvPr>
        </p:nvSpPr>
        <p:spPr>
          <a:xfrm>
            <a:off x="342900" y="1151335"/>
            <a:ext cx="3030000" cy="4797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43" name="Google Shape;43;p7"/>
          <p:cNvSpPr txBox="1"/>
          <p:nvPr>
            <p:ph idx="2" type="body"/>
          </p:nvPr>
        </p:nvSpPr>
        <p:spPr>
          <a:xfrm>
            <a:off x="342900" y="1631156"/>
            <a:ext cx="30300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44" name="Google Shape;44;p7"/>
          <p:cNvSpPr txBox="1"/>
          <p:nvPr>
            <p:ph idx="3" type="body"/>
          </p:nvPr>
        </p:nvSpPr>
        <p:spPr>
          <a:xfrm>
            <a:off x="3483769" y="1151335"/>
            <a:ext cx="3031200" cy="4797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45" name="Google Shape;45;p7"/>
          <p:cNvSpPr txBox="1"/>
          <p:nvPr>
            <p:ph idx="4" type="body"/>
          </p:nvPr>
        </p:nvSpPr>
        <p:spPr>
          <a:xfrm>
            <a:off x="3483769" y="1631156"/>
            <a:ext cx="30312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46" name="Google Shape;46;p7"/>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7"/>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7"/>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8"/>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00" y="204788"/>
            <a:ext cx="2256300" cy="8715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9"/>
          <p:cNvSpPr txBox="1"/>
          <p:nvPr>
            <p:ph idx="1" type="body"/>
          </p:nvPr>
        </p:nvSpPr>
        <p:spPr>
          <a:xfrm>
            <a:off x="2681288" y="204788"/>
            <a:ext cx="3833700" cy="4389900"/>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7" name="Google Shape;57;p9"/>
          <p:cNvSpPr txBox="1"/>
          <p:nvPr>
            <p:ph idx="2" type="body"/>
          </p:nvPr>
        </p:nvSpPr>
        <p:spPr>
          <a:xfrm>
            <a:off x="342900"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58" name="Google Shape;58;p9"/>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9"/>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9"/>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216" y="3600450"/>
            <a:ext cx="41148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0"/>
          <p:cNvSpPr/>
          <p:nvPr>
            <p:ph idx="2" type="pic"/>
          </p:nvPr>
        </p:nvSpPr>
        <p:spPr>
          <a:xfrm>
            <a:off x="1344216" y="459581"/>
            <a:ext cx="4114800" cy="3086100"/>
          </a:xfrm>
          <a:prstGeom prst="rect">
            <a:avLst/>
          </a:prstGeom>
          <a:noFill/>
          <a:ln>
            <a:noFill/>
          </a:ln>
        </p:spPr>
      </p:sp>
      <p:sp>
        <p:nvSpPr>
          <p:cNvPr id="64" name="Google Shape;64;p10"/>
          <p:cNvSpPr txBox="1"/>
          <p:nvPr>
            <p:ph idx="1" type="body"/>
          </p:nvPr>
        </p:nvSpPr>
        <p:spPr>
          <a:xfrm>
            <a:off x="1344216"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65" name="Google Shape;65;p10"/>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0"/>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0"/>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1"/>
          <p:cNvSpPr txBox="1"/>
          <p:nvPr>
            <p:ph idx="1" type="body"/>
          </p:nvPr>
        </p:nvSpPr>
        <p:spPr>
          <a:xfrm rot="5400000">
            <a:off x="1731750" y="-188700"/>
            <a:ext cx="3394500" cy="6172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1" name="Google Shape;71;p1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3549300" y="1628879"/>
            <a:ext cx="4388700" cy="15429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406050" y="142978"/>
            <a:ext cx="4388700" cy="45147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7" name="Google Shape;77;p1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98.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30.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13.png"/><Relationship Id="rId6" Type="http://schemas.openxmlformats.org/officeDocument/2006/relationships/image" Target="../media/image18.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29.png"/><Relationship Id="rId7" Type="http://schemas.openxmlformats.org/officeDocument/2006/relationships/image" Target="../media/image14.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8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40.png"/><Relationship Id="rId6"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63.png"/><Relationship Id="rId10" Type="http://schemas.openxmlformats.org/officeDocument/2006/relationships/image" Target="../media/image49.png"/><Relationship Id="rId9"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21.png"/><Relationship Id="rId7" Type="http://schemas.openxmlformats.org/officeDocument/2006/relationships/image" Target="../media/image48.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86.png"/><Relationship Id="rId5"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80.png"/><Relationship Id="rId5" Type="http://schemas.openxmlformats.org/officeDocument/2006/relationships/image" Target="../media/image28.png"/><Relationship Id="rId6"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71.png"/><Relationship Id="rId5"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38.png"/><Relationship Id="rId5"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60.png"/><Relationship Id="rId6"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43.png"/><Relationship Id="rId9" Type="http://schemas.openxmlformats.org/officeDocument/2006/relationships/image" Target="../media/image52.png"/><Relationship Id="rId5" Type="http://schemas.openxmlformats.org/officeDocument/2006/relationships/image" Target="../media/image46.png"/><Relationship Id="rId6" Type="http://schemas.openxmlformats.org/officeDocument/2006/relationships/image" Target="../media/image51.png"/><Relationship Id="rId7" Type="http://schemas.openxmlformats.org/officeDocument/2006/relationships/image" Target="../media/image55.png"/><Relationship Id="rId8"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85.png"/><Relationship Id="rId5" Type="http://schemas.openxmlformats.org/officeDocument/2006/relationships/image" Target="../media/image54.png"/><Relationship Id="rId6" Type="http://schemas.openxmlformats.org/officeDocument/2006/relationships/image" Target="../media/image9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53.png"/><Relationship Id="rId9" Type="http://schemas.openxmlformats.org/officeDocument/2006/relationships/image" Target="../media/image64.png"/><Relationship Id="rId5" Type="http://schemas.openxmlformats.org/officeDocument/2006/relationships/image" Target="../media/image56.png"/><Relationship Id="rId6" Type="http://schemas.openxmlformats.org/officeDocument/2006/relationships/image" Target="../media/image59.png"/><Relationship Id="rId7" Type="http://schemas.openxmlformats.org/officeDocument/2006/relationships/image" Target="../media/image58.png"/><Relationship Id="rId8"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53.png"/><Relationship Id="rId5" Type="http://schemas.openxmlformats.org/officeDocument/2006/relationships/image" Target="../media/image62.png"/><Relationship Id="rId6" Type="http://schemas.openxmlformats.org/officeDocument/2006/relationships/image" Target="../media/image6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65.png"/><Relationship Id="rId5" Type="http://schemas.openxmlformats.org/officeDocument/2006/relationships/image" Target="../media/image10.png"/><Relationship Id="rId6" Type="http://schemas.openxmlformats.org/officeDocument/2006/relationships/image" Target="../media/image6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73.png"/><Relationship Id="rId5" Type="http://schemas.openxmlformats.org/officeDocument/2006/relationships/image" Target="../media/image8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94.png"/><Relationship Id="rId5"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75.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79.png"/><Relationship Id="rId5" Type="http://schemas.openxmlformats.org/officeDocument/2006/relationships/image" Target="../media/image76.png"/><Relationship Id="rId6"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95.png"/><Relationship Id="rId6" Type="http://schemas.openxmlformats.org/officeDocument/2006/relationships/image" Target="../media/image8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95.png"/><Relationship Id="rId5" Type="http://schemas.openxmlformats.org/officeDocument/2006/relationships/image" Target="../media/image8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91.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9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3.png"/><Relationship Id="rId4" Type="http://schemas.openxmlformats.org/officeDocument/2006/relationships/image" Target="../media/image9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28625" y="2636044"/>
            <a:ext cx="2619300" cy="1064419"/>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3262238" y="2636044"/>
            <a:ext cx="2619412" cy="1064419"/>
          </a:xfrm>
          <a:prstGeom prst="rect">
            <a:avLst/>
          </a:prstGeom>
          <a:noFill/>
          <a:ln>
            <a:noFill/>
          </a:ln>
        </p:spPr>
      </p:pic>
      <p:pic>
        <p:nvPicPr>
          <p:cNvPr descr="image.png" id="87" name="Google Shape;87;p13"/>
          <p:cNvPicPr preferRelativeResize="0"/>
          <p:nvPr/>
        </p:nvPicPr>
        <p:blipFill rotWithShape="1">
          <a:blip r:embed="rId4">
            <a:alphaModFix/>
          </a:blip>
          <a:srcRect b="0" l="0" r="0" t="0"/>
          <a:stretch/>
        </p:blipFill>
        <p:spPr>
          <a:xfrm>
            <a:off x="6095963" y="2636044"/>
            <a:ext cx="2619300" cy="1064419"/>
          </a:xfrm>
          <a:prstGeom prst="rect">
            <a:avLst/>
          </a:prstGeom>
          <a:noFill/>
          <a:ln>
            <a:noFill/>
          </a:ln>
        </p:spPr>
      </p:pic>
      <p:sp>
        <p:nvSpPr>
          <p:cNvPr id="88" name="Google Shape;88;p13"/>
          <p:cNvSpPr txBox="1"/>
          <p:nvPr/>
        </p:nvSpPr>
        <p:spPr>
          <a:xfrm>
            <a:off x="221456" y="1443038"/>
            <a:ext cx="8701200" cy="55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600"/>
              <a:buFont typeface="Arial"/>
              <a:buNone/>
            </a:pPr>
            <a:r>
              <a:rPr b="1" i="0" lang="vi" sz="3600" u="none" cap="none" strike="noStrike">
                <a:solidFill>
                  <a:srgbClr val="0F172A"/>
                </a:solidFill>
                <a:latin typeface="Montserrat"/>
                <a:ea typeface="Montserrat"/>
                <a:cs typeface="Montserrat"/>
                <a:sym typeface="Montserrat"/>
              </a:rPr>
              <a:t>PHÂN TÍCH HỆ THỐNG VINA TECH</a:t>
            </a:r>
            <a:endParaRPr b="0" i="0" sz="1100" u="none" cap="none" strike="noStrike">
              <a:solidFill>
                <a:srgbClr val="000000"/>
              </a:solidFill>
              <a:latin typeface="Arial"/>
              <a:ea typeface="Arial"/>
              <a:cs typeface="Arial"/>
              <a:sym typeface="Arial"/>
            </a:endParaRPr>
          </a:p>
        </p:txBody>
      </p:sp>
      <p:sp>
        <p:nvSpPr>
          <p:cNvPr id="89" name="Google Shape;89;p13"/>
          <p:cNvSpPr txBox="1"/>
          <p:nvPr/>
        </p:nvSpPr>
        <p:spPr>
          <a:xfrm>
            <a:off x="428625" y="2071688"/>
            <a:ext cx="8286900" cy="27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vi" sz="1800" u="none" cap="none" strike="noStrike">
                <a:solidFill>
                  <a:srgbClr val="8BC249"/>
                </a:solidFill>
                <a:latin typeface="Inter SemiBold"/>
                <a:ea typeface="Inter SemiBold"/>
                <a:cs typeface="Inter SemiBold"/>
                <a:sym typeface="Inter SemiBold"/>
              </a:rPr>
              <a:t>KHẢO SÁT NGHIỆP VỤ &amp; ĐỊNH HƯỚNG NÂNG CẤP HỆ THỐNG</a:t>
            </a:r>
            <a:endParaRPr b="0" i="0" sz="1800" u="none" cap="none" strike="noStrike">
              <a:solidFill>
                <a:srgbClr val="000000"/>
              </a:solidFill>
              <a:latin typeface="Arial"/>
              <a:ea typeface="Arial"/>
              <a:cs typeface="Arial"/>
              <a:sym typeface="Arial"/>
            </a:endParaRPr>
          </a:p>
        </p:txBody>
      </p:sp>
      <p:pic>
        <p:nvPicPr>
          <p:cNvPr descr="image.png" id="90" name="Google Shape;90;p13"/>
          <p:cNvPicPr preferRelativeResize="0"/>
          <p:nvPr/>
        </p:nvPicPr>
        <p:blipFill rotWithShape="1">
          <a:blip r:embed="rId6">
            <a:alphaModFix/>
          </a:blip>
          <a:srcRect b="0" l="0" r="0" t="0"/>
          <a:stretch/>
        </p:blipFill>
        <p:spPr>
          <a:xfrm>
            <a:off x="1577540" y="2814638"/>
            <a:ext cx="321469" cy="285750"/>
          </a:xfrm>
          <a:prstGeom prst="rect">
            <a:avLst/>
          </a:prstGeom>
          <a:noFill/>
          <a:ln>
            <a:noFill/>
          </a:ln>
        </p:spPr>
      </p:pic>
      <p:sp>
        <p:nvSpPr>
          <p:cNvPr id="91" name="Google Shape;91;p13"/>
          <p:cNvSpPr txBox="1"/>
          <p:nvPr/>
        </p:nvSpPr>
        <p:spPr>
          <a:xfrm>
            <a:off x="550666" y="3207544"/>
            <a:ext cx="2375400" cy="2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vi" sz="1500" u="none" cap="none" strike="noStrike">
                <a:solidFill>
                  <a:srgbClr val="0F172A"/>
                </a:solidFill>
                <a:latin typeface="Montserrat"/>
                <a:ea typeface="Montserrat"/>
                <a:cs typeface="Montserrat"/>
                <a:sym typeface="Montserrat"/>
              </a:rPr>
              <a:t>1. Quy trình</a:t>
            </a:r>
            <a:endParaRPr b="0" i="0" sz="1500" u="none" cap="none" strike="noStrike">
              <a:solidFill>
                <a:srgbClr val="000000"/>
              </a:solidFill>
              <a:latin typeface="Arial"/>
              <a:ea typeface="Arial"/>
              <a:cs typeface="Arial"/>
              <a:sym typeface="Arial"/>
            </a:endParaRPr>
          </a:p>
        </p:txBody>
      </p:sp>
      <p:pic>
        <p:nvPicPr>
          <p:cNvPr descr="image.png" id="92" name="Google Shape;92;p13"/>
          <p:cNvPicPr preferRelativeResize="0"/>
          <p:nvPr/>
        </p:nvPicPr>
        <p:blipFill rotWithShape="1">
          <a:blip r:embed="rId7">
            <a:alphaModFix/>
          </a:blip>
          <a:srcRect b="0" l="0" r="0" t="0"/>
          <a:stretch/>
        </p:blipFill>
        <p:spPr>
          <a:xfrm>
            <a:off x="4429013" y="2814638"/>
            <a:ext cx="285750" cy="285750"/>
          </a:xfrm>
          <a:prstGeom prst="rect">
            <a:avLst/>
          </a:prstGeom>
          <a:noFill/>
          <a:ln>
            <a:noFill/>
          </a:ln>
        </p:spPr>
      </p:pic>
      <p:sp>
        <p:nvSpPr>
          <p:cNvPr id="93" name="Google Shape;93;p13"/>
          <p:cNvSpPr txBox="1"/>
          <p:nvPr/>
        </p:nvSpPr>
        <p:spPr>
          <a:xfrm>
            <a:off x="3384276" y="3207544"/>
            <a:ext cx="2375400" cy="230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vi" sz="1500" u="none" cap="none" strike="noStrike">
                <a:solidFill>
                  <a:srgbClr val="0F172A"/>
                </a:solidFill>
                <a:latin typeface="Montserrat"/>
                <a:ea typeface="Montserrat"/>
                <a:cs typeface="Montserrat"/>
                <a:sym typeface="Montserrat"/>
              </a:rPr>
              <a:t>2. Hạn chế</a:t>
            </a:r>
            <a:endParaRPr b="0" i="0" sz="1500" u="none" cap="none" strike="noStrike">
              <a:solidFill>
                <a:srgbClr val="000000"/>
              </a:solidFill>
              <a:latin typeface="Arial"/>
              <a:ea typeface="Arial"/>
              <a:cs typeface="Arial"/>
              <a:sym typeface="Arial"/>
            </a:endParaRPr>
          </a:p>
        </p:txBody>
      </p:sp>
      <p:pic>
        <p:nvPicPr>
          <p:cNvPr descr="image.png" id="94" name="Google Shape;94;p13"/>
          <p:cNvPicPr preferRelativeResize="0"/>
          <p:nvPr/>
        </p:nvPicPr>
        <p:blipFill rotWithShape="1">
          <a:blip r:embed="rId8">
            <a:alphaModFix/>
          </a:blip>
          <a:srcRect b="0" l="0" r="0" t="0"/>
          <a:stretch/>
        </p:blipFill>
        <p:spPr>
          <a:xfrm>
            <a:off x="7298456" y="2814638"/>
            <a:ext cx="214313" cy="285750"/>
          </a:xfrm>
          <a:prstGeom prst="rect">
            <a:avLst/>
          </a:prstGeom>
          <a:noFill/>
          <a:ln>
            <a:noFill/>
          </a:ln>
        </p:spPr>
      </p:pic>
      <p:sp>
        <p:nvSpPr>
          <p:cNvPr id="95" name="Google Shape;95;p13"/>
          <p:cNvSpPr txBox="1"/>
          <p:nvPr/>
        </p:nvSpPr>
        <p:spPr>
          <a:xfrm>
            <a:off x="6218003" y="3207544"/>
            <a:ext cx="2375400" cy="230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vi" sz="1500" u="none" cap="none" strike="noStrike">
                <a:solidFill>
                  <a:srgbClr val="0F172A"/>
                </a:solidFill>
                <a:latin typeface="Montserrat"/>
                <a:ea typeface="Montserrat"/>
                <a:cs typeface="Montserrat"/>
                <a:sym typeface="Montserrat"/>
              </a:rPr>
              <a:t>3. Yêu cầu</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id="100" name="Google Shape;100;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1" name="Google Shape;101;p14"/>
          <p:cNvSpPr/>
          <p:nvPr/>
        </p:nvSpPr>
        <p:spPr>
          <a:xfrm>
            <a:off x="428625" y="357188"/>
            <a:ext cx="71700" cy="4287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2" name="Google Shape;102;p14"/>
          <p:cNvSpPr txBox="1"/>
          <p:nvPr/>
        </p:nvSpPr>
        <p:spPr>
          <a:xfrm>
            <a:off x="607219" y="357188"/>
            <a:ext cx="7858200" cy="464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CS TEAM BELONG SALES GROUP</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0F172A"/>
                </a:solidFill>
                <a:latin typeface="Montserrat"/>
                <a:ea typeface="Montserrat"/>
                <a:cs typeface="Montserrat"/>
                <a:sym typeface="Montserrat"/>
              </a:rPr>
              <a:t>QUY TRÌNH XỬ LÝ ĐƠN HÀNG &amp; XUẤT HÀNG</a:t>
            </a:r>
            <a:endParaRPr b="0" i="0" sz="2000" u="none" cap="none" strike="noStrike">
              <a:solidFill>
                <a:srgbClr val="8BC249"/>
              </a:solidFill>
              <a:latin typeface="Montserrat SemiBold"/>
              <a:ea typeface="Montserrat SemiBold"/>
              <a:cs typeface="Montserrat SemiBold"/>
              <a:sym typeface="Montserrat SemiBold"/>
            </a:endParaRPr>
          </a:p>
        </p:txBody>
      </p:sp>
      <p:sp>
        <p:nvSpPr>
          <p:cNvPr id="103" name="Google Shape;103;p14"/>
          <p:cNvSpPr/>
          <p:nvPr/>
        </p:nvSpPr>
        <p:spPr>
          <a:xfrm>
            <a:off x="1306238" y="1071563"/>
            <a:ext cx="3194400" cy="428700"/>
          </a:xfrm>
          <a:prstGeom prst="roundRect">
            <a:avLst>
              <a:gd fmla="val 13333"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 name="Google Shape;104;p14"/>
          <p:cNvSpPr txBox="1"/>
          <p:nvPr/>
        </p:nvSpPr>
        <p:spPr>
          <a:xfrm>
            <a:off x="1306294" y="1071563"/>
            <a:ext cx="3194400" cy="42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Bắt đầu: Nhận đơn &amp; Nhập dữ liệu</a:t>
            </a:r>
            <a:endParaRPr b="1" i="0" sz="1200" u="none" cap="none" strike="noStrike">
              <a:solidFill>
                <a:srgbClr val="1E293B"/>
              </a:solidFill>
              <a:latin typeface="Inter"/>
              <a:ea typeface="Inter"/>
              <a:cs typeface="Inter"/>
              <a:sym typeface="Inter"/>
            </a:endParaRPr>
          </a:p>
        </p:txBody>
      </p:sp>
      <p:pic>
        <p:nvPicPr>
          <p:cNvPr id="105" name="Google Shape;105;p14"/>
          <p:cNvPicPr preferRelativeResize="0"/>
          <p:nvPr/>
        </p:nvPicPr>
        <p:blipFill rotWithShape="1">
          <a:blip r:embed="rId4">
            <a:alphaModFix/>
          </a:blip>
          <a:srcRect b="0" l="0" r="0" t="0"/>
          <a:stretch/>
        </p:blipFill>
        <p:spPr>
          <a:xfrm>
            <a:off x="3421856" y="1500188"/>
            <a:ext cx="14400" cy="214425"/>
          </a:xfrm>
          <a:prstGeom prst="rect">
            <a:avLst/>
          </a:prstGeom>
          <a:noFill/>
          <a:ln>
            <a:noFill/>
          </a:ln>
        </p:spPr>
      </p:pic>
      <p:sp>
        <p:nvSpPr>
          <p:cNvPr id="106" name="Google Shape;106;p14"/>
          <p:cNvSpPr/>
          <p:nvPr/>
        </p:nvSpPr>
        <p:spPr>
          <a:xfrm>
            <a:off x="1306294" y="1714500"/>
            <a:ext cx="3194400" cy="428700"/>
          </a:xfrm>
          <a:prstGeom prst="roundRect">
            <a:avLst>
              <a:gd fmla="val 1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7" name="Google Shape;107;p14"/>
          <p:cNvSpPr txBox="1"/>
          <p:nvPr/>
        </p:nvSpPr>
        <p:spPr>
          <a:xfrm>
            <a:off x="1306294" y="1714500"/>
            <a:ext cx="2993700" cy="42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a:ea typeface="Inter"/>
                <a:cs typeface="Inter"/>
                <a:sym typeface="Inter"/>
              </a:rPr>
              <a:t>Bước 1: Thông báo BP hỗ trợ sản xuất</a:t>
            </a:r>
            <a:endParaRPr b="0" i="0" sz="1200" u="none" cap="none" strike="noStrike">
              <a:solidFill>
                <a:srgbClr val="1E293B"/>
              </a:solidFill>
              <a:latin typeface="Inter"/>
              <a:ea typeface="Inter"/>
              <a:cs typeface="Inter"/>
              <a:sym typeface="Inter"/>
            </a:endParaRPr>
          </a:p>
        </p:txBody>
      </p:sp>
      <p:pic>
        <p:nvPicPr>
          <p:cNvPr id="108" name="Google Shape;108;p14"/>
          <p:cNvPicPr preferRelativeResize="0"/>
          <p:nvPr/>
        </p:nvPicPr>
        <p:blipFill rotWithShape="1">
          <a:blip r:embed="rId4">
            <a:alphaModFix/>
          </a:blip>
          <a:srcRect b="0" l="0" r="0" t="0"/>
          <a:stretch/>
        </p:blipFill>
        <p:spPr>
          <a:xfrm>
            <a:off x="3421856" y="2143125"/>
            <a:ext cx="14400" cy="214425"/>
          </a:xfrm>
          <a:prstGeom prst="rect">
            <a:avLst/>
          </a:prstGeom>
          <a:noFill/>
          <a:ln>
            <a:noFill/>
          </a:ln>
        </p:spPr>
      </p:pic>
      <p:grpSp>
        <p:nvGrpSpPr>
          <p:cNvPr id="109" name="Google Shape;109;p14"/>
          <p:cNvGrpSpPr/>
          <p:nvPr/>
        </p:nvGrpSpPr>
        <p:grpSpPr>
          <a:xfrm>
            <a:off x="1294481" y="2357438"/>
            <a:ext cx="3217950" cy="482288"/>
            <a:chOff x="1725975" y="3143250"/>
            <a:chExt cx="4290600" cy="643050"/>
          </a:xfrm>
        </p:grpSpPr>
        <p:sp>
          <p:nvSpPr>
            <p:cNvPr id="110" name="Google Shape;110;p14"/>
            <p:cNvSpPr/>
            <p:nvPr/>
          </p:nvSpPr>
          <p:spPr>
            <a:xfrm>
              <a:off x="1741725" y="3143250"/>
              <a:ext cx="4259100" cy="619200"/>
            </a:xfrm>
            <a:prstGeom prst="roundRect">
              <a:avLst>
                <a:gd fmla="val 11428" name="adj"/>
              </a:avLst>
            </a:prstGeom>
            <a:solidFill>
              <a:srgbClr val="FFFFFF"/>
            </a:solidFill>
            <a:ln cap="flat" cmpd="sng" w="19050">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 name="Google Shape;111;p14"/>
            <p:cNvSpPr txBox="1"/>
            <p:nvPr/>
          </p:nvSpPr>
          <p:spPr>
            <a:xfrm>
              <a:off x="1725975" y="3167100"/>
              <a:ext cx="4290600" cy="61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Bước 2: Xác nhận lịch xuất?</a:t>
              </a:r>
              <a:endParaRPr b="1" i="0" sz="1200" u="none" cap="none" strike="noStrike">
                <a:solidFill>
                  <a:srgbClr val="1E293B"/>
                </a:solidFill>
                <a:latin typeface="Inter"/>
                <a:ea typeface="Inter"/>
                <a:cs typeface="Inter"/>
                <a:sym typeface="Inter"/>
              </a:endParaRPr>
            </a:p>
          </p:txBody>
        </p:sp>
      </p:grpSp>
      <p:grpSp>
        <p:nvGrpSpPr>
          <p:cNvPr id="112" name="Google Shape;112;p14"/>
          <p:cNvGrpSpPr/>
          <p:nvPr/>
        </p:nvGrpSpPr>
        <p:grpSpPr>
          <a:xfrm>
            <a:off x="3421856" y="2857500"/>
            <a:ext cx="328613" cy="214425"/>
            <a:chOff x="4562475" y="3810000"/>
            <a:chExt cx="438150" cy="285900"/>
          </a:xfrm>
        </p:grpSpPr>
        <p:pic>
          <p:nvPicPr>
            <p:cNvPr id="113" name="Google Shape;113;p14"/>
            <p:cNvPicPr preferRelativeResize="0"/>
            <p:nvPr/>
          </p:nvPicPr>
          <p:blipFill rotWithShape="1">
            <a:blip r:embed="rId5">
              <a:alphaModFix/>
            </a:blip>
            <a:srcRect b="0" l="0" r="0" t="0"/>
            <a:stretch/>
          </p:blipFill>
          <p:spPr>
            <a:xfrm>
              <a:off x="4562475" y="3810000"/>
              <a:ext cx="19200" cy="285900"/>
            </a:xfrm>
            <a:prstGeom prst="rect">
              <a:avLst/>
            </a:prstGeom>
            <a:noFill/>
            <a:ln>
              <a:noFill/>
            </a:ln>
          </p:spPr>
        </p:pic>
        <p:sp>
          <p:nvSpPr>
            <p:cNvPr id="114" name="Google Shape;114;p14"/>
            <p:cNvSpPr txBox="1"/>
            <p:nvPr/>
          </p:nvSpPr>
          <p:spPr>
            <a:xfrm>
              <a:off x="4619625" y="3857625"/>
              <a:ext cx="3810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vi" sz="700" u="none" cap="none" strike="noStrike">
                  <a:solidFill>
                    <a:srgbClr val="3B82F6"/>
                  </a:solidFill>
                  <a:latin typeface="Inter ExtraBold"/>
                  <a:ea typeface="Inter ExtraBold"/>
                  <a:cs typeface="Inter ExtraBold"/>
                  <a:sym typeface="Inter ExtraBold"/>
                </a:rPr>
                <a:t>YES</a:t>
              </a:r>
              <a:endParaRPr b="0" i="0" sz="700" u="none" cap="none" strike="noStrike">
                <a:solidFill>
                  <a:srgbClr val="3B82F6"/>
                </a:solidFill>
                <a:latin typeface="Inter ExtraBold"/>
                <a:ea typeface="Inter ExtraBold"/>
                <a:cs typeface="Inter ExtraBold"/>
                <a:sym typeface="Inter ExtraBold"/>
              </a:endParaRPr>
            </a:p>
          </p:txBody>
        </p:sp>
      </p:grpSp>
      <p:sp>
        <p:nvSpPr>
          <p:cNvPr id="115" name="Google Shape;115;p14"/>
          <p:cNvSpPr/>
          <p:nvPr/>
        </p:nvSpPr>
        <p:spPr>
          <a:xfrm>
            <a:off x="1306238" y="3071813"/>
            <a:ext cx="3194400" cy="428700"/>
          </a:xfrm>
          <a:prstGeom prst="roundRect">
            <a:avLst>
              <a:gd fmla="val 1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6" name="Google Shape;116;p14"/>
          <p:cNvSpPr txBox="1"/>
          <p:nvPr/>
        </p:nvSpPr>
        <p:spPr>
          <a:xfrm>
            <a:off x="1306238" y="3071813"/>
            <a:ext cx="3194400" cy="42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a:ea typeface="Inter"/>
                <a:cs typeface="Inter"/>
                <a:sym typeface="Inter"/>
              </a:rPr>
              <a:t>Bước 4: Thông báo KH, gửi Draft Invoice</a:t>
            </a:r>
            <a:endParaRPr b="0" i="0" sz="1200" u="none" cap="none" strike="noStrike">
              <a:solidFill>
                <a:srgbClr val="1E293B"/>
              </a:solidFill>
              <a:latin typeface="Inter"/>
              <a:ea typeface="Inter"/>
              <a:cs typeface="Inter"/>
              <a:sym typeface="Inter"/>
            </a:endParaRPr>
          </a:p>
        </p:txBody>
      </p:sp>
      <p:pic>
        <p:nvPicPr>
          <p:cNvPr id="117" name="Google Shape;117;p14"/>
          <p:cNvPicPr preferRelativeResize="0"/>
          <p:nvPr/>
        </p:nvPicPr>
        <p:blipFill rotWithShape="1">
          <a:blip r:embed="rId4">
            <a:alphaModFix/>
          </a:blip>
          <a:srcRect b="0" l="0" r="0" t="0"/>
          <a:stretch/>
        </p:blipFill>
        <p:spPr>
          <a:xfrm>
            <a:off x="3421856" y="3500438"/>
            <a:ext cx="14400" cy="214425"/>
          </a:xfrm>
          <a:prstGeom prst="rect">
            <a:avLst/>
          </a:prstGeom>
          <a:noFill/>
          <a:ln>
            <a:noFill/>
          </a:ln>
        </p:spPr>
      </p:pic>
      <p:sp>
        <p:nvSpPr>
          <p:cNvPr id="118" name="Google Shape;118;p14"/>
          <p:cNvSpPr/>
          <p:nvPr/>
        </p:nvSpPr>
        <p:spPr>
          <a:xfrm>
            <a:off x="1306238" y="3714750"/>
            <a:ext cx="3194400" cy="428700"/>
          </a:xfrm>
          <a:prstGeom prst="roundRect">
            <a:avLst>
              <a:gd fmla="val 1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9" name="Google Shape;119;p14"/>
          <p:cNvSpPr txBox="1"/>
          <p:nvPr/>
        </p:nvSpPr>
        <p:spPr>
          <a:xfrm>
            <a:off x="1306238" y="3714750"/>
            <a:ext cx="3194400" cy="42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a:ea typeface="Inter"/>
                <a:cs typeface="Inter"/>
                <a:sym typeface="Inter"/>
              </a:rPr>
              <a:t>Bước 5: Đăng ký hệ thống GW</a:t>
            </a:r>
            <a:endParaRPr b="0" i="0" sz="1200" u="none" cap="none" strike="noStrike">
              <a:solidFill>
                <a:srgbClr val="1E293B"/>
              </a:solidFill>
              <a:latin typeface="Inter"/>
              <a:ea typeface="Inter"/>
              <a:cs typeface="Inter"/>
              <a:sym typeface="Inter"/>
            </a:endParaRPr>
          </a:p>
        </p:txBody>
      </p:sp>
      <p:grpSp>
        <p:nvGrpSpPr>
          <p:cNvPr id="120" name="Google Shape;120;p14"/>
          <p:cNvGrpSpPr/>
          <p:nvPr/>
        </p:nvGrpSpPr>
        <p:grpSpPr>
          <a:xfrm>
            <a:off x="1306319" y="4357688"/>
            <a:ext cx="3194399" cy="428625"/>
            <a:chOff x="3143250" y="5810250"/>
            <a:chExt cx="2857500" cy="571500"/>
          </a:xfrm>
        </p:grpSpPr>
        <p:sp>
          <p:nvSpPr>
            <p:cNvPr id="121" name="Google Shape;121;p14"/>
            <p:cNvSpPr/>
            <p:nvPr/>
          </p:nvSpPr>
          <p:spPr>
            <a:xfrm>
              <a:off x="3143250" y="5810250"/>
              <a:ext cx="2857500" cy="5715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2" name="Google Shape;122;p14"/>
            <p:cNvSpPr txBox="1"/>
            <p:nvPr/>
          </p:nvSpPr>
          <p:spPr>
            <a:xfrm>
              <a:off x="3143250" y="5810250"/>
              <a:ext cx="2857500" cy="57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vi" sz="1200" u="none" cap="none" strike="noStrike">
                  <a:solidFill>
                    <a:srgbClr val="FFFFFF"/>
                  </a:solidFill>
                  <a:latin typeface="Inter"/>
                  <a:ea typeface="Inter"/>
                  <a:cs typeface="Inter"/>
                  <a:sym typeface="Inter"/>
                </a:rPr>
                <a:t>Kết thúc quy trình</a:t>
              </a:r>
              <a:endParaRPr b="1" i="0" sz="1200" u="none" cap="none" strike="noStrike">
                <a:solidFill>
                  <a:srgbClr val="FFFFFF"/>
                </a:solidFill>
                <a:latin typeface="Inter"/>
                <a:ea typeface="Inter"/>
                <a:cs typeface="Inter"/>
                <a:sym typeface="Inter"/>
              </a:endParaRPr>
            </a:p>
          </p:txBody>
        </p:sp>
      </p:grpSp>
      <p:pic>
        <p:nvPicPr>
          <p:cNvPr descr="image.png" id="123" name="Google Shape;123;p14"/>
          <p:cNvPicPr preferRelativeResize="0"/>
          <p:nvPr/>
        </p:nvPicPr>
        <p:blipFill rotWithShape="1">
          <a:blip r:embed="rId6">
            <a:alphaModFix/>
          </a:blip>
          <a:srcRect b="0" l="0" r="0" t="0"/>
          <a:stretch/>
        </p:blipFill>
        <p:spPr>
          <a:xfrm>
            <a:off x="5013506" y="2286000"/>
            <a:ext cx="3556031" cy="643050"/>
          </a:xfrm>
          <a:prstGeom prst="rect">
            <a:avLst/>
          </a:prstGeom>
          <a:noFill/>
          <a:ln>
            <a:noFill/>
          </a:ln>
        </p:spPr>
      </p:pic>
      <p:sp>
        <p:nvSpPr>
          <p:cNvPr id="124" name="Google Shape;124;p14"/>
          <p:cNvSpPr txBox="1"/>
          <p:nvPr/>
        </p:nvSpPr>
        <p:spPr>
          <a:xfrm>
            <a:off x="5229231" y="2392097"/>
            <a:ext cx="3241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EF4444"/>
                </a:solidFill>
                <a:latin typeface="Inter ExtraBold"/>
                <a:ea typeface="Inter ExtraBold"/>
                <a:cs typeface="Inter ExtraBold"/>
                <a:sym typeface="Inter ExtraBold"/>
              </a:rPr>
              <a:t>BƯỚC 3: NGOẠI LỆ</a:t>
            </a:r>
            <a:endParaRPr b="0" i="0" sz="1200" u="none" cap="none" strike="noStrike">
              <a:solidFill>
                <a:srgbClr val="000000"/>
              </a:solidFill>
              <a:latin typeface="Arial"/>
              <a:ea typeface="Arial"/>
              <a:cs typeface="Arial"/>
              <a:sym typeface="Arial"/>
            </a:endParaRPr>
          </a:p>
        </p:txBody>
      </p:sp>
      <p:cxnSp>
        <p:nvCxnSpPr>
          <p:cNvPr id="125" name="Google Shape;125;p14"/>
          <p:cNvCxnSpPr>
            <a:stCxn id="111" idx="3"/>
            <a:endCxn id="123" idx="1"/>
          </p:cNvCxnSpPr>
          <p:nvPr/>
        </p:nvCxnSpPr>
        <p:spPr>
          <a:xfrm>
            <a:off x="4512431" y="2607525"/>
            <a:ext cx="501000" cy="0"/>
          </a:xfrm>
          <a:prstGeom prst="straightConnector1">
            <a:avLst/>
          </a:prstGeom>
          <a:noFill/>
          <a:ln cap="flat" cmpd="sng" w="19050">
            <a:solidFill>
              <a:srgbClr val="FF0000"/>
            </a:solidFill>
            <a:prstDash val="solid"/>
            <a:round/>
            <a:headEnd len="sm" w="sm" type="none"/>
            <a:tailEnd len="med" w="med" type="triangle"/>
          </a:ln>
        </p:spPr>
      </p:cxnSp>
      <p:sp>
        <p:nvSpPr>
          <p:cNvPr id="126" name="Google Shape;126;p14"/>
          <p:cNvSpPr txBox="1"/>
          <p:nvPr/>
        </p:nvSpPr>
        <p:spPr>
          <a:xfrm>
            <a:off x="4591262" y="2433150"/>
            <a:ext cx="2868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vi" sz="900" u="none" cap="none" strike="noStrike">
                <a:solidFill>
                  <a:srgbClr val="EF4444"/>
                </a:solidFill>
                <a:latin typeface="Inter ExtraBold"/>
                <a:ea typeface="Inter ExtraBold"/>
                <a:cs typeface="Inter ExtraBold"/>
                <a:sym typeface="Inter ExtraBold"/>
              </a:rPr>
              <a:t>NO </a:t>
            </a:r>
            <a:endParaRPr b="0" i="0" sz="1100" u="none" cap="none" strike="noStrike">
              <a:solidFill>
                <a:srgbClr val="000000"/>
              </a:solidFill>
              <a:latin typeface="Arial"/>
              <a:ea typeface="Arial"/>
              <a:cs typeface="Arial"/>
              <a:sym typeface="Arial"/>
            </a:endParaRPr>
          </a:p>
        </p:txBody>
      </p:sp>
      <p:cxnSp>
        <p:nvCxnSpPr>
          <p:cNvPr id="127" name="Google Shape;127;p14"/>
          <p:cNvCxnSpPr>
            <a:stCxn id="123" idx="0"/>
          </p:cNvCxnSpPr>
          <p:nvPr/>
        </p:nvCxnSpPr>
        <p:spPr>
          <a:xfrm flipH="1" rot="5400000">
            <a:off x="5486672" y="981150"/>
            <a:ext cx="354900" cy="2254800"/>
          </a:xfrm>
          <a:prstGeom prst="bentConnector2">
            <a:avLst/>
          </a:prstGeom>
          <a:noFill/>
          <a:ln cap="flat" cmpd="sng" w="19050">
            <a:solidFill>
              <a:srgbClr val="FF0000"/>
            </a:solidFill>
            <a:prstDash val="solid"/>
            <a:round/>
            <a:headEnd len="sm" w="sm" type="none"/>
            <a:tailEnd len="sm" w="sm" type="none"/>
          </a:ln>
        </p:spPr>
      </p:cxnSp>
      <p:cxnSp>
        <p:nvCxnSpPr>
          <p:cNvPr id="128" name="Google Shape;128;p14"/>
          <p:cNvCxnSpPr/>
          <p:nvPr/>
        </p:nvCxnSpPr>
        <p:spPr>
          <a:xfrm rot="10800000">
            <a:off x="4500694" y="1930875"/>
            <a:ext cx="253500" cy="300"/>
          </a:xfrm>
          <a:prstGeom prst="straightConnector1">
            <a:avLst/>
          </a:prstGeom>
          <a:noFill/>
          <a:ln cap="flat" cmpd="sng" w="19050">
            <a:solidFill>
              <a:srgbClr val="FF0000"/>
            </a:solidFill>
            <a:prstDash val="solid"/>
            <a:round/>
            <a:headEnd len="sm" w="sm" type="none"/>
            <a:tailEnd len="med" w="med" type="triangle"/>
          </a:ln>
        </p:spPr>
      </p:cxnSp>
      <p:sp>
        <p:nvSpPr>
          <p:cNvPr id="129" name="Google Shape;129;p14"/>
          <p:cNvSpPr txBox="1"/>
          <p:nvPr/>
        </p:nvSpPr>
        <p:spPr>
          <a:xfrm>
            <a:off x="5520605" y="1766156"/>
            <a:ext cx="2868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vi" sz="900" u="none" cap="none" strike="noStrike">
                <a:solidFill>
                  <a:srgbClr val="EF4444"/>
                </a:solidFill>
                <a:latin typeface="Inter ExtraBold"/>
                <a:ea typeface="Inter ExtraBold"/>
                <a:cs typeface="Inter ExtraBold"/>
                <a:sym typeface="Inter ExtraBold"/>
              </a:rPr>
              <a:t>NO </a:t>
            </a:r>
            <a:endParaRPr b="0" i="0" sz="1100" u="none" cap="none" strike="noStrike">
              <a:solidFill>
                <a:srgbClr val="000000"/>
              </a:solidFill>
              <a:latin typeface="Arial"/>
              <a:ea typeface="Arial"/>
              <a:cs typeface="Arial"/>
              <a:sym typeface="Arial"/>
            </a:endParaRPr>
          </a:p>
        </p:txBody>
      </p:sp>
      <p:cxnSp>
        <p:nvCxnSpPr>
          <p:cNvPr id="130" name="Google Shape;130;p14"/>
          <p:cNvCxnSpPr>
            <a:stCxn id="123" idx="2"/>
          </p:cNvCxnSpPr>
          <p:nvPr/>
        </p:nvCxnSpPr>
        <p:spPr>
          <a:xfrm rot="5400000">
            <a:off x="5488472" y="1983900"/>
            <a:ext cx="357900" cy="2248200"/>
          </a:xfrm>
          <a:prstGeom prst="bentConnector2">
            <a:avLst/>
          </a:prstGeom>
          <a:noFill/>
          <a:ln cap="flat" cmpd="sng" w="19050">
            <a:solidFill>
              <a:srgbClr val="3B82F6"/>
            </a:solidFill>
            <a:prstDash val="solid"/>
            <a:round/>
            <a:headEnd len="sm" w="sm" type="none"/>
            <a:tailEnd len="sm" w="sm" type="none"/>
          </a:ln>
        </p:spPr>
      </p:cxnSp>
      <p:cxnSp>
        <p:nvCxnSpPr>
          <p:cNvPr id="131" name="Google Shape;131;p14"/>
          <p:cNvCxnSpPr>
            <a:endCxn id="116" idx="3"/>
          </p:cNvCxnSpPr>
          <p:nvPr/>
        </p:nvCxnSpPr>
        <p:spPr>
          <a:xfrm rot="10800000">
            <a:off x="4500638" y="3286163"/>
            <a:ext cx="88800" cy="600"/>
          </a:xfrm>
          <a:prstGeom prst="straightConnector1">
            <a:avLst/>
          </a:prstGeom>
          <a:noFill/>
          <a:ln cap="flat" cmpd="sng" w="9525">
            <a:solidFill>
              <a:srgbClr val="3B82F6"/>
            </a:solidFill>
            <a:prstDash val="solid"/>
            <a:round/>
            <a:headEnd len="sm" w="sm" type="none"/>
            <a:tailEnd len="med" w="med" type="triangle"/>
          </a:ln>
        </p:spPr>
      </p:cxnSp>
      <p:sp>
        <p:nvSpPr>
          <p:cNvPr id="132" name="Google Shape;132;p14"/>
          <p:cNvSpPr txBox="1"/>
          <p:nvPr/>
        </p:nvSpPr>
        <p:spPr>
          <a:xfrm>
            <a:off x="5614200" y="2591279"/>
            <a:ext cx="2472000" cy="323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chemeClr val="dk1"/>
                </a:solidFill>
                <a:latin typeface="Inter"/>
                <a:ea typeface="Inter"/>
                <a:cs typeface="Inter"/>
                <a:sym typeface="Inter"/>
              </a:rPr>
              <a:t>Thương lượng với khách hàng?</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pic>
        <p:nvPicPr>
          <p:cNvPr descr="image.png" id="137" name="Google Shape;137;p1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38" name="Google Shape;138;p15"/>
          <p:cNvPicPr preferRelativeResize="0"/>
          <p:nvPr/>
        </p:nvPicPr>
        <p:blipFill rotWithShape="1">
          <a:blip r:embed="rId4">
            <a:alphaModFix/>
          </a:blip>
          <a:srcRect b="0" l="0" r="0" t="0"/>
          <a:stretch/>
        </p:blipFill>
        <p:spPr>
          <a:xfrm>
            <a:off x="428625" y="2496517"/>
            <a:ext cx="4000500" cy="1271922"/>
          </a:xfrm>
          <a:prstGeom prst="rect">
            <a:avLst/>
          </a:prstGeom>
          <a:noFill/>
          <a:ln>
            <a:noFill/>
          </a:ln>
        </p:spPr>
      </p:pic>
      <p:sp>
        <p:nvSpPr>
          <p:cNvPr id="139" name="Google Shape;139;p15"/>
          <p:cNvSpPr txBox="1"/>
          <p:nvPr/>
        </p:nvSpPr>
        <p:spPr>
          <a:xfrm>
            <a:off x="571500" y="357188"/>
            <a:ext cx="8551200" cy="45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CS TEAM BELONG SALES GROUP</a:t>
            </a:r>
            <a:endParaRPr b="0" i="0" sz="19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KHÓ KHĂN &amp; HẠN CHẾ HIỆN TẠI</a:t>
            </a:r>
            <a:endParaRPr b="0" i="0" sz="1100" u="none" cap="none" strike="noStrike">
              <a:solidFill>
                <a:srgbClr val="000000"/>
              </a:solidFill>
              <a:latin typeface="Arial"/>
              <a:ea typeface="Arial"/>
              <a:cs typeface="Arial"/>
              <a:sym typeface="Arial"/>
            </a:endParaRPr>
          </a:p>
        </p:txBody>
      </p:sp>
      <p:sp>
        <p:nvSpPr>
          <p:cNvPr id="140" name="Google Shape;140;p15"/>
          <p:cNvSpPr/>
          <p:nvPr/>
        </p:nvSpPr>
        <p:spPr>
          <a:xfrm>
            <a:off x="428625" y="357188"/>
            <a:ext cx="714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1" name="Google Shape;141;p15"/>
          <p:cNvSpPr txBox="1"/>
          <p:nvPr/>
        </p:nvSpPr>
        <p:spPr>
          <a:xfrm>
            <a:off x="428625" y="1982167"/>
            <a:ext cx="40005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1E293B"/>
                </a:solidFill>
                <a:latin typeface="Inter SemiBold"/>
                <a:ea typeface="Inter SemiBold"/>
                <a:cs typeface="Inter SemiBold"/>
                <a:sym typeface="Inter SemiBold"/>
              </a:rPr>
              <a:t>Quy trình phối hợp thủ công đang gây lãng phí nguồn lực.</a:t>
            </a:r>
            <a:endParaRPr b="0" i="0" sz="1400" u="none" cap="none" strike="noStrike">
              <a:solidFill>
                <a:srgbClr val="000000"/>
              </a:solidFill>
              <a:latin typeface="Arial"/>
              <a:ea typeface="Arial"/>
              <a:cs typeface="Arial"/>
              <a:sym typeface="Arial"/>
            </a:endParaRPr>
          </a:p>
        </p:txBody>
      </p:sp>
      <p:sp>
        <p:nvSpPr>
          <p:cNvPr id="142" name="Google Shape;142;p15"/>
          <p:cNvSpPr txBox="1"/>
          <p:nvPr/>
        </p:nvSpPr>
        <p:spPr>
          <a:xfrm>
            <a:off x="692569" y="2650693"/>
            <a:ext cx="3765300" cy="184800"/>
          </a:xfrm>
          <a:prstGeom prst="rect">
            <a:avLst/>
          </a:prstGeom>
          <a:noFill/>
          <a:ln>
            <a:noFill/>
          </a:ln>
        </p:spPr>
        <p:txBody>
          <a:bodyPr anchorCtr="0" anchor="t" bIns="0" lIns="11430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991B1B"/>
                </a:solidFill>
                <a:latin typeface="Inter"/>
                <a:ea typeface="Inter"/>
                <a:cs typeface="Inter"/>
                <a:sym typeface="Inter"/>
              </a:rPr>
              <a:t>  Tắc nghẽn thông tin</a:t>
            </a:r>
            <a:endParaRPr b="0" i="0" sz="1200" u="none" cap="none" strike="noStrike">
              <a:solidFill>
                <a:srgbClr val="000000"/>
              </a:solidFill>
              <a:latin typeface="Arial"/>
              <a:ea typeface="Arial"/>
              <a:cs typeface="Arial"/>
              <a:sym typeface="Arial"/>
            </a:endParaRPr>
          </a:p>
        </p:txBody>
      </p:sp>
      <p:sp>
        <p:nvSpPr>
          <p:cNvPr id="143" name="Google Shape;143;p15"/>
          <p:cNvSpPr txBox="1"/>
          <p:nvPr/>
        </p:nvSpPr>
        <p:spPr>
          <a:xfrm>
            <a:off x="664369" y="2900218"/>
            <a:ext cx="35862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00"/>
              <a:buFont typeface="Arial"/>
              <a:buNone/>
            </a:pPr>
            <a:r>
              <a:rPr b="0" i="0" lang="vi" sz="1100" u="none" cap="none" strike="noStrike">
                <a:solidFill>
                  <a:srgbClr val="450A0A"/>
                </a:solidFill>
                <a:latin typeface="Inter"/>
                <a:ea typeface="Inter"/>
                <a:cs typeface="Inter"/>
                <a:sym typeface="Inter"/>
              </a:rPr>
              <a:t>CS phải thông báo thủ công PO mới. Quản lý sản xuất phải tính toán năng lực bằng tay. Sự phân mảnh này dẫn đến phản hồi khách hàng chậm trễ.</a:t>
            </a:r>
            <a:endParaRPr b="0" i="0" sz="1100" u="none" cap="none" strike="noStrike">
              <a:solidFill>
                <a:srgbClr val="000000"/>
              </a:solidFill>
              <a:latin typeface="Arial"/>
              <a:ea typeface="Arial"/>
              <a:cs typeface="Arial"/>
              <a:sym typeface="Arial"/>
            </a:endParaRPr>
          </a:p>
        </p:txBody>
      </p:sp>
      <p:pic>
        <p:nvPicPr>
          <p:cNvPr descr="image.png" id="144" name="Google Shape;144;p15"/>
          <p:cNvPicPr preferRelativeResize="0"/>
          <p:nvPr/>
        </p:nvPicPr>
        <p:blipFill rotWithShape="1">
          <a:blip r:embed="rId5">
            <a:alphaModFix/>
          </a:blip>
          <a:srcRect b="0" l="0" r="0" t="0"/>
          <a:stretch/>
        </p:blipFill>
        <p:spPr>
          <a:xfrm>
            <a:off x="664369" y="2625622"/>
            <a:ext cx="184725" cy="184725"/>
          </a:xfrm>
          <a:prstGeom prst="rect">
            <a:avLst/>
          </a:prstGeom>
          <a:noFill/>
          <a:ln>
            <a:noFill/>
          </a:ln>
        </p:spPr>
      </p:pic>
      <p:pic>
        <p:nvPicPr>
          <p:cNvPr id="145" name="Google Shape;145;p15"/>
          <p:cNvPicPr preferRelativeResize="0"/>
          <p:nvPr/>
        </p:nvPicPr>
        <p:blipFill rotWithShape="1">
          <a:blip r:embed="rId6">
            <a:alphaModFix/>
          </a:blip>
          <a:srcRect b="0" l="0" r="0" t="0"/>
          <a:stretch/>
        </p:blipFill>
        <p:spPr>
          <a:xfrm>
            <a:off x="4887599" y="1847555"/>
            <a:ext cx="4000500" cy="21018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1" name="Google Shape;151;p16"/>
          <p:cNvSpPr txBox="1"/>
          <p:nvPr/>
        </p:nvSpPr>
        <p:spPr>
          <a:xfrm>
            <a:off x="607219" y="357188"/>
            <a:ext cx="7858200" cy="4560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CS TEAM BELONG SALES GROUP</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YÊU CẦU ĐỐI VỚI HỆ THỐNG MỚI</a:t>
            </a:r>
            <a:endParaRPr b="0" i="0" sz="1900" u="none" cap="none" strike="noStrike">
              <a:solidFill>
                <a:srgbClr val="8BC249"/>
              </a:solidFill>
              <a:latin typeface="Montserrat SemiBold"/>
              <a:ea typeface="Montserrat SemiBold"/>
              <a:cs typeface="Montserrat SemiBold"/>
              <a:sym typeface="Montserrat SemiBold"/>
            </a:endParaRPr>
          </a:p>
        </p:txBody>
      </p:sp>
      <p:sp>
        <p:nvSpPr>
          <p:cNvPr id="152" name="Google Shape;152;p16"/>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153" name="Google Shape;153;p16"/>
          <p:cNvGrpSpPr/>
          <p:nvPr/>
        </p:nvGrpSpPr>
        <p:grpSpPr>
          <a:xfrm>
            <a:off x="428625" y="1143000"/>
            <a:ext cx="4000500" cy="1285875"/>
            <a:chOff x="571500" y="1524000"/>
            <a:chExt cx="5334000" cy="1714500"/>
          </a:xfrm>
        </p:grpSpPr>
        <p:sp>
          <p:nvSpPr>
            <p:cNvPr id="154" name="Google Shape;154;p16"/>
            <p:cNvSpPr/>
            <p:nvPr/>
          </p:nvSpPr>
          <p:spPr>
            <a:xfrm>
              <a:off x="571500" y="1524000"/>
              <a:ext cx="5334000" cy="17145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5" name="Google Shape;155;p16"/>
            <p:cNvSpPr txBox="1"/>
            <p:nvPr/>
          </p:nvSpPr>
          <p:spPr>
            <a:xfrm>
              <a:off x="762000" y="1714500"/>
              <a:ext cx="4953000" cy="13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F172A"/>
                  </a:solidFill>
                  <a:latin typeface="Montserrat"/>
                  <a:ea typeface="Montserrat"/>
                  <a:cs typeface="Montserrat"/>
                  <a:sym typeface="Montserrat"/>
                </a:rPr>
                <a:t>          Quản lý MTO</a:t>
              </a:r>
              <a:endParaRPr b="1" i="0" sz="1400" u="none" cap="none" strike="noStrike">
                <a:solidFill>
                  <a:srgbClr val="0F172A"/>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Theo dõi lot sản phẩm gắn liền với mã PO/Khách hàng xuyên suốt quá trình sản xuất.</a:t>
              </a:r>
              <a:endParaRPr b="0" i="0" sz="1200" u="none" cap="none" strike="noStrike">
                <a:solidFill>
                  <a:srgbClr val="475569"/>
                </a:solidFill>
                <a:latin typeface="Inter"/>
                <a:ea typeface="Inter"/>
                <a:cs typeface="Inter"/>
                <a:sym typeface="Inter"/>
              </a:endParaRPr>
            </a:p>
          </p:txBody>
        </p:sp>
      </p:grpSp>
      <p:grpSp>
        <p:nvGrpSpPr>
          <p:cNvPr id="156" name="Google Shape;156;p16"/>
          <p:cNvGrpSpPr/>
          <p:nvPr/>
        </p:nvGrpSpPr>
        <p:grpSpPr>
          <a:xfrm>
            <a:off x="4714875" y="1143000"/>
            <a:ext cx="4000500" cy="1285875"/>
            <a:chOff x="6286500" y="1524000"/>
            <a:chExt cx="5334000" cy="1714500"/>
          </a:xfrm>
        </p:grpSpPr>
        <p:sp>
          <p:nvSpPr>
            <p:cNvPr id="157" name="Google Shape;157;p16"/>
            <p:cNvSpPr/>
            <p:nvPr/>
          </p:nvSpPr>
          <p:spPr>
            <a:xfrm>
              <a:off x="6286500" y="1524000"/>
              <a:ext cx="5334000" cy="17145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8" name="Google Shape;158;p16"/>
            <p:cNvSpPr txBox="1"/>
            <p:nvPr/>
          </p:nvSpPr>
          <p:spPr>
            <a:xfrm>
              <a:off x="6477000" y="1714500"/>
              <a:ext cx="4953000" cy="13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vi" sz="2000" u="none" cap="none" strike="noStrike">
                  <a:solidFill>
                    <a:srgbClr val="8BC249"/>
                  </a:solidFill>
                  <a:latin typeface="Mate"/>
                  <a:ea typeface="Mate"/>
                  <a:cs typeface="Mate"/>
                  <a:sym typeface="Mate"/>
                </a:rPr>
                <a:t>        </a:t>
              </a:r>
              <a:r>
                <a:rPr b="1" i="0" lang="vi" sz="1400" u="none" cap="none" strike="noStrike">
                  <a:solidFill>
                    <a:srgbClr val="0F172A"/>
                  </a:solidFill>
                  <a:latin typeface="Montserrat"/>
                  <a:ea typeface="Montserrat"/>
                  <a:cs typeface="Montserrat"/>
                  <a:sym typeface="Montserrat"/>
                </a:rPr>
                <a:t>Dự báo Lead-time</a:t>
              </a:r>
              <a:endParaRPr b="1" i="0" sz="1400" u="none" cap="none" strike="noStrike">
                <a:solidFill>
                  <a:srgbClr val="0F172A"/>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Tự động tính ngày hoàn thành dựa trên năng lực thực tế và tiến độ xưởng.</a:t>
              </a:r>
              <a:endParaRPr b="0" i="0" sz="1200" u="none" cap="none" strike="noStrike">
                <a:solidFill>
                  <a:srgbClr val="475569"/>
                </a:solidFill>
                <a:latin typeface="Inter"/>
                <a:ea typeface="Inter"/>
                <a:cs typeface="Inter"/>
                <a:sym typeface="Inter"/>
              </a:endParaRPr>
            </a:p>
          </p:txBody>
        </p:sp>
      </p:grpSp>
      <p:grpSp>
        <p:nvGrpSpPr>
          <p:cNvPr id="159" name="Google Shape;159;p16"/>
          <p:cNvGrpSpPr/>
          <p:nvPr/>
        </p:nvGrpSpPr>
        <p:grpSpPr>
          <a:xfrm>
            <a:off x="428625" y="2714625"/>
            <a:ext cx="4000500" cy="1285875"/>
            <a:chOff x="571500" y="3619500"/>
            <a:chExt cx="5334000" cy="1714500"/>
          </a:xfrm>
        </p:grpSpPr>
        <p:sp>
          <p:nvSpPr>
            <p:cNvPr id="160" name="Google Shape;160;p16"/>
            <p:cNvSpPr/>
            <p:nvPr/>
          </p:nvSpPr>
          <p:spPr>
            <a:xfrm>
              <a:off x="571500" y="3619500"/>
              <a:ext cx="5334000" cy="17145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1" name="Google Shape;161;p16"/>
            <p:cNvSpPr txBox="1"/>
            <p:nvPr/>
          </p:nvSpPr>
          <p:spPr>
            <a:xfrm>
              <a:off x="762000" y="3810000"/>
              <a:ext cx="4953000" cy="13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vi" sz="2000" u="none" cap="none" strike="noStrike">
                  <a:solidFill>
                    <a:srgbClr val="8BC249"/>
                  </a:solidFill>
                  <a:latin typeface="Mate"/>
                  <a:ea typeface="Mate"/>
                  <a:cs typeface="Mate"/>
                  <a:sym typeface="Mate"/>
                </a:rPr>
                <a:t>       </a:t>
              </a:r>
              <a:r>
                <a:rPr b="1" i="0" lang="vi" sz="1400" u="none" cap="none" strike="noStrike">
                  <a:solidFill>
                    <a:srgbClr val="0F172A"/>
                  </a:solidFill>
                  <a:latin typeface="Montserrat"/>
                  <a:ea typeface="Montserrat"/>
                  <a:cs typeface="Montserrat"/>
                  <a:sym typeface="Montserrat"/>
                </a:rPr>
                <a:t>Thông báo tự động</a:t>
              </a:r>
              <a:endParaRPr b="1" i="0" sz="1400" u="none" cap="none" strike="noStrike">
                <a:solidFill>
                  <a:srgbClr val="0F172A"/>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Gửi thông báo tức thì khi đóng gói/nhập kho thành công để CS chủ động xuất hàng.</a:t>
              </a:r>
              <a:endParaRPr b="0" i="0" sz="1200" u="none" cap="none" strike="noStrike">
                <a:solidFill>
                  <a:srgbClr val="475569"/>
                </a:solidFill>
                <a:latin typeface="Inter"/>
                <a:ea typeface="Inter"/>
                <a:cs typeface="Inter"/>
                <a:sym typeface="Inter"/>
              </a:endParaRPr>
            </a:p>
          </p:txBody>
        </p:sp>
      </p:grpSp>
      <p:grpSp>
        <p:nvGrpSpPr>
          <p:cNvPr id="162" name="Google Shape;162;p16"/>
          <p:cNvGrpSpPr/>
          <p:nvPr/>
        </p:nvGrpSpPr>
        <p:grpSpPr>
          <a:xfrm>
            <a:off x="4714875" y="2714625"/>
            <a:ext cx="4000500" cy="1285875"/>
            <a:chOff x="6286500" y="3619500"/>
            <a:chExt cx="5334000" cy="1714500"/>
          </a:xfrm>
        </p:grpSpPr>
        <p:sp>
          <p:nvSpPr>
            <p:cNvPr id="163" name="Google Shape;163;p16"/>
            <p:cNvSpPr/>
            <p:nvPr/>
          </p:nvSpPr>
          <p:spPr>
            <a:xfrm>
              <a:off x="6286500" y="3619500"/>
              <a:ext cx="5334000" cy="17145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4" name="Google Shape;164;p16"/>
            <p:cNvSpPr txBox="1"/>
            <p:nvPr/>
          </p:nvSpPr>
          <p:spPr>
            <a:xfrm>
              <a:off x="6477000" y="3810000"/>
              <a:ext cx="4953000" cy="13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F172A"/>
                  </a:solidFill>
                  <a:latin typeface="Montserrat"/>
                  <a:ea typeface="Montserrat"/>
                  <a:cs typeface="Montserrat"/>
                  <a:sym typeface="Montserrat"/>
                </a:rPr>
                <a:t>        Tồn kho theo PO</a:t>
              </a:r>
              <a:endParaRPr b="1" i="0" sz="1400" u="none" cap="none" strike="noStrike">
                <a:solidFill>
                  <a:srgbClr val="0F172A"/>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Quản lý kho tách biệt theo PO, loại bỏ rủi ro xuất nhầm đơn hàng.</a:t>
              </a:r>
              <a:endParaRPr b="0" i="0" sz="1200" u="none" cap="none" strike="noStrike">
                <a:solidFill>
                  <a:srgbClr val="475569"/>
                </a:solidFill>
                <a:latin typeface="Inter"/>
                <a:ea typeface="Inter"/>
                <a:cs typeface="Inter"/>
                <a:sym typeface="Inter"/>
              </a:endParaRPr>
            </a:p>
          </p:txBody>
        </p:sp>
      </p:grpSp>
      <p:pic>
        <p:nvPicPr>
          <p:cNvPr id="165" name="Google Shape;165;p16"/>
          <p:cNvPicPr preferRelativeResize="0"/>
          <p:nvPr/>
        </p:nvPicPr>
        <p:blipFill rotWithShape="1">
          <a:blip r:embed="rId4">
            <a:alphaModFix/>
          </a:blip>
          <a:srcRect b="0" l="0" r="0" t="0"/>
          <a:stretch/>
        </p:blipFill>
        <p:spPr>
          <a:xfrm>
            <a:off x="596315" y="1308659"/>
            <a:ext cx="384379" cy="384379"/>
          </a:xfrm>
          <a:prstGeom prst="rect">
            <a:avLst/>
          </a:prstGeom>
          <a:noFill/>
          <a:ln>
            <a:noFill/>
          </a:ln>
        </p:spPr>
      </p:pic>
      <p:pic>
        <p:nvPicPr>
          <p:cNvPr id="166" name="Google Shape;166;p16"/>
          <p:cNvPicPr preferRelativeResize="0"/>
          <p:nvPr/>
        </p:nvPicPr>
        <p:blipFill rotWithShape="1">
          <a:blip r:embed="rId5">
            <a:alphaModFix/>
          </a:blip>
          <a:srcRect b="0" l="0" r="0" t="0"/>
          <a:stretch/>
        </p:blipFill>
        <p:spPr>
          <a:xfrm>
            <a:off x="4857750" y="1308659"/>
            <a:ext cx="384379" cy="384379"/>
          </a:xfrm>
          <a:prstGeom prst="rect">
            <a:avLst/>
          </a:prstGeom>
          <a:noFill/>
          <a:ln>
            <a:noFill/>
          </a:ln>
        </p:spPr>
      </p:pic>
      <p:pic>
        <p:nvPicPr>
          <p:cNvPr id="167" name="Google Shape;167;p16"/>
          <p:cNvPicPr preferRelativeResize="0"/>
          <p:nvPr/>
        </p:nvPicPr>
        <p:blipFill rotWithShape="1">
          <a:blip r:embed="rId6">
            <a:alphaModFix/>
          </a:blip>
          <a:srcRect b="0" l="0" r="0" t="0"/>
          <a:stretch/>
        </p:blipFill>
        <p:spPr>
          <a:xfrm>
            <a:off x="568928" y="2914650"/>
            <a:ext cx="388049" cy="388049"/>
          </a:xfrm>
          <a:prstGeom prst="rect">
            <a:avLst/>
          </a:prstGeom>
          <a:noFill/>
          <a:ln>
            <a:noFill/>
          </a:ln>
        </p:spPr>
      </p:pic>
      <p:pic>
        <p:nvPicPr>
          <p:cNvPr id="168" name="Google Shape;168;p16"/>
          <p:cNvPicPr preferRelativeResize="0"/>
          <p:nvPr/>
        </p:nvPicPr>
        <p:blipFill rotWithShape="1">
          <a:blip r:embed="rId7">
            <a:alphaModFix/>
          </a:blip>
          <a:srcRect b="0" l="0" r="0" t="0"/>
          <a:stretch/>
        </p:blipFill>
        <p:spPr>
          <a:xfrm>
            <a:off x="4857750" y="2914650"/>
            <a:ext cx="347727" cy="3477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17"/>
          <p:cNvSpPr/>
          <p:nvPr/>
        </p:nvSpPr>
        <p:spPr>
          <a:xfrm>
            <a:off x="428625" y="1071563"/>
            <a:ext cx="2664600" cy="17211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4" name="Google Shape;174;p17"/>
          <p:cNvSpPr txBox="1"/>
          <p:nvPr/>
        </p:nvSpPr>
        <p:spPr>
          <a:xfrm>
            <a:off x="571500" y="357188"/>
            <a:ext cx="8551200" cy="47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vi" sz="1100" u="none" cap="none" strike="noStrike">
                <a:solidFill>
                  <a:srgbClr val="8BC249"/>
                </a:solidFill>
                <a:latin typeface="Montserrat SemiBold"/>
                <a:ea typeface="Montserrat SemiBold"/>
                <a:cs typeface="Montserrat SemiBold"/>
                <a:sym typeface="Montserrat SemiBold"/>
              </a:rPr>
              <a:t>VIETNAM SALES TEAM</a:t>
            </a:r>
            <a:endParaRPr b="1"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KHÓ KHĂN &amp; HẠN CHẾ HIỆN TẠI</a:t>
            </a:r>
            <a:endParaRPr b="0" i="0" sz="1200" u="none" cap="none" strike="noStrike">
              <a:solidFill>
                <a:srgbClr val="000000"/>
              </a:solidFill>
              <a:latin typeface="Arial"/>
              <a:ea typeface="Arial"/>
              <a:cs typeface="Arial"/>
              <a:sym typeface="Arial"/>
            </a:endParaRPr>
          </a:p>
        </p:txBody>
      </p:sp>
      <p:sp>
        <p:nvSpPr>
          <p:cNvPr id="175" name="Google Shape;175;p17"/>
          <p:cNvSpPr/>
          <p:nvPr/>
        </p:nvSpPr>
        <p:spPr>
          <a:xfrm>
            <a:off x="3236119" y="1071563"/>
            <a:ext cx="2664600" cy="17211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6" name="Google Shape;176;p17"/>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7" name="Google Shape;177;p17"/>
          <p:cNvSpPr/>
          <p:nvPr/>
        </p:nvSpPr>
        <p:spPr>
          <a:xfrm>
            <a:off x="6050756" y="1071563"/>
            <a:ext cx="2664600" cy="17211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8" name="Google Shape;178;p17"/>
          <p:cNvSpPr/>
          <p:nvPr/>
        </p:nvSpPr>
        <p:spPr>
          <a:xfrm>
            <a:off x="428625" y="3135319"/>
            <a:ext cx="4072200" cy="1500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9" name="Google Shape;179;p17"/>
          <p:cNvSpPr/>
          <p:nvPr/>
        </p:nvSpPr>
        <p:spPr>
          <a:xfrm>
            <a:off x="4643438" y="3135319"/>
            <a:ext cx="4072200" cy="1500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0" name="Google Shape;180;p17"/>
          <p:cNvSpPr txBox="1"/>
          <p:nvPr/>
        </p:nvSpPr>
        <p:spPr>
          <a:xfrm>
            <a:off x="571500" y="1214438"/>
            <a:ext cx="2379000" cy="10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EF4444"/>
              </a:solidFill>
              <a:latin typeface="Mate"/>
              <a:ea typeface="Mate"/>
              <a:cs typeface="Mate"/>
              <a:sym typeface="Mate"/>
            </a:endParaRPr>
          </a:p>
          <a:p>
            <a:pPr indent="0" lvl="0" marL="0" marR="0" rtl="0" algn="l">
              <a:lnSpc>
                <a:spcPct val="100000"/>
              </a:lnSpc>
              <a:spcBef>
                <a:spcPts val="5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THIẾU HỆ THỐNG CRM/SFA</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Quy trình rời rạc, thủ công và phụ thuộc hoàn toàn vào thói quen cá nhân từng nhân viên.</a:t>
            </a:r>
            <a:endParaRPr b="0" i="0" sz="1200" u="none" cap="none" strike="noStrike">
              <a:solidFill>
                <a:srgbClr val="475569"/>
              </a:solidFill>
              <a:latin typeface="Inter"/>
              <a:ea typeface="Inter"/>
              <a:cs typeface="Inter"/>
              <a:sym typeface="Inter"/>
            </a:endParaRPr>
          </a:p>
        </p:txBody>
      </p:sp>
      <p:sp>
        <p:nvSpPr>
          <p:cNvPr id="181" name="Google Shape;181;p17"/>
          <p:cNvSpPr txBox="1"/>
          <p:nvPr/>
        </p:nvSpPr>
        <p:spPr>
          <a:xfrm>
            <a:off x="3378994" y="1214438"/>
            <a:ext cx="2379000" cy="15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59E0B"/>
              </a:solidFill>
              <a:latin typeface="Mate"/>
              <a:ea typeface="Mate"/>
              <a:cs typeface="Mate"/>
              <a:sym typeface="Mate"/>
            </a:endParaRPr>
          </a:p>
          <a:p>
            <a:pPr indent="0" lvl="0" marL="0" marR="0" rtl="0" algn="l">
              <a:lnSpc>
                <a:spcPct val="100000"/>
              </a:lnSpc>
              <a:spcBef>
                <a:spcPts val="5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DỮ LIỆU PHÂN MẢNH</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Không có kho tài liệu Datasheet tập trung; mất thời gian liên hệ thủ công với phòng R&amp;D.</a:t>
            </a:r>
            <a:endParaRPr b="0" i="0" sz="1200" u="none" cap="none" strike="noStrike">
              <a:solidFill>
                <a:srgbClr val="475569"/>
              </a:solidFill>
              <a:latin typeface="Inter"/>
              <a:ea typeface="Inter"/>
              <a:cs typeface="Inter"/>
              <a:sym typeface="Inter"/>
            </a:endParaRPr>
          </a:p>
        </p:txBody>
      </p:sp>
      <p:sp>
        <p:nvSpPr>
          <p:cNvPr id="182" name="Google Shape;182;p17"/>
          <p:cNvSpPr txBox="1"/>
          <p:nvPr/>
        </p:nvSpPr>
        <p:spPr>
          <a:xfrm>
            <a:off x="6193631" y="1214438"/>
            <a:ext cx="2379000" cy="10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6366F1"/>
              </a:solidFill>
              <a:latin typeface="Mate"/>
              <a:ea typeface="Mate"/>
              <a:cs typeface="Mate"/>
              <a:sym typeface="Mate"/>
            </a:endParaRPr>
          </a:p>
          <a:p>
            <a:pPr indent="0" lvl="0" marL="0" marR="0" rtl="0" algn="l">
              <a:lnSpc>
                <a:spcPct val="100000"/>
              </a:lnSpc>
              <a:spcBef>
                <a:spcPts val="5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TỐC ĐỘ XỬ LÝ THẤP</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Việc phối hợp thủ công khiến phản hồi tiến độ dự án bị trì trệ so với thị trường.</a:t>
            </a:r>
            <a:endParaRPr b="0" i="0" sz="1200" u="none" cap="none" strike="noStrike">
              <a:solidFill>
                <a:srgbClr val="475569"/>
              </a:solidFill>
              <a:latin typeface="Inter"/>
              <a:ea typeface="Inter"/>
              <a:cs typeface="Inter"/>
              <a:sym typeface="Inter"/>
            </a:endParaRPr>
          </a:p>
        </p:txBody>
      </p:sp>
      <p:sp>
        <p:nvSpPr>
          <p:cNvPr id="183" name="Google Shape;183;p17"/>
          <p:cNvSpPr txBox="1"/>
          <p:nvPr/>
        </p:nvSpPr>
        <p:spPr>
          <a:xfrm>
            <a:off x="571500" y="3278194"/>
            <a:ext cx="3786300" cy="12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500"/>
              </a:spcBef>
              <a:spcAft>
                <a:spcPts val="0"/>
              </a:spcAft>
              <a:buClr>
                <a:srgbClr val="000000"/>
              </a:buClr>
              <a:buSzPts val="1500"/>
              <a:buFont typeface="Arial"/>
              <a:buNone/>
            </a:pPr>
            <a:r>
              <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NÚT THẮT PHÊ DUYỆT</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Quy trình duyệt giá phức tạp qua 4 lần xác nhận từ HQ gây chậm trễ phản hồi cho khách hàng, giảm tính cạnh tranh khi chốt deal.</a:t>
            </a:r>
            <a:endParaRPr b="0" i="0" sz="1200" u="none" cap="none" strike="noStrike">
              <a:solidFill>
                <a:srgbClr val="475569"/>
              </a:solidFill>
              <a:latin typeface="Inter"/>
              <a:ea typeface="Inter"/>
              <a:cs typeface="Inter"/>
              <a:sym typeface="Inter"/>
            </a:endParaRPr>
          </a:p>
        </p:txBody>
      </p:sp>
      <p:sp>
        <p:nvSpPr>
          <p:cNvPr id="184" name="Google Shape;184;p17"/>
          <p:cNvSpPr txBox="1"/>
          <p:nvPr/>
        </p:nvSpPr>
        <p:spPr>
          <a:xfrm>
            <a:off x="4786313" y="3212044"/>
            <a:ext cx="3786300" cy="12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500"/>
              </a:spcBef>
              <a:spcAft>
                <a:spcPts val="0"/>
              </a:spcAft>
              <a:buClr>
                <a:srgbClr val="000000"/>
              </a:buClr>
              <a:buSzPts val="1500"/>
              <a:buFont typeface="Arial"/>
              <a:buNone/>
            </a:pPr>
            <a:r>
              <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XUNG ĐỘT THỊ TRƯỜNG</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Thiếu công cụ kiểm tra tự động dẫn đến tình trạng chồng chéo khách hàng và Territory giữa các team nội bộ.</a:t>
            </a:r>
            <a:endParaRPr b="0" i="0" sz="1200" u="none" cap="none" strike="noStrike">
              <a:solidFill>
                <a:srgbClr val="475569"/>
              </a:solidFill>
              <a:latin typeface="Inter"/>
              <a:ea typeface="Inter"/>
              <a:cs typeface="Inter"/>
              <a:sym typeface="Inter"/>
            </a:endParaRPr>
          </a:p>
        </p:txBody>
      </p:sp>
      <p:pic>
        <p:nvPicPr>
          <p:cNvPr id="185" name="Google Shape;185;p17"/>
          <p:cNvPicPr preferRelativeResize="0"/>
          <p:nvPr/>
        </p:nvPicPr>
        <p:blipFill rotWithShape="1">
          <a:blip r:embed="rId4">
            <a:alphaModFix/>
          </a:blip>
          <a:srcRect b="0" l="0" r="0" t="0"/>
          <a:stretch/>
        </p:blipFill>
        <p:spPr>
          <a:xfrm>
            <a:off x="571444" y="1214438"/>
            <a:ext cx="285806" cy="285806"/>
          </a:xfrm>
          <a:prstGeom prst="rect">
            <a:avLst/>
          </a:prstGeom>
          <a:noFill/>
          <a:ln>
            <a:noFill/>
          </a:ln>
        </p:spPr>
      </p:pic>
      <p:pic>
        <p:nvPicPr>
          <p:cNvPr id="186" name="Google Shape;186;p17"/>
          <p:cNvPicPr preferRelativeResize="0"/>
          <p:nvPr/>
        </p:nvPicPr>
        <p:blipFill rotWithShape="1">
          <a:blip r:embed="rId5">
            <a:alphaModFix/>
          </a:blip>
          <a:srcRect b="0" l="0" r="0" t="0"/>
          <a:stretch/>
        </p:blipFill>
        <p:spPr>
          <a:xfrm>
            <a:off x="3378994" y="1214438"/>
            <a:ext cx="307255" cy="307255"/>
          </a:xfrm>
          <a:prstGeom prst="rect">
            <a:avLst/>
          </a:prstGeom>
          <a:noFill/>
          <a:ln>
            <a:noFill/>
          </a:ln>
        </p:spPr>
      </p:pic>
      <p:pic>
        <p:nvPicPr>
          <p:cNvPr id="187" name="Google Shape;187;p17"/>
          <p:cNvPicPr preferRelativeResize="0"/>
          <p:nvPr/>
        </p:nvPicPr>
        <p:blipFill rotWithShape="1">
          <a:blip r:embed="rId6">
            <a:alphaModFix/>
          </a:blip>
          <a:srcRect b="0" l="0" r="0" t="0"/>
          <a:stretch/>
        </p:blipFill>
        <p:spPr>
          <a:xfrm>
            <a:off x="6193631" y="1186508"/>
            <a:ext cx="335185" cy="335185"/>
          </a:xfrm>
          <a:prstGeom prst="rect">
            <a:avLst/>
          </a:prstGeom>
          <a:noFill/>
          <a:ln>
            <a:noFill/>
          </a:ln>
        </p:spPr>
      </p:pic>
      <p:pic>
        <p:nvPicPr>
          <p:cNvPr id="188" name="Google Shape;188;p17"/>
          <p:cNvPicPr preferRelativeResize="0"/>
          <p:nvPr/>
        </p:nvPicPr>
        <p:blipFill rotWithShape="1">
          <a:blip r:embed="rId7">
            <a:alphaModFix/>
          </a:blip>
          <a:srcRect b="0" l="0" r="0" t="0"/>
          <a:stretch/>
        </p:blipFill>
        <p:spPr>
          <a:xfrm>
            <a:off x="528866" y="3274568"/>
            <a:ext cx="328384" cy="328384"/>
          </a:xfrm>
          <a:prstGeom prst="rect">
            <a:avLst/>
          </a:prstGeom>
          <a:noFill/>
          <a:ln>
            <a:noFill/>
          </a:ln>
        </p:spPr>
      </p:pic>
      <p:pic>
        <p:nvPicPr>
          <p:cNvPr id="189" name="Google Shape;189;p17"/>
          <p:cNvPicPr preferRelativeResize="0"/>
          <p:nvPr/>
        </p:nvPicPr>
        <p:blipFill rotWithShape="1">
          <a:blip r:embed="rId8">
            <a:alphaModFix/>
          </a:blip>
          <a:srcRect b="0" l="0" r="0" t="0"/>
          <a:stretch/>
        </p:blipFill>
        <p:spPr>
          <a:xfrm>
            <a:off x="4786313" y="3212044"/>
            <a:ext cx="336613" cy="3366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pic>
        <p:nvPicPr>
          <p:cNvPr descr="image.png" id="194" name="Google Shape;194;p18"/>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195" name="Google Shape;195;p18"/>
          <p:cNvGrpSpPr/>
          <p:nvPr/>
        </p:nvGrpSpPr>
        <p:grpSpPr>
          <a:xfrm>
            <a:off x="428625" y="1071563"/>
            <a:ext cx="2664675" cy="3000375"/>
            <a:chOff x="571500" y="1428750"/>
            <a:chExt cx="3552900" cy="4000500"/>
          </a:xfrm>
        </p:grpSpPr>
        <p:sp>
          <p:nvSpPr>
            <p:cNvPr id="196" name="Google Shape;196;p18"/>
            <p:cNvSpPr/>
            <p:nvPr/>
          </p:nvSpPr>
          <p:spPr>
            <a:xfrm>
              <a:off x="571500" y="1428750"/>
              <a:ext cx="3552900" cy="4000500"/>
            </a:xfrm>
            <a:prstGeom prst="roundRect">
              <a:avLst>
                <a:gd fmla="val 4289" name="adj"/>
              </a:avLst>
            </a:prstGeom>
            <a:solidFill>
              <a:srgbClr val="FFFFFF">
                <a:alpha val="9020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7" name="Google Shape;197;p18"/>
            <p:cNvSpPr txBox="1"/>
            <p:nvPr/>
          </p:nvSpPr>
          <p:spPr>
            <a:xfrm>
              <a:off x="762000" y="1619250"/>
              <a:ext cx="3171900" cy="3619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8BC249"/>
                </a:solidFill>
                <a:latin typeface="Mate"/>
                <a:ea typeface="Mate"/>
                <a:cs typeface="Mate"/>
                <a:sym typeface="Mate"/>
              </a:endParaRPr>
            </a:p>
            <a:p>
              <a:pPr indent="0" lvl="0" marL="0" marR="0" rtl="0" algn="ctr">
                <a:lnSpc>
                  <a:spcPct val="100000"/>
                </a:lnSpc>
                <a:spcBef>
                  <a:spcPts val="11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SỐ HÓA SFA &amp; BIỂU MẪU NHẬP</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Liên thông luồng từ Pre-Sale đến PO. Chuẩn hóa Form check dự án, báo giá và đối thủ cạnh tranh trên phần mềm.</a:t>
              </a:r>
              <a:endParaRPr b="0" i="0" sz="1200" u="none" cap="none" strike="noStrike">
                <a:solidFill>
                  <a:srgbClr val="475569"/>
                </a:solidFill>
                <a:latin typeface="Inter"/>
                <a:ea typeface="Inter"/>
                <a:cs typeface="Inter"/>
                <a:sym typeface="Inter"/>
              </a:endParaRPr>
            </a:p>
          </p:txBody>
        </p:sp>
      </p:grpSp>
      <p:grpSp>
        <p:nvGrpSpPr>
          <p:cNvPr id="198" name="Google Shape;198;p18"/>
          <p:cNvGrpSpPr/>
          <p:nvPr/>
        </p:nvGrpSpPr>
        <p:grpSpPr>
          <a:xfrm>
            <a:off x="3236119" y="1071563"/>
            <a:ext cx="2664675" cy="3000375"/>
            <a:chOff x="4314825" y="1428750"/>
            <a:chExt cx="3552900" cy="4000500"/>
          </a:xfrm>
        </p:grpSpPr>
        <p:sp>
          <p:nvSpPr>
            <p:cNvPr id="199" name="Google Shape;199;p18"/>
            <p:cNvSpPr/>
            <p:nvPr/>
          </p:nvSpPr>
          <p:spPr>
            <a:xfrm>
              <a:off x="4314825" y="1428750"/>
              <a:ext cx="3552900" cy="4000500"/>
            </a:xfrm>
            <a:prstGeom prst="roundRect">
              <a:avLst>
                <a:gd fmla="val 4289" name="adj"/>
              </a:avLst>
            </a:prstGeom>
            <a:solidFill>
              <a:srgbClr val="FFFFFF">
                <a:alpha val="9020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0" name="Google Shape;200;p18"/>
            <p:cNvSpPr txBox="1"/>
            <p:nvPr/>
          </p:nvSpPr>
          <p:spPr>
            <a:xfrm>
              <a:off x="4505325" y="1619250"/>
              <a:ext cx="3171900" cy="3619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8BC249"/>
                </a:solidFill>
                <a:latin typeface="Mate"/>
                <a:ea typeface="Mate"/>
                <a:cs typeface="Mate"/>
                <a:sym typeface="Mate"/>
              </a:endParaRPr>
            </a:p>
            <a:p>
              <a:pPr indent="0" lvl="0" marL="0" marR="0" rtl="0" algn="ctr">
                <a:lnSpc>
                  <a:spcPct val="100000"/>
                </a:lnSpc>
                <a:spcBef>
                  <a:spcPts val="11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KHO DATASHEET &amp; DUYỆT GIÁ</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Xây dựng kho Datasheet dùng chung. Thiết lập "Khung giá cố định" và Workflow duyệt giá trực tiếp trên hệ thống để giảm tải.</a:t>
              </a:r>
              <a:endParaRPr b="0" i="0" sz="1200" u="none" cap="none" strike="noStrike">
                <a:solidFill>
                  <a:srgbClr val="475569"/>
                </a:solidFill>
                <a:latin typeface="Inter"/>
                <a:ea typeface="Inter"/>
                <a:cs typeface="Inter"/>
                <a:sym typeface="Inter"/>
              </a:endParaRPr>
            </a:p>
          </p:txBody>
        </p:sp>
      </p:grpSp>
      <p:grpSp>
        <p:nvGrpSpPr>
          <p:cNvPr id="201" name="Google Shape;201;p18"/>
          <p:cNvGrpSpPr/>
          <p:nvPr/>
        </p:nvGrpSpPr>
        <p:grpSpPr>
          <a:xfrm>
            <a:off x="6050756" y="1071563"/>
            <a:ext cx="2664675" cy="3000375"/>
            <a:chOff x="8067675" y="1428750"/>
            <a:chExt cx="3552900" cy="4000500"/>
          </a:xfrm>
        </p:grpSpPr>
        <p:sp>
          <p:nvSpPr>
            <p:cNvPr id="202" name="Google Shape;202;p18"/>
            <p:cNvSpPr/>
            <p:nvPr/>
          </p:nvSpPr>
          <p:spPr>
            <a:xfrm>
              <a:off x="8067675" y="1428750"/>
              <a:ext cx="3552900" cy="4000500"/>
            </a:xfrm>
            <a:prstGeom prst="roundRect">
              <a:avLst>
                <a:gd fmla="val 4289" name="adj"/>
              </a:avLst>
            </a:prstGeom>
            <a:solidFill>
              <a:srgbClr val="FFFFFF">
                <a:alpha val="9020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18"/>
            <p:cNvSpPr txBox="1"/>
            <p:nvPr/>
          </p:nvSpPr>
          <p:spPr>
            <a:xfrm>
              <a:off x="8258175" y="1619250"/>
              <a:ext cx="3171900" cy="3619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8BC249"/>
                </a:solidFill>
                <a:latin typeface="Mate"/>
                <a:ea typeface="Mate"/>
                <a:cs typeface="Mate"/>
                <a:sym typeface="Mate"/>
              </a:endParaRPr>
            </a:p>
            <a:p>
              <a:pPr indent="0" lvl="0" marL="0" marR="0" rtl="0" algn="ctr">
                <a:lnSpc>
                  <a:spcPct val="100000"/>
                </a:lnSpc>
                <a:spcBef>
                  <a:spcPts val="1100"/>
                </a:spcBef>
                <a:spcAft>
                  <a:spcPts val="0"/>
                </a:spcAft>
                <a:buClr>
                  <a:srgbClr val="000000"/>
                </a:buClr>
                <a:buSzPts val="1500"/>
                <a:buFont typeface="Arial"/>
                <a:buNone/>
              </a:pPr>
              <a:r>
                <a:rPr b="1" i="0" lang="vi" sz="1500" u="none" cap="none" strike="noStrike">
                  <a:solidFill>
                    <a:srgbClr val="1E293B"/>
                  </a:solidFill>
                  <a:latin typeface="Montserrat"/>
                  <a:ea typeface="Montserrat"/>
                  <a:cs typeface="Montserrat"/>
                  <a:sym typeface="Montserrat"/>
                </a:rPr>
                <a:t>QUẢN LÝ TERRITORY &amp; TEAM</a:t>
              </a:r>
              <a:endParaRPr b="1" i="0" sz="15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Chống trùng lặp dự án tự động. Theo dõi KPI, công tác phí và lưu trữ lịch sử tương tác khách hàng tập trung.</a:t>
              </a:r>
              <a:endParaRPr b="0" i="0" sz="1200" u="none" cap="none" strike="noStrike">
                <a:solidFill>
                  <a:srgbClr val="475569"/>
                </a:solidFill>
                <a:latin typeface="Inter"/>
                <a:ea typeface="Inter"/>
                <a:cs typeface="Inter"/>
                <a:sym typeface="Inter"/>
              </a:endParaRPr>
            </a:p>
          </p:txBody>
        </p:sp>
      </p:grpSp>
      <p:sp>
        <p:nvSpPr>
          <p:cNvPr id="204" name="Google Shape;204;p18"/>
          <p:cNvSpPr txBox="1"/>
          <p:nvPr/>
        </p:nvSpPr>
        <p:spPr>
          <a:xfrm>
            <a:off x="571500" y="357188"/>
            <a:ext cx="8551200" cy="47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vi" sz="1100" u="none" cap="none" strike="noStrike">
                <a:solidFill>
                  <a:srgbClr val="8BC249"/>
                </a:solidFill>
                <a:latin typeface="Montserrat SemiBold"/>
                <a:ea typeface="Montserrat SemiBold"/>
                <a:cs typeface="Montserrat SemiBold"/>
                <a:sym typeface="Montserrat SemiBold"/>
              </a:rPr>
              <a:t>VIETNAM SALES TEAM</a:t>
            </a:r>
            <a:endParaRPr b="1"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YÊU CẦU ĐỐI VỚI HỆ THỐNG MỚI (SFA/CRM)</a:t>
            </a:r>
            <a:endParaRPr b="0" i="0" sz="1200" u="none" cap="none" strike="noStrike">
              <a:solidFill>
                <a:srgbClr val="000000"/>
              </a:solidFill>
              <a:latin typeface="Arial"/>
              <a:ea typeface="Arial"/>
              <a:cs typeface="Arial"/>
              <a:sym typeface="Arial"/>
            </a:endParaRPr>
          </a:p>
        </p:txBody>
      </p:sp>
      <p:sp>
        <p:nvSpPr>
          <p:cNvPr id="205" name="Google Shape;205;p18"/>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206" name="Google Shape;206;p18"/>
          <p:cNvPicPr preferRelativeResize="0"/>
          <p:nvPr/>
        </p:nvPicPr>
        <p:blipFill rotWithShape="1">
          <a:blip r:embed="rId4">
            <a:alphaModFix/>
          </a:blip>
          <a:srcRect b="0" l="0" r="0" t="0"/>
          <a:stretch/>
        </p:blipFill>
        <p:spPr>
          <a:xfrm>
            <a:off x="1481042" y="1392173"/>
            <a:ext cx="559841" cy="559841"/>
          </a:xfrm>
          <a:prstGeom prst="rect">
            <a:avLst/>
          </a:prstGeom>
          <a:noFill/>
          <a:ln>
            <a:noFill/>
          </a:ln>
        </p:spPr>
      </p:pic>
      <p:pic>
        <p:nvPicPr>
          <p:cNvPr id="207" name="Google Shape;207;p18"/>
          <p:cNvPicPr preferRelativeResize="0"/>
          <p:nvPr/>
        </p:nvPicPr>
        <p:blipFill rotWithShape="1">
          <a:blip r:embed="rId5">
            <a:alphaModFix/>
          </a:blip>
          <a:srcRect b="0" l="0" r="0" t="0"/>
          <a:stretch/>
        </p:blipFill>
        <p:spPr>
          <a:xfrm>
            <a:off x="4202569" y="1306206"/>
            <a:ext cx="731775" cy="731775"/>
          </a:xfrm>
          <a:prstGeom prst="rect">
            <a:avLst/>
          </a:prstGeom>
          <a:noFill/>
          <a:ln>
            <a:noFill/>
          </a:ln>
        </p:spPr>
      </p:pic>
      <p:pic>
        <p:nvPicPr>
          <p:cNvPr id="208" name="Google Shape;208;p18"/>
          <p:cNvPicPr preferRelativeResize="0"/>
          <p:nvPr/>
        </p:nvPicPr>
        <p:blipFill rotWithShape="1">
          <a:blip r:embed="rId6">
            <a:alphaModFix/>
          </a:blip>
          <a:srcRect b="0" l="0" r="0" t="0"/>
          <a:stretch/>
        </p:blipFill>
        <p:spPr>
          <a:xfrm>
            <a:off x="7065311" y="1392173"/>
            <a:ext cx="635565" cy="6355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pic>
        <p:nvPicPr>
          <p:cNvPr descr="image.png" id="213" name="Google Shape;213;p19"/>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14" name="Google Shape;214;p19"/>
          <p:cNvGrpSpPr/>
          <p:nvPr/>
        </p:nvGrpSpPr>
        <p:grpSpPr>
          <a:xfrm>
            <a:off x="428625" y="357188"/>
            <a:ext cx="8036719" cy="464400"/>
            <a:chOff x="571500" y="476250"/>
            <a:chExt cx="10715625" cy="619200"/>
          </a:xfrm>
        </p:grpSpPr>
        <p:sp>
          <p:nvSpPr>
            <p:cNvPr id="215" name="Google Shape;215;p19"/>
            <p:cNvSpPr/>
            <p:nvPr/>
          </p:nvSpPr>
          <p:spPr>
            <a:xfrm>
              <a:off x="571500" y="476250"/>
              <a:ext cx="95400" cy="5715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6" name="Google Shape;216;p19"/>
            <p:cNvSpPr txBox="1"/>
            <p:nvPr/>
          </p:nvSpPr>
          <p:spPr>
            <a:xfrm>
              <a:off x="809625" y="476250"/>
              <a:ext cx="10477500" cy="61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ACCOUNTING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0F172A"/>
                  </a:solidFill>
                  <a:latin typeface="Montserrat"/>
                  <a:ea typeface="Montserrat"/>
                  <a:cs typeface="Montserrat"/>
                  <a:sym typeface="Montserrat"/>
                </a:rPr>
                <a:t>SƠ ĐỒ QUY TRÌNH NGHIỆP VỤ KẾ TOÁN</a:t>
              </a:r>
              <a:endParaRPr b="1" i="0" sz="2000" u="none" cap="none" strike="noStrike">
                <a:solidFill>
                  <a:srgbClr val="0F172A"/>
                </a:solidFill>
                <a:latin typeface="Montserrat"/>
                <a:ea typeface="Montserrat"/>
                <a:cs typeface="Montserrat"/>
                <a:sym typeface="Montserrat"/>
              </a:endParaRPr>
            </a:p>
          </p:txBody>
        </p:sp>
      </p:grpSp>
      <p:grpSp>
        <p:nvGrpSpPr>
          <p:cNvPr id="217" name="Google Shape;217;p19"/>
          <p:cNvGrpSpPr/>
          <p:nvPr/>
        </p:nvGrpSpPr>
        <p:grpSpPr>
          <a:xfrm>
            <a:off x="428625" y="1285875"/>
            <a:ext cx="1598175" cy="3143250"/>
            <a:chOff x="571500" y="1714500"/>
            <a:chExt cx="2130900" cy="4191000"/>
          </a:xfrm>
        </p:grpSpPr>
        <p:sp>
          <p:nvSpPr>
            <p:cNvPr id="218" name="Google Shape;218;p19"/>
            <p:cNvSpPr txBox="1"/>
            <p:nvPr/>
          </p:nvSpPr>
          <p:spPr>
            <a:xfrm>
              <a:off x="571500" y="1714500"/>
              <a:ext cx="1524000" cy="142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64748B"/>
                  </a:solidFill>
                  <a:latin typeface="Inter"/>
                  <a:ea typeface="Inter"/>
                  <a:cs typeface="Inter"/>
                  <a:sym typeface="Inter"/>
                </a:rPr>
                <a:t>BP KẾ TOÁN</a:t>
              </a:r>
              <a:endParaRPr b="1" i="0" sz="1200" u="none" cap="none" strike="noStrike">
                <a:solidFill>
                  <a:srgbClr val="64748B"/>
                </a:solidFill>
                <a:latin typeface="Inter"/>
                <a:ea typeface="Inter"/>
                <a:cs typeface="Inter"/>
                <a:sym typeface="Inter"/>
              </a:endParaRPr>
            </a:p>
          </p:txBody>
        </p:sp>
        <p:sp>
          <p:nvSpPr>
            <p:cNvPr id="219" name="Google Shape;219;p19"/>
            <p:cNvSpPr txBox="1"/>
            <p:nvPr/>
          </p:nvSpPr>
          <p:spPr>
            <a:xfrm>
              <a:off x="571500" y="3238500"/>
              <a:ext cx="15240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64748B"/>
                  </a:solidFill>
                  <a:latin typeface="Inter"/>
                  <a:ea typeface="Inter"/>
                  <a:cs typeface="Inter"/>
                  <a:sym typeface="Inter"/>
                </a:rPr>
                <a:t>KT GIÁ THÀNH</a:t>
              </a:r>
              <a:endParaRPr b="1" i="0" sz="1200" u="none" cap="none" strike="noStrike">
                <a:solidFill>
                  <a:srgbClr val="64748B"/>
                </a:solidFill>
                <a:latin typeface="Inter"/>
                <a:ea typeface="Inter"/>
                <a:cs typeface="Inter"/>
                <a:sym typeface="Inter"/>
              </a:endParaRPr>
            </a:p>
          </p:txBody>
        </p:sp>
        <p:sp>
          <p:nvSpPr>
            <p:cNvPr id="220" name="Google Shape;220;p19"/>
            <p:cNvSpPr txBox="1"/>
            <p:nvPr/>
          </p:nvSpPr>
          <p:spPr>
            <a:xfrm>
              <a:off x="571500" y="4000500"/>
              <a:ext cx="15240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64748B"/>
                  </a:solidFill>
                  <a:latin typeface="Inter"/>
                  <a:ea typeface="Inter"/>
                  <a:cs typeface="Inter"/>
                  <a:sym typeface="Inter"/>
                </a:rPr>
                <a:t>KT TỔNG HỢP</a:t>
              </a:r>
              <a:endParaRPr b="1" i="0" sz="1200" u="none" cap="none" strike="noStrike">
                <a:solidFill>
                  <a:srgbClr val="64748B"/>
                </a:solidFill>
                <a:latin typeface="Inter"/>
                <a:ea typeface="Inter"/>
                <a:cs typeface="Inter"/>
                <a:sym typeface="Inter"/>
              </a:endParaRPr>
            </a:p>
          </p:txBody>
        </p:sp>
        <p:sp>
          <p:nvSpPr>
            <p:cNvPr id="221" name="Google Shape;221;p19"/>
            <p:cNvSpPr txBox="1"/>
            <p:nvPr/>
          </p:nvSpPr>
          <p:spPr>
            <a:xfrm>
              <a:off x="571500" y="4953000"/>
              <a:ext cx="2130900" cy="9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64748B"/>
                  </a:solidFill>
                  <a:latin typeface="Inter"/>
                  <a:ea typeface="Inter"/>
                  <a:cs typeface="Inter"/>
                  <a:sym typeface="Inter"/>
                </a:rPr>
                <a:t>TRƯỞNG NHÓM KT</a:t>
              </a:r>
              <a:endParaRPr b="1" i="0" sz="1200" u="none" cap="none" strike="noStrike">
                <a:solidFill>
                  <a:srgbClr val="64748B"/>
                </a:solidFill>
                <a:latin typeface="Inter"/>
                <a:ea typeface="Inter"/>
                <a:cs typeface="Inter"/>
                <a:sym typeface="Inter"/>
              </a:endParaRPr>
            </a:p>
          </p:txBody>
        </p:sp>
      </p:grpSp>
      <p:sp>
        <p:nvSpPr>
          <p:cNvPr id="222" name="Google Shape;222;p19"/>
          <p:cNvSpPr/>
          <p:nvPr/>
        </p:nvSpPr>
        <p:spPr>
          <a:xfrm>
            <a:off x="2889619" y="1129781"/>
            <a:ext cx="2857500" cy="321600"/>
          </a:xfrm>
          <a:prstGeom prst="roundRect">
            <a:avLst>
              <a:gd fmla="val 1777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Arial"/>
              <a:buNone/>
            </a:pPr>
            <a:r>
              <a:rPr b="0" i="0" lang="vi" sz="1200" u="none" cap="none" strike="noStrike">
                <a:solidFill>
                  <a:srgbClr val="1E293B"/>
                </a:solidFill>
                <a:latin typeface="Inter"/>
                <a:ea typeface="Inter"/>
                <a:cs typeface="Inter"/>
                <a:sym typeface="Inter"/>
              </a:rPr>
              <a:t>Thu thập dữ liệu</a:t>
            </a:r>
            <a:endParaRPr b="0" i="0" sz="1400" u="none" cap="none" strike="noStrike">
              <a:solidFill>
                <a:srgbClr val="000000"/>
              </a:solidFill>
              <a:latin typeface="Arial"/>
              <a:ea typeface="Arial"/>
              <a:cs typeface="Arial"/>
              <a:sym typeface="Arial"/>
            </a:endParaRPr>
          </a:p>
        </p:txBody>
      </p:sp>
      <p:sp>
        <p:nvSpPr>
          <p:cNvPr id="223" name="Google Shape;223;p19"/>
          <p:cNvSpPr/>
          <p:nvPr/>
        </p:nvSpPr>
        <p:spPr>
          <a:xfrm>
            <a:off x="2889619" y="1594125"/>
            <a:ext cx="2857500" cy="321600"/>
          </a:xfrm>
          <a:prstGeom prst="roundRect">
            <a:avLst>
              <a:gd fmla="val 17777" name="adj"/>
            </a:avLst>
          </a:prstGeom>
          <a:solidFill>
            <a:srgbClr val="FFFFFF"/>
          </a:solidFill>
          <a:ln cap="flat" cmpd="sng" w="19050">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4" name="Google Shape;224;p19"/>
          <p:cNvSpPr txBox="1"/>
          <p:nvPr/>
        </p:nvSpPr>
        <p:spPr>
          <a:xfrm>
            <a:off x="2889619" y="1594125"/>
            <a:ext cx="2857500" cy="32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SemiBold"/>
                <a:ea typeface="Inter SemiBold"/>
                <a:cs typeface="Inter SemiBold"/>
                <a:sym typeface="Inter SemiBold"/>
              </a:rPr>
              <a:t>Kiểm tra?</a:t>
            </a:r>
            <a:endParaRPr b="0" i="0" sz="1200" u="none" cap="none" strike="noStrike">
              <a:solidFill>
                <a:srgbClr val="1E293B"/>
              </a:solidFill>
              <a:latin typeface="Inter SemiBold"/>
              <a:ea typeface="Inter SemiBold"/>
              <a:cs typeface="Inter SemiBold"/>
              <a:sym typeface="Inter SemiBold"/>
            </a:endParaRPr>
          </a:p>
        </p:txBody>
      </p:sp>
      <p:sp>
        <p:nvSpPr>
          <p:cNvPr id="225" name="Google Shape;225;p19"/>
          <p:cNvSpPr txBox="1"/>
          <p:nvPr/>
        </p:nvSpPr>
        <p:spPr>
          <a:xfrm>
            <a:off x="4389806" y="1915594"/>
            <a:ext cx="285900" cy="14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3B82F6"/>
                </a:solidFill>
                <a:latin typeface="Inter ExtraBold"/>
                <a:ea typeface="Inter ExtraBold"/>
                <a:cs typeface="Inter ExtraBold"/>
                <a:sym typeface="Inter ExtraBold"/>
              </a:rPr>
              <a:t>YES</a:t>
            </a:r>
            <a:endParaRPr b="0" i="0" sz="900" u="none" cap="none" strike="noStrike">
              <a:solidFill>
                <a:srgbClr val="3B82F6"/>
              </a:solidFill>
              <a:latin typeface="Inter ExtraBold"/>
              <a:ea typeface="Inter ExtraBold"/>
              <a:cs typeface="Inter ExtraBold"/>
              <a:sym typeface="Inter ExtraBold"/>
            </a:endParaRPr>
          </a:p>
        </p:txBody>
      </p:sp>
      <p:sp>
        <p:nvSpPr>
          <p:cNvPr id="226" name="Google Shape;226;p19"/>
          <p:cNvSpPr/>
          <p:nvPr/>
        </p:nvSpPr>
        <p:spPr>
          <a:xfrm>
            <a:off x="2889619" y="2058469"/>
            <a:ext cx="2857500" cy="321600"/>
          </a:xfrm>
          <a:prstGeom prst="roundRect">
            <a:avLst>
              <a:gd fmla="val 1777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7" name="Google Shape;227;p19"/>
          <p:cNvSpPr txBox="1"/>
          <p:nvPr/>
        </p:nvSpPr>
        <p:spPr>
          <a:xfrm>
            <a:off x="2889619" y="2058469"/>
            <a:ext cx="2857500" cy="32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a:ea typeface="Inter"/>
                <a:cs typeface="Inter"/>
                <a:sym typeface="Inter"/>
              </a:rPr>
              <a:t>Hạch toán kế toán</a:t>
            </a:r>
            <a:endParaRPr b="0" i="0" sz="1200" u="none" cap="none" strike="noStrike">
              <a:solidFill>
                <a:srgbClr val="1E293B"/>
              </a:solidFill>
              <a:latin typeface="Inter"/>
              <a:ea typeface="Inter"/>
              <a:cs typeface="Inter"/>
              <a:sym typeface="Inter"/>
            </a:endParaRPr>
          </a:p>
        </p:txBody>
      </p:sp>
      <p:sp>
        <p:nvSpPr>
          <p:cNvPr id="228" name="Google Shape;228;p19"/>
          <p:cNvSpPr/>
          <p:nvPr/>
        </p:nvSpPr>
        <p:spPr>
          <a:xfrm>
            <a:off x="2889619" y="2522813"/>
            <a:ext cx="2857500" cy="321600"/>
          </a:xfrm>
          <a:prstGeom prst="roundRect">
            <a:avLst>
              <a:gd fmla="val 1777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9" name="Google Shape;229;p19"/>
          <p:cNvSpPr txBox="1"/>
          <p:nvPr/>
        </p:nvSpPr>
        <p:spPr>
          <a:xfrm>
            <a:off x="2889619" y="2522813"/>
            <a:ext cx="2857500" cy="32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a:ea typeface="Inter"/>
                <a:cs typeface="Inter"/>
                <a:sym typeface="Inter"/>
              </a:rPr>
              <a:t>Tập hợp chi phí tính giá thành</a:t>
            </a:r>
            <a:endParaRPr b="0" i="0" sz="1200" u="none" cap="none" strike="noStrike">
              <a:solidFill>
                <a:srgbClr val="1E293B"/>
              </a:solidFill>
              <a:latin typeface="Inter"/>
              <a:ea typeface="Inter"/>
              <a:cs typeface="Inter"/>
              <a:sym typeface="Inter"/>
            </a:endParaRPr>
          </a:p>
        </p:txBody>
      </p:sp>
      <p:sp>
        <p:nvSpPr>
          <p:cNvPr id="230" name="Google Shape;230;p19"/>
          <p:cNvSpPr/>
          <p:nvPr/>
        </p:nvSpPr>
        <p:spPr>
          <a:xfrm>
            <a:off x="2889619" y="3107025"/>
            <a:ext cx="2857500" cy="321600"/>
          </a:xfrm>
          <a:prstGeom prst="roundRect">
            <a:avLst>
              <a:gd fmla="val 17777" name="adj"/>
            </a:avLst>
          </a:prstGeom>
          <a:solidFill>
            <a:srgbClr val="FFFFFF"/>
          </a:solidFill>
          <a:ln cap="flat" cmpd="sng" w="19050">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1" name="Google Shape;231;p19"/>
          <p:cNvSpPr txBox="1"/>
          <p:nvPr/>
        </p:nvSpPr>
        <p:spPr>
          <a:xfrm>
            <a:off x="2889675" y="3107025"/>
            <a:ext cx="2857500" cy="32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1E293B"/>
                </a:solidFill>
                <a:latin typeface="Inter SemiBold"/>
                <a:ea typeface="Inter SemiBold"/>
                <a:cs typeface="Inter SemiBold"/>
                <a:sym typeface="Inter SemiBold"/>
              </a:rPr>
              <a:t>Kiểm tra?</a:t>
            </a:r>
            <a:endParaRPr b="0" i="0" sz="1200" u="none" cap="none" strike="noStrike">
              <a:solidFill>
                <a:srgbClr val="1E293B"/>
              </a:solidFill>
              <a:latin typeface="Inter SemiBold"/>
              <a:ea typeface="Inter SemiBold"/>
              <a:cs typeface="Inter SemiBold"/>
              <a:sym typeface="Inter SemiBold"/>
            </a:endParaRPr>
          </a:p>
        </p:txBody>
      </p:sp>
      <p:sp>
        <p:nvSpPr>
          <p:cNvPr id="232" name="Google Shape;232;p19"/>
          <p:cNvSpPr txBox="1"/>
          <p:nvPr/>
        </p:nvSpPr>
        <p:spPr>
          <a:xfrm>
            <a:off x="4389806" y="3487219"/>
            <a:ext cx="285900" cy="14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3B82F6"/>
                </a:solidFill>
                <a:latin typeface="Inter ExtraBold"/>
                <a:ea typeface="Inter ExtraBold"/>
                <a:cs typeface="Inter ExtraBold"/>
                <a:sym typeface="Inter ExtraBold"/>
              </a:rPr>
              <a:t>YES</a:t>
            </a:r>
            <a:endParaRPr b="0" i="0" sz="900" u="none" cap="none" strike="noStrike">
              <a:solidFill>
                <a:srgbClr val="3B82F6"/>
              </a:solidFill>
              <a:latin typeface="Inter ExtraBold"/>
              <a:ea typeface="Inter ExtraBold"/>
              <a:cs typeface="Inter ExtraBold"/>
              <a:sym typeface="Inter ExtraBold"/>
            </a:endParaRPr>
          </a:p>
        </p:txBody>
      </p:sp>
      <p:sp>
        <p:nvSpPr>
          <p:cNvPr id="233" name="Google Shape;233;p19"/>
          <p:cNvSpPr/>
          <p:nvPr/>
        </p:nvSpPr>
        <p:spPr>
          <a:xfrm>
            <a:off x="2532431" y="3844406"/>
            <a:ext cx="3571800" cy="4287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4" name="Google Shape;234;p19"/>
          <p:cNvSpPr txBox="1"/>
          <p:nvPr/>
        </p:nvSpPr>
        <p:spPr>
          <a:xfrm>
            <a:off x="2532431" y="3844406"/>
            <a:ext cx="3571800" cy="42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rgbClr val="FFFFFF"/>
                </a:solidFill>
                <a:latin typeface="Inter SemiBold"/>
                <a:ea typeface="Inter SemiBold"/>
                <a:cs typeface="Inter SemiBold"/>
                <a:sym typeface="Inter SemiBold"/>
              </a:rPr>
              <a:t>Kết chuyển cuối kỳ &amp; Phát hành BCTC</a:t>
            </a:r>
            <a:endParaRPr b="0" i="0" sz="1200" u="none" cap="none" strike="noStrike">
              <a:solidFill>
                <a:srgbClr val="FFFFFF"/>
              </a:solidFill>
              <a:latin typeface="Inter SemiBold"/>
              <a:ea typeface="Inter SemiBold"/>
              <a:cs typeface="Inter SemiBold"/>
              <a:sym typeface="Inter SemiBold"/>
            </a:endParaRPr>
          </a:p>
        </p:txBody>
      </p:sp>
      <p:grpSp>
        <p:nvGrpSpPr>
          <p:cNvPr id="235" name="Google Shape;235;p19"/>
          <p:cNvGrpSpPr/>
          <p:nvPr/>
        </p:nvGrpSpPr>
        <p:grpSpPr>
          <a:xfrm>
            <a:off x="5747119" y="1254797"/>
            <a:ext cx="864450" cy="1900181"/>
            <a:chOff x="6667500" y="1690688"/>
            <a:chExt cx="1152600" cy="2533575"/>
          </a:xfrm>
        </p:grpSpPr>
        <p:pic>
          <p:nvPicPr>
            <p:cNvPr id="236" name="Google Shape;236;p19"/>
            <p:cNvPicPr preferRelativeResize="0"/>
            <p:nvPr/>
          </p:nvPicPr>
          <p:blipFill rotWithShape="1">
            <a:blip r:embed="rId4">
              <a:alphaModFix/>
            </a:blip>
            <a:srcRect b="0" l="0" r="0" t="0"/>
            <a:stretch/>
          </p:blipFill>
          <p:spPr>
            <a:xfrm>
              <a:off x="6667500" y="1728788"/>
              <a:ext cx="771600" cy="638100"/>
            </a:xfrm>
            <a:prstGeom prst="rect">
              <a:avLst/>
            </a:prstGeom>
            <a:noFill/>
            <a:ln>
              <a:noFill/>
            </a:ln>
          </p:spPr>
        </p:pic>
        <p:pic>
          <p:nvPicPr>
            <p:cNvPr id="237" name="Google Shape;237;p19"/>
            <p:cNvPicPr preferRelativeResize="0"/>
            <p:nvPr/>
          </p:nvPicPr>
          <p:blipFill rotWithShape="1">
            <a:blip r:embed="rId5">
              <a:alphaModFix/>
            </a:blip>
            <a:srcRect b="0" l="0" r="0" t="0"/>
            <a:stretch/>
          </p:blipFill>
          <p:spPr>
            <a:xfrm>
              <a:off x="6667500" y="1690688"/>
              <a:ext cx="95400" cy="95400"/>
            </a:xfrm>
            <a:prstGeom prst="rect">
              <a:avLst/>
            </a:prstGeom>
            <a:noFill/>
            <a:ln>
              <a:noFill/>
            </a:ln>
          </p:spPr>
        </p:pic>
        <p:sp>
          <p:nvSpPr>
            <p:cNvPr id="238" name="Google Shape;238;p19"/>
            <p:cNvSpPr txBox="1"/>
            <p:nvPr/>
          </p:nvSpPr>
          <p:spPr>
            <a:xfrm>
              <a:off x="6858000" y="2095500"/>
              <a:ext cx="381000" cy="238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vi" sz="1100" u="none" cap="none" strike="noStrike">
                  <a:solidFill>
                    <a:srgbClr val="EF4444"/>
                  </a:solidFill>
                  <a:latin typeface="Inter ExtraBold"/>
                  <a:ea typeface="Inter ExtraBold"/>
                  <a:cs typeface="Inter ExtraBold"/>
                  <a:sym typeface="Inter ExtraBold"/>
                </a:rPr>
                <a:t>NO</a:t>
              </a:r>
              <a:endParaRPr b="0" i="0" sz="1100" u="none" cap="none" strike="noStrike">
                <a:solidFill>
                  <a:srgbClr val="EF4444"/>
                </a:solidFill>
                <a:latin typeface="Inter ExtraBold"/>
                <a:ea typeface="Inter ExtraBold"/>
                <a:cs typeface="Inter ExtraBold"/>
                <a:sym typeface="Inter ExtraBold"/>
              </a:endParaRPr>
            </a:p>
          </p:txBody>
        </p:sp>
        <p:pic>
          <p:nvPicPr>
            <p:cNvPr id="239" name="Google Shape;239;p19"/>
            <p:cNvPicPr preferRelativeResize="0"/>
            <p:nvPr/>
          </p:nvPicPr>
          <p:blipFill rotWithShape="1">
            <a:blip r:embed="rId6">
              <a:alphaModFix/>
            </a:blip>
            <a:srcRect b="0" l="0" r="0" t="0"/>
            <a:stretch/>
          </p:blipFill>
          <p:spPr>
            <a:xfrm>
              <a:off x="6667500" y="3586163"/>
              <a:ext cx="1152600" cy="638100"/>
            </a:xfrm>
            <a:prstGeom prst="rect">
              <a:avLst/>
            </a:prstGeom>
            <a:noFill/>
            <a:ln>
              <a:noFill/>
            </a:ln>
          </p:spPr>
        </p:pic>
        <p:pic>
          <p:nvPicPr>
            <p:cNvPr id="240" name="Google Shape;240;p19"/>
            <p:cNvPicPr preferRelativeResize="0"/>
            <p:nvPr/>
          </p:nvPicPr>
          <p:blipFill rotWithShape="1">
            <a:blip r:embed="rId5">
              <a:alphaModFix/>
            </a:blip>
            <a:srcRect b="0" l="0" r="0" t="0"/>
            <a:stretch/>
          </p:blipFill>
          <p:spPr>
            <a:xfrm>
              <a:off x="6667500" y="3548063"/>
              <a:ext cx="95400" cy="95400"/>
            </a:xfrm>
            <a:prstGeom prst="rect">
              <a:avLst/>
            </a:prstGeom>
            <a:noFill/>
            <a:ln>
              <a:noFill/>
            </a:ln>
          </p:spPr>
        </p:pic>
        <p:sp>
          <p:nvSpPr>
            <p:cNvPr id="241" name="Google Shape;241;p19"/>
            <p:cNvSpPr txBox="1"/>
            <p:nvPr/>
          </p:nvSpPr>
          <p:spPr>
            <a:xfrm>
              <a:off x="7143750" y="3952875"/>
              <a:ext cx="381000" cy="238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vi" sz="1100" u="none" cap="none" strike="noStrike">
                  <a:solidFill>
                    <a:srgbClr val="EF4444"/>
                  </a:solidFill>
                  <a:latin typeface="Inter ExtraBold"/>
                  <a:ea typeface="Inter ExtraBold"/>
                  <a:cs typeface="Inter ExtraBold"/>
                  <a:sym typeface="Inter ExtraBold"/>
                </a:rPr>
                <a:t>NO</a:t>
              </a:r>
              <a:endParaRPr b="0" i="0" sz="1100" u="none" cap="none" strike="noStrike">
                <a:solidFill>
                  <a:srgbClr val="EF4444"/>
                </a:solidFill>
                <a:latin typeface="Inter ExtraBold"/>
                <a:ea typeface="Inter ExtraBold"/>
                <a:cs typeface="Inter ExtraBold"/>
                <a:sym typeface="Inter ExtraBold"/>
              </a:endParaRPr>
            </a:p>
          </p:txBody>
        </p:sp>
      </p:grpSp>
      <p:cxnSp>
        <p:nvCxnSpPr>
          <p:cNvPr id="242" name="Google Shape;242;p19"/>
          <p:cNvCxnSpPr>
            <a:endCxn id="224" idx="0"/>
          </p:cNvCxnSpPr>
          <p:nvPr/>
        </p:nvCxnSpPr>
        <p:spPr>
          <a:xfrm>
            <a:off x="4318369" y="1451325"/>
            <a:ext cx="0" cy="142800"/>
          </a:xfrm>
          <a:prstGeom prst="straightConnector1">
            <a:avLst/>
          </a:prstGeom>
          <a:noFill/>
          <a:ln cap="flat" cmpd="sng" w="9525">
            <a:solidFill>
              <a:srgbClr val="CBD5E1"/>
            </a:solidFill>
            <a:prstDash val="solid"/>
            <a:round/>
            <a:headEnd len="sm" w="sm" type="none"/>
            <a:tailEnd len="med" w="med" type="triangle"/>
          </a:ln>
        </p:spPr>
      </p:cxnSp>
      <p:cxnSp>
        <p:nvCxnSpPr>
          <p:cNvPr id="243" name="Google Shape;243;p19"/>
          <p:cNvCxnSpPr>
            <a:stCxn id="224" idx="2"/>
            <a:endCxn id="227" idx="0"/>
          </p:cNvCxnSpPr>
          <p:nvPr/>
        </p:nvCxnSpPr>
        <p:spPr>
          <a:xfrm>
            <a:off x="4318369" y="1915725"/>
            <a:ext cx="0" cy="142800"/>
          </a:xfrm>
          <a:prstGeom prst="straightConnector1">
            <a:avLst/>
          </a:prstGeom>
          <a:noFill/>
          <a:ln cap="flat" cmpd="sng" w="9525">
            <a:solidFill>
              <a:srgbClr val="3B82F6"/>
            </a:solidFill>
            <a:prstDash val="solid"/>
            <a:round/>
            <a:headEnd len="sm" w="sm" type="none"/>
            <a:tailEnd len="med" w="med" type="triangle"/>
          </a:ln>
        </p:spPr>
      </p:cxnSp>
      <p:cxnSp>
        <p:nvCxnSpPr>
          <p:cNvPr id="244" name="Google Shape;244;p19"/>
          <p:cNvCxnSpPr>
            <a:stCxn id="227" idx="2"/>
            <a:endCxn id="229" idx="0"/>
          </p:cNvCxnSpPr>
          <p:nvPr/>
        </p:nvCxnSpPr>
        <p:spPr>
          <a:xfrm>
            <a:off x="4318369" y="2380069"/>
            <a:ext cx="0" cy="142800"/>
          </a:xfrm>
          <a:prstGeom prst="straightConnector1">
            <a:avLst/>
          </a:prstGeom>
          <a:noFill/>
          <a:ln cap="flat" cmpd="sng" w="9525">
            <a:solidFill>
              <a:srgbClr val="CBD5E1"/>
            </a:solidFill>
            <a:prstDash val="solid"/>
            <a:round/>
            <a:headEnd len="sm" w="sm" type="none"/>
            <a:tailEnd len="med" w="med" type="triangle"/>
          </a:ln>
        </p:spPr>
      </p:cxnSp>
      <p:cxnSp>
        <p:nvCxnSpPr>
          <p:cNvPr id="245" name="Google Shape;245;p19"/>
          <p:cNvCxnSpPr>
            <a:stCxn id="229" idx="2"/>
            <a:endCxn id="231" idx="0"/>
          </p:cNvCxnSpPr>
          <p:nvPr/>
        </p:nvCxnSpPr>
        <p:spPr>
          <a:xfrm>
            <a:off x="4318369" y="2844413"/>
            <a:ext cx="0" cy="262500"/>
          </a:xfrm>
          <a:prstGeom prst="straightConnector1">
            <a:avLst/>
          </a:prstGeom>
          <a:noFill/>
          <a:ln cap="flat" cmpd="sng" w="9525">
            <a:solidFill>
              <a:srgbClr val="CBD5E1"/>
            </a:solidFill>
            <a:prstDash val="solid"/>
            <a:round/>
            <a:headEnd len="sm" w="sm" type="none"/>
            <a:tailEnd len="med" w="med" type="triangle"/>
          </a:ln>
        </p:spPr>
      </p:cxnSp>
      <p:cxnSp>
        <p:nvCxnSpPr>
          <p:cNvPr id="246" name="Google Shape;246;p19"/>
          <p:cNvCxnSpPr>
            <a:stCxn id="231" idx="2"/>
            <a:endCxn id="234" idx="0"/>
          </p:cNvCxnSpPr>
          <p:nvPr/>
        </p:nvCxnSpPr>
        <p:spPr>
          <a:xfrm>
            <a:off x="4318425" y="3428625"/>
            <a:ext cx="0" cy="415800"/>
          </a:xfrm>
          <a:prstGeom prst="straightConnector1">
            <a:avLst/>
          </a:prstGeom>
          <a:noFill/>
          <a:ln cap="flat" cmpd="sng" w="9525">
            <a:solidFill>
              <a:srgbClr val="CBD5E1"/>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0" name="Shape 250"/>
        <p:cNvGrpSpPr/>
        <p:nvPr/>
      </p:nvGrpSpPr>
      <p:grpSpPr>
        <a:xfrm>
          <a:off x="0" y="0"/>
          <a:ext cx="0" cy="0"/>
          <a:chOff x="0" y="0"/>
          <a:chExt cx="0" cy="0"/>
        </a:xfrm>
      </p:grpSpPr>
      <p:sp>
        <p:nvSpPr>
          <p:cNvPr id="251" name="Google Shape;251;p20"/>
          <p:cNvSpPr txBox="1"/>
          <p:nvPr/>
        </p:nvSpPr>
        <p:spPr>
          <a:xfrm>
            <a:off x="571500" y="285750"/>
            <a:ext cx="8143800" cy="456000"/>
          </a:xfrm>
          <a:prstGeom prst="rect">
            <a:avLst/>
          </a:prstGeom>
          <a:solidFill>
            <a:srgbClr val="000000">
              <a:alpha val="0"/>
            </a:srgbClr>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ACCOUNTING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KHÓ KHĂN &amp; HẠN CHẾ HIỆN TẠI</a:t>
            </a:r>
            <a:endParaRPr b="1" i="0" sz="1100" u="none" cap="none" strike="noStrike">
              <a:solidFill>
                <a:srgbClr val="8BC249"/>
              </a:solidFill>
              <a:latin typeface="Montserrat"/>
              <a:ea typeface="Montserrat"/>
              <a:cs typeface="Montserrat"/>
              <a:sym typeface="Montserrat"/>
            </a:endParaRPr>
          </a:p>
        </p:txBody>
      </p:sp>
      <p:sp>
        <p:nvSpPr>
          <p:cNvPr id="252" name="Google Shape;252;p20"/>
          <p:cNvSpPr/>
          <p:nvPr/>
        </p:nvSpPr>
        <p:spPr>
          <a:xfrm>
            <a:off x="371475" y="265500"/>
            <a:ext cx="57000" cy="5715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253" name="Google Shape;253;p20"/>
          <p:cNvGrpSpPr/>
          <p:nvPr/>
        </p:nvGrpSpPr>
        <p:grpSpPr>
          <a:xfrm>
            <a:off x="571500" y="1071563"/>
            <a:ext cx="2571750" cy="1071675"/>
            <a:chOff x="762000" y="1428750"/>
            <a:chExt cx="3429000" cy="1428900"/>
          </a:xfrm>
        </p:grpSpPr>
        <p:sp>
          <p:nvSpPr>
            <p:cNvPr id="254" name="Google Shape;254;p20"/>
            <p:cNvSpPr/>
            <p:nvPr/>
          </p:nvSpPr>
          <p:spPr>
            <a:xfrm>
              <a:off x="762000" y="142875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5" name="Google Shape;255;p20"/>
            <p:cNvSpPr txBox="1"/>
            <p:nvPr/>
          </p:nvSpPr>
          <p:spPr>
            <a:xfrm>
              <a:off x="952500" y="195262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vi" sz="900" u="none" cap="none" strike="noStrike">
                  <a:solidFill>
                    <a:srgbClr val="0F172A"/>
                  </a:solidFill>
                  <a:latin typeface="Inter"/>
                  <a:ea typeface="Inter"/>
                  <a:cs typeface="Inter"/>
                  <a:sym typeface="Inter"/>
                </a:rPr>
                <a:t> </a:t>
              </a:r>
              <a:r>
                <a:rPr b="1" i="0" lang="vi" sz="1200" u="none" cap="none" strike="noStrike">
                  <a:solidFill>
                    <a:srgbClr val="0F172A"/>
                  </a:solidFill>
                  <a:latin typeface="Inter"/>
                  <a:ea typeface="Inter"/>
                  <a:cs typeface="Inter"/>
                  <a:sym typeface="Inter"/>
                </a:rPr>
                <a:t>KHẤU HAO THEO NGÀY</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Không tính được khấu hao TSCĐ &amp; CCDC chi tiết theo ngày.</a:t>
              </a:r>
              <a:endParaRPr b="0" i="0" sz="1100" u="none" cap="none" strike="noStrike">
                <a:solidFill>
                  <a:srgbClr val="475569"/>
                </a:solidFill>
                <a:latin typeface="Inter"/>
                <a:ea typeface="Inter"/>
                <a:cs typeface="Inter"/>
                <a:sym typeface="Inter"/>
              </a:endParaRPr>
            </a:p>
          </p:txBody>
        </p:sp>
      </p:grpSp>
      <p:grpSp>
        <p:nvGrpSpPr>
          <p:cNvPr id="256" name="Google Shape;256;p20"/>
          <p:cNvGrpSpPr/>
          <p:nvPr/>
        </p:nvGrpSpPr>
        <p:grpSpPr>
          <a:xfrm>
            <a:off x="3286125" y="1071563"/>
            <a:ext cx="2571750" cy="1071675"/>
            <a:chOff x="4381500" y="1428750"/>
            <a:chExt cx="3429000" cy="1428900"/>
          </a:xfrm>
        </p:grpSpPr>
        <p:sp>
          <p:nvSpPr>
            <p:cNvPr id="257" name="Google Shape;257;p20"/>
            <p:cNvSpPr/>
            <p:nvPr/>
          </p:nvSpPr>
          <p:spPr>
            <a:xfrm>
              <a:off x="4381500" y="142875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8" name="Google Shape;258;p20"/>
            <p:cNvSpPr txBox="1"/>
            <p:nvPr/>
          </p:nvSpPr>
          <p:spPr>
            <a:xfrm>
              <a:off x="4572000" y="1606677"/>
              <a:ext cx="381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8BC249"/>
                </a:solidFill>
                <a:latin typeface="Mate"/>
                <a:ea typeface="Mate"/>
                <a:cs typeface="Mate"/>
                <a:sym typeface="Mate"/>
              </a:endParaRPr>
            </a:p>
          </p:txBody>
        </p:sp>
        <p:sp>
          <p:nvSpPr>
            <p:cNvPr id="259" name="Google Shape;259;p20"/>
            <p:cNvSpPr txBox="1"/>
            <p:nvPr/>
          </p:nvSpPr>
          <p:spPr>
            <a:xfrm>
              <a:off x="4572000" y="195262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0F172A"/>
                  </a:solidFill>
                  <a:latin typeface="Inter"/>
                  <a:ea typeface="Inter"/>
                  <a:cs typeface="Inter"/>
                  <a:sym typeface="Inter"/>
                </a:rPr>
                <a:t>ĐỒNG BỘ MES &amp; ERP</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Số liệu Nhập-Xuất-Tồn không khớp nhau giữa các hệ thống.</a:t>
              </a:r>
              <a:endParaRPr b="0" i="0" sz="1100" u="none" cap="none" strike="noStrike">
                <a:solidFill>
                  <a:srgbClr val="475569"/>
                </a:solidFill>
                <a:latin typeface="Inter"/>
                <a:ea typeface="Inter"/>
                <a:cs typeface="Inter"/>
                <a:sym typeface="Inter"/>
              </a:endParaRPr>
            </a:p>
          </p:txBody>
        </p:sp>
      </p:grpSp>
      <p:grpSp>
        <p:nvGrpSpPr>
          <p:cNvPr id="260" name="Google Shape;260;p20"/>
          <p:cNvGrpSpPr/>
          <p:nvPr/>
        </p:nvGrpSpPr>
        <p:grpSpPr>
          <a:xfrm>
            <a:off x="6000750" y="1071563"/>
            <a:ext cx="2571750" cy="1071675"/>
            <a:chOff x="8001000" y="1428750"/>
            <a:chExt cx="3429000" cy="1428900"/>
          </a:xfrm>
        </p:grpSpPr>
        <p:sp>
          <p:nvSpPr>
            <p:cNvPr id="261" name="Google Shape;261;p20"/>
            <p:cNvSpPr/>
            <p:nvPr/>
          </p:nvSpPr>
          <p:spPr>
            <a:xfrm>
              <a:off x="8001000" y="142875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2" name="Google Shape;262;p20"/>
            <p:cNvSpPr txBox="1"/>
            <p:nvPr/>
          </p:nvSpPr>
          <p:spPr>
            <a:xfrm>
              <a:off x="8191500" y="195262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0F172A"/>
                  </a:solidFill>
                  <a:latin typeface="Inter"/>
                  <a:ea typeface="Inter"/>
                  <a:cs typeface="Inter"/>
                  <a:sym typeface="Inter"/>
                </a:rPr>
                <a:t>GIÁ THÀNH NHÀ MÁY</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Chưa hỗ trợ tính giá thành độc lập cho từng nhà máy riêng lẻ.</a:t>
              </a:r>
              <a:endParaRPr b="0" i="0" sz="1100" u="none" cap="none" strike="noStrike">
                <a:solidFill>
                  <a:srgbClr val="475569"/>
                </a:solidFill>
                <a:latin typeface="Inter"/>
                <a:ea typeface="Inter"/>
                <a:cs typeface="Inter"/>
                <a:sym typeface="Inter"/>
              </a:endParaRPr>
            </a:p>
          </p:txBody>
        </p:sp>
      </p:grpSp>
      <p:grpSp>
        <p:nvGrpSpPr>
          <p:cNvPr id="263" name="Google Shape;263;p20"/>
          <p:cNvGrpSpPr/>
          <p:nvPr/>
        </p:nvGrpSpPr>
        <p:grpSpPr>
          <a:xfrm>
            <a:off x="571500" y="2286000"/>
            <a:ext cx="2571750" cy="1071675"/>
            <a:chOff x="762000" y="3048000"/>
            <a:chExt cx="3429000" cy="1428900"/>
          </a:xfrm>
        </p:grpSpPr>
        <p:sp>
          <p:nvSpPr>
            <p:cNvPr id="264" name="Google Shape;264;p20"/>
            <p:cNvSpPr/>
            <p:nvPr/>
          </p:nvSpPr>
          <p:spPr>
            <a:xfrm>
              <a:off x="762000" y="304800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5" name="Google Shape;265;p20"/>
            <p:cNvSpPr txBox="1"/>
            <p:nvPr/>
          </p:nvSpPr>
          <p:spPr>
            <a:xfrm>
              <a:off x="952500" y="357187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0F172A"/>
                  </a:solidFill>
                  <a:latin typeface="Inter"/>
                  <a:ea typeface="Inter"/>
                  <a:cs typeface="Inter"/>
                  <a:sym typeface="Inter"/>
                </a:rPr>
                <a:t>PHÂN TÍCH CHI PHÍ</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Thiếu công cụ phân tích sâu chi phí phát sinh theo từng bộ phận.</a:t>
              </a:r>
              <a:endParaRPr b="0" i="0" sz="1100" u="none" cap="none" strike="noStrike">
                <a:solidFill>
                  <a:srgbClr val="475569"/>
                </a:solidFill>
                <a:latin typeface="Inter"/>
                <a:ea typeface="Inter"/>
                <a:cs typeface="Inter"/>
                <a:sym typeface="Inter"/>
              </a:endParaRPr>
            </a:p>
          </p:txBody>
        </p:sp>
      </p:grpSp>
      <p:grpSp>
        <p:nvGrpSpPr>
          <p:cNvPr id="266" name="Google Shape;266;p20"/>
          <p:cNvGrpSpPr/>
          <p:nvPr/>
        </p:nvGrpSpPr>
        <p:grpSpPr>
          <a:xfrm>
            <a:off x="3286125" y="2286000"/>
            <a:ext cx="2571750" cy="1071675"/>
            <a:chOff x="4381500" y="3048000"/>
            <a:chExt cx="3429000" cy="1428900"/>
          </a:xfrm>
        </p:grpSpPr>
        <p:sp>
          <p:nvSpPr>
            <p:cNvPr id="267" name="Google Shape;267;p20"/>
            <p:cNvSpPr/>
            <p:nvPr/>
          </p:nvSpPr>
          <p:spPr>
            <a:xfrm>
              <a:off x="4381500" y="304800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8" name="Google Shape;268;p20"/>
            <p:cNvSpPr txBox="1"/>
            <p:nvPr/>
          </p:nvSpPr>
          <p:spPr>
            <a:xfrm>
              <a:off x="4572000" y="357187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0F172A"/>
                  </a:solidFill>
                  <a:latin typeface="Inter"/>
                  <a:ea typeface="Inter"/>
                  <a:cs typeface="Inter"/>
                  <a:sym typeface="Inter"/>
                </a:rPr>
                <a:t>BÁO CÁO LƯU CHUYỂN TIỀN</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Các khoản mục báo cáo hiển thị và tính toán không chính xác.</a:t>
              </a:r>
              <a:endParaRPr b="0" i="0" sz="1100" u="none" cap="none" strike="noStrike">
                <a:solidFill>
                  <a:srgbClr val="475569"/>
                </a:solidFill>
                <a:latin typeface="Inter"/>
                <a:ea typeface="Inter"/>
                <a:cs typeface="Inter"/>
                <a:sym typeface="Inter"/>
              </a:endParaRPr>
            </a:p>
          </p:txBody>
        </p:sp>
      </p:grpSp>
      <p:grpSp>
        <p:nvGrpSpPr>
          <p:cNvPr id="269" name="Google Shape;269;p20"/>
          <p:cNvGrpSpPr/>
          <p:nvPr/>
        </p:nvGrpSpPr>
        <p:grpSpPr>
          <a:xfrm>
            <a:off x="6000750" y="2286000"/>
            <a:ext cx="2571750" cy="1071675"/>
            <a:chOff x="8001000" y="3048000"/>
            <a:chExt cx="3429000" cy="1428900"/>
          </a:xfrm>
        </p:grpSpPr>
        <p:sp>
          <p:nvSpPr>
            <p:cNvPr id="270" name="Google Shape;270;p20"/>
            <p:cNvSpPr/>
            <p:nvPr/>
          </p:nvSpPr>
          <p:spPr>
            <a:xfrm>
              <a:off x="8001000" y="3048000"/>
              <a:ext cx="3429000" cy="1428900"/>
            </a:xfrm>
            <a:prstGeom prst="roundRect">
              <a:avLst>
                <a:gd fmla="val 8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1" name="Google Shape;271;p20"/>
            <p:cNvSpPr txBox="1"/>
            <p:nvPr/>
          </p:nvSpPr>
          <p:spPr>
            <a:xfrm>
              <a:off x="8191500" y="3571875"/>
              <a:ext cx="30480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0F172A"/>
                  </a:solidFill>
                  <a:latin typeface="Inter"/>
                  <a:ea typeface="Inter"/>
                  <a:cs typeface="Inter"/>
                  <a:sym typeface="Inter"/>
                </a:rPr>
                <a:t>XUNG ĐỘT VAS &amp; HQ</a:t>
              </a:r>
              <a:endParaRPr b="1" i="0" sz="1200" u="none" cap="none" strike="noStrike">
                <a:solidFill>
                  <a:srgbClr val="0F172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100"/>
                <a:buFont typeface="Arial"/>
                <a:buNone/>
              </a:pPr>
              <a:r>
                <a:rPr b="0" i="0" lang="vi" sz="1100" u="none" cap="none" strike="noStrike">
                  <a:solidFill>
                    <a:srgbClr val="475569"/>
                  </a:solidFill>
                  <a:latin typeface="Inter"/>
                  <a:ea typeface="Inter"/>
                  <a:cs typeface="Inter"/>
                  <a:sym typeface="Inter"/>
                </a:rPr>
                <a:t>Tài khoản VAS phụ thuộc vào HQ gây lỗi mapping dữ liệu.</a:t>
              </a:r>
              <a:endParaRPr b="0" i="0" sz="1100" u="none" cap="none" strike="noStrike">
                <a:solidFill>
                  <a:srgbClr val="475569"/>
                </a:solidFill>
                <a:latin typeface="Inter"/>
                <a:ea typeface="Inter"/>
                <a:cs typeface="Inter"/>
                <a:sym typeface="Inter"/>
              </a:endParaRPr>
            </a:p>
          </p:txBody>
        </p:sp>
      </p:grpSp>
      <p:grpSp>
        <p:nvGrpSpPr>
          <p:cNvPr id="272" name="Google Shape;272;p20"/>
          <p:cNvGrpSpPr/>
          <p:nvPr/>
        </p:nvGrpSpPr>
        <p:grpSpPr>
          <a:xfrm>
            <a:off x="571500" y="3500438"/>
            <a:ext cx="8001000" cy="714375"/>
            <a:chOff x="762000" y="4667250"/>
            <a:chExt cx="10668000" cy="952500"/>
          </a:xfrm>
        </p:grpSpPr>
        <p:sp>
          <p:nvSpPr>
            <p:cNvPr id="273" name="Google Shape;273;p20"/>
            <p:cNvSpPr/>
            <p:nvPr/>
          </p:nvSpPr>
          <p:spPr>
            <a:xfrm>
              <a:off x="762000" y="4667250"/>
              <a:ext cx="10668000" cy="952500"/>
            </a:xfrm>
            <a:prstGeom prst="roundRect">
              <a:avLst>
                <a:gd fmla="val 12000" name="adj"/>
              </a:avLst>
            </a:prstGeom>
            <a:solidFill>
              <a:srgbClr val="1E293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4" name="Google Shape;274;p20"/>
            <p:cNvSpPr txBox="1"/>
            <p:nvPr/>
          </p:nvSpPr>
          <p:spPr>
            <a:xfrm>
              <a:off x="1619250" y="4810125"/>
              <a:ext cx="95250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FFFFFF"/>
                  </a:solidFill>
                  <a:latin typeface="Inter"/>
                  <a:ea typeface="Inter"/>
                  <a:cs typeface="Inter"/>
                  <a:sym typeface="Inter"/>
                </a:rPr>
                <a:t>QUẢN LÝ KẾ HOẠCH THANH TOÁN</a:t>
              </a:r>
              <a:endParaRPr b="1" i="0" sz="1200" u="none" cap="none" strike="noStrike">
                <a:solidFill>
                  <a:srgbClr val="FFFFFF"/>
                </a:solidFill>
                <a:latin typeface="Inter"/>
                <a:ea typeface="Inter"/>
                <a:cs typeface="Inter"/>
                <a:sym typeface="Inter"/>
              </a:endParaRPr>
            </a:p>
            <a:p>
              <a:pPr indent="0" lvl="0" marL="0" marR="0" rtl="0" algn="l">
                <a:lnSpc>
                  <a:spcPct val="100000"/>
                </a:lnSpc>
                <a:spcBef>
                  <a:spcPts val="100"/>
                </a:spcBef>
                <a:spcAft>
                  <a:spcPts val="0"/>
                </a:spcAft>
                <a:buClr>
                  <a:srgbClr val="000000"/>
                </a:buClr>
                <a:buSzPts val="1100"/>
                <a:buFont typeface="Arial"/>
                <a:buNone/>
              </a:pPr>
              <a:r>
                <a:rPr b="0" i="0" lang="vi" sz="1100" u="none" cap="none" strike="noStrike">
                  <a:solidFill>
                    <a:srgbClr val="94A3B8"/>
                  </a:solidFill>
                  <a:latin typeface="Inter"/>
                  <a:ea typeface="Inter"/>
                  <a:cs typeface="Inter"/>
                  <a:sym typeface="Inter"/>
                </a:rPr>
                <a:t>Không kiểm soát lịch trình và thiếu công cụ quản lý kế hoạch thanh toán.</a:t>
              </a:r>
              <a:endParaRPr b="0" i="0" sz="1100" u="none" cap="none" strike="noStrike">
                <a:solidFill>
                  <a:srgbClr val="94A3B8"/>
                </a:solidFill>
                <a:latin typeface="Inter"/>
                <a:ea typeface="Inter"/>
                <a:cs typeface="Inter"/>
                <a:sym typeface="Inter"/>
              </a:endParaRPr>
            </a:p>
          </p:txBody>
        </p:sp>
      </p:grpSp>
      <p:pic>
        <p:nvPicPr>
          <p:cNvPr id="275" name="Google Shape;275;p20"/>
          <p:cNvPicPr preferRelativeResize="0"/>
          <p:nvPr/>
        </p:nvPicPr>
        <p:blipFill rotWithShape="1">
          <a:blip r:embed="rId4">
            <a:alphaModFix/>
          </a:blip>
          <a:srcRect b="0" l="0" r="0" t="0"/>
          <a:stretch/>
        </p:blipFill>
        <p:spPr>
          <a:xfrm>
            <a:off x="715678" y="1150781"/>
            <a:ext cx="297638" cy="297638"/>
          </a:xfrm>
          <a:prstGeom prst="rect">
            <a:avLst/>
          </a:prstGeom>
          <a:noFill/>
          <a:ln>
            <a:noFill/>
          </a:ln>
        </p:spPr>
      </p:pic>
      <p:pic>
        <p:nvPicPr>
          <p:cNvPr id="276" name="Google Shape;276;p20"/>
          <p:cNvPicPr preferRelativeResize="0"/>
          <p:nvPr/>
        </p:nvPicPr>
        <p:blipFill rotWithShape="1">
          <a:blip r:embed="rId5">
            <a:alphaModFix/>
          </a:blip>
          <a:srcRect b="0" l="0" r="0" t="0"/>
          <a:stretch/>
        </p:blipFill>
        <p:spPr>
          <a:xfrm>
            <a:off x="3417577" y="1134731"/>
            <a:ext cx="297174" cy="297174"/>
          </a:xfrm>
          <a:prstGeom prst="rect">
            <a:avLst/>
          </a:prstGeom>
          <a:noFill/>
          <a:ln>
            <a:noFill/>
          </a:ln>
        </p:spPr>
      </p:pic>
      <p:pic>
        <p:nvPicPr>
          <p:cNvPr id="277" name="Google Shape;277;p20"/>
          <p:cNvPicPr preferRelativeResize="0"/>
          <p:nvPr/>
        </p:nvPicPr>
        <p:blipFill rotWithShape="1">
          <a:blip r:embed="rId6">
            <a:alphaModFix/>
          </a:blip>
          <a:srcRect b="0" l="0" r="0" t="0"/>
          <a:stretch/>
        </p:blipFill>
        <p:spPr>
          <a:xfrm>
            <a:off x="6143625" y="1134731"/>
            <a:ext cx="285750" cy="285750"/>
          </a:xfrm>
          <a:prstGeom prst="rect">
            <a:avLst/>
          </a:prstGeom>
          <a:noFill/>
          <a:ln>
            <a:noFill/>
          </a:ln>
        </p:spPr>
      </p:pic>
      <p:pic>
        <p:nvPicPr>
          <p:cNvPr id="278" name="Google Shape;278;p20"/>
          <p:cNvPicPr preferRelativeResize="0"/>
          <p:nvPr/>
        </p:nvPicPr>
        <p:blipFill rotWithShape="1">
          <a:blip r:embed="rId7">
            <a:alphaModFix/>
          </a:blip>
          <a:srcRect b="0" l="0" r="0" t="0"/>
          <a:stretch/>
        </p:blipFill>
        <p:spPr>
          <a:xfrm>
            <a:off x="685847" y="2307902"/>
            <a:ext cx="327470" cy="327470"/>
          </a:xfrm>
          <a:prstGeom prst="rect">
            <a:avLst/>
          </a:prstGeom>
          <a:noFill/>
          <a:ln>
            <a:noFill/>
          </a:ln>
        </p:spPr>
      </p:pic>
      <p:pic>
        <p:nvPicPr>
          <p:cNvPr id="279" name="Google Shape;279;p20"/>
          <p:cNvPicPr preferRelativeResize="0"/>
          <p:nvPr/>
        </p:nvPicPr>
        <p:blipFill rotWithShape="1">
          <a:blip r:embed="rId8">
            <a:alphaModFix/>
          </a:blip>
          <a:srcRect b="0" l="0" r="0" t="0"/>
          <a:stretch/>
        </p:blipFill>
        <p:spPr>
          <a:xfrm>
            <a:off x="3429000" y="2309980"/>
            <a:ext cx="325391" cy="325391"/>
          </a:xfrm>
          <a:prstGeom prst="rect">
            <a:avLst/>
          </a:prstGeom>
          <a:noFill/>
          <a:ln>
            <a:noFill/>
          </a:ln>
        </p:spPr>
      </p:pic>
      <p:pic>
        <p:nvPicPr>
          <p:cNvPr id="280" name="Google Shape;280;p20"/>
          <p:cNvPicPr preferRelativeResize="0"/>
          <p:nvPr/>
        </p:nvPicPr>
        <p:blipFill rotWithShape="1">
          <a:blip r:embed="rId9">
            <a:alphaModFix/>
          </a:blip>
          <a:srcRect b="0" l="0" r="0" t="0"/>
          <a:stretch/>
        </p:blipFill>
        <p:spPr>
          <a:xfrm>
            <a:off x="709737" y="3674393"/>
            <a:ext cx="366464" cy="366464"/>
          </a:xfrm>
          <a:prstGeom prst="rect">
            <a:avLst/>
          </a:prstGeom>
          <a:noFill/>
          <a:ln>
            <a:noFill/>
          </a:ln>
        </p:spPr>
      </p:pic>
      <p:pic>
        <p:nvPicPr>
          <p:cNvPr id="281" name="Google Shape;281;p20"/>
          <p:cNvPicPr preferRelativeResize="0"/>
          <p:nvPr/>
        </p:nvPicPr>
        <p:blipFill rotWithShape="1">
          <a:blip r:embed="rId10">
            <a:alphaModFix/>
          </a:blip>
          <a:srcRect b="0" l="0" r="0" t="0"/>
          <a:stretch/>
        </p:blipFill>
        <p:spPr>
          <a:xfrm>
            <a:off x="6118351" y="2342609"/>
            <a:ext cx="336298" cy="3362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grpSp>
        <p:nvGrpSpPr>
          <p:cNvPr id="286" name="Google Shape;286;p21"/>
          <p:cNvGrpSpPr/>
          <p:nvPr/>
        </p:nvGrpSpPr>
        <p:grpSpPr>
          <a:xfrm>
            <a:off x="371475" y="264319"/>
            <a:ext cx="8343900" cy="571500"/>
            <a:chOff x="495300" y="352425"/>
            <a:chExt cx="11125200" cy="762000"/>
          </a:xfrm>
        </p:grpSpPr>
        <p:sp>
          <p:nvSpPr>
            <p:cNvPr id="287" name="Google Shape;287;p21"/>
            <p:cNvSpPr/>
            <p:nvPr/>
          </p:nvSpPr>
          <p:spPr>
            <a:xfrm>
              <a:off x="495300" y="352425"/>
              <a:ext cx="76200" cy="7620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8" name="Google Shape;288;p21"/>
            <p:cNvSpPr txBox="1"/>
            <p:nvPr/>
          </p:nvSpPr>
          <p:spPr>
            <a:xfrm>
              <a:off x="762000" y="381000"/>
              <a:ext cx="108585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ACCOUNTING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0F172A"/>
                  </a:solidFill>
                  <a:latin typeface="Montserrat"/>
                  <a:ea typeface="Montserrat"/>
                  <a:cs typeface="Montserrat"/>
                  <a:sym typeface="Montserrat"/>
                </a:rPr>
                <a:t>YÊU CẦU ĐỐI VỚI HỆ THỐNG MỚI</a:t>
              </a:r>
              <a:endParaRPr b="1" i="0" sz="2000" u="none" cap="none" strike="noStrike">
                <a:solidFill>
                  <a:srgbClr val="0F172A"/>
                </a:solidFill>
                <a:latin typeface="Montserrat"/>
                <a:ea typeface="Montserrat"/>
                <a:cs typeface="Montserrat"/>
                <a:sym typeface="Montserrat"/>
              </a:endParaRPr>
            </a:p>
          </p:txBody>
        </p:sp>
      </p:grpSp>
      <p:grpSp>
        <p:nvGrpSpPr>
          <p:cNvPr id="289" name="Google Shape;289;p21"/>
          <p:cNvGrpSpPr/>
          <p:nvPr/>
        </p:nvGrpSpPr>
        <p:grpSpPr>
          <a:xfrm>
            <a:off x="428625" y="1143022"/>
            <a:ext cx="4000500" cy="3251606"/>
            <a:chOff x="571500" y="1524000"/>
            <a:chExt cx="5334000" cy="4000500"/>
          </a:xfrm>
        </p:grpSpPr>
        <p:sp>
          <p:nvSpPr>
            <p:cNvPr id="290" name="Google Shape;290;p21"/>
            <p:cNvSpPr/>
            <p:nvPr/>
          </p:nvSpPr>
          <p:spPr>
            <a:xfrm>
              <a:off x="571500" y="1524000"/>
              <a:ext cx="5334000" cy="40005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1" name="Google Shape;291;p21"/>
            <p:cNvSpPr/>
            <p:nvPr/>
          </p:nvSpPr>
          <p:spPr>
            <a:xfrm>
              <a:off x="857250" y="3047989"/>
              <a:ext cx="4762500" cy="2311800"/>
            </a:xfrm>
            <a:prstGeom prst="roundRect">
              <a:avLst>
                <a:gd fmla="val 4615" name="adj"/>
              </a:avLst>
            </a:prstGeom>
            <a:solidFill>
              <a:srgbClr val="1E293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2" name="Google Shape;292;p21"/>
            <p:cNvSpPr/>
            <p:nvPr/>
          </p:nvSpPr>
          <p:spPr>
            <a:xfrm>
              <a:off x="571500" y="1524000"/>
              <a:ext cx="5334000" cy="762000"/>
            </a:xfrm>
            <a:prstGeom prst="roundRect">
              <a:avLst>
                <a:gd fmla="val 20000" name="adj"/>
              </a:avLst>
            </a:prstGeom>
            <a:solidFill>
              <a:srgbClr val="8BC249">
                <a:alpha val="1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3" name="Google Shape;293;p21"/>
            <p:cNvSpPr txBox="1"/>
            <p:nvPr/>
          </p:nvSpPr>
          <p:spPr>
            <a:xfrm>
              <a:off x="1333500" y="1619250"/>
              <a:ext cx="42864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F172A"/>
                  </a:solidFill>
                  <a:latin typeface="Montserrat"/>
                  <a:ea typeface="Montserrat"/>
                  <a:cs typeface="Montserrat"/>
                  <a:sym typeface="Montserrat"/>
                </a:rPr>
                <a:t>1. Giá thành chi tiết</a:t>
              </a:r>
              <a:endParaRPr b="1" i="0" sz="1400" u="none" cap="none" strike="noStrike">
                <a:solidFill>
                  <a:srgbClr val="0F172A"/>
                </a:solidFill>
                <a:latin typeface="Montserrat"/>
                <a:ea typeface="Montserrat"/>
                <a:cs typeface="Montserrat"/>
                <a:sym typeface="Montserrat"/>
              </a:endParaRPr>
            </a:p>
          </p:txBody>
        </p:sp>
        <p:sp>
          <p:nvSpPr>
            <p:cNvPr id="294" name="Google Shape;294;p21"/>
            <p:cNvSpPr txBox="1"/>
            <p:nvPr/>
          </p:nvSpPr>
          <p:spPr>
            <a:xfrm>
              <a:off x="857250" y="2428875"/>
              <a:ext cx="476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Tính giá thành chính xác cho </a:t>
              </a:r>
              <a:r>
                <a:rPr b="1" i="0" lang="vi" sz="1200" u="none" cap="none" strike="noStrike">
                  <a:solidFill>
                    <a:srgbClr val="0F172A"/>
                  </a:solidFill>
                  <a:latin typeface="Inter"/>
                  <a:ea typeface="Inter"/>
                  <a:cs typeface="Inter"/>
                  <a:sym typeface="Inter"/>
                </a:rPr>
                <a:t>từng công đoạn sản xuất</a:t>
              </a:r>
              <a:r>
                <a:rPr b="0" i="0" lang="vi" sz="1200" u="none" cap="none" strike="noStrike">
                  <a:solidFill>
                    <a:srgbClr val="475569"/>
                  </a:solidFill>
                  <a:latin typeface="Inter"/>
                  <a:ea typeface="Inter"/>
                  <a:cs typeface="Inter"/>
                  <a:sym typeface="Inter"/>
                </a:rPr>
                <a:t>.</a:t>
              </a:r>
              <a:endParaRPr b="0" i="0" sz="1200" u="none" cap="none" strike="noStrike">
                <a:solidFill>
                  <a:srgbClr val="475569"/>
                </a:solidFill>
                <a:latin typeface="Inter"/>
                <a:ea typeface="Inter"/>
                <a:cs typeface="Inter"/>
                <a:sym typeface="Inter"/>
              </a:endParaRPr>
            </a:p>
          </p:txBody>
        </p:sp>
        <p:sp>
          <p:nvSpPr>
            <p:cNvPr id="295" name="Google Shape;295;p21"/>
            <p:cNvSpPr txBox="1"/>
            <p:nvPr/>
          </p:nvSpPr>
          <p:spPr>
            <a:xfrm>
              <a:off x="1047750" y="3238500"/>
              <a:ext cx="4381500" cy="2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vi" sz="900" u="none" cap="none" strike="noStrike">
                  <a:solidFill>
                    <a:srgbClr val="8BC249"/>
                  </a:solidFill>
                  <a:latin typeface="Montserrat"/>
                  <a:ea typeface="Montserrat"/>
                  <a:cs typeface="Montserrat"/>
                  <a:sym typeface="Montserrat"/>
                </a:rPr>
                <a:t>CÔNG ĐOẠN &amp; CHI PHÍ</a:t>
              </a:r>
              <a:endParaRPr b="1" i="0" sz="900" u="none" cap="none" strike="noStrike">
                <a:solidFill>
                  <a:srgbClr val="8BC249"/>
                </a:solidFill>
                <a:latin typeface="Montserrat"/>
                <a:ea typeface="Montserrat"/>
                <a:cs typeface="Montserrat"/>
                <a:sym typeface="Montserrat"/>
              </a:endParaRPr>
            </a:p>
          </p:txBody>
        </p:sp>
        <p:sp>
          <p:nvSpPr>
            <p:cNvPr id="296" name="Google Shape;296;p21"/>
            <p:cNvSpPr/>
            <p:nvPr/>
          </p:nvSpPr>
          <p:spPr>
            <a:xfrm>
              <a:off x="1047750" y="3571875"/>
              <a:ext cx="4381500" cy="9600"/>
            </a:xfrm>
            <a:prstGeom prst="rect">
              <a:avLst/>
            </a:prstGeom>
            <a:solidFill>
              <a:srgbClr val="33415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297" name="Google Shape;297;p21"/>
            <p:cNvGrpSpPr/>
            <p:nvPr/>
          </p:nvGrpSpPr>
          <p:grpSpPr>
            <a:xfrm>
              <a:off x="1047750" y="3667125"/>
              <a:ext cx="4381500" cy="1581233"/>
              <a:chOff x="1047750" y="3667125"/>
              <a:chExt cx="4381500" cy="1581233"/>
            </a:xfrm>
          </p:grpSpPr>
          <p:sp>
            <p:nvSpPr>
              <p:cNvPr id="298" name="Google Shape;298;p21"/>
              <p:cNvSpPr txBox="1"/>
              <p:nvPr/>
            </p:nvSpPr>
            <p:spPr>
              <a:xfrm>
                <a:off x="1047750" y="3762375"/>
                <a:ext cx="952500" cy="23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94A3B8"/>
                    </a:solidFill>
                    <a:latin typeface="Inter"/>
                    <a:ea typeface="Inter"/>
                    <a:cs typeface="Inter"/>
                    <a:sym typeface="Inter"/>
                  </a:rPr>
                  <a:t>Winding</a:t>
                </a:r>
                <a:endParaRPr b="0" i="0" sz="900" u="none" cap="none" strike="noStrike">
                  <a:solidFill>
                    <a:srgbClr val="94A3B8"/>
                  </a:solidFill>
                  <a:latin typeface="Inter"/>
                  <a:ea typeface="Inter"/>
                  <a:cs typeface="Inter"/>
                  <a:sym typeface="Inter"/>
                </a:endParaRPr>
              </a:p>
            </p:txBody>
          </p:sp>
          <p:sp>
            <p:nvSpPr>
              <p:cNvPr id="299" name="Google Shape;299;p21"/>
              <p:cNvSpPr/>
              <p:nvPr/>
            </p:nvSpPr>
            <p:spPr>
              <a:xfrm>
                <a:off x="2095500" y="3829050"/>
                <a:ext cx="31908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0" name="Google Shape;300;p21"/>
              <p:cNvSpPr txBox="1"/>
              <p:nvPr/>
            </p:nvSpPr>
            <p:spPr>
              <a:xfrm>
                <a:off x="1047750" y="4867358"/>
                <a:ext cx="4381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vi" sz="900" u="none" cap="none" strike="noStrike">
                    <a:solidFill>
                      <a:srgbClr val="8BC249"/>
                    </a:solidFill>
                    <a:latin typeface="Inter"/>
                    <a:ea typeface="Inter"/>
                    <a:cs typeface="Inter"/>
                    <a:sym typeface="Inter"/>
                  </a:rPr>
                  <a:t>✔ AUTO-ALLOCATION: SUCCESS</a:t>
                </a:r>
                <a:endParaRPr b="1" i="0" sz="900" u="none" cap="none" strike="noStrike">
                  <a:solidFill>
                    <a:srgbClr val="8BC249"/>
                  </a:solidFill>
                  <a:latin typeface="Inter"/>
                  <a:ea typeface="Inter"/>
                  <a:cs typeface="Inter"/>
                  <a:sym typeface="Inter"/>
                </a:endParaRPr>
              </a:p>
              <a:p>
                <a:pPr indent="0" lvl="0" marL="0" marR="0" rtl="0" algn="l">
                  <a:lnSpc>
                    <a:spcPct val="100000"/>
                  </a:lnSpc>
                  <a:spcBef>
                    <a:spcPts val="200"/>
                  </a:spcBef>
                  <a:spcAft>
                    <a:spcPts val="0"/>
                  </a:spcAft>
                  <a:buClr>
                    <a:srgbClr val="000000"/>
                  </a:buClr>
                  <a:buSzPts val="900"/>
                  <a:buFont typeface="Arial"/>
                  <a:buNone/>
                </a:pPr>
                <a:r>
                  <a:rPr b="0" i="0" lang="vi" sz="900" u="none" cap="none" strike="noStrike">
                    <a:solidFill>
                      <a:srgbClr val="94A3B8"/>
                    </a:solidFill>
                    <a:latin typeface="Inter"/>
                    <a:ea typeface="Inter"/>
                    <a:cs typeface="Inter"/>
                    <a:sym typeface="Inter"/>
                  </a:rPr>
                  <a:t>Dữ liệu chi phí được phân bổ tự động.</a:t>
                </a:r>
                <a:endParaRPr b="0" i="0" sz="900" u="none" cap="none" strike="noStrike">
                  <a:solidFill>
                    <a:srgbClr val="94A3B8"/>
                  </a:solidFill>
                  <a:latin typeface="Inter"/>
                  <a:ea typeface="Inter"/>
                  <a:cs typeface="Inter"/>
                  <a:sym typeface="Inter"/>
                </a:endParaRPr>
              </a:p>
            </p:txBody>
          </p:sp>
          <p:sp>
            <p:nvSpPr>
              <p:cNvPr id="301" name="Google Shape;301;p21"/>
              <p:cNvSpPr/>
              <p:nvPr/>
            </p:nvSpPr>
            <p:spPr>
              <a:xfrm>
                <a:off x="2095500" y="3829050"/>
                <a:ext cx="2714700" cy="954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2" name="Google Shape;302;p21"/>
              <p:cNvSpPr txBox="1"/>
              <p:nvPr/>
            </p:nvSpPr>
            <p:spPr>
              <a:xfrm>
                <a:off x="4572000" y="3667125"/>
                <a:ext cx="714300" cy="238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1" i="0" lang="vi" sz="800" u="none" cap="none" strike="noStrike">
                    <a:solidFill>
                      <a:srgbClr val="FFFFFF"/>
                    </a:solidFill>
                    <a:latin typeface="Inter"/>
                    <a:ea typeface="Inter"/>
                    <a:cs typeface="Inter"/>
                    <a:sym typeface="Inter"/>
                  </a:rPr>
                  <a:t>85% [OK]</a:t>
                </a:r>
                <a:endParaRPr b="1" i="0" sz="800" u="none" cap="none" strike="noStrike">
                  <a:solidFill>
                    <a:srgbClr val="FFFFFF"/>
                  </a:solidFill>
                  <a:latin typeface="Inter"/>
                  <a:ea typeface="Inter"/>
                  <a:cs typeface="Inter"/>
                  <a:sym typeface="Inter"/>
                </a:endParaRPr>
              </a:p>
            </p:txBody>
          </p:sp>
          <p:sp>
            <p:nvSpPr>
              <p:cNvPr id="303" name="Google Shape;303;p21"/>
              <p:cNvSpPr txBox="1"/>
              <p:nvPr/>
            </p:nvSpPr>
            <p:spPr>
              <a:xfrm>
                <a:off x="1047750" y="4143375"/>
                <a:ext cx="952500" cy="23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94A3B8"/>
                    </a:solidFill>
                    <a:latin typeface="Inter"/>
                    <a:ea typeface="Inter"/>
                    <a:cs typeface="Inter"/>
                    <a:sym typeface="Inter"/>
                  </a:rPr>
                  <a:t>Coating</a:t>
                </a:r>
                <a:endParaRPr b="0" i="0" sz="900" u="none" cap="none" strike="noStrike">
                  <a:solidFill>
                    <a:srgbClr val="94A3B8"/>
                  </a:solidFill>
                  <a:latin typeface="Inter"/>
                  <a:ea typeface="Inter"/>
                  <a:cs typeface="Inter"/>
                  <a:sym typeface="Inter"/>
                </a:endParaRPr>
              </a:p>
            </p:txBody>
          </p:sp>
          <p:sp>
            <p:nvSpPr>
              <p:cNvPr id="304" name="Google Shape;304;p21"/>
              <p:cNvSpPr/>
              <p:nvPr/>
            </p:nvSpPr>
            <p:spPr>
              <a:xfrm>
                <a:off x="2095500" y="4210050"/>
                <a:ext cx="31908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5" name="Google Shape;305;p21"/>
              <p:cNvSpPr/>
              <p:nvPr/>
            </p:nvSpPr>
            <p:spPr>
              <a:xfrm>
                <a:off x="2095500" y="4210050"/>
                <a:ext cx="2000100" cy="954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6" name="Google Shape;306;p21"/>
              <p:cNvSpPr txBox="1"/>
              <p:nvPr/>
            </p:nvSpPr>
            <p:spPr>
              <a:xfrm>
                <a:off x="4392075" y="4048128"/>
                <a:ext cx="894300" cy="238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1" i="0" lang="vi" sz="800" u="none" cap="none" strike="noStrike">
                    <a:solidFill>
                      <a:srgbClr val="FFFFFF"/>
                    </a:solidFill>
                    <a:latin typeface="Inter"/>
                    <a:ea typeface="Inter"/>
                    <a:cs typeface="Inter"/>
                    <a:sym typeface="Inter"/>
                  </a:rPr>
                  <a:t>62% [WARN]</a:t>
                </a:r>
                <a:endParaRPr b="1" i="0" sz="800" u="none" cap="none" strike="noStrike">
                  <a:solidFill>
                    <a:srgbClr val="FFFFFF"/>
                  </a:solidFill>
                  <a:latin typeface="Inter"/>
                  <a:ea typeface="Inter"/>
                  <a:cs typeface="Inter"/>
                  <a:sym typeface="Inter"/>
                </a:endParaRPr>
              </a:p>
            </p:txBody>
          </p:sp>
        </p:grpSp>
      </p:grpSp>
      <p:grpSp>
        <p:nvGrpSpPr>
          <p:cNvPr id="307" name="Google Shape;307;p21"/>
          <p:cNvGrpSpPr/>
          <p:nvPr/>
        </p:nvGrpSpPr>
        <p:grpSpPr>
          <a:xfrm>
            <a:off x="4714875" y="1143036"/>
            <a:ext cx="4000500" cy="3251606"/>
            <a:chOff x="6286500" y="1524000"/>
            <a:chExt cx="5334000" cy="4000500"/>
          </a:xfrm>
        </p:grpSpPr>
        <p:sp>
          <p:nvSpPr>
            <p:cNvPr id="308" name="Google Shape;308;p21"/>
            <p:cNvSpPr/>
            <p:nvPr/>
          </p:nvSpPr>
          <p:spPr>
            <a:xfrm>
              <a:off x="6286500" y="1524000"/>
              <a:ext cx="5334000" cy="40005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9" name="Google Shape;309;p21"/>
            <p:cNvSpPr/>
            <p:nvPr/>
          </p:nvSpPr>
          <p:spPr>
            <a:xfrm>
              <a:off x="6286500" y="1524000"/>
              <a:ext cx="5334000" cy="762000"/>
            </a:xfrm>
            <a:prstGeom prst="roundRect">
              <a:avLst>
                <a:gd fmla="val 20000" name="adj"/>
              </a:avLst>
            </a:prstGeom>
            <a:solidFill>
              <a:srgbClr val="3B82F6">
                <a:alpha val="1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10" name="Google Shape;310;p21"/>
            <p:cNvSpPr txBox="1"/>
            <p:nvPr/>
          </p:nvSpPr>
          <p:spPr>
            <a:xfrm>
              <a:off x="7048500" y="1619250"/>
              <a:ext cx="42864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F172A"/>
                  </a:solidFill>
                  <a:latin typeface="Montserrat"/>
                  <a:ea typeface="Montserrat"/>
                  <a:cs typeface="Montserrat"/>
                  <a:sym typeface="Montserrat"/>
                </a:rPr>
                <a:t>2. Chuẩn báo cáo Hàn Quốc</a:t>
              </a:r>
              <a:endParaRPr b="1" i="0" sz="1400" u="none" cap="none" strike="noStrike">
                <a:solidFill>
                  <a:srgbClr val="0F172A"/>
                </a:solidFill>
                <a:latin typeface="Montserrat"/>
                <a:ea typeface="Montserrat"/>
                <a:cs typeface="Montserrat"/>
                <a:sym typeface="Montserrat"/>
              </a:endParaRPr>
            </a:p>
          </p:txBody>
        </p:sp>
        <p:sp>
          <p:nvSpPr>
            <p:cNvPr id="311" name="Google Shape;311;p21"/>
            <p:cNvSpPr txBox="1"/>
            <p:nvPr/>
          </p:nvSpPr>
          <p:spPr>
            <a:xfrm>
              <a:off x="6572250" y="2428875"/>
              <a:ext cx="476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Kết xuất báo cáo theo định dạng </a:t>
              </a:r>
              <a:r>
                <a:rPr b="1" i="0" lang="vi" sz="1200" u="none" cap="none" strike="noStrike">
                  <a:solidFill>
                    <a:srgbClr val="0F172A"/>
                  </a:solidFill>
                  <a:latin typeface="Inter"/>
                  <a:ea typeface="Inter"/>
                  <a:cs typeface="Inter"/>
                  <a:sym typeface="Inter"/>
                </a:rPr>
                <a:t>của công ty mẹ (HQ)</a:t>
              </a:r>
              <a:r>
                <a:rPr b="0" i="0" lang="vi" sz="1200" u="none" cap="none" strike="noStrike">
                  <a:solidFill>
                    <a:srgbClr val="475569"/>
                  </a:solidFill>
                  <a:latin typeface="Inter"/>
                  <a:ea typeface="Inter"/>
                  <a:cs typeface="Inter"/>
                  <a:sym typeface="Inter"/>
                </a:rPr>
                <a:t>.</a:t>
              </a:r>
              <a:endParaRPr b="0" i="0" sz="1200" u="none" cap="none" strike="noStrike">
                <a:solidFill>
                  <a:srgbClr val="475569"/>
                </a:solidFill>
                <a:latin typeface="Inter"/>
                <a:ea typeface="Inter"/>
                <a:cs typeface="Inter"/>
                <a:sym typeface="Inter"/>
              </a:endParaRPr>
            </a:p>
          </p:txBody>
        </p:sp>
        <p:sp>
          <p:nvSpPr>
            <p:cNvPr id="312" name="Google Shape;312;p21"/>
            <p:cNvSpPr/>
            <p:nvPr/>
          </p:nvSpPr>
          <p:spPr>
            <a:xfrm>
              <a:off x="6572250" y="3047995"/>
              <a:ext cx="4762500" cy="2334900"/>
            </a:xfrm>
            <a:prstGeom prst="roundRect">
              <a:avLst>
                <a:gd fmla="val 5217" name="adj"/>
              </a:avLst>
            </a:prstGeom>
            <a:solidFill>
              <a:srgbClr val="1E293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13" name="Google Shape;313;p21"/>
            <p:cNvSpPr txBox="1"/>
            <p:nvPr/>
          </p:nvSpPr>
          <p:spPr>
            <a:xfrm>
              <a:off x="6762750" y="3238500"/>
              <a:ext cx="4381500" cy="2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vi" sz="900" u="none" cap="none" strike="noStrike">
                  <a:solidFill>
                    <a:srgbClr val="3B82F6"/>
                  </a:solidFill>
                  <a:latin typeface="Montserrat"/>
                  <a:ea typeface="Montserrat"/>
                  <a:cs typeface="Montserrat"/>
                  <a:sym typeface="Montserrat"/>
                </a:rPr>
                <a:t>KOREA EXPORTER CORE ENGINE</a:t>
              </a:r>
              <a:endParaRPr b="1" i="0" sz="900" u="none" cap="none" strike="noStrike">
                <a:solidFill>
                  <a:srgbClr val="3B82F6"/>
                </a:solidFill>
                <a:latin typeface="Montserrat"/>
                <a:ea typeface="Montserrat"/>
                <a:cs typeface="Montserrat"/>
                <a:sym typeface="Montserrat"/>
              </a:endParaRPr>
            </a:p>
          </p:txBody>
        </p:sp>
        <p:sp>
          <p:nvSpPr>
            <p:cNvPr id="314" name="Google Shape;314;p21"/>
            <p:cNvSpPr/>
            <p:nvPr/>
          </p:nvSpPr>
          <p:spPr>
            <a:xfrm>
              <a:off x="6762750" y="3571875"/>
              <a:ext cx="4381500" cy="9600"/>
            </a:xfrm>
            <a:prstGeom prst="rect">
              <a:avLst/>
            </a:prstGeom>
            <a:solidFill>
              <a:srgbClr val="33415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15" name="Google Shape;315;p21"/>
            <p:cNvSpPr txBox="1"/>
            <p:nvPr/>
          </p:nvSpPr>
          <p:spPr>
            <a:xfrm>
              <a:off x="6762750" y="3714750"/>
              <a:ext cx="4381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CBD5E1"/>
                  </a:solidFill>
                  <a:latin typeface="Inter"/>
                  <a:ea typeface="Inter"/>
                  <a:cs typeface="Inter"/>
                  <a:sym typeface="Inter"/>
                </a:rPr>
                <a:t>Mapping: </a:t>
              </a:r>
              <a:r>
                <a:rPr b="0" i="0" lang="vi" sz="900" u="none" cap="none" strike="noStrike">
                  <a:solidFill>
                    <a:srgbClr val="FFFFFF"/>
                  </a:solidFill>
                  <a:latin typeface="Inter"/>
                  <a:ea typeface="Inter"/>
                  <a:cs typeface="Inter"/>
                  <a:sym typeface="Inter"/>
                </a:rPr>
                <a:t>VAS (Vietnam)</a:t>
              </a:r>
              <a:r>
                <a:rPr b="0" i="0" lang="vi" sz="900" u="none" cap="none" strike="noStrike">
                  <a:solidFill>
                    <a:srgbClr val="CBD5E1"/>
                  </a:solidFill>
                  <a:latin typeface="Inter"/>
                  <a:ea typeface="Inter"/>
                  <a:cs typeface="Inter"/>
                  <a:sym typeface="Inter"/>
                </a:rPr>
                <a:t> ➔ </a:t>
              </a:r>
              <a:r>
                <a:rPr b="0" i="0" lang="vi" sz="900" u="none" cap="none" strike="noStrike">
                  <a:solidFill>
                    <a:srgbClr val="FFFFFF"/>
                  </a:solidFill>
                  <a:latin typeface="Inter"/>
                  <a:ea typeface="Inter"/>
                  <a:cs typeface="Inter"/>
                  <a:sym typeface="Inter"/>
                </a:rPr>
                <a:t>K-IFRS (HQ)</a:t>
              </a:r>
              <a:r>
                <a:rPr b="0" i="0" lang="vi" sz="900" u="none" cap="none" strike="noStrike">
                  <a:solidFill>
                    <a:srgbClr val="CBD5E1"/>
                  </a:solidFill>
                  <a:latin typeface="Inter"/>
                  <a:ea typeface="Inter"/>
                  <a:cs typeface="Inter"/>
                  <a:sym typeface="Inter"/>
                </a:rPr>
                <a:t> </a:t>
              </a:r>
              <a:r>
                <a:rPr b="1" i="0" lang="vi" sz="900" u="none" cap="none" strike="noStrike">
                  <a:solidFill>
                    <a:srgbClr val="8BC249"/>
                  </a:solidFill>
                  <a:latin typeface="Inter"/>
                  <a:ea typeface="Inter"/>
                  <a:cs typeface="Inter"/>
                  <a:sym typeface="Inter"/>
                </a:rPr>
                <a:t>[OK]</a:t>
              </a:r>
              <a:endParaRPr b="0" i="0" sz="900" u="none" cap="none" strike="noStrike">
                <a:solidFill>
                  <a:srgbClr val="CBD5E1"/>
                </a:solidFill>
                <a:latin typeface="Inter"/>
                <a:ea typeface="Inter"/>
                <a:cs typeface="Inter"/>
                <a:sym typeface="Inter"/>
              </a:endParaRPr>
            </a:p>
            <a:p>
              <a:pPr indent="0" lvl="0" marL="0" marR="0" rtl="0" algn="l">
                <a:lnSpc>
                  <a:spcPct val="100000"/>
                </a:lnSpc>
                <a:spcBef>
                  <a:spcPts val="700"/>
                </a:spcBef>
                <a:spcAft>
                  <a:spcPts val="0"/>
                </a:spcAft>
                <a:buClr>
                  <a:srgbClr val="000000"/>
                </a:buClr>
                <a:buSzPts val="900"/>
                <a:buFont typeface="Arial"/>
                <a:buNone/>
              </a:pPr>
              <a:r>
                <a:rPr b="0" i="0" lang="vi" sz="900" u="none" cap="none" strike="noStrike">
                  <a:solidFill>
                    <a:srgbClr val="CBD5E1"/>
                  </a:solidFill>
                  <a:latin typeface="Inter"/>
                  <a:ea typeface="Inter"/>
                  <a:cs typeface="Inter"/>
                  <a:sym typeface="Inter"/>
                </a:rPr>
                <a:t>Format: Standard Balance Sheet </a:t>
              </a:r>
              <a:r>
                <a:rPr b="1" i="0" lang="vi" sz="900" u="none" cap="none" strike="noStrike">
                  <a:solidFill>
                    <a:srgbClr val="8BC249"/>
                  </a:solidFill>
                  <a:latin typeface="Inter"/>
                  <a:ea typeface="Inter"/>
                  <a:cs typeface="Inter"/>
                  <a:sym typeface="Inter"/>
                </a:rPr>
                <a:t>[CONVERTED]</a:t>
              </a:r>
              <a:endParaRPr b="0" i="0" sz="900" u="none" cap="none" strike="noStrike">
                <a:solidFill>
                  <a:srgbClr val="CBD5E1"/>
                </a:solidFill>
                <a:latin typeface="Inter"/>
                <a:ea typeface="Inter"/>
                <a:cs typeface="Inter"/>
                <a:sym typeface="Inter"/>
              </a:endParaRPr>
            </a:p>
            <a:p>
              <a:pPr indent="0" lvl="0" marL="0" marR="0" rtl="0" algn="l">
                <a:lnSpc>
                  <a:spcPct val="100000"/>
                </a:lnSpc>
                <a:spcBef>
                  <a:spcPts val="700"/>
                </a:spcBef>
                <a:spcAft>
                  <a:spcPts val="0"/>
                </a:spcAft>
                <a:buClr>
                  <a:srgbClr val="000000"/>
                </a:buClr>
                <a:buSzPts val="900"/>
                <a:buFont typeface="Arial"/>
                <a:buNone/>
              </a:pPr>
              <a:r>
                <a:rPr b="0" i="0" lang="vi" sz="900" u="none" cap="none" strike="noStrike">
                  <a:solidFill>
                    <a:srgbClr val="CBD5E1"/>
                  </a:solidFill>
                  <a:latin typeface="Inter"/>
                  <a:ea typeface="Inter"/>
                  <a:cs typeface="Inter"/>
                  <a:sym typeface="Inter"/>
                </a:rPr>
                <a:t>Data Integrity Check: </a:t>
              </a:r>
              <a:r>
                <a:rPr b="1" i="0" lang="vi" sz="900" u="none" cap="none" strike="noStrike">
                  <a:solidFill>
                    <a:srgbClr val="3B82F6"/>
                  </a:solidFill>
                  <a:latin typeface="Inter"/>
                  <a:ea typeface="Inter"/>
                  <a:cs typeface="Inter"/>
                  <a:sym typeface="Inter"/>
                </a:rPr>
                <a:t>VERIFIED</a:t>
              </a:r>
              <a:endParaRPr b="0" i="0" sz="900" u="none" cap="none" strike="noStrike">
                <a:solidFill>
                  <a:srgbClr val="CBD5E1"/>
                </a:solidFill>
                <a:latin typeface="Inter"/>
                <a:ea typeface="Inter"/>
                <a:cs typeface="Inter"/>
                <a:sym typeface="Inter"/>
              </a:endParaRPr>
            </a:p>
            <a:p>
              <a:pPr indent="0" lvl="0" marL="0" marR="0" rtl="0" algn="l">
                <a:lnSpc>
                  <a:spcPct val="100000"/>
                </a:lnSpc>
                <a:spcBef>
                  <a:spcPts val="700"/>
                </a:spcBef>
                <a:spcAft>
                  <a:spcPts val="0"/>
                </a:spcAft>
                <a:buClr>
                  <a:srgbClr val="000000"/>
                </a:buClr>
                <a:buSzPts val="900"/>
                <a:buFont typeface="Arial"/>
                <a:buNone/>
              </a:pPr>
              <a:r>
                <a:rPr b="0" i="0" lang="vi" sz="900" u="none" cap="none" strike="noStrike">
                  <a:solidFill>
                    <a:srgbClr val="CBD5E1"/>
                  </a:solidFill>
                  <a:latin typeface="Inter"/>
                  <a:ea typeface="Inter"/>
                  <a:cs typeface="Inter"/>
                  <a:sym typeface="Inter"/>
                </a:rPr>
                <a:t>Status: </a:t>
              </a:r>
              <a:r>
                <a:rPr b="0" i="0" lang="vi" sz="900" u="none" cap="none" strike="noStrike">
                  <a:solidFill>
                    <a:srgbClr val="FFFFFF"/>
                  </a:solidFill>
                  <a:highlight>
                    <a:srgbClr val="059669"/>
                  </a:highlight>
                  <a:latin typeface="Inter"/>
                  <a:ea typeface="Inter"/>
                  <a:cs typeface="Inter"/>
                  <a:sym typeface="Inter"/>
                </a:rPr>
                <a:t>Ready for HQ Transfer</a:t>
              </a:r>
              <a:endParaRPr b="0" i="0" sz="900" u="none" cap="none" strike="noStrike">
                <a:solidFill>
                  <a:srgbClr val="CBD5E1"/>
                </a:solidFill>
                <a:latin typeface="Inter"/>
                <a:ea typeface="Inter"/>
                <a:cs typeface="Inter"/>
                <a:sym typeface="Inter"/>
              </a:endParaRPr>
            </a:p>
            <a:p>
              <a:pPr indent="0" lvl="0" marL="0" marR="0" rtl="0" algn="l">
                <a:lnSpc>
                  <a:spcPct val="100000"/>
                </a:lnSpc>
                <a:spcBef>
                  <a:spcPts val="500"/>
                </a:spcBef>
                <a:spcAft>
                  <a:spcPts val="0"/>
                </a:spcAft>
                <a:buClr>
                  <a:srgbClr val="000000"/>
                </a:buClr>
                <a:buSzPts val="900"/>
                <a:buFont typeface="Arial"/>
                <a:buNone/>
              </a:pPr>
              <a:r>
                <a:rPr b="0" i="1" lang="vi" sz="900" u="none" cap="none" strike="noStrike">
                  <a:solidFill>
                    <a:srgbClr val="94A3B8"/>
                  </a:solidFill>
                  <a:latin typeface="Inter"/>
                  <a:ea typeface="Inter"/>
                  <a:cs typeface="Inter"/>
                  <a:sym typeface="Inter"/>
                </a:rPr>
                <a:t>* Tự động chuyển đổi tài khoản VAS sang K-IFRS theo bảng ánh xạ chuẩn.</a:t>
              </a:r>
              <a:endParaRPr b="0" i="1" sz="900" u="none" cap="none" strike="noStrike">
                <a:solidFill>
                  <a:srgbClr val="94A3B8"/>
                </a:solidFill>
                <a:latin typeface="Inter"/>
                <a:ea typeface="Inter"/>
                <a:cs typeface="Inter"/>
                <a:sym typeface="Inter"/>
              </a:endParaRPr>
            </a:p>
          </p:txBody>
        </p:sp>
      </p:grpSp>
      <p:grpSp>
        <p:nvGrpSpPr>
          <p:cNvPr id="316" name="Google Shape;316;p21"/>
          <p:cNvGrpSpPr/>
          <p:nvPr/>
        </p:nvGrpSpPr>
        <p:grpSpPr>
          <a:xfrm>
            <a:off x="785813" y="3477842"/>
            <a:ext cx="3178913" cy="274296"/>
            <a:chOff x="1047750" y="4396847"/>
            <a:chExt cx="4238550" cy="365728"/>
          </a:xfrm>
        </p:grpSpPr>
        <p:sp>
          <p:nvSpPr>
            <p:cNvPr id="317" name="Google Shape;317;p21"/>
            <p:cNvSpPr txBox="1"/>
            <p:nvPr/>
          </p:nvSpPr>
          <p:spPr>
            <a:xfrm>
              <a:off x="1047750" y="4524375"/>
              <a:ext cx="9525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vi" sz="900" u="none" cap="none" strike="noStrike">
                  <a:solidFill>
                    <a:srgbClr val="94A3B8"/>
                  </a:solidFill>
                  <a:latin typeface="Inter"/>
                  <a:ea typeface="Inter"/>
                  <a:cs typeface="Inter"/>
                  <a:sym typeface="Inter"/>
                </a:rPr>
                <a:t>Aging</a:t>
              </a:r>
              <a:endParaRPr b="0" i="0" sz="900" u="none" cap="none" strike="noStrike">
                <a:solidFill>
                  <a:srgbClr val="94A3B8"/>
                </a:solidFill>
                <a:latin typeface="Inter"/>
                <a:ea typeface="Inter"/>
                <a:cs typeface="Inter"/>
                <a:sym typeface="Inter"/>
              </a:endParaRPr>
            </a:p>
          </p:txBody>
        </p:sp>
        <p:sp>
          <p:nvSpPr>
            <p:cNvPr id="318" name="Google Shape;318;p21"/>
            <p:cNvSpPr/>
            <p:nvPr/>
          </p:nvSpPr>
          <p:spPr>
            <a:xfrm>
              <a:off x="2095500" y="4591050"/>
              <a:ext cx="3190800" cy="95400"/>
            </a:xfrm>
            <a:prstGeom prst="roundRect">
              <a:avLst>
                <a:gd fmla="val 50000" name="adj"/>
              </a:avLst>
            </a:prstGeom>
            <a:solidFill>
              <a:srgbClr val="33415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19" name="Google Shape;319;p21"/>
            <p:cNvSpPr/>
            <p:nvPr/>
          </p:nvSpPr>
          <p:spPr>
            <a:xfrm>
              <a:off x="2095500" y="4591050"/>
              <a:ext cx="3190800" cy="954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0" name="Google Shape;320;p21"/>
            <p:cNvSpPr txBox="1"/>
            <p:nvPr/>
          </p:nvSpPr>
          <p:spPr>
            <a:xfrm>
              <a:off x="4333800" y="4396847"/>
              <a:ext cx="952500" cy="194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1" i="0" lang="vi" sz="800" u="none" cap="none" strike="noStrike">
                  <a:solidFill>
                    <a:srgbClr val="EF4444"/>
                  </a:solidFill>
                  <a:latin typeface="Inter"/>
                  <a:ea typeface="Inter"/>
                  <a:cs typeface="Inter"/>
                  <a:sym typeface="Inter"/>
                </a:rPr>
                <a:t>112% [OVER]</a:t>
              </a:r>
              <a:endParaRPr b="1" i="0" sz="800" u="none" cap="none" strike="noStrike">
                <a:solidFill>
                  <a:srgbClr val="EF4444"/>
                </a:solidFill>
                <a:latin typeface="Inter"/>
                <a:ea typeface="Inter"/>
                <a:cs typeface="Inter"/>
                <a:sym typeface="Inter"/>
              </a:endParaRPr>
            </a:p>
          </p:txBody>
        </p:sp>
      </p:grpSp>
      <p:pic>
        <p:nvPicPr>
          <p:cNvPr id="321" name="Google Shape;321;p21"/>
          <p:cNvPicPr preferRelativeResize="0"/>
          <p:nvPr/>
        </p:nvPicPr>
        <p:blipFill rotWithShape="1">
          <a:blip r:embed="rId4">
            <a:alphaModFix/>
          </a:blip>
          <a:srcRect b="0" l="0" r="0" t="0"/>
          <a:stretch/>
        </p:blipFill>
        <p:spPr>
          <a:xfrm>
            <a:off x="528883" y="1258049"/>
            <a:ext cx="399804" cy="399804"/>
          </a:xfrm>
          <a:prstGeom prst="rect">
            <a:avLst/>
          </a:prstGeom>
          <a:noFill/>
          <a:ln>
            <a:noFill/>
          </a:ln>
        </p:spPr>
      </p:pic>
      <p:pic>
        <p:nvPicPr>
          <p:cNvPr id="322" name="Google Shape;322;p21"/>
          <p:cNvPicPr preferRelativeResize="0"/>
          <p:nvPr/>
        </p:nvPicPr>
        <p:blipFill rotWithShape="1">
          <a:blip r:embed="rId5">
            <a:alphaModFix/>
          </a:blip>
          <a:srcRect b="0" l="0" r="0" t="0"/>
          <a:stretch/>
        </p:blipFill>
        <p:spPr>
          <a:xfrm>
            <a:off x="4822486" y="1301576"/>
            <a:ext cx="356278" cy="3562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22"/>
          <p:cNvSpPr/>
          <p:nvPr/>
        </p:nvSpPr>
        <p:spPr>
          <a:xfrm>
            <a:off x="381000" y="285750"/>
            <a:ext cx="57300" cy="571500"/>
          </a:xfrm>
          <a:prstGeom prst="rect">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2"/>
          <p:cNvSpPr txBox="1"/>
          <p:nvPr/>
        </p:nvSpPr>
        <p:spPr>
          <a:xfrm>
            <a:off x="571500" y="285750"/>
            <a:ext cx="7620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vi" sz="1100">
                <a:solidFill>
                  <a:srgbClr val="8BC249"/>
                </a:solidFill>
                <a:latin typeface="Montserrat SemiBold"/>
                <a:ea typeface="Montserrat SemiBold"/>
                <a:cs typeface="Montserrat SemiBold"/>
                <a:sym typeface="Montserrat SemiBold"/>
              </a:rPr>
              <a:t>VIETNAM PURCHASE TEAM</a:t>
            </a:r>
            <a:endParaRPr b="0" sz="1100">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1900">
                <a:solidFill>
                  <a:srgbClr val="0F172A"/>
                </a:solidFill>
                <a:latin typeface="Montserrat"/>
                <a:ea typeface="Montserrat"/>
                <a:cs typeface="Montserrat"/>
                <a:sym typeface="Montserrat"/>
              </a:rPr>
              <a:t>SƠ ĐỒ QUY TRÌNH NGHIỆP VỤ THU MUA</a:t>
            </a:r>
            <a:endParaRPr b="1" sz="1900">
              <a:solidFill>
                <a:srgbClr val="0F172A"/>
              </a:solidFill>
              <a:latin typeface="Montserrat"/>
              <a:ea typeface="Montserrat"/>
              <a:cs typeface="Montserrat"/>
              <a:sym typeface="Montserrat"/>
            </a:endParaRPr>
          </a:p>
        </p:txBody>
      </p:sp>
      <p:grpSp>
        <p:nvGrpSpPr>
          <p:cNvPr id="329" name="Google Shape;329;p22"/>
          <p:cNvGrpSpPr/>
          <p:nvPr/>
        </p:nvGrpSpPr>
        <p:grpSpPr>
          <a:xfrm>
            <a:off x="428625" y="1143000"/>
            <a:ext cx="8286900" cy="3238500"/>
            <a:chOff x="428625" y="1143000"/>
            <a:chExt cx="8286900" cy="3238500"/>
          </a:xfrm>
        </p:grpSpPr>
        <p:grpSp>
          <p:nvGrpSpPr>
            <p:cNvPr id="330" name="Google Shape;330;p22"/>
            <p:cNvGrpSpPr/>
            <p:nvPr/>
          </p:nvGrpSpPr>
          <p:grpSpPr>
            <a:xfrm>
              <a:off x="428625" y="1143000"/>
              <a:ext cx="1600200" cy="3238500"/>
              <a:chOff x="0" y="0"/>
              <a:chExt cx="1600200" cy="3238500"/>
            </a:xfrm>
          </p:grpSpPr>
          <p:sp>
            <p:nvSpPr>
              <p:cNvPr id="331" name="Google Shape;331;p22"/>
              <p:cNvSpPr/>
              <p:nvPr/>
            </p:nvSpPr>
            <p:spPr>
              <a:xfrm>
                <a:off x="0" y="0"/>
                <a:ext cx="1600200" cy="32385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p:nvPr/>
            </p:nvSpPr>
            <p:spPr>
              <a:xfrm>
                <a:off x="0" y="0"/>
                <a:ext cx="1600200" cy="571500"/>
              </a:xfrm>
              <a:prstGeom prst="roundRect">
                <a:avLst>
                  <a:gd fmla="val 2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2"/>
              <p:cNvSpPr txBox="1"/>
              <p:nvPr/>
            </p:nvSpPr>
            <p:spPr>
              <a:xfrm>
                <a:off x="142875" y="666750"/>
                <a:ext cx="13146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vi" sz="1200">
                    <a:solidFill>
                      <a:srgbClr val="0F172A"/>
                    </a:solidFill>
                    <a:latin typeface="Inter"/>
                    <a:ea typeface="Inter"/>
                    <a:cs typeface="Inter"/>
                    <a:sym typeface="Inter"/>
                  </a:rPr>
                  <a:t>1. Kế hoạch nhu cầu</a:t>
                </a:r>
                <a:endParaRPr b="1" sz="1200">
                  <a:solidFill>
                    <a:srgbClr val="0F172A"/>
                  </a:solidFill>
                  <a:latin typeface="Inter"/>
                  <a:ea typeface="Inter"/>
                  <a:cs typeface="Inter"/>
                  <a:sym typeface="Inter"/>
                </a:endParaRPr>
              </a:p>
              <a:p>
                <a:pPr indent="0" lvl="0" marL="0" rtl="0" algn="l">
                  <a:spcBef>
                    <a:spcPts val="900"/>
                  </a:spcBef>
                  <a:spcAft>
                    <a:spcPts val="0"/>
                  </a:spcAft>
                  <a:buNone/>
                </a:pPr>
                <a:r>
                  <a:rPr lang="vi" sz="1000">
                    <a:solidFill>
                      <a:srgbClr val="475569"/>
                    </a:solidFill>
                    <a:latin typeface="Inter"/>
                    <a:ea typeface="Inter"/>
                    <a:cs typeface="Inter"/>
                    <a:sym typeface="Inter"/>
                  </a:rPr>
                  <a:t>Tiếp nhận kế hoạch sản xuất và dự báo bán hàng từ hệ thống ERP.</a:t>
                </a:r>
                <a:endParaRPr sz="1000">
                  <a:solidFill>
                    <a:srgbClr val="475569"/>
                  </a:solidFill>
                  <a:latin typeface="Inter"/>
                  <a:ea typeface="Inter"/>
                  <a:cs typeface="Inter"/>
                  <a:sym typeface="Inter"/>
                </a:endParaRPr>
              </a:p>
            </p:txBody>
          </p:sp>
          <p:sp>
            <p:nvSpPr>
              <p:cNvPr id="334" name="Google Shape;334;p22"/>
              <p:cNvSpPr txBox="1"/>
              <p:nvPr/>
            </p:nvSpPr>
            <p:spPr>
              <a:xfrm>
                <a:off x="609600"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event_note</a:t>
                </a:r>
                <a:endParaRPr sz="2400">
                  <a:solidFill>
                    <a:srgbClr val="8BC249"/>
                  </a:solidFill>
                  <a:latin typeface="Material Icons"/>
                  <a:ea typeface="Material Icons"/>
                  <a:cs typeface="Material Icons"/>
                  <a:sym typeface="Material Icons"/>
                </a:endParaRPr>
              </a:p>
            </p:txBody>
          </p:sp>
        </p:grpSp>
        <p:grpSp>
          <p:nvGrpSpPr>
            <p:cNvPr id="335" name="Google Shape;335;p22"/>
            <p:cNvGrpSpPr/>
            <p:nvPr/>
          </p:nvGrpSpPr>
          <p:grpSpPr>
            <a:xfrm>
              <a:off x="2143125" y="1143000"/>
              <a:ext cx="1600200" cy="3238500"/>
              <a:chOff x="0" y="0"/>
              <a:chExt cx="1600200" cy="3238500"/>
            </a:xfrm>
          </p:grpSpPr>
          <p:sp>
            <p:nvSpPr>
              <p:cNvPr id="336" name="Google Shape;336;p22"/>
              <p:cNvSpPr/>
              <p:nvPr/>
            </p:nvSpPr>
            <p:spPr>
              <a:xfrm>
                <a:off x="0" y="0"/>
                <a:ext cx="1600200" cy="32385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0" y="0"/>
                <a:ext cx="1600200" cy="571500"/>
              </a:xfrm>
              <a:prstGeom prst="roundRect">
                <a:avLst>
                  <a:gd fmla="val 2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2"/>
              <p:cNvSpPr txBox="1"/>
              <p:nvPr/>
            </p:nvSpPr>
            <p:spPr>
              <a:xfrm>
                <a:off x="142875" y="666750"/>
                <a:ext cx="13146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vi" sz="1200">
                    <a:solidFill>
                      <a:srgbClr val="0F172A"/>
                    </a:solidFill>
                    <a:latin typeface="Inter"/>
                    <a:ea typeface="Inter"/>
                    <a:cs typeface="Inter"/>
                    <a:sym typeface="Inter"/>
                  </a:rPr>
                  <a:t>2. Tính toán PR</a:t>
                </a:r>
                <a:endParaRPr b="1" sz="1200">
                  <a:solidFill>
                    <a:srgbClr val="0F172A"/>
                  </a:solidFill>
                  <a:latin typeface="Inter"/>
                  <a:ea typeface="Inter"/>
                  <a:cs typeface="Inter"/>
                  <a:sym typeface="Inter"/>
                </a:endParaRPr>
              </a:p>
              <a:p>
                <a:pPr indent="0" lvl="0" marL="0" rtl="0" algn="l">
                  <a:spcBef>
                    <a:spcPts val="900"/>
                  </a:spcBef>
                  <a:spcAft>
                    <a:spcPts val="0"/>
                  </a:spcAft>
                  <a:buNone/>
                </a:pPr>
                <a:r>
                  <a:rPr lang="vi" sz="1000">
                    <a:solidFill>
                      <a:srgbClr val="475569"/>
                    </a:solidFill>
                    <a:latin typeface="Inter"/>
                    <a:ea typeface="Inter"/>
                    <a:cs typeface="Inter"/>
                    <a:sym typeface="Inter"/>
                  </a:rPr>
                  <a:t>Dựa trên BOM và tồn kho để tính toán nhu cầu đặt mua (hiện tại làm ngoài Excel).</a:t>
                </a:r>
                <a:endParaRPr sz="1000">
                  <a:solidFill>
                    <a:srgbClr val="475569"/>
                  </a:solidFill>
                  <a:latin typeface="Inter"/>
                  <a:ea typeface="Inter"/>
                  <a:cs typeface="Inter"/>
                  <a:sym typeface="Inter"/>
                </a:endParaRPr>
              </a:p>
            </p:txBody>
          </p:sp>
          <p:sp>
            <p:nvSpPr>
              <p:cNvPr id="339" name="Google Shape;339;p22"/>
              <p:cNvSpPr txBox="1"/>
              <p:nvPr/>
            </p:nvSpPr>
            <p:spPr>
              <a:xfrm>
                <a:off x="609600"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calculate</a:t>
                </a:r>
                <a:endParaRPr sz="2400">
                  <a:solidFill>
                    <a:srgbClr val="8BC249"/>
                  </a:solidFill>
                  <a:latin typeface="Material Icons"/>
                  <a:ea typeface="Material Icons"/>
                  <a:cs typeface="Material Icons"/>
                  <a:sym typeface="Material Icons"/>
                </a:endParaRPr>
              </a:p>
            </p:txBody>
          </p:sp>
        </p:grpSp>
        <p:grpSp>
          <p:nvGrpSpPr>
            <p:cNvPr id="340" name="Google Shape;340;p22"/>
            <p:cNvGrpSpPr/>
            <p:nvPr/>
          </p:nvGrpSpPr>
          <p:grpSpPr>
            <a:xfrm>
              <a:off x="3857625" y="1143000"/>
              <a:ext cx="1600200" cy="3238500"/>
              <a:chOff x="0" y="0"/>
              <a:chExt cx="1600200" cy="3238500"/>
            </a:xfrm>
          </p:grpSpPr>
          <p:sp>
            <p:nvSpPr>
              <p:cNvPr id="341" name="Google Shape;341;p22"/>
              <p:cNvSpPr/>
              <p:nvPr/>
            </p:nvSpPr>
            <p:spPr>
              <a:xfrm>
                <a:off x="0" y="0"/>
                <a:ext cx="1600200" cy="32385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2"/>
              <p:cNvSpPr/>
              <p:nvPr/>
            </p:nvSpPr>
            <p:spPr>
              <a:xfrm>
                <a:off x="0" y="0"/>
                <a:ext cx="1600200" cy="571500"/>
              </a:xfrm>
              <a:prstGeom prst="roundRect">
                <a:avLst>
                  <a:gd fmla="val 2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2"/>
              <p:cNvSpPr txBox="1"/>
              <p:nvPr/>
            </p:nvSpPr>
            <p:spPr>
              <a:xfrm>
                <a:off x="142875" y="666750"/>
                <a:ext cx="13146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vi" sz="1200">
                    <a:solidFill>
                      <a:srgbClr val="0F172A"/>
                    </a:solidFill>
                    <a:latin typeface="Inter"/>
                    <a:ea typeface="Inter"/>
                    <a:cs typeface="Inter"/>
                    <a:sym typeface="Inter"/>
                  </a:rPr>
                  <a:t>3. Phê duyệt PO</a:t>
                </a:r>
                <a:endParaRPr b="1" sz="1200">
                  <a:solidFill>
                    <a:srgbClr val="0F172A"/>
                  </a:solidFill>
                  <a:latin typeface="Inter"/>
                  <a:ea typeface="Inter"/>
                  <a:cs typeface="Inter"/>
                  <a:sym typeface="Inter"/>
                </a:endParaRPr>
              </a:p>
              <a:p>
                <a:pPr indent="0" lvl="0" marL="0" rtl="0" algn="l">
                  <a:spcBef>
                    <a:spcPts val="900"/>
                  </a:spcBef>
                  <a:spcAft>
                    <a:spcPts val="0"/>
                  </a:spcAft>
                  <a:buNone/>
                </a:pPr>
                <a:r>
                  <a:rPr lang="vi" sz="1000">
                    <a:solidFill>
                      <a:srgbClr val="475569"/>
                    </a:solidFill>
                    <a:latin typeface="Inter"/>
                    <a:ea typeface="Inter"/>
                    <a:cs typeface="Inter"/>
                    <a:sym typeface="Inter"/>
                  </a:rPr>
                  <a:t>Lập đơn mua hàng (PO) và trình ký qua luồng Groupware phê duyệt.</a:t>
                </a:r>
                <a:endParaRPr sz="1000">
                  <a:solidFill>
                    <a:srgbClr val="475569"/>
                  </a:solidFill>
                  <a:latin typeface="Inter"/>
                  <a:ea typeface="Inter"/>
                  <a:cs typeface="Inter"/>
                  <a:sym typeface="Inter"/>
                </a:endParaRPr>
              </a:p>
            </p:txBody>
          </p:sp>
          <p:sp>
            <p:nvSpPr>
              <p:cNvPr id="344" name="Google Shape;344;p22"/>
              <p:cNvSpPr txBox="1"/>
              <p:nvPr/>
            </p:nvSpPr>
            <p:spPr>
              <a:xfrm>
                <a:off x="609600"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assignment_turned_in</a:t>
                </a:r>
                <a:endParaRPr sz="2400">
                  <a:solidFill>
                    <a:srgbClr val="8BC249"/>
                  </a:solidFill>
                  <a:latin typeface="Material Icons"/>
                  <a:ea typeface="Material Icons"/>
                  <a:cs typeface="Material Icons"/>
                  <a:sym typeface="Material Icons"/>
                </a:endParaRPr>
              </a:p>
            </p:txBody>
          </p:sp>
        </p:grpSp>
        <p:grpSp>
          <p:nvGrpSpPr>
            <p:cNvPr id="345" name="Google Shape;345;p22"/>
            <p:cNvGrpSpPr/>
            <p:nvPr/>
          </p:nvGrpSpPr>
          <p:grpSpPr>
            <a:xfrm>
              <a:off x="5572125" y="1143000"/>
              <a:ext cx="1600200" cy="3238500"/>
              <a:chOff x="0" y="0"/>
              <a:chExt cx="1600200" cy="3238500"/>
            </a:xfrm>
          </p:grpSpPr>
          <p:sp>
            <p:nvSpPr>
              <p:cNvPr id="346" name="Google Shape;346;p22"/>
              <p:cNvSpPr/>
              <p:nvPr/>
            </p:nvSpPr>
            <p:spPr>
              <a:xfrm>
                <a:off x="0" y="0"/>
                <a:ext cx="1600200" cy="32385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p:nvPr/>
            </p:nvSpPr>
            <p:spPr>
              <a:xfrm>
                <a:off x="0" y="0"/>
                <a:ext cx="1600200" cy="571500"/>
              </a:xfrm>
              <a:prstGeom prst="roundRect">
                <a:avLst>
                  <a:gd fmla="val 2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2"/>
              <p:cNvSpPr txBox="1"/>
              <p:nvPr/>
            </p:nvSpPr>
            <p:spPr>
              <a:xfrm>
                <a:off x="142875" y="666750"/>
                <a:ext cx="13146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vi" sz="1200">
                    <a:solidFill>
                      <a:srgbClr val="0F172A"/>
                    </a:solidFill>
                    <a:latin typeface="Inter"/>
                    <a:ea typeface="Inter"/>
                    <a:cs typeface="Inter"/>
                    <a:sym typeface="Inter"/>
                  </a:rPr>
                  <a:t>4. Theo dõi Giao hàng</a:t>
                </a:r>
                <a:endParaRPr b="1" sz="1200">
                  <a:solidFill>
                    <a:srgbClr val="0F172A"/>
                  </a:solidFill>
                  <a:latin typeface="Inter"/>
                  <a:ea typeface="Inter"/>
                  <a:cs typeface="Inter"/>
                  <a:sym typeface="Inter"/>
                </a:endParaRPr>
              </a:p>
              <a:p>
                <a:pPr indent="0" lvl="0" marL="0" rtl="0" algn="l">
                  <a:spcBef>
                    <a:spcPts val="900"/>
                  </a:spcBef>
                  <a:spcAft>
                    <a:spcPts val="0"/>
                  </a:spcAft>
                  <a:buNone/>
                </a:pPr>
                <a:r>
                  <a:rPr lang="vi" sz="1000">
                    <a:solidFill>
                      <a:srgbClr val="475569"/>
                    </a:solidFill>
                    <a:latin typeface="Inter"/>
                    <a:ea typeface="Inter"/>
                    <a:cs typeface="Inter"/>
                    <a:sym typeface="Inter"/>
                  </a:rPr>
                  <a:t>Giám sát tiến độ về kho (Lead-time) và thực hiện kiểm định chất lượng (IQC).</a:t>
                </a:r>
                <a:endParaRPr sz="1000">
                  <a:solidFill>
                    <a:srgbClr val="475569"/>
                  </a:solidFill>
                  <a:latin typeface="Inter"/>
                  <a:ea typeface="Inter"/>
                  <a:cs typeface="Inter"/>
                  <a:sym typeface="Inter"/>
                </a:endParaRPr>
              </a:p>
            </p:txBody>
          </p:sp>
          <p:sp>
            <p:nvSpPr>
              <p:cNvPr id="349" name="Google Shape;349;p22"/>
              <p:cNvSpPr txBox="1"/>
              <p:nvPr/>
            </p:nvSpPr>
            <p:spPr>
              <a:xfrm>
                <a:off x="609600"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local_shipping</a:t>
                </a:r>
                <a:endParaRPr sz="2400">
                  <a:solidFill>
                    <a:srgbClr val="8BC249"/>
                  </a:solidFill>
                  <a:latin typeface="Material Icons"/>
                  <a:ea typeface="Material Icons"/>
                  <a:cs typeface="Material Icons"/>
                  <a:sym typeface="Material Icons"/>
                </a:endParaRPr>
              </a:p>
            </p:txBody>
          </p:sp>
        </p:grpSp>
        <p:grpSp>
          <p:nvGrpSpPr>
            <p:cNvPr id="350" name="Google Shape;350;p22"/>
            <p:cNvGrpSpPr/>
            <p:nvPr/>
          </p:nvGrpSpPr>
          <p:grpSpPr>
            <a:xfrm>
              <a:off x="7286625" y="1143000"/>
              <a:ext cx="1428900" cy="3238500"/>
              <a:chOff x="0" y="0"/>
              <a:chExt cx="1428900" cy="3238500"/>
            </a:xfrm>
          </p:grpSpPr>
          <p:sp>
            <p:nvSpPr>
              <p:cNvPr id="351" name="Google Shape;351;p22"/>
              <p:cNvSpPr/>
              <p:nvPr/>
            </p:nvSpPr>
            <p:spPr>
              <a:xfrm>
                <a:off x="0" y="0"/>
                <a:ext cx="1428900" cy="32385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2"/>
              <p:cNvSpPr/>
              <p:nvPr/>
            </p:nvSpPr>
            <p:spPr>
              <a:xfrm>
                <a:off x="0" y="0"/>
                <a:ext cx="1428900" cy="571500"/>
              </a:xfrm>
              <a:prstGeom prst="roundRect">
                <a:avLst>
                  <a:gd fmla="val 2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2"/>
              <p:cNvSpPr txBox="1"/>
              <p:nvPr/>
            </p:nvSpPr>
            <p:spPr>
              <a:xfrm>
                <a:off x="142875" y="666750"/>
                <a:ext cx="1143000" cy="2476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vi" sz="1200">
                    <a:solidFill>
                      <a:srgbClr val="0F172A"/>
                    </a:solidFill>
                    <a:latin typeface="Inter"/>
                    <a:ea typeface="Inter"/>
                    <a:cs typeface="Inter"/>
                    <a:sym typeface="Inter"/>
                  </a:rPr>
                  <a:t>5. Nhập kho &amp; QL Kho</a:t>
                </a:r>
                <a:endParaRPr b="1" sz="1200">
                  <a:solidFill>
                    <a:srgbClr val="0F172A"/>
                  </a:solidFill>
                  <a:latin typeface="Inter"/>
                  <a:ea typeface="Inter"/>
                  <a:cs typeface="Inter"/>
                  <a:sym typeface="Inter"/>
                </a:endParaRPr>
              </a:p>
              <a:p>
                <a:pPr indent="0" lvl="0" marL="0" rtl="0" algn="l">
                  <a:spcBef>
                    <a:spcPts val="900"/>
                  </a:spcBef>
                  <a:spcAft>
                    <a:spcPts val="0"/>
                  </a:spcAft>
                  <a:buNone/>
                </a:pPr>
                <a:r>
                  <a:rPr lang="vi" sz="1000">
                    <a:solidFill>
                      <a:srgbClr val="475569"/>
                    </a:solidFill>
                    <a:latin typeface="Inter"/>
                    <a:ea typeface="Inter"/>
                    <a:cs typeface="Inter"/>
                    <a:sym typeface="Inter"/>
                  </a:rPr>
                  <a:t>Hoàn tất nhập hàng, quản lý số lô (Lot) và đối chiếu hóa đơn thanh toán.</a:t>
                </a:r>
                <a:endParaRPr sz="1000">
                  <a:solidFill>
                    <a:srgbClr val="475569"/>
                  </a:solidFill>
                  <a:latin typeface="Inter"/>
                  <a:ea typeface="Inter"/>
                  <a:cs typeface="Inter"/>
                  <a:sym typeface="Inter"/>
                </a:endParaRPr>
              </a:p>
            </p:txBody>
          </p:sp>
          <p:sp>
            <p:nvSpPr>
              <p:cNvPr id="354" name="Google Shape;354;p22"/>
              <p:cNvSpPr txBox="1"/>
              <p:nvPr/>
            </p:nvSpPr>
            <p:spPr>
              <a:xfrm>
                <a:off x="523875"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warehouse</a:t>
                </a:r>
                <a:endParaRPr sz="2400">
                  <a:solidFill>
                    <a:srgbClr val="8BC249"/>
                  </a:solidFill>
                  <a:latin typeface="Material Icons"/>
                  <a:ea typeface="Material Icons"/>
                  <a:cs typeface="Material Icons"/>
                  <a:sym typeface="Material Icons"/>
                </a:endParaRPr>
              </a:p>
            </p:txBody>
          </p:sp>
        </p:grpSp>
      </p:grpSp>
      <p:grpSp>
        <p:nvGrpSpPr>
          <p:cNvPr id="355" name="Google Shape;355;p22"/>
          <p:cNvGrpSpPr/>
          <p:nvPr/>
        </p:nvGrpSpPr>
        <p:grpSpPr>
          <a:xfrm>
            <a:off x="2028825" y="2705100"/>
            <a:ext cx="5267250" cy="114300"/>
            <a:chOff x="2028825" y="2705100"/>
            <a:chExt cx="5267250" cy="114300"/>
          </a:xfrm>
        </p:grpSpPr>
        <p:pic>
          <p:nvPicPr>
            <p:cNvPr id="356" name="Google Shape;356;p22"/>
            <p:cNvPicPr preferRelativeResize="0"/>
            <p:nvPr/>
          </p:nvPicPr>
          <p:blipFill rotWithShape="1">
            <a:blip r:embed="rId4">
              <a:alphaModFix/>
            </a:blip>
            <a:srcRect b="0" l="0" r="0" t="0"/>
            <a:stretch/>
          </p:blipFill>
          <p:spPr>
            <a:xfrm>
              <a:off x="2028825" y="2752725"/>
              <a:ext cx="114300" cy="19200"/>
            </a:xfrm>
            <a:prstGeom prst="rect">
              <a:avLst/>
            </a:prstGeom>
            <a:noFill/>
            <a:ln>
              <a:noFill/>
            </a:ln>
          </p:spPr>
        </p:pic>
        <p:pic>
          <p:nvPicPr>
            <p:cNvPr id="357" name="Google Shape;357;p22"/>
            <p:cNvPicPr preferRelativeResize="0"/>
            <p:nvPr/>
          </p:nvPicPr>
          <p:blipFill rotWithShape="1">
            <a:blip r:embed="rId5">
              <a:alphaModFix/>
            </a:blip>
            <a:srcRect b="0" l="0" r="0" t="0"/>
            <a:stretch/>
          </p:blipFill>
          <p:spPr>
            <a:xfrm>
              <a:off x="2085975" y="2705100"/>
              <a:ext cx="66600" cy="114300"/>
            </a:xfrm>
            <a:prstGeom prst="rect">
              <a:avLst/>
            </a:prstGeom>
            <a:noFill/>
            <a:ln>
              <a:noFill/>
            </a:ln>
          </p:spPr>
        </p:pic>
        <p:pic>
          <p:nvPicPr>
            <p:cNvPr id="358" name="Google Shape;358;p22"/>
            <p:cNvPicPr preferRelativeResize="0"/>
            <p:nvPr/>
          </p:nvPicPr>
          <p:blipFill rotWithShape="1">
            <a:blip r:embed="rId4">
              <a:alphaModFix/>
            </a:blip>
            <a:srcRect b="0" l="0" r="0" t="0"/>
            <a:stretch/>
          </p:blipFill>
          <p:spPr>
            <a:xfrm>
              <a:off x="3743325" y="2752725"/>
              <a:ext cx="114300" cy="19200"/>
            </a:xfrm>
            <a:prstGeom prst="rect">
              <a:avLst/>
            </a:prstGeom>
            <a:noFill/>
            <a:ln>
              <a:noFill/>
            </a:ln>
          </p:spPr>
        </p:pic>
        <p:pic>
          <p:nvPicPr>
            <p:cNvPr id="359" name="Google Shape;359;p22"/>
            <p:cNvPicPr preferRelativeResize="0"/>
            <p:nvPr/>
          </p:nvPicPr>
          <p:blipFill rotWithShape="1">
            <a:blip r:embed="rId6">
              <a:alphaModFix/>
            </a:blip>
            <a:srcRect b="0" l="0" r="0" t="0"/>
            <a:stretch/>
          </p:blipFill>
          <p:spPr>
            <a:xfrm>
              <a:off x="3800475" y="2705100"/>
              <a:ext cx="66600" cy="114300"/>
            </a:xfrm>
            <a:prstGeom prst="rect">
              <a:avLst/>
            </a:prstGeom>
            <a:noFill/>
            <a:ln>
              <a:noFill/>
            </a:ln>
          </p:spPr>
        </p:pic>
        <p:pic>
          <p:nvPicPr>
            <p:cNvPr id="360" name="Google Shape;360;p22"/>
            <p:cNvPicPr preferRelativeResize="0"/>
            <p:nvPr/>
          </p:nvPicPr>
          <p:blipFill rotWithShape="1">
            <a:blip r:embed="rId4">
              <a:alphaModFix/>
            </a:blip>
            <a:srcRect b="0" l="0" r="0" t="0"/>
            <a:stretch/>
          </p:blipFill>
          <p:spPr>
            <a:xfrm>
              <a:off x="5457825" y="2752725"/>
              <a:ext cx="114300" cy="19200"/>
            </a:xfrm>
            <a:prstGeom prst="rect">
              <a:avLst/>
            </a:prstGeom>
            <a:noFill/>
            <a:ln>
              <a:noFill/>
            </a:ln>
          </p:spPr>
        </p:pic>
        <p:pic>
          <p:nvPicPr>
            <p:cNvPr id="361" name="Google Shape;361;p22"/>
            <p:cNvPicPr preferRelativeResize="0"/>
            <p:nvPr/>
          </p:nvPicPr>
          <p:blipFill rotWithShape="1">
            <a:blip r:embed="rId6">
              <a:alphaModFix/>
            </a:blip>
            <a:srcRect b="0" l="0" r="0" t="0"/>
            <a:stretch/>
          </p:blipFill>
          <p:spPr>
            <a:xfrm>
              <a:off x="5514975" y="2705100"/>
              <a:ext cx="66600" cy="114300"/>
            </a:xfrm>
            <a:prstGeom prst="rect">
              <a:avLst/>
            </a:prstGeom>
            <a:noFill/>
            <a:ln>
              <a:noFill/>
            </a:ln>
          </p:spPr>
        </p:pic>
        <p:pic>
          <p:nvPicPr>
            <p:cNvPr id="362" name="Google Shape;362;p22"/>
            <p:cNvPicPr preferRelativeResize="0"/>
            <p:nvPr/>
          </p:nvPicPr>
          <p:blipFill rotWithShape="1">
            <a:blip r:embed="rId4">
              <a:alphaModFix/>
            </a:blip>
            <a:srcRect b="0" l="0" r="0" t="0"/>
            <a:stretch/>
          </p:blipFill>
          <p:spPr>
            <a:xfrm>
              <a:off x="7172325" y="2752725"/>
              <a:ext cx="114300" cy="19200"/>
            </a:xfrm>
            <a:prstGeom prst="rect">
              <a:avLst/>
            </a:prstGeom>
            <a:noFill/>
            <a:ln>
              <a:noFill/>
            </a:ln>
          </p:spPr>
        </p:pic>
        <p:pic>
          <p:nvPicPr>
            <p:cNvPr id="363" name="Google Shape;363;p22"/>
            <p:cNvPicPr preferRelativeResize="0"/>
            <p:nvPr/>
          </p:nvPicPr>
          <p:blipFill rotWithShape="1">
            <a:blip r:embed="rId6">
              <a:alphaModFix/>
            </a:blip>
            <a:srcRect b="0" l="0" r="0" t="0"/>
            <a:stretch/>
          </p:blipFill>
          <p:spPr>
            <a:xfrm>
              <a:off x="7229475" y="2705100"/>
              <a:ext cx="66600" cy="1143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7" name="Shape 367"/>
        <p:cNvGrpSpPr/>
        <p:nvPr/>
      </p:nvGrpSpPr>
      <p:grpSpPr>
        <a:xfrm>
          <a:off x="0" y="0"/>
          <a:ext cx="0" cy="0"/>
          <a:chOff x="0" y="0"/>
          <a:chExt cx="0" cy="0"/>
        </a:xfrm>
      </p:grpSpPr>
      <p:sp>
        <p:nvSpPr>
          <p:cNvPr id="368" name="Google Shape;368;p23"/>
          <p:cNvSpPr txBox="1"/>
          <p:nvPr/>
        </p:nvSpPr>
        <p:spPr>
          <a:xfrm>
            <a:off x="571500" y="285750"/>
            <a:ext cx="8143800" cy="427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vi" sz="1018">
                <a:solidFill>
                  <a:srgbClr val="8BC249"/>
                </a:solidFill>
                <a:latin typeface="Montserrat SemiBold"/>
                <a:ea typeface="Montserrat SemiBold"/>
                <a:cs typeface="Montserrat SemiBold"/>
                <a:sym typeface="Montserrat SemiBold"/>
              </a:rPr>
              <a:t>VIETNAM PURCHASE TEAM</a:t>
            </a:r>
            <a:endParaRPr b="0" sz="1018">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1758">
                <a:solidFill>
                  <a:srgbClr val="0F172A"/>
                </a:solidFill>
                <a:latin typeface="Montserrat"/>
                <a:ea typeface="Montserrat"/>
                <a:cs typeface="Montserrat"/>
                <a:sym typeface="Montserrat"/>
              </a:rPr>
              <a:t>KHÓ KHĂN &amp; HẠN CHẾ HIỆN TẠI</a:t>
            </a:r>
            <a:endParaRPr b="0" sz="1018">
              <a:solidFill>
                <a:srgbClr val="8BC249"/>
              </a:solidFill>
              <a:latin typeface="Montserrat SemiBold"/>
              <a:ea typeface="Montserrat SemiBold"/>
              <a:cs typeface="Montserrat SemiBold"/>
              <a:sym typeface="Montserrat SemiBold"/>
            </a:endParaRPr>
          </a:p>
        </p:txBody>
      </p:sp>
      <p:sp>
        <p:nvSpPr>
          <p:cNvPr id="369" name="Google Shape;369;p23"/>
          <p:cNvSpPr/>
          <p:nvPr/>
        </p:nvSpPr>
        <p:spPr>
          <a:xfrm>
            <a:off x="428625" y="285750"/>
            <a:ext cx="57300" cy="428700"/>
          </a:xfrm>
          <a:prstGeom prst="rect">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3"/>
          <p:cNvSpPr txBox="1"/>
          <p:nvPr/>
        </p:nvSpPr>
        <p:spPr>
          <a:xfrm>
            <a:off x="428625" y="857250"/>
            <a:ext cx="8286900" cy="215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vi" sz="1400">
                <a:solidFill>
                  <a:srgbClr val="475569"/>
                </a:solidFill>
                <a:latin typeface="Inter Medium"/>
                <a:ea typeface="Inter Medium"/>
                <a:cs typeface="Inter Medium"/>
                <a:sym typeface="Inter Medium"/>
              </a:rPr>
              <a:t>Hệ thống hiện tại chưa hỗ trợ ra quyết định mua hàng thông minh, cảnh báo nhân viên.</a:t>
            </a:r>
            <a:endParaRPr b="0" sz="1400">
              <a:solidFill>
                <a:srgbClr val="475569"/>
              </a:solidFill>
              <a:latin typeface="Inter Medium"/>
              <a:ea typeface="Inter Medium"/>
              <a:cs typeface="Inter Medium"/>
              <a:sym typeface="Inter Medium"/>
            </a:endParaRPr>
          </a:p>
        </p:txBody>
      </p:sp>
      <p:grpSp>
        <p:nvGrpSpPr>
          <p:cNvPr id="371" name="Google Shape;371;p23"/>
          <p:cNvGrpSpPr/>
          <p:nvPr/>
        </p:nvGrpSpPr>
        <p:grpSpPr>
          <a:xfrm>
            <a:off x="428625" y="1238250"/>
            <a:ext cx="8286900" cy="904136"/>
            <a:chOff x="428625" y="1238250"/>
            <a:chExt cx="8286900" cy="904136"/>
          </a:xfrm>
        </p:grpSpPr>
        <p:sp>
          <p:nvSpPr>
            <p:cNvPr id="372" name="Google Shape;372;p23"/>
            <p:cNvSpPr/>
            <p:nvPr/>
          </p:nvSpPr>
          <p:spPr>
            <a:xfrm>
              <a:off x="428625" y="1238250"/>
              <a:ext cx="8286900" cy="857400"/>
            </a:xfrm>
            <a:prstGeom prst="roundRect">
              <a:avLst>
                <a:gd fmla="val 13333" name="adj"/>
              </a:avLst>
            </a:prstGeom>
            <a:solidFill>
              <a:srgbClr val="FEF2F2"/>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txBox="1"/>
            <p:nvPr/>
          </p:nvSpPr>
          <p:spPr>
            <a:xfrm>
              <a:off x="619125" y="1284986"/>
              <a:ext cx="5715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3200">
                  <a:solidFill>
                    <a:srgbClr val="B91C1C"/>
                  </a:solidFill>
                  <a:latin typeface="Material Icons"/>
                  <a:ea typeface="Material Icons"/>
                  <a:cs typeface="Material Icons"/>
                  <a:sym typeface="Material Icons"/>
                </a:rPr>
                <a:t>report_problem</a:t>
              </a:r>
              <a:endParaRPr sz="3200">
                <a:solidFill>
                  <a:srgbClr val="B91C1C"/>
                </a:solidFill>
                <a:latin typeface="Material Icons"/>
                <a:ea typeface="Material Icons"/>
                <a:cs typeface="Material Icons"/>
                <a:sym typeface="Material Icons"/>
              </a:endParaRPr>
            </a:p>
          </p:txBody>
        </p:sp>
        <p:sp>
          <p:nvSpPr>
            <p:cNvPr id="374" name="Google Shape;374;p23"/>
            <p:cNvSpPr txBox="1"/>
            <p:nvPr/>
          </p:nvSpPr>
          <p:spPr>
            <a:xfrm>
              <a:off x="1285875" y="1238250"/>
              <a:ext cx="7239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600">
                  <a:solidFill>
                    <a:srgbClr val="991B1B"/>
                  </a:solidFill>
                  <a:latin typeface="Inter"/>
                  <a:ea typeface="Inter"/>
                  <a:cs typeface="Inter"/>
                  <a:sym typeface="Inter"/>
                </a:rPr>
                <a:t>Không có chức năng tính toán PO</a:t>
              </a:r>
              <a:endParaRPr b="1" sz="1600">
                <a:solidFill>
                  <a:srgbClr val="991B1B"/>
                </a:solidFill>
                <a:latin typeface="Inter"/>
                <a:ea typeface="Inter"/>
                <a:cs typeface="Inter"/>
                <a:sym typeface="Inter"/>
              </a:endParaRPr>
            </a:p>
            <a:p>
              <a:pPr indent="0" lvl="0" marL="0" rtl="0" algn="l">
                <a:spcBef>
                  <a:spcPts val="300"/>
                </a:spcBef>
                <a:spcAft>
                  <a:spcPts val="0"/>
                </a:spcAft>
                <a:buNone/>
              </a:pPr>
              <a:r>
                <a:rPr lang="vi" sz="1100">
                  <a:solidFill>
                    <a:srgbClr val="7F1D1D"/>
                  </a:solidFill>
                  <a:latin typeface="Inter"/>
                  <a:ea typeface="Inter"/>
                  <a:cs typeface="Inter"/>
                  <a:sym typeface="Inter"/>
                </a:rPr>
                <a:t>Thiếu tính năng tính PO dựa trên Kế hoạch sản xuất, Tồn kho và BOM. Nhân viên phải thực hiện thủ công ngoài hệ thống.</a:t>
              </a:r>
              <a:endParaRPr sz="1100">
                <a:solidFill>
                  <a:srgbClr val="7F1D1D"/>
                </a:solidFill>
                <a:latin typeface="Inter"/>
                <a:ea typeface="Inter"/>
                <a:cs typeface="Inter"/>
                <a:sym typeface="Inter"/>
              </a:endParaRPr>
            </a:p>
          </p:txBody>
        </p:sp>
      </p:grpSp>
      <p:grpSp>
        <p:nvGrpSpPr>
          <p:cNvPr id="375" name="Google Shape;375;p23"/>
          <p:cNvGrpSpPr/>
          <p:nvPr/>
        </p:nvGrpSpPr>
        <p:grpSpPr>
          <a:xfrm>
            <a:off x="428625" y="2286000"/>
            <a:ext cx="2571900" cy="2667000"/>
            <a:chOff x="428625" y="2286000"/>
            <a:chExt cx="2571900" cy="2667000"/>
          </a:xfrm>
        </p:grpSpPr>
        <p:sp>
          <p:nvSpPr>
            <p:cNvPr id="376" name="Google Shape;376;p23"/>
            <p:cNvSpPr/>
            <p:nvPr/>
          </p:nvSpPr>
          <p:spPr>
            <a:xfrm>
              <a:off x="428625" y="2286000"/>
              <a:ext cx="2571900" cy="26670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3"/>
            <p:cNvSpPr/>
            <p:nvPr/>
          </p:nvSpPr>
          <p:spPr>
            <a:xfrm>
              <a:off x="428625" y="2286000"/>
              <a:ext cx="2571900" cy="476400"/>
            </a:xfrm>
            <a:prstGeom prst="roundRect">
              <a:avLst>
                <a:gd fmla="val 24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3"/>
            <p:cNvSpPr txBox="1"/>
            <p:nvPr/>
          </p:nvSpPr>
          <p:spPr>
            <a:xfrm>
              <a:off x="619125" y="2286000"/>
              <a:ext cx="2190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300">
                  <a:solidFill>
                    <a:srgbClr val="991B1B"/>
                  </a:solidFill>
                  <a:latin typeface="Inter"/>
                  <a:ea typeface="Inter"/>
                  <a:cs typeface="Inter"/>
                  <a:sym typeface="Inter"/>
                </a:rPr>
                <a:t>Excel &amp; Thủ công</a:t>
              </a:r>
              <a:endParaRPr b="1" sz="1300">
                <a:solidFill>
                  <a:srgbClr val="991B1B"/>
                </a:solidFill>
                <a:latin typeface="Inter"/>
                <a:ea typeface="Inter"/>
                <a:cs typeface="Inter"/>
                <a:sym typeface="Inter"/>
              </a:endParaRPr>
            </a:p>
          </p:txBody>
        </p:sp>
        <p:sp>
          <p:nvSpPr>
            <p:cNvPr id="379" name="Google Shape;379;p23"/>
            <p:cNvSpPr txBox="1"/>
            <p:nvPr/>
          </p:nvSpPr>
          <p:spPr>
            <a:xfrm>
              <a:off x="619125" y="2857500"/>
              <a:ext cx="2190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050">
                  <a:solidFill>
                    <a:srgbClr val="0F172A"/>
                  </a:solidFill>
                  <a:latin typeface="Inter SemiBold"/>
                  <a:ea typeface="Inter SemiBold"/>
                  <a:cs typeface="Inter SemiBold"/>
                  <a:sym typeface="Inter SemiBold"/>
                </a:rPr>
                <a:t>Phụ thuộc nặng nề vào Excel</a:t>
              </a:r>
              <a:endParaRPr b="0" sz="1050">
                <a:solidFill>
                  <a:srgbClr val="0F172A"/>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lang="vi" sz="1050">
                  <a:solidFill>
                    <a:srgbClr val="475569"/>
                  </a:solidFill>
                  <a:latin typeface="Inter"/>
                  <a:ea typeface="Inter"/>
                  <a:cs typeface="Inter"/>
                  <a:sym typeface="Inter"/>
                </a:rPr>
                <a:t>Bóc tách BOM và tính toán Net Requirement phức tạp.</a:t>
              </a:r>
              <a:endParaRPr sz="1050">
                <a:solidFill>
                  <a:srgbClr val="475569"/>
                </a:solidFill>
                <a:latin typeface="Inter"/>
                <a:ea typeface="Inter"/>
                <a:cs typeface="Inter"/>
                <a:sym typeface="Inter"/>
              </a:endParaRPr>
            </a:p>
            <a:p>
              <a:pPr indent="-295275" lvl="0" marL="457200" rtl="0" algn="l">
                <a:spcBef>
                  <a:spcPts val="750"/>
                </a:spcBef>
                <a:spcAft>
                  <a:spcPts val="750"/>
                </a:spcAft>
                <a:buClr>
                  <a:srgbClr val="475569"/>
                </a:buClr>
                <a:buSzPts val="1050"/>
                <a:buFont typeface="Inter"/>
                <a:buChar char="●"/>
              </a:pPr>
              <a:r>
                <a:rPr lang="vi" sz="1050">
                  <a:solidFill>
                    <a:srgbClr val="475569"/>
                  </a:solidFill>
                  <a:latin typeface="Inter"/>
                  <a:ea typeface="Inter"/>
                  <a:cs typeface="Inter"/>
                  <a:sym typeface="Inter"/>
                </a:rPr>
                <a:t>Rủi ro sai sót dữ liệu và tốn nhiều thời gian xử lý.</a:t>
              </a:r>
              <a:endParaRPr sz="1050">
                <a:solidFill>
                  <a:srgbClr val="475569"/>
                </a:solidFill>
                <a:latin typeface="Inter"/>
                <a:ea typeface="Inter"/>
                <a:cs typeface="Inter"/>
                <a:sym typeface="Inter"/>
              </a:endParaRPr>
            </a:p>
          </p:txBody>
        </p:sp>
      </p:grpSp>
      <p:grpSp>
        <p:nvGrpSpPr>
          <p:cNvPr id="380" name="Google Shape;380;p23"/>
          <p:cNvGrpSpPr/>
          <p:nvPr/>
        </p:nvGrpSpPr>
        <p:grpSpPr>
          <a:xfrm>
            <a:off x="3286125" y="2286000"/>
            <a:ext cx="2571900" cy="2667000"/>
            <a:chOff x="3286125" y="2286000"/>
            <a:chExt cx="2571900" cy="2667000"/>
          </a:xfrm>
        </p:grpSpPr>
        <p:sp>
          <p:nvSpPr>
            <p:cNvPr id="381" name="Google Shape;381;p23"/>
            <p:cNvSpPr/>
            <p:nvPr/>
          </p:nvSpPr>
          <p:spPr>
            <a:xfrm>
              <a:off x="3286125" y="2286000"/>
              <a:ext cx="2571900" cy="26670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3"/>
            <p:cNvSpPr/>
            <p:nvPr/>
          </p:nvSpPr>
          <p:spPr>
            <a:xfrm>
              <a:off x="3286125" y="2286000"/>
              <a:ext cx="2571900" cy="476400"/>
            </a:xfrm>
            <a:prstGeom prst="roundRect">
              <a:avLst>
                <a:gd fmla="val 24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3"/>
            <p:cNvSpPr txBox="1"/>
            <p:nvPr/>
          </p:nvSpPr>
          <p:spPr>
            <a:xfrm>
              <a:off x="3476625" y="2286000"/>
              <a:ext cx="2190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300">
                  <a:solidFill>
                    <a:srgbClr val="991B1B"/>
                  </a:solidFill>
                  <a:latin typeface="Inter"/>
                  <a:ea typeface="Inter"/>
                  <a:cs typeface="Inter"/>
                  <a:sym typeface="Inter"/>
                </a:rPr>
                <a:t>Dữ liệu rời rạc</a:t>
              </a:r>
              <a:endParaRPr b="1" sz="1300">
                <a:solidFill>
                  <a:srgbClr val="991B1B"/>
                </a:solidFill>
                <a:latin typeface="Inter"/>
                <a:ea typeface="Inter"/>
                <a:cs typeface="Inter"/>
                <a:sym typeface="Inter"/>
              </a:endParaRPr>
            </a:p>
          </p:txBody>
        </p:sp>
        <p:sp>
          <p:nvSpPr>
            <p:cNvPr id="384" name="Google Shape;384;p23"/>
            <p:cNvSpPr txBox="1"/>
            <p:nvPr/>
          </p:nvSpPr>
          <p:spPr>
            <a:xfrm>
              <a:off x="3476625" y="2857500"/>
              <a:ext cx="2190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050">
                  <a:solidFill>
                    <a:srgbClr val="0F172A"/>
                  </a:solidFill>
                  <a:latin typeface="Inter SemiBold"/>
                  <a:ea typeface="Inter SemiBold"/>
                  <a:cs typeface="Inter SemiBold"/>
                  <a:sym typeface="Inter SemiBold"/>
                </a:rPr>
                <a:t>Thiếu tính liên thông</a:t>
              </a:r>
              <a:endParaRPr b="0" sz="1050">
                <a:solidFill>
                  <a:srgbClr val="0F172A"/>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lang="vi" sz="1050">
                  <a:solidFill>
                    <a:srgbClr val="475569"/>
                  </a:solidFill>
                  <a:latin typeface="Inter"/>
                  <a:ea typeface="Inter"/>
                  <a:cs typeface="Inter"/>
                  <a:sym typeface="Inter"/>
                </a:rPr>
                <a:t>MES và tồn kho không đồng bộ với Thu mua.</a:t>
              </a:r>
              <a:endParaRPr sz="1050">
                <a:solidFill>
                  <a:srgbClr val="475569"/>
                </a:solidFill>
                <a:latin typeface="Inter"/>
                <a:ea typeface="Inter"/>
                <a:cs typeface="Inter"/>
                <a:sym typeface="Inter"/>
              </a:endParaRPr>
            </a:p>
            <a:p>
              <a:pPr indent="-295275" lvl="0" marL="457200" rtl="0" algn="l">
                <a:spcBef>
                  <a:spcPts val="750"/>
                </a:spcBef>
                <a:spcAft>
                  <a:spcPts val="750"/>
                </a:spcAft>
                <a:buClr>
                  <a:srgbClr val="475569"/>
                </a:buClr>
                <a:buSzPts val="1050"/>
                <a:buFont typeface="Inter"/>
                <a:buChar char="●"/>
              </a:pPr>
              <a:r>
                <a:rPr lang="vi" sz="1050">
                  <a:solidFill>
                    <a:srgbClr val="475569"/>
                  </a:solidFill>
                  <a:latin typeface="Inter"/>
                  <a:ea typeface="Inter"/>
                  <a:cs typeface="Inter"/>
                  <a:sym typeface="Inter"/>
                </a:rPr>
                <a:t>Khó kiểm soát giá thành và lịch sử giá nhà cung cấp.</a:t>
              </a:r>
              <a:endParaRPr sz="1050">
                <a:solidFill>
                  <a:srgbClr val="475569"/>
                </a:solidFill>
                <a:latin typeface="Inter"/>
                <a:ea typeface="Inter"/>
                <a:cs typeface="Inter"/>
                <a:sym typeface="Inter"/>
              </a:endParaRPr>
            </a:p>
          </p:txBody>
        </p:sp>
      </p:grpSp>
      <p:grpSp>
        <p:nvGrpSpPr>
          <p:cNvPr id="385" name="Google Shape;385;p23"/>
          <p:cNvGrpSpPr/>
          <p:nvPr/>
        </p:nvGrpSpPr>
        <p:grpSpPr>
          <a:xfrm>
            <a:off x="6143625" y="2286000"/>
            <a:ext cx="2571900" cy="2667000"/>
            <a:chOff x="6143625" y="2286000"/>
            <a:chExt cx="2571900" cy="2667000"/>
          </a:xfrm>
        </p:grpSpPr>
        <p:sp>
          <p:nvSpPr>
            <p:cNvPr id="386" name="Google Shape;386;p23"/>
            <p:cNvSpPr/>
            <p:nvPr/>
          </p:nvSpPr>
          <p:spPr>
            <a:xfrm>
              <a:off x="6143625" y="2286000"/>
              <a:ext cx="2571900" cy="26670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3"/>
            <p:cNvSpPr/>
            <p:nvPr/>
          </p:nvSpPr>
          <p:spPr>
            <a:xfrm>
              <a:off x="6143625" y="2286000"/>
              <a:ext cx="2571900" cy="476400"/>
            </a:xfrm>
            <a:prstGeom prst="roundRect">
              <a:avLst>
                <a:gd fmla="val 24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3"/>
            <p:cNvSpPr txBox="1"/>
            <p:nvPr/>
          </p:nvSpPr>
          <p:spPr>
            <a:xfrm>
              <a:off x="6334125" y="2286000"/>
              <a:ext cx="2190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300">
                  <a:solidFill>
                    <a:srgbClr val="991B1B"/>
                  </a:solidFill>
                  <a:latin typeface="Inter"/>
                  <a:ea typeface="Inter"/>
                  <a:cs typeface="Inter"/>
                  <a:sym typeface="Inter"/>
                </a:rPr>
                <a:t>Phê duyệt &amp; Cảnh báo</a:t>
              </a:r>
              <a:endParaRPr b="1" sz="1300">
                <a:solidFill>
                  <a:srgbClr val="991B1B"/>
                </a:solidFill>
                <a:latin typeface="Inter"/>
                <a:ea typeface="Inter"/>
                <a:cs typeface="Inter"/>
                <a:sym typeface="Inter"/>
              </a:endParaRPr>
            </a:p>
          </p:txBody>
        </p:sp>
        <p:sp>
          <p:nvSpPr>
            <p:cNvPr id="389" name="Google Shape;389;p23"/>
            <p:cNvSpPr txBox="1"/>
            <p:nvPr/>
          </p:nvSpPr>
          <p:spPr>
            <a:xfrm>
              <a:off x="6334125" y="2857500"/>
              <a:ext cx="2190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050">
                  <a:solidFill>
                    <a:srgbClr val="0F172A"/>
                  </a:solidFill>
                  <a:latin typeface="Inter SemiBold"/>
                  <a:ea typeface="Inter SemiBold"/>
                  <a:cs typeface="Inter SemiBold"/>
                  <a:sym typeface="Inter SemiBold"/>
                </a:rPr>
                <a:t>Nút thắt quy trình</a:t>
              </a:r>
              <a:endParaRPr b="0" sz="1050">
                <a:solidFill>
                  <a:srgbClr val="0F172A"/>
                </a:solidFill>
                <a:latin typeface="Inter SemiBold"/>
                <a:ea typeface="Inter SemiBold"/>
                <a:cs typeface="Inter SemiBold"/>
                <a:sym typeface="Inter SemiBold"/>
              </a:endParaRPr>
            </a:p>
            <a:p>
              <a:pPr indent="-295275" lvl="0" marL="457200" rtl="0" algn="l">
                <a:spcBef>
                  <a:spcPts val="900"/>
                </a:spcBef>
                <a:spcAft>
                  <a:spcPts val="0"/>
                </a:spcAft>
                <a:buClr>
                  <a:srgbClr val="475569"/>
                </a:buClr>
                <a:buSzPts val="1050"/>
                <a:buFont typeface="Inter"/>
                <a:buChar char="●"/>
              </a:pPr>
              <a:r>
                <a:rPr lang="vi" sz="1050">
                  <a:solidFill>
                    <a:srgbClr val="475569"/>
                  </a:solidFill>
                  <a:latin typeface="Inter"/>
                  <a:ea typeface="Inter"/>
                  <a:cs typeface="Inter"/>
                  <a:sym typeface="Inter"/>
                </a:rPr>
                <a:t>Groupware và Purchasing rời rạc, khó truy xuất.</a:t>
              </a:r>
              <a:endParaRPr sz="1050">
                <a:solidFill>
                  <a:srgbClr val="475569"/>
                </a:solidFill>
                <a:latin typeface="Inter"/>
                <a:ea typeface="Inter"/>
                <a:cs typeface="Inter"/>
                <a:sym typeface="Inter"/>
              </a:endParaRPr>
            </a:p>
            <a:p>
              <a:pPr indent="-295275" lvl="0" marL="457200" rtl="0" algn="l">
                <a:spcBef>
                  <a:spcPts val="750"/>
                </a:spcBef>
                <a:spcAft>
                  <a:spcPts val="750"/>
                </a:spcAft>
                <a:buClr>
                  <a:srgbClr val="475569"/>
                </a:buClr>
                <a:buSzPts val="1050"/>
                <a:buFont typeface="Inter"/>
                <a:buChar char="●"/>
              </a:pPr>
              <a:r>
                <a:rPr lang="vi" sz="1050">
                  <a:solidFill>
                    <a:srgbClr val="475569"/>
                  </a:solidFill>
                  <a:latin typeface="Inter"/>
                  <a:ea typeface="Inter"/>
                  <a:cs typeface="Inter"/>
                  <a:sym typeface="Inter"/>
                </a:rPr>
                <a:t>Thiếu cảnh báo Lead-time và tồn kho an toàn.</a:t>
              </a:r>
              <a:endParaRPr sz="1050">
                <a:solidFill>
                  <a:srgbClr val="475569"/>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pic>
        <p:nvPicPr>
          <p:cNvPr descr="image.png" id="394" name="Google Shape;394;p24"/>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395" name="Google Shape;395;p24"/>
          <p:cNvGrpSpPr/>
          <p:nvPr/>
        </p:nvGrpSpPr>
        <p:grpSpPr>
          <a:xfrm>
            <a:off x="428625" y="1047750"/>
            <a:ext cx="8286900" cy="3810000"/>
            <a:chOff x="428625" y="1047750"/>
            <a:chExt cx="8286900" cy="3810000"/>
          </a:xfrm>
        </p:grpSpPr>
        <p:sp>
          <p:nvSpPr>
            <p:cNvPr id="396" name="Google Shape;396;p24"/>
            <p:cNvSpPr/>
            <p:nvPr/>
          </p:nvSpPr>
          <p:spPr>
            <a:xfrm>
              <a:off x="428625" y="1047750"/>
              <a:ext cx="8286900" cy="3810000"/>
            </a:xfrm>
            <a:prstGeom prst="roundRect">
              <a:avLst>
                <a:gd fmla="val 3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7" name="Google Shape;397;p24"/>
            <p:cNvGrpSpPr/>
            <p:nvPr/>
          </p:nvGrpSpPr>
          <p:grpSpPr>
            <a:xfrm>
              <a:off x="428625" y="1047750"/>
              <a:ext cx="8286900" cy="857400"/>
              <a:chOff x="428625" y="1047750"/>
              <a:chExt cx="8286900" cy="857400"/>
            </a:xfrm>
          </p:grpSpPr>
          <p:sp>
            <p:nvSpPr>
              <p:cNvPr id="398" name="Google Shape;398;p24"/>
              <p:cNvSpPr/>
              <p:nvPr/>
            </p:nvSpPr>
            <p:spPr>
              <a:xfrm>
                <a:off x="428625" y="1047750"/>
                <a:ext cx="8286900" cy="857400"/>
              </a:xfrm>
              <a:prstGeom prst="roundRect">
                <a:avLst>
                  <a:gd fmla="val 13333"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4"/>
              <p:cNvSpPr txBox="1"/>
              <p:nvPr/>
            </p:nvSpPr>
            <p:spPr>
              <a:xfrm>
                <a:off x="714375" y="1143000"/>
                <a:ext cx="7715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800">
                    <a:solidFill>
                      <a:srgbClr val="0F172A"/>
                    </a:solidFill>
                    <a:latin typeface="Montserrat"/>
                    <a:ea typeface="Montserrat"/>
                    <a:cs typeface="Montserrat"/>
                    <a:sym typeface="Montserrat"/>
                  </a:rPr>
                  <a:t>Tính toán PO tự động</a:t>
                </a:r>
                <a:endParaRPr b="1" sz="1800">
                  <a:solidFill>
                    <a:srgbClr val="0F172A"/>
                  </a:solidFill>
                  <a:latin typeface="Montserrat"/>
                  <a:ea typeface="Montserrat"/>
                  <a:cs typeface="Montserrat"/>
                  <a:sym typeface="Montserrat"/>
                </a:endParaRPr>
              </a:p>
              <a:p>
                <a:pPr indent="0" lvl="0" marL="0" rtl="0" algn="l">
                  <a:spcBef>
                    <a:spcPts val="0"/>
                  </a:spcBef>
                  <a:spcAft>
                    <a:spcPts val="0"/>
                  </a:spcAft>
                  <a:buNone/>
                </a:pPr>
                <a:r>
                  <a:rPr b="0" lang="vi" sz="1100">
                    <a:solidFill>
                      <a:srgbClr val="64748B"/>
                    </a:solidFill>
                    <a:latin typeface="Montserrat"/>
                    <a:ea typeface="Montserrat"/>
                    <a:cs typeface="Montserrat"/>
                    <a:sym typeface="Montserrat"/>
                  </a:rPr>
                  <a:t>Xây dựng công cụ tính toán thông minh dựa trên dữ liệu tích hợp và kế thừa năng lực cũ.</a:t>
                </a:r>
                <a:endParaRPr b="0" sz="1100">
                  <a:solidFill>
                    <a:srgbClr val="64748B"/>
                  </a:solidFill>
                  <a:latin typeface="Montserrat"/>
                  <a:ea typeface="Montserrat"/>
                  <a:cs typeface="Montserrat"/>
                  <a:sym typeface="Montserrat"/>
                </a:endParaRPr>
              </a:p>
            </p:txBody>
          </p:sp>
        </p:grpSp>
        <p:grpSp>
          <p:nvGrpSpPr>
            <p:cNvPr id="400" name="Google Shape;400;p24"/>
            <p:cNvGrpSpPr/>
            <p:nvPr/>
          </p:nvGrpSpPr>
          <p:grpSpPr>
            <a:xfrm>
              <a:off x="714375" y="2095500"/>
              <a:ext cx="7715250" cy="2476500"/>
              <a:chOff x="714375" y="2095500"/>
              <a:chExt cx="7715250" cy="2476500"/>
            </a:xfrm>
          </p:grpSpPr>
          <p:grpSp>
            <p:nvGrpSpPr>
              <p:cNvPr id="401" name="Google Shape;401;p24"/>
              <p:cNvGrpSpPr/>
              <p:nvPr/>
            </p:nvGrpSpPr>
            <p:grpSpPr>
              <a:xfrm>
                <a:off x="714375" y="2095500"/>
                <a:ext cx="3905400" cy="2476500"/>
                <a:chOff x="714375" y="2095500"/>
                <a:chExt cx="3905400" cy="2476500"/>
              </a:xfrm>
            </p:grpSpPr>
            <p:sp>
              <p:nvSpPr>
                <p:cNvPr id="402" name="Google Shape;402;p24"/>
                <p:cNvSpPr/>
                <p:nvPr/>
              </p:nvSpPr>
              <p:spPr>
                <a:xfrm>
                  <a:off x="714375" y="2095500"/>
                  <a:ext cx="3905400" cy="2476500"/>
                </a:xfrm>
                <a:prstGeom prst="roundRect">
                  <a:avLst>
                    <a:gd fmla="val 3846"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24"/>
                <p:cNvSpPr txBox="1"/>
                <p:nvPr/>
              </p:nvSpPr>
              <p:spPr>
                <a:xfrm>
                  <a:off x="904875" y="2238375"/>
                  <a:ext cx="3524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300">
                      <a:solidFill>
                        <a:srgbClr val="0369A1"/>
                      </a:solidFill>
                      <a:latin typeface="Montserrat"/>
                      <a:ea typeface="Montserrat"/>
                      <a:cs typeface="Montserrat"/>
                      <a:sym typeface="Montserrat"/>
                    </a:rPr>
                    <a:t>TỰ ĐỘNG HÓA &amp; THAY THẾ EXCEL</a:t>
                  </a:r>
                  <a:endParaRPr b="1" sz="1300">
                    <a:solidFill>
                      <a:srgbClr val="0369A1"/>
                    </a:solidFill>
                    <a:latin typeface="Montserrat"/>
                    <a:ea typeface="Montserrat"/>
                    <a:cs typeface="Montserrat"/>
                    <a:sym typeface="Montserrat"/>
                  </a:endParaRPr>
                </a:p>
              </p:txBody>
            </p:sp>
            <p:sp>
              <p:nvSpPr>
                <p:cNvPr id="404" name="Google Shape;404;p24"/>
                <p:cNvSpPr txBox="1"/>
                <p:nvPr/>
              </p:nvSpPr>
              <p:spPr>
                <a:xfrm>
                  <a:off x="904875" y="2619375"/>
                  <a:ext cx="35244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000">
                      <a:solidFill>
                        <a:srgbClr val="0F172A"/>
                      </a:solidFill>
                      <a:latin typeface="Inter"/>
                      <a:ea typeface="Inter"/>
                      <a:cs typeface="Inter"/>
                      <a:sym typeface="Inter"/>
                    </a:rPr>
                    <a:t>Tự động tính toán MRP</a:t>
                  </a:r>
                  <a:endParaRPr b="1" sz="10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334155"/>
                      </a:solidFill>
                      <a:latin typeface="Inter"/>
                      <a:ea typeface="Inter"/>
                      <a:cs typeface="Inter"/>
                      <a:sym typeface="Inter"/>
                    </a:rPr>
                    <a:t>Hệ thống phải tự tính toán lượng mua dựa trên thuật toán: </a:t>
                  </a:r>
                  <a:r>
                    <a:rPr b="1" lang="vi" sz="1000">
                      <a:solidFill>
                        <a:srgbClr val="334155"/>
                      </a:solidFill>
                      <a:latin typeface="Inter"/>
                      <a:ea typeface="Inter"/>
                      <a:cs typeface="Inter"/>
                      <a:sym typeface="Inter"/>
                    </a:rPr>
                    <a:t>Order = (Plan x BOM) - Stock</a:t>
                  </a:r>
                  <a:r>
                    <a:rPr lang="vi" sz="1000">
                      <a:solidFill>
                        <a:srgbClr val="334155"/>
                      </a:solidFill>
                      <a:latin typeface="Inter"/>
                      <a:ea typeface="Inter"/>
                      <a:cs typeface="Inter"/>
                      <a:sym typeface="Inter"/>
                    </a:rPr>
                    <a:t>.</a:t>
                  </a:r>
                  <a:endParaRPr sz="1000">
                    <a:solidFill>
                      <a:srgbClr val="334155"/>
                    </a:solidFill>
                    <a:latin typeface="Inter"/>
                    <a:ea typeface="Inter"/>
                    <a:cs typeface="Inter"/>
                    <a:sym typeface="Inter"/>
                  </a:endParaRPr>
                </a:p>
                <a:p>
                  <a:pPr indent="0" lvl="0" marL="0" rtl="0" algn="l">
                    <a:spcBef>
                      <a:spcPts val="900"/>
                    </a:spcBef>
                    <a:spcAft>
                      <a:spcPts val="0"/>
                    </a:spcAft>
                    <a:buNone/>
                  </a:pPr>
                  <a:r>
                    <a:rPr b="1" lang="vi" sz="1000">
                      <a:solidFill>
                        <a:srgbClr val="0F172A"/>
                      </a:solidFill>
                      <a:latin typeface="Inter"/>
                      <a:ea typeface="Inter"/>
                      <a:cs typeface="Inter"/>
                      <a:sym typeface="Inter"/>
                    </a:rPr>
                    <a:t>Quản lý Master Data tập trung</a:t>
                  </a:r>
                  <a:endParaRPr b="1" sz="10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334155"/>
                      </a:solidFill>
                      <a:latin typeface="Inter"/>
                      <a:ea typeface="Inter"/>
                      <a:cs typeface="Inter"/>
                      <a:sym typeface="Inter"/>
                    </a:rPr>
                    <a:t>Toàn bộ thông tin Supplier, báo giá, Lead-time và điều khoản thanh toán được số hóa 100%.</a:t>
                  </a:r>
                  <a:endParaRPr sz="1000">
                    <a:solidFill>
                      <a:srgbClr val="334155"/>
                    </a:solidFill>
                    <a:latin typeface="Inter"/>
                    <a:ea typeface="Inter"/>
                    <a:cs typeface="Inter"/>
                    <a:sym typeface="Inter"/>
                  </a:endParaRPr>
                </a:p>
              </p:txBody>
            </p:sp>
          </p:grpSp>
          <p:grpSp>
            <p:nvGrpSpPr>
              <p:cNvPr id="405" name="Google Shape;405;p24"/>
              <p:cNvGrpSpPr/>
              <p:nvPr/>
            </p:nvGrpSpPr>
            <p:grpSpPr>
              <a:xfrm>
                <a:off x="4810125" y="2095500"/>
                <a:ext cx="3619500" cy="2476500"/>
                <a:chOff x="4810125" y="2095500"/>
                <a:chExt cx="3619500" cy="2476500"/>
              </a:xfrm>
            </p:grpSpPr>
            <p:sp>
              <p:nvSpPr>
                <p:cNvPr id="406" name="Google Shape;406;p24"/>
                <p:cNvSpPr/>
                <p:nvPr/>
              </p:nvSpPr>
              <p:spPr>
                <a:xfrm>
                  <a:off x="4810125" y="2095500"/>
                  <a:ext cx="3619500" cy="2476500"/>
                </a:xfrm>
                <a:prstGeom prst="roundRect">
                  <a:avLst>
                    <a:gd fmla="val 3846"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4"/>
                <p:cNvSpPr txBox="1"/>
                <p:nvPr/>
              </p:nvSpPr>
              <p:spPr>
                <a:xfrm>
                  <a:off x="5000625" y="2238375"/>
                  <a:ext cx="3238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300">
                      <a:solidFill>
                        <a:srgbClr val="15803D"/>
                      </a:solidFill>
                      <a:latin typeface="Montserrat"/>
                      <a:ea typeface="Montserrat"/>
                      <a:cs typeface="Montserrat"/>
                      <a:sym typeface="Montserrat"/>
                    </a:rPr>
                    <a:t>TỐI ƯU VẬN HÀNH &amp; BÁO CÁO</a:t>
                  </a:r>
                  <a:endParaRPr b="1" sz="1300">
                    <a:solidFill>
                      <a:srgbClr val="15803D"/>
                    </a:solidFill>
                    <a:latin typeface="Montserrat"/>
                    <a:ea typeface="Montserrat"/>
                    <a:cs typeface="Montserrat"/>
                    <a:sym typeface="Montserrat"/>
                  </a:endParaRPr>
                </a:p>
              </p:txBody>
            </p:sp>
            <p:sp>
              <p:nvSpPr>
                <p:cNvPr id="408" name="Google Shape;408;p24"/>
                <p:cNvSpPr txBox="1"/>
                <p:nvPr/>
              </p:nvSpPr>
              <p:spPr>
                <a:xfrm>
                  <a:off x="5000625" y="2619375"/>
                  <a:ext cx="32385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000">
                      <a:solidFill>
                        <a:srgbClr val="0F172A"/>
                      </a:solidFill>
                      <a:latin typeface="Inter"/>
                      <a:ea typeface="Inter"/>
                      <a:cs typeface="Inter"/>
                      <a:sym typeface="Inter"/>
                    </a:rPr>
                    <a:t>Dashboard Quản trị thời gian thực</a:t>
                  </a:r>
                  <a:endParaRPr b="1" sz="10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334155"/>
                      </a:solidFill>
                      <a:latin typeface="Inter"/>
                      <a:ea typeface="Inter"/>
                      <a:cs typeface="Inter"/>
                      <a:sym typeface="Inter"/>
                    </a:rPr>
                    <a:t>Theo dõi trực quan biến động chi phí thu mua, hiệu suất nhà cung cấp và tiến độ PO ngay trên hệ thống.</a:t>
                  </a:r>
                  <a:endParaRPr sz="1000">
                    <a:solidFill>
                      <a:srgbClr val="334155"/>
                    </a:solidFill>
                    <a:latin typeface="Inter"/>
                    <a:ea typeface="Inter"/>
                    <a:cs typeface="Inter"/>
                    <a:sym typeface="Inter"/>
                  </a:endParaRPr>
                </a:p>
                <a:p>
                  <a:pPr indent="0" lvl="0" marL="0" rtl="0" algn="l">
                    <a:spcBef>
                      <a:spcPts val="900"/>
                    </a:spcBef>
                    <a:spcAft>
                      <a:spcPts val="0"/>
                    </a:spcAft>
                    <a:buNone/>
                  </a:pPr>
                  <a:r>
                    <a:rPr b="1" lang="vi" sz="1000">
                      <a:solidFill>
                        <a:srgbClr val="0F172A"/>
                      </a:solidFill>
                      <a:latin typeface="Inter"/>
                      <a:ea typeface="Inter"/>
                      <a:cs typeface="Inter"/>
                      <a:sym typeface="Inter"/>
                    </a:rPr>
                    <a:t>Đồng bộ hóa MES - ERP - Kế toán</a:t>
                  </a:r>
                  <a:endParaRPr b="1" sz="10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334155"/>
                      </a:solidFill>
                      <a:latin typeface="Inter"/>
                      <a:ea typeface="Inter"/>
                      <a:cs typeface="Inter"/>
                      <a:sym typeface="Inter"/>
                    </a:rPr>
                    <a:t>Dữ liệu Thu mua liên thông trực tiếp với kế hoạch sản xuất và hạch toán công nợ tự động.</a:t>
                  </a:r>
                  <a:endParaRPr sz="1000">
                    <a:solidFill>
                      <a:srgbClr val="334155"/>
                    </a:solidFill>
                    <a:latin typeface="Inter"/>
                    <a:ea typeface="Inter"/>
                    <a:cs typeface="Inter"/>
                    <a:sym typeface="Inter"/>
                  </a:endParaRPr>
                </a:p>
              </p:txBody>
            </p:sp>
          </p:grpSp>
        </p:grpSp>
      </p:grpSp>
      <p:sp>
        <p:nvSpPr>
          <p:cNvPr id="409" name="Google Shape;409;p24"/>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PURCHASE TEAM</a:t>
            </a:r>
            <a:endParaRPr b="0" i="0" sz="19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YÊU CẦU ĐỐI VỚI HỆ THỐNG MỚI</a:t>
            </a:r>
            <a:endParaRPr b="0" i="0" sz="1100" u="none" cap="none" strike="noStrike">
              <a:solidFill>
                <a:srgbClr val="000000"/>
              </a:solidFill>
              <a:latin typeface="Arial"/>
              <a:ea typeface="Arial"/>
              <a:cs typeface="Arial"/>
              <a:sym typeface="Arial"/>
            </a:endParaRPr>
          </a:p>
        </p:txBody>
      </p:sp>
      <p:sp>
        <p:nvSpPr>
          <p:cNvPr id="410" name="Google Shape;410;p24"/>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pic>
        <p:nvPicPr>
          <p:cNvPr descr="image.png" id="415" name="Google Shape;415;p2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416" name="Google Shape;416;p25"/>
          <p:cNvPicPr preferRelativeResize="0"/>
          <p:nvPr/>
        </p:nvPicPr>
        <p:blipFill rotWithShape="1">
          <a:blip r:embed="rId4">
            <a:alphaModFix/>
          </a:blip>
          <a:srcRect b="0" l="0" r="0" t="0"/>
          <a:stretch/>
        </p:blipFill>
        <p:spPr>
          <a:xfrm>
            <a:off x="428625" y="964406"/>
            <a:ext cx="8286750" cy="3821906"/>
          </a:xfrm>
          <a:prstGeom prst="rect">
            <a:avLst/>
          </a:prstGeom>
          <a:noFill/>
          <a:ln>
            <a:noFill/>
          </a:ln>
        </p:spPr>
      </p:pic>
      <p:sp>
        <p:nvSpPr>
          <p:cNvPr id="417" name="Google Shape;417;p25"/>
          <p:cNvSpPr txBox="1"/>
          <p:nvPr/>
        </p:nvSpPr>
        <p:spPr>
          <a:xfrm>
            <a:off x="571500" y="357188"/>
            <a:ext cx="8551200" cy="45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HR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SƠ ĐỒ QUY TRÌNH NGHIỆP VỤ NHÂN SỰ</a:t>
            </a:r>
            <a:endParaRPr b="0" i="0" sz="1100" u="none" cap="none" strike="noStrike">
              <a:solidFill>
                <a:srgbClr val="000000"/>
              </a:solidFill>
              <a:latin typeface="Arial"/>
              <a:ea typeface="Arial"/>
              <a:cs typeface="Arial"/>
              <a:sym typeface="Arial"/>
            </a:endParaRPr>
          </a:p>
        </p:txBody>
      </p:sp>
      <p:sp>
        <p:nvSpPr>
          <p:cNvPr id="418" name="Google Shape;418;p25"/>
          <p:cNvSpPr/>
          <p:nvPr/>
        </p:nvSpPr>
        <p:spPr>
          <a:xfrm>
            <a:off x="428625" y="357188"/>
            <a:ext cx="714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image.png" id="419" name="Google Shape;419;p25"/>
          <p:cNvPicPr preferRelativeResize="0"/>
          <p:nvPr/>
        </p:nvPicPr>
        <p:blipFill rotWithShape="1">
          <a:blip r:embed="rId5">
            <a:alphaModFix/>
          </a:blip>
          <a:srcRect b="0" l="0" r="0" t="0"/>
          <a:stretch/>
        </p:blipFill>
        <p:spPr>
          <a:xfrm>
            <a:off x="4304109" y="2503884"/>
            <a:ext cx="535781" cy="428625"/>
          </a:xfrm>
          <a:prstGeom prst="rect">
            <a:avLst/>
          </a:prstGeom>
          <a:noFill/>
          <a:ln>
            <a:noFill/>
          </a:ln>
        </p:spPr>
      </p:pic>
      <p:sp>
        <p:nvSpPr>
          <p:cNvPr id="420" name="Google Shape;420;p25"/>
          <p:cNvSpPr txBox="1"/>
          <p:nvPr/>
        </p:nvSpPr>
        <p:spPr>
          <a:xfrm>
            <a:off x="3296840" y="2932509"/>
            <a:ext cx="2550300" cy="16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vi" sz="1100" u="none" cap="none" strike="noStrike">
                <a:solidFill>
                  <a:srgbClr val="0F172A"/>
                </a:solidFill>
                <a:latin typeface="Montserrat"/>
                <a:ea typeface="Montserrat"/>
                <a:cs typeface="Montserrat"/>
                <a:sym typeface="Montserrat"/>
              </a:rPr>
              <a:t>DÀNH CHO FLOWCHART NHÂN SỰ</a:t>
            </a:r>
            <a:endParaRPr b="0" i="0" sz="1100" u="none" cap="none" strike="noStrike">
              <a:solidFill>
                <a:srgbClr val="000000"/>
              </a:solidFill>
              <a:latin typeface="Arial"/>
              <a:ea typeface="Arial"/>
              <a:cs typeface="Arial"/>
              <a:sym typeface="Arial"/>
            </a:endParaRPr>
          </a:p>
        </p:txBody>
      </p:sp>
      <p:sp>
        <p:nvSpPr>
          <p:cNvPr id="421" name="Google Shape;421;p25"/>
          <p:cNvSpPr txBox="1"/>
          <p:nvPr/>
        </p:nvSpPr>
        <p:spPr>
          <a:xfrm>
            <a:off x="2611040" y="3096815"/>
            <a:ext cx="3921900" cy="150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vi" sz="1000" u="none" cap="none" strike="noStrike">
                <a:solidFill>
                  <a:srgbClr val="64748B"/>
                </a:solidFill>
                <a:latin typeface="Inter"/>
                <a:ea typeface="Inter"/>
                <a:cs typeface="Inter"/>
                <a:sym typeface="Inter"/>
              </a:rPr>
              <a:t>Tích hợp sơ đồ luồng quản lý nhân sự, tính lương và tuyển dụng.</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pic>
        <p:nvPicPr>
          <p:cNvPr descr="image.png" id="426" name="Google Shape;426;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27" name="Google Shape;427;p26"/>
          <p:cNvSpPr txBox="1"/>
          <p:nvPr/>
        </p:nvSpPr>
        <p:spPr>
          <a:xfrm>
            <a:off x="571500" y="357188"/>
            <a:ext cx="8551200" cy="4560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HR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KHÓ KHĂN &amp; HẠN CHẾ HIỆN TẠI</a:t>
            </a:r>
            <a:endParaRPr b="0" i="0" sz="1100" u="none" cap="none" strike="noStrike">
              <a:solidFill>
                <a:srgbClr val="8BC249"/>
              </a:solidFill>
              <a:latin typeface="Montserrat SemiBold"/>
              <a:ea typeface="Montserrat SemiBold"/>
              <a:cs typeface="Montserrat SemiBold"/>
              <a:sym typeface="Montserrat SemiBold"/>
            </a:endParaRPr>
          </a:p>
        </p:txBody>
      </p:sp>
      <p:sp>
        <p:nvSpPr>
          <p:cNvPr id="428" name="Google Shape;428;p26"/>
          <p:cNvSpPr/>
          <p:nvPr/>
        </p:nvSpPr>
        <p:spPr>
          <a:xfrm>
            <a:off x="428625" y="357188"/>
            <a:ext cx="71700" cy="4287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9" name="Google Shape;429;p26"/>
          <p:cNvSpPr txBox="1"/>
          <p:nvPr/>
        </p:nvSpPr>
        <p:spPr>
          <a:xfrm>
            <a:off x="428625" y="1143000"/>
            <a:ext cx="8286900" cy="207900"/>
          </a:xfrm>
          <a:prstGeom prst="rect">
            <a:avLst/>
          </a:prstGeom>
          <a:solidFill>
            <a:srgbClr val="000000">
              <a:alpha val="0"/>
            </a:srgbClr>
          </a:solid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vi" sz="1400" u="none" cap="none" strike="noStrike">
                <a:solidFill>
                  <a:srgbClr val="475569"/>
                </a:solidFill>
                <a:latin typeface="Montserrat SemiBold"/>
                <a:ea typeface="Montserrat SemiBold"/>
                <a:cs typeface="Montserrat SemiBold"/>
                <a:sym typeface="Montserrat SemiBold"/>
              </a:rPr>
              <a:t>Hệ thống cũ không đáp ứng được quy mô quản lý hiện đại</a:t>
            </a:r>
            <a:endParaRPr b="0" i="0" sz="1400" u="none" cap="none" strike="noStrike">
              <a:solidFill>
                <a:srgbClr val="475569"/>
              </a:solidFill>
              <a:latin typeface="Montserrat SemiBold"/>
              <a:ea typeface="Montserrat SemiBold"/>
              <a:cs typeface="Montserrat SemiBold"/>
              <a:sym typeface="Montserrat SemiBold"/>
            </a:endParaRPr>
          </a:p>
        </p:txBody>
      </p:sp>
      <p:grpSp>
        <p:nvGrpSpPr>
          <p:cNvPr id="430" name="Google Shape;430;p26"/>
          <p:cNvGrpSpPr/>
          <p:nvPr/>
        </p:nvGrpSpPr>
        <p:grpSpPr>
          <a:xfrm>
            <a:off x="428625" y="1714500"/>
            <a:ext cx="4000500" cy="2714625"/>
            <a:chOff x="571500" y="2286000"/>
            <a:chExt cx="5334000" cy="3619500"/>
          </a:xfrm>
        </p:grpSpPr>
        <p:sp>
          <p:nvSpPr>
            <p:cNvPr id="431" name="Google Shape;431;p26"/>
            <p:cNvSpPr/>
            <p:nvPr/>
          </p:nvSpPr>
          <p:spPr>
            <a:xfrm>
              <a:off x="571500" y="2286000"/>
              <a:ext cx="5334000" cy="36195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2" name="Google Shape;432;p26"/>
            <p:cNvSpPr txBox="1"/>
            <p:nvPr/>
          </p:nvSpPr>
          <p:spPr>
            <a:xfrm>
              <a:off x="857250" y="3238500"/>
              <a:ext cx="4762500" cy="238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991B1B"/>
                  </a:solidFill>
                  <a:latin typeface="Montserrat"/>
                  <a:ea typeface="Montserrat"/>
                  <a:cs typeface="Montserrat"/>
                  <a:sym typeface="Montserrat"/>
                </a:rPr>
                <a:t>Chưa thể tính lương tự động</a:t>
              </a:r>
              <a:endParaRPr b="1" i="0" sz="1400" u="none" cap="none" strike="noStrike">
                <a:solidFill>
                  <a:srgbClr val="991B1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900"/>
                <a:buFont typeface="Arial"/>
                <a:buNone/>
              </a:pPr>
              <a:r>
                <a:rPr b="0" i="0" lang="vi" sz="900" u="none" cap="none" strike="noStrike">
                  <a:solidFill>
                    <a:srgbClr val="450A0A"/>
                  </a:solidFill>
                  <a:latin typeface="Montserrat"/>
                  <a:ea typeface="Montserrat"/>
                  <a:cs typeface="Montserrat"/>
                  <a:sym typeface="Montserrat"/>
                </a:rPr>
                <a:t>Hệ thống cũ chưa có chức năng tự động hóa bảng lương. Nhân sự phải xử lý thủ công trên bảng tính, gây rủi ro sai sót và tốn thời gian.</a:t>
              </a:r>
              <a:endParaRPr b="0" i="0" sz="900" u="none" cap="none" strike="noStrike">
                <a:solidFill>
                  <a:srgbClr val="450A0A"/>
                </a:solidFill>
                <a:latin typeface="Montserrat"/>
                <a:ea typeface="Montserrat"/>
                <a:cs typeface="Montserrat"/>
                <a:sym typeface="Montserrat"/>
              </a:endParaRPr>
            </a:p>
          </p:txBody>
        </p:sp>
      </p:grpSp>
      <p:grpSp>
        <p:nvGrpSpPr>
          <p:cNvPr id="433" name="Google Shape;433;p26"/>
          <p:cNvGrpSpPr/>
          <p:nvPr/>
        </p:nvGrpSpPr>
        <p:grpSpPr>
          <a:xfrm>
            <a:off x="4714875" y="1714500"/>
            <a:ext cx="4000500" cy="2714625"/>
            <a:chOff x="6286500" y="2286000"/>
            <a:chExt cx="5334000" cy="3619500"/>
          </a:xfrm>
        </p:grpSpPr>
        <p:sp>
          <p:nvSpPr>
            <p:cNvPr id="434" name="Google Shape;434;p26"/>
            <p:cNvSpPr/>
            <p:nvPr/>
          </p:nvSpPr>
          <p:spPr>
            <a:xfrm>
              <a:off x="6286500" y="2286000"/>
              <a:ext cx="5334000" cy="36195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5" name="Google Shape;435;p26"/>
            <p:cNvSpPr txBox="1"/>
            <p:nvPr/>
          </p:nvSpPr>
          <p:spPr>
            <a:xfrm>
              <a:off x="6572250" y="3238500"/>
              <a:ext cx="4762500" cy="238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991B1B"/>
                  </a:solidFill>
                  <a:latin typeface="Montserrat"/>
                  <a:ea typeface="Montserrat"/>
                  <a:cs typeface="Montserrat"/>
                  <a:sym typeface="Montserrat"/>
                </a:rPr>
                <a:t>Chưa quản lý nhân lực tập trung</a:t>
              </a:r>
              <a:endParaRPr b="1" i="0" sz="1400" u="none" cap="none" strike="noStrike">
                <a:solidFill>
                  <a:srgbClr val="991B1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900"/>
                <a:buFont typeface="Arial"/>
                <a:buNone/>
              </a:pPr>
              <a:r>
                <a:rPr b="0" i="0" lang="vi" sz="900" u="none" cap="none" strike="noStrike">
                  <a:solidFill>
                    <a:srgbClr val="450A0A"/>
                  </a:solidFill>
                  <a:latin typeface="Montserrat"/>
                  <a:ea typeface="Montserrat"/>
                  <a:cs typeface="Montserrat"/>
                  <a:sym typeface="Montserrat"/>
                </a:rPr>
                <a:t>Dữ liệu nhân sự bị phân mảnh, chưa có công cụ quản trị nguồn nhân lực (HRM) để theo dõi biến động và hiệu suất nhân viên.</a:t>
              </a:r>
              <a:endParaRPr b="0" i="0" sz="900" u="none" cap="none" strike="noStrike">
                <a:solidFill>
                  <a:srgbClr val="450A0A"/>
                </a:solidFill>
                <a:latin typeface="Montserrat"/>
                <a:ea typeface="Montserrat"/>
                <a:cs typeface="Montserrat"/>
                <a:sym typeface="Montserrat"/>
              </a:endParaRPr>
            </a:p>
          </p:txBody>
        </p:sp>
      </p:grpSp>
      <p:pic>
        <p:nvPicPr>
          <p:cNvPr id="436" name="Google Shape;436;p26"/>
          <p:cNvPicPr preferRelativeResize="0"/>
          <p:nvPr/>
        </p:nvPicPr>
        <p:blipFill rotWithShape="1">
          <a:blip r:embed="rId4">
            <a:alphaModFix/>
          </a:blip>
          <a:srcRect b="0" l="0" r="0" t="0"/>
          <a:stretch/>
        </p:blipFill>
        <p:spPr>
          <a:xfrm>
            <a:off x="642938" y="1815912"/>
            <a:ext cx="511551" cy="511551"/>
          </a:xfrm>
          <a:prstGeom prst="rect">
            <a:avLst/>
          </a:prstGeom>
          <a:noFill/>
          <a:ln>
            <a:noFill/>
          </a:ln>
        </p:spPr>
      </p:pic>
      <p:pic>
        <p:nvPicPr>
          <p:cNvPr id="437" name="Google Shape;437;p26"/>
          <p:cNvPicPr preferRelativeResize="0"/>
          <p:nvPr/>
        </p:nvPicPr>
        <p:blipFill rotWithShape="1">
          <a:blip r:embed="rId5">
            <a:alphaModFix/>
          </a:blip>
          <a:srcRect b="0" l="0" r="0" t="0"/>
          <a:stretch/>
        </p:blipFill>
        <p:spPr>
          <a:xfrm>
            <a:off x="4929188" y="1825115"/>
            <a:ext cx="502348" cy="5023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1" name="Shape 441"/>
        <p:cNvGrpSpPr/>
        <p:nvPr/>
      </p:nvGrpSpPr>
      <p:grpSpPr>
        <a:xfrm>
          <a:off x="0" y="0"/>
          <a:ext cx="0" cy="0"/>
          <a:chOff x="0" y="0"/>
          <a:chExt cx="0" cy="0"/>
        </a:xfrm>
      </p:grpSpPr>
      <p:pic>
        <p:nvPicPr>
          <p:cNvPr descr="image.png" id="442" name="Google Shape;442;p27"/>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443" name="Google Shape;443;p27"/>
          <p:cNvSpPr txBox="1"/>
          <p:nvPr/>
        </p:nvSpPr>
        <p:spPr>
          <a:xfrm>
            <a:off x="571500" y="357188"/>
            <a:ext cx="8551200" cy="4485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vi" sz="1000" u="none" cap="none" strike="noStrike">
                <a:solidFill>
                  <a:srgbClr val="8BC249"/>
                </a:solidFill>
                <a:latin typeface="Montserrat SemiBold"/>
                <a:ea typeface="Montserrat SemiBold"/>
                <a:cs typeface="Montserrat SemiBold"/>
                <a:sym typeface="Montserrat SemiBold"/>
              </a:rPr>
              <a:t>VIETNAM HR TEAM</a:t>
            </a:r>
            <a:endParaRPr b="0" i="0" sz="10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YÊU CẦU ĐỐI VỚI HỆ THỐNG MỚI</a:t>
            </a:r>
            <a:endParaRPr b="1" i="0" sz="1000" u="none" cap="none" strike="noStrike">
              <a:solidFill>
                <a:srgbClr val="8BC249"/>
              </a:solidFill>
              <a:latin typeface="Montserrat"/>
              <a:ea typeface="Montserrat"/>
              <a:cs typeface="Montserrat"/>
              <a:sym typeface="Montserrat"/>
            </a:endParaRPr>
          </a:p>
        </p:txBody>
      </p:sp>
      <p:sp>
        <p:nvSpPr>
          <p:cNvPr id="444" name="Google Shape;444;p27"/>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445" name="Google Shape;445;p27"/>
          <p:cNvGrpSpPr/>
          <p:nvPr/>
        </p:nvGrpSpPr>
        <p:grpSpPr>
          <a:xfrm>
            <a:off x="428625" y="1143000"/>
            <a:ext cx="8286863" cy="2428875"/>
            <a:chOff x="571500" y="1524000"/>
            <a:chExt cx="11049150" cy="3238500"/>
          </a:xfrm>
        </p:grpSpPr>
        <p:sp>
          <p:nvSpPr>
            <p:cNvPr id="446" name="Google Shape;446;p27"/>
            <p:cNvSpPr/>
            <p:nvPr/>
          </p:nvSpPr>
          <p:spPr>
            <a:xfrm>
              <a:off x="571500" y="1524000"/>
              <a:ext cx="5429400" cy="32385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7" name="Google Shape;447;p27"/>
            <p:cNvSpPr/>
            <p:nvPr/>
          </p:nvSpPr>
          <p:spPr>
            <a:xfrm>
              <a:off x="6191250" y="1524000"/>
              <a:ext cx="5429400" cy="32385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8" name="Google Shape;448;p27"/>
            <p:cNvSpPr txBox="1"/>
            <p:nvPr/>
          </p:nvSpPr>
          <p:spPr>
            <a:xfrm>
              <a:off x="857250" y="2524125"/>
              <a:ext cx="4857900" cy="19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vi" sz="1500" u="none" cap="none" strike="noStrike">
                  <a:solidFill>
                    <a:srgbClr val="0F172A"/>
                  </a:solidFill>
                  <a:latin typeface="Inter"/>
                  <a:ea typeface="Inter"/>
                  <a:cs typeface="Inter"/>
                  <a:sym typeface="Inter"/>
                </a:rPr>
                <a:t>1. Tính lương &amp; Quản trị tự động</a:t>
              </a:r>
              <a:endParaRPr b="1" i="0" sz="1500" u="none" cap="none" strike="noStrike">
                <a:solidFill>
                  <a:srgbClr val="0F172A"/>
                </a:solidFill>
                <a:latin typeface="Inter"/>
                <a:ea typeface="Inter"/>
                <a:cs typeface="Inter"/>
                <a:sym typeface="Inter"/>
              </a:endParaRPr>
            </a:p>
            <a:p>
              <a:pPr indent="0" lvl="0" marL="0" marR="0" rtl="0" algn="l">
                <a:lnSpc>
                  <a:spcPct val="100000"/>
                </a:lnSpc>
                <a:spcBef>
                  <a:spcPts val="700"/>
                </a:spcBef>
                <a:spcAft>
                  <a:spcPts val="800"/>
                </a:spcAft>
                <a:buClr>
                  <a:srgbClr val="000000"/>
                </a:buClr>
                <a:buSzPts val="1200"/>
                <a:buFont typeface="Arial"/>
                <a:buNone/>
              </a:pPr>
              <a:r>
                <a:rPr b="0" i="0" lang="vi" sz="1200" u="none" cap="none" strike="noStrike">
                  <a:solidFill>
                    <a:srgbClr val="475569"/>
                  </a:solidFill>
                  <a:latin typeface="Inter"/>
                  <a:ea typeface="Inter"/>
                  <a:cs typeface="Inter"/>
                  <a:sym typeface="Inter"/>
                </a:rPr>
                <a:t>Tự động hóa toàn bộ bảng lương dựa trên dữ liệu chấm công. Xây dựng Module HRM tập trung để quản trị vòng đời nhân viên.</a:t>
              </a:r>
              <a:endParaRPr b="0" i="0" sz="1100" u="none" cap="none" strike="noStrike">
                <a:solidFill>
                  <a:srgbClr val="64748B"/>
                </a:solidFill>
                <a:latin typeface="Inter"/>
                <a:ea typeface="Inter"/>
                <a:cs typeface="Inter"/>
                <a:sym typeface="Inter"/>
              </a:endParaRPr>
            </a:p>
          </p:txBody>
        </p:sp>
        <p:sp>
          <p:nvSpPr>
            <p:cNvPr id="449" name="Google Shape;449;p27"/>
            <p:cNvSpPr txBox="1"/>
            <p:nvPr/>
          </p:nvSpPr>
          <p:spPr>
            <a:xfrm>
              <a:off x="6477000" y="2524125"/>
              <a:ext cx="4857900" cy="19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vi" sz="1500" u="none" cap="none" strike="noStrike">
                  <a:solidFill>
                    <a:srgbClr val="0F172A"/>
                  </a:solidFill>
                  <a:latin typeface="Inter"/>
                  <a:ea typeface="Inter"/>
                  <a:cs typeface="Inter"/>
                  <a:sym typeface="Inter"/>
                </a:rPr>
                <a:t>2. Tích hợp CMS &amp; ERP</a:t>
              </a:r>
              <a:endParaRPr b="1" i="0" sz="1500" u="none" cap="none" strike="noStrike">
                <a:solidFill>
                  <a:srgbClr val="0F172A"/>
                </a:solidFill>
                <a:latin typeface="Inter"/>
                <a:ea typeface="Inter"/>
                <a:cs typeface="Inter"/>
                <a:sym typeface="Inter"/>
              </a:endParaRPr>
            </a:p>
            <a:p>
              <a:pPr indent="0" lvl="0" marL="0" marR="0" rtl="0" algn="l">
                <a:lnSpc>
                  <a:spcPct val="100000"/>
                </a:lnSpc>
                <a:spcBef>
                  <a:spcPts val="700"/>
                </a:spcBef>
                <a:spcAft>
                  <a:spcPts val="800"/>
                </a:spcAft>
                <a:buClr>
                  <a:srgbClr val="000000"/>
                </a:buClr>
                <a:buSzPts val="1200"/>
                <a:buFont typeface="Arial"/>
                <a:buNone/>
              </a:pPr>
              <a:r>
                <a:rPr b="0" i="0" lang="vi" sz="1200" u="none" cap="none" strike="noStrike">
                  <a:solidFill>
                    <a:srgbClr val="475569"/>
                  </a:solidFill>
                  <a:latin typeface="Inter"/>
                  <a:ea typeface="Inter"/>
                  <a:cs typeface="Inter"/>
                  <a:sym typeface="Inter"/>
                </a:rPr>
                <a:t>Dữ liệu nhân sự được liên thông trực tiếp với CMS/ERP. Tích hợp chấm công (vân tay, giờ làm) để làm dữ liệu đầu vào cho lương.</a:t>
              </a:r>
              <a:endParaRPr b="0" i="0" sz="1100" u="none" cap="none" strike="noStrike">
                <a:solidFill>
                  <a:srgbClr val="64748B"/>
                </a:solidFill>
                <a:latin typeface="Inter"/>
                <a:ea typeface="Inter"/>
                <a:cs typeface="Inter"/>
                <a:sym typeface="Inter"/>
              </a:endParaRPr>
            </a:p>
          </p:txBody>
        </p:sp>
      </p:grpSp>
      <p:pic>
        <p:nvPicPr>
          <p:cNvPr id="450" name="Google Shape;450;p27"/>
          <p:cNvPicPr preferRelativeResize="0"/>
          <p:nvPr/>
        </p:nvPicPr>
        <p:blipFill rotWithShape="1">
          <a:blip r:embed="rId5">
            <a:alphaModFix/>
          </a:blip>
          <a:srcRect b="0" l="0" r="0" t="0"/>
          <a:stretch/>
        </p:blipFill>
        <p:spPr>
          <a:xfrm>
            <a:off x="642937" y="1392364"/>
            <a:ext cx="399479" cy="399479"/>
          </a:xfrm>
          <a:prstGeom prst="rect">
            <a:avLst/>
          </a:prstGeom>
          <a:noFill/>
          <a:ln>
            <a:noFill/>
          </a:ln>
        </p:spPr>
      </p:pic>
      <p:pic>
        <p:nvPicPr>
          <p:cNvPr id="451" name="Google Shape;451;p27"/>
          <p:cNvPicPr preferRelativeResize="0"/>
          <p:nvPr/>
        </p:nvPicPr>
        <p:blipFill rotWithShape="1">
          <a:blip r:embed="rId6">
            <a:alphaModFix/>
          </a:blip>
          <a:srcRect b="0" l="0" r="0" t="0"/>
          <a:stretch/>
        </p:blipFill>
        <p:spPr>
          <a:xfrm>
            <a:off x="4847063" y="1320585"/>
            <a:ext cx="471258" cy="4712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pic>
        <p:nvPicPr>
          <p:cNvPr descr="image.png" id="456" name="Google Shape;456;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57" name="Google Shape;457;p28"/>
          <p:cNvSpPr txBox="1"/>
          <p:nvPr/>
        </p:nvSpPr>
        <p:spPr>
          <a:xfrm>
            <a:off x="571500" y="357188"/>
            <a:ext cx="8551200" cy="47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IQC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SƠ ĐỒ QUY TRÌNH KIỂM SOÁT CHẤT LƯỢNG ĐẦU VÀO</a:t>
            </a:r>
            <a:endParaRPr b="0" i="0" sz="1200" u="none" cap="none" strike="noStrike">
              <a:solidFill>
                <a:srgbClr val="000000"/>
              </a:solidFill>
              <a:latin typeface="Arial"/>
              <a:ea typeface="Arial"/>
              <a:cs typeface="Arial"/>
              <a:sym typeface="Arial"/>
            </a:endParaRPr>
          </a:p>
        </p:txBody>
      </p:sp>
      <p:sp>
        <p:nvSpPr>
          <p:cNvPr id="458" name="Google Shape;458;p28"/>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459" name="Google Shape;459;p28"/>
          <p:cNvGrpSpPr/>
          <p:nvPr/>
        </p:nvGrpSpPr>
        <p:grpSpPr>
          <a:xfrm>
            <a:off x="428625" y="1047750"/>
            <a:ext cx="5476875" cy="3619500"/>
            <a:chOff x="428625" y="1047750"/>
            <a:chExt cx="5476875" cy="3619500"/>
          </a:xfrm>
        </p:grpSpPr>
        <p:sp>
          <p:nvSpPr>
            <p:cNvPr id="460" name="Google Shape;460;p28"/>
            <p:cNvSpPr/>
            <p:nvPr/>
          </p:nvSpPr>
          <p:spPr>
            <a:xfrm>
              <a:off x="428625" y="1047750"/>
              <a:ext cx="1714500" cy="3619500"/>
            </a:xfrm>
            <a:prstGeom prst="roundRect">
              <a:avLst>
                <a:gd fmla="val 5555"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8"/>
            <p:cNvSpPr/>
            <p:nvPr/>
          </p:nvSpPr>
          <p:spPr>
            <a:xfrm>
              <a:off x="428625" y="1047750"/>
              <a:ext cx="1714500" cy="381000"/>
            </a:xfrm>
            <a:prstGeom prst="roundRect">
              <a:avLst>
                <a:gd fmla="val 25000" name="adj"/>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8"/>
            <p:cNvSpPr txBox="1"/>
            <p:nvPr/>
          </p:nvSpPr>
          <p:spPr>
            <a:xfrm>
              <a:off x="428625" y="10477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1000">
                  <a:solidFill>
                    <a:srgbClr val="FFFFFF"/>
                  </a:solidFill>
                  <a:latin typeface="Montserrat"/>
                  <a:ea typeface="Montserrat"/>
                  <a:cs typeface="Montserrat"/>
                  <a:sym typeface="Montserrat"/>
                </a:rPr>
                <a:t>BỘ PHẬN TRÁCH NHIỆM</a:t>
              </a:r>
              <a:endParaRPr b="1" sz="1000">
                <a:solidFill>
                  <a:srgbClr val="FFFFFF"/>
                </a:solidFill>
                <a:latin typeface="Montserrat"/>
                <a:ea typeface="Montserrat"/>
                <a:cs typeface="Montserrat"/>
                <a:sym typeface="Montserrat"/>
              </a:endParaRPr>
            </a:p>
          </p:txBody>
        </p:sp>
        <p:grpSp>
          <p:nvGrpSpPr>
            <p:cNvPr id="463" name="Google Shape;463;p28"/>
            <p:cNvGrpSpPr/>
            <p:nvPr/>
          </p:nvGrpSpPr>
          <p:grpSpPr>
            <a:xfrm>
              <a:off x="523875" y="1571625"/>
              <a:ext cx="1524000" cy="2809875"/>
              <a:chOff x="523875" y="1571625"/>
              <a:chExt cx="1524000" cy="2809875"/>
            </a:xfrm>
          </p:grpSpPr>
          <p:sp>
            <p:nvSpPr>
              <p:cNvPr id="464" name="Google Shape;464;p28"/>
              <p:cNvSpPr txBox="1"/>
              <p:nvPr/>
            </p:nvSpPr>
            <p:spPr>
              <a:xfrm>
                <a:off x="523875" y="1571625"/>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1E293B"/>
                    </a:solidFill>
                    <a:latin typeface="Inter"/>
                    <a:ea typeface="Inter"/>
                    <a:cs typeface="Inter"/>
                    <a:sym typeface="Inter"/>
                  </a:rPr>
                  <a:t>BP CHẤT LƯỢNG</a:t>
                </a:r>
                <a:endParaRPr b="1" sz="900">
                  <a:solidFill>
                    <a:srgbClr val="1E293B"/>
                  </a:solidFill>
                  <a:latin typeface="Inter"/>
                  <a:ea typeface="Inter"/>
                  <a:cs typeface="Inter"/>
                  <a:sym typeface="Inter"/>
                </a:endParaRPr>
              </a:p>
            </p:txBody>
          </p:sp>
          <p:sp>
            <p:nvSpPr>
              <p:cNvPr id="465" name="Google Shape;465;p28"/>
              <p:cNvSpPr txBox="1"/>
              <p:nvPr/>
            </p:nvSpPr>
            <p:spPr>
              <a:xfrm>
                <a:off x="523875" y="228600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1E293B"/>
                    </a:solidFill>
                    <a:latin typeface="Inter"/>
                    <a:ea typeface="Inter"/>
                    <a:cs typeface="Inter"/>
                    <a:sym typeface="Inter"/>
                  </a:rPr>
                  <a:t>BỘ PHẬN THU MUA</a:t>
                </a:r>
                <a:endParaRPr b="1" sz="900">
                  <a:solidFill>
                    <a:srgbClr val="1E293B"/>
                  </a:solidFill>
                  <a:latin typeface="Inter"/>
                  <a:ea typeface="Inter"/>
                  <a:cs typeface="Inter"/>
                  <a:sym typeface="Inter"/>
                </a:endParaRPr>
              </a:p>
            </p:txBody>
          </p:sp>
          <p:sp>
            <p:nvSpPr>
              <p:cNvPr id="466" name="Google Shape;466;p28"/>
              <p:cNvSpPr txBox="1"/>
              <p:nvPr/>
            </p:nvSpPr>
            <p:spPr>
              <a:xfrm>
                <a:off x="523875" y="3095625"/>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1E293B"/>
                    </a:solidFill>
                    <a:latin typeface="Inter"/>
                    <a:ea typeface="Inter"/>
                    <a:cs typeface="Inter"/>
                    <a:sym typeface="Inter"/>
                  </a:rPr>
                  <a:t>BP CHẤT LƯỢNG</a:t>
                </a:r>
                <a:endParaRPr b="1" sz="900">
                  <a:solidFill>
                    <a:srgbClr val="1E293B"/>
                  </a:solidFill>
                  <a:latin typeface="Inter"/>
                  <a:ea typeface="Inter"/>
                  <a:cs typeface="Inter"/>
                  <a:sym typeface="Inter"/>
                </a:endParaRPr>
              </a:p>
            </p:txBody>
          </p:sp>
          <p:sp>
            <p:nvSpPr>
              <p:cNvPr id="467" name="Google Shape;467;p28"/>
              <p:cNvSpPr txBox="1"/>
              <p:nvPr/>
            </p:nvSpPr>
            <p:spPr>
              <a:xfrm>
                <a:off x="523875" y="400050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1E293B"/>
                    </a:solidFill>
                    <a:latin typeface="Inter"/>
                    <a:ea typeface="Inter"/>
                    <a:cs typeface="Inter"/>
                    <a:sym typeface="Inter"/>
                  </a:rPr>
                  <a:t>BP CHẤT LƯỢNG</a:t>
                </a:r>
                <a:endParaRPr b="1" sz="900">
                  <a:solidFill>
                    <a:srgbClr val="1E293B"/>
                  </a:solidFill>
                  <a:latin typeface="Inter"/>
                  <a:ea typeface="Inter"/>
                  <a:cs typeface="Inter"/>
                  <a:sym typeface="Inter"/>
                </a:endParaRPr>
              </a:p>
            </p:txBody>
          </p:sp>
        </p:grpSp>
        <p:grpSp>
          <p:nvGrpSpPr>
            <p:cNvPr id="468" name="Google Shape;468;p28"/>
            <p:cNvGrpSpPr/>
            <p:nvPr/>
          </p:nvGrpSpPr>
          <p:grpSpPr>
            <a:xfrm>
              <a:off x="2095500" y="1571625"/>
              <a:ext cx="3810000" cy="3048150"/>
              <a:chOff x="2095500" y="1571625"/>
              <a:chExt cx="3810000" cy="3048150"/>
            </a:xfrm>
          </p:grpSpPr>
          <p:sp>
            <p:nvSpPr>
              <p:cNvPr id="469" name="Google Shape;469;p28"/>
              <p:cNvSpPr/>
              <p:nvPr/>
            </p:nvSpPr>
            <p:spPr>
              <a:xfrm>
                <a:off x="2381250" y="1571625"/>
                <a:ext cx="3238500" cy="285900"/>
              </a:xfrm>
              <a:prstGeom prst="roundRect">
                <a:avLst>
                  <a:gd fmla="val 13333"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8"/>
              <p:cNvSpPr txBox="1"/>
              <p:nvPr/>
            </p:nvSpPr>
            <p:spPr>
              <a:xfrm>
                <a:off x="2476500" y="1571625"/>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900">
                    <a:solidFill>
                      <a:srgbClr val="334155"/>
                    </a:solidFill>
                    <a:latin typeface="Inter"/>
                    <a:ea typeface="Inter"/>
                    <a:cs typeface="Inter"/>
                    <a:sym typeface="Inter"/>
                  </a:rPr>
                  <a:t>P Phát triển sản phẩm → Chỉ định kiểm tra nhập vào</a:t>
                </a:r>
                <a:endParaRPr sz="900">
                  <a:solidFill>
                    <a:srgbClr val="334155"/>
                  </a:solidFill>
                  <a:latin typeface="Inter"/>
                  <a:ea typeface="Inter"/>
                  <a:cs typeface="Inter"/>
                  <a:sym typeface="Inter"/>
                </a:endParaRPr>
              </a:p>
            </p:txBody>
          </p:sp>
          <p:pic>
            <p:nvPicPr>
              <p:cNvPr id="471" name="Google Shape;471;p28"/>
              <p:cNvPicPr preferRelativeResize="0"/>
              <p:nvPr/>
            </p:nvPicPr>
            <p:blipFill rotWithShape="1">
              <a:blip r:embed="rId4">
                <a:alphaModFix/>
              </a:blip>
              <a:srcRect b="0" l="0" r="0" t="0"/>
              <a:stretch/>
            </p:blipFill>
            <p:spPr>
              <a:xfrm>
                <a:off x="3990975" y="1857375"/>
                <a:ext cx="19200" cy="142800"/>
              </a:xfrm>
              <a:prstGeom prst="rect">
                <a:avLst/>
              </a:prstGeom>
              <a:noFill/>
              <a:ln>
                <a:noFill/>
              </a:ln>
            </p:spPr>
          </p:pic>
          <p:sp>
            <p:nvSpPr>
              <p:cNvPr id="472" name="Google Shape;472;p28"/>
              <p:cNvSpPr/>
              <p:nvPr/>
            </p:nvSpPr>
            <p:spPr>
              <a:xfrm>
                <a:off x="2381250" y="2000250"/>
                <a:ext cx="3238500" cy="285900"/>
              </a:xfrm>
              <a:prstGeom prst="roundRect">
                <a:avLst>
                  <a:gd fmla="val 13333"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8"/>
              <p:cNvSpPr txBox="1"/>
              <p:nvPr/>
            </p:nvSpPr>
            <p:spPr>
              <a:xfrm>
                <a:off x="2476500" y="200025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900">
                    <a:solidFill>
                      <a:srgbClr val="334155"/>
                    </a:solidFill>
                    <a:latin typeface="Inter"/>
                    <a:ea typeface="Inter"/>
                    <a:cs typeface="Inter"/>
                    <a:sym typeface="Inter"/>
                  </a:rPr>
                  <a:t>P Quản lý NCC → Lập tiêu chuẩn kiểm tra nhập vào</a:t>
                </a:r>
                <a:endParaRPr sz="900">
                  <a:solidFill>
                    <a:srgbClr val="334155"/>
                  </a:solidFill>
                  <a:latin typeface="Inter"/>
                  <a:ea typeface="Inter"/>
                  <a:cs typeface="Inter"/>
                  <a:sym typeface="Inter"/>
                </a:endParaRPr>
              </a:p>
            </p:txBody>
          </p:sp>
          <p:pic>
            <p:nvPicPr>
              <p:cNvPr id="474" name="Google Shape;474;p28"/>
              <p:cNvPicPr preferRelativeResize="0"/>
              <p:nvPr/>
            </p:nvPicPr>
            <p:blipFill rotWithShape="1">
              <a:blip r:embed="rId4">
                <a:alphaModFix/>
              </a:blip>
              <a:srcRect b="0" l="0" r="0" t="0"/>
              <a:stretch/>
            </p:blipFill>
            <p:spPr>
              <a:xfrm>
                <a:off x="3990975" y="2286000"/>
                <a:ext cx="19200" cy="142800"/>
              </a:xfrm>
              <a:prstGeom prst="rect">
                <a:avLst/>
              </a:prstGeom>
              <a:noFill/>
              <a:ln>
                <a:noFill/>
              </a:ln>
            </p:spPr>
          </p:pic>
          <p:sp>
            <p:nvSpPr>
              <p:cNvPr id="475" name="Google Shape;475;p28"/>
              <p:cNvSpPr/>
              <p:nvPr/>
            </p:nvSpPr>
            <p:spPr>
              <a:xfrm>
                <a:off x="2381250" y="2428875"/>
                <a:ext cx="3238500" cy="285900"/>
              </a:xfrm>
              <a:prstGeom prst="roundRect">
                <a:avLst>
                  <a:gd fmla="val 13333"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8"/>
              <p:cNvSpPr txBox="1"/>
              <p:nvPr/>
            </p:nvSpPr>
            <p:spPr>
              <a:xfrm>
                <a:off x="2476500" y="2428875"/>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900">
                    <a:solidFill>
                      <a:srgbClr val="334155"/>
                    </a:solidFill>
                    <a:latin typeface="Inter"/>
                    <a:ea typeface="Inter"/>
                    <a:cs typeface="Inter"/>
                    <a:sym typeface="Inter"/>
                  </a:rPr>
                  <a:t>P Công việc thu mua → Nhập kho vật tư, giữ kho &amp; phiếu kiểm tra</a:t>
                </a:r>
                <a:endParaRPr sz="900">
                  <a:solidFill>
                    <a:srgbClr val="334155"/>
                  </a:solidFill>
                  <a:latin typeface="Inter"/>
                  <a:ea typeface="Inter"/>
                  <a:cs typeface="Inter"/>
                  <a:sym typeface="Inter"/>
                </a:endParaRPr>
              </a:p>
            </p:txBody>
          </p:sp>
          <p:pic>
            <p:nvPicPr>
              <p:cNvPr id="477" name="Google Shape;477;p28"/>
              <p:cNvPicPr preferRelativeResize="0"/>
              <p:nvPr/>
            </p:nvPicPr>
            <p:blipFill rotWithShape="1">
              <a:blip r:embed="rId4">
                <a:alphaModFix/>
              </a:blip>
              <a:srcRect b="0" l="0" r="0" t="0"/>
              <a:stretch/>
            </p:blipFill>
            <p:spPr>
              <a:xfrm>
                <a:off x="3990975" y="2714625"/>
                <a:ext cx="19200" cy="142800"/>
              </a:xfrm>
              <a:prstGeom prst="rect">
                <a:avLst/>
              </a:prstGeom>
              <a:noFill/>
              <a:ln>
                <a:noFill/>
              </a:ln>
            </p:spPr>
          </p:pic>
          <p:sp>
            <p:nvSpPr>
              <p:cNvPr id="478" name="Google Shape;478;p28"/>
              <p:cNvSpPr/>
              <p:nvPr/>
            </p:nvSpPr>
            <p:spPr>
              <a:xfrm>
                <a:off x="2381250" y="2857500"/>
                <a:ext cx="3238500" cy="285900"/>
              </a:xfrm>
              <a:prstGeom prst="roundRect">
                <a:avLst>
                  <a:gd fmla="val 13333"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8"/>
              <p:cNvSpPr txBox="1"/>
              <p:nvPr/>
            </p:nvSpPr>
            <p:spPr>
              <a:xfrm>
                <a:off x="2476500" y="28575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900">
                    <a:solidFill>
                      <a:srgbClr val="334155"/>
                    </a:solidFill>
                    <a:latin typeface="Inter"/>
                    <a:ea typeface="Inter"/>
                    <a:cs typeface="Inter"/>
                    <a:sym typeface="Inter"/>
                  </a:rPr>
                  <a:t>P Quản lý vật tư → Tiến hành kiểm tra nhập vào</a:t>
                </a:r>
                <a:endParaRPr sz="900">
                  <a:solidFill>
                    <a:srgbClr val="334155"/>
                  </a:solidFill>
                  <a:latin typeface="Inter"/>
                  <a:ea typeface="Inter"/>
                  <a:cs typeface="Inter"/>
                  <a:sym typeface="Inter"/>
                </a:endParaRPr>
              </a:p>
            </p:txBody>
          </p:sp>
          <p:pic>
            <p:nvPicPr>
              <p:cNvPr id="480" name="Google Shape;480;p28"/>
              <p:cNvPicPr preferRelativeResize="0"/>
              <p:nvPr/>
            </p:nvPicPr>
            <p:blipFill rotWithShape="1">
              <a:blip r:embed="rId4">
                <a:alphaModFix/>
              </a:blip>
              <a:srcRect b="0" l="0" r="0" t="0"/>
              <a:stretch/>
            </p:blipFill>
            <p:spPr>
              <a:xfrm>
                <a:off x="3990975" y="3143250"/>
                <a:ext cx="19200" cy="142800"/>
              </a:xfrm>
              <a:prstGeom prst="rect">
                <a:avLst/>
              </a:prstGeom>
              <a:noFill/>
              <a:ln>
                <a:noFill/>
              </a:ln>
            </p:spPr>
          </p:pic>
          <p:pic>
            <p:nvPicPr>
              <p:cNvPr id="481" name="Google Shape;481;p28"/>
              <p:cNvPicPr preferRelativeResize="0"/>
              <p:nvPr/>
            </p:nvPicPr>
            <p:blipFill rotWithShape="1">
              <a:blip r:embed="rId5">
                <a:alphaModFix/>
              </a:blip>
              <a:srcRect b="0" l="0" r="0" t="0"/>
              <a:stretch/>
            </p:blipFill>
            <p:spPr>
              <a:xfrm>
                <a:off x="3043238" y="3276600"/>
                <a:ext cx="1914600" cy="400200"/>
              </a:xfrm>
              <a:prstGeom prst="rect">
                <a:avLst/>
              </a:prstGeom>
              <a:noFill/>
              <a:ln>
                <a:noFill/>
              </a:ln>
            </p:spPr>
          </p:pic>
          <p:sp>
            <p:nvSpPr>
              <p:cNvPr id="482" name="Google Shape;482;p28"/>
              <p:cNvSpPr txBox="1"/>
              <p:nvPr/>
            </p:nvSpPr>
            <p:spPr>
              <a:xfrm>
                <a:off x="3238500" y="3333750"/>
                <a:ext cx="1524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1E293B"/>
                    </a:solidFill>
                    <a:latin typeface="Inter"/>
                    <a:ea typeface="Inter"/>
                    <a:cs typeface="Inter"/>
                    <a:sym typeface="Inter"/>
                  </a:rPr>
                  <a:t>Đạt / Không đạt?</a:t>
                </a:r>
                <a:endParaRPr b="1" sz="900">
                  <a:solidFill>
                    <a:srgbClr val="1E293B"/>
                  </a:solidFill>
                  <a:latin typeface="Inter"/>
                  <a:ea typeface="Inter"/>
                  <a:cs typeface="Inter"/>
                  <a:sym typeface="Inter"/>
                </a:endParaRPr>
              </a:p>
            </p:txBody>
          </p:sp>
          <p:pic>
            <p:nvPicPr>
              <p:cNvPr id="483" name="Google Shape;483;p28"/>
              <p:cNvPicPr preferRelativeResize="0"/>
              <p:nvPr/>
            </p:nvPicPr>
            <p:blipFill rotWithShape="1">
              <a:blip r:embed="rId6">
                <a:alphaModFix/>
              </a:blip>
              <a:srcRect b="0" l="0" r="0" t="0"/>
              <a:stretch/>
            </p:blipFill>
            <p:spPr>
              <a:xfrm>
                <a:off x="2752725" y="3467100"/>
                <a:ext cx="295200" cy="295200"/>
              </a:xfrm>
              <a:prstGeom prst="rect">
                <a:avLst/>
              </a:prstGeom>
              <a:noFill/>
              <a:ln>
                <a:noFill/>
              </a:ln>
            </p:spPr>
          </p:pic>
          <p:sp>
            <p:nvSpPr>
              <p:cNvPr id="484" name="Google Shape;484;p28"/>
              <p:cNvSpPr txBox="1"/>
              <p:nvPr/>
            </p:nvSpPr>
            <p:spPr>
              <a:xfrm>
                <a:off x="2381250" y="3524250"/>
                <a:ext cx="381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vi" sz="800">
                    <a:solidFill>
                      <a:srgbClr val="3B82F6"/>
                    </a:solidFill>
                    <a:latin typeface="Inter"/>
                    <a:ea typeface="Inter"/>
                    <a:cs typeface="Inter"/>
                    <a:sym typeface="Inter"/>
                  </a:rPr>
                  <a:t>YES</a:t>
                </a:r>
                <a:endParaRPr b="1" sz="800">
                  <a:solidFill>
                    <a:srgbClr val="3B82F6"/>
                  </a:solidFill>
                  <a:latin typeface="Inter"/>
                  <a:ea typeface="Inter"/>
                  <a:cs typeface="Inter"/>
                  <a:sym typeface="Inter"/>
                </a:endParaRPr>
              </a:p>
            </p:txBody>
          </p:sp>
          <p:sp>
            <p:nvSpPr>
              <p:cNvPr id="485" name="Google Shape;485;p28"/>
              <p:cNvSpPr/>
              <p:nvPr/>
            </p:nvSpPr>
            <p:spPr>
              <a:xfrm>
                <a:off x="2095500" y="3762375"/>
                <a:ext cx="1333500" cy="285900"/>
              </a:xfrm>
              <a:prstGeom prst="roundRect">
                <a:avLst>
                  <a:gd fmla="val 13333" name="adj"/>
                </a:avLst>
              </a:prstGeom>
              <a:solidFill>
                <a:srgbClr val="DBEAFE"/>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28"/>
              <p:cNvSpPr txBox="1"/>
              <p:nvPr/>
            </p:nvSpPr>
            <p:spPr>
              <a:xfrm>
                <a:off x="2143125" y="3762375"/>
                <a:ext cx="1238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850">
                    <a:solidFill>
                      <a:srgbClr val="1E40AF"/>
                    </a:solidFill>
                    <a:latin typeface="Inter"/>
                    <a:ea typeface="Inter"/>
                    <a:cs typeface="Inter"/>
                    <a:sym typeface="Inter"/>
                  </a:rPr>
                  <a:t>Soạn kết quả kiểm tra</a:t>
                </a:r>
                <a:endParaRPr sz="850">
                  <a:solidFill>
                    <a:srgbClr val="1E40AF"/>
                  </a:solidFill>
                  <a:latin typeface="Inter"/>
                  <a:ea typeface="Inter"/>
                  <a:cs typeface="Inter"/>
                  <a:sym typeface="Inter"/>
                </a:endParaRPr>
              </a:p>
            </p:txBody>
          </p:sp>
          <p:pic>
            <p:nvPicPr>
              <p:cNvPr id="487" name="Google Shape;487;p28"/>
              <p:cNvPicPr preferRelativeResize="0"/>
              <p:nvPr/>
            </p:nvPicPr>
            <p:blipFill rotWithShape="1">
              <a:blip r:embed="rId7">
                <a:alphaModFix/>
              </a:blip>
              <a:srcRect b="0" l="0" r="0" t="0"/>
              <a:stretch/>
            </p:blipFill>
            <p:spPr>
              <a:xfrm>
                <a:off x="4953000" y="3467100"/>
                <a:ext cx="295200" cy="295200"/>
              </a:xfrm>
              <a:prstGeom prst="rect">
                <a:avLst/>
              </a:prstGeom>
              <a:noFill/>
              <a:ln>
                <a:noFill/>
              </a:ln>
            </p:spPr>
          </p:pic>
          <p:sp>
            <p:nvSpPr>
              <p:cNvPr id="488" name="Google Shape;488;p28"/>
              <p:cNvSpPr txBox="1"/>
              <p:nvPr/>
            </p:nvSpPr>
            <p:spPr>
              <a:xfrm>
                <a:off x="5286375" y="3524250"/>
                <a:ext cx="285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800">
                    <a:solidFill>
                      <a:srgbClr val="EF4444"/>
                    </a:solidFill>
                    <a:latin typeface="Inter"/>
                    <a:ea typeface="Inter"/>
                    <a:cs typeface="Inter"/>
                    <a:sym typeface="Inter"/>
                  </a:rPr>
                  <a:t>NO</a:t>
                </a:r>
                <a:endParaRPr b="1" sz="800">
                  <a:solidFill>
                    <a:srgbClr val="EF4444"/>
                  </a:solidFill>
                  <a:latin typeface="Inter"/>
                  <a:ea typeface="Inter"/>
                  <a:cs typeface="Inter"/>
                  <a:sym typeface="Inter"/>
                </a:endParaRPr>
              </a:p>
            </p:txBody>
          </p:sp>
          <p:sp>
            <p:nvSpPr>
              <p:cNvPr id="489" name="Google Shape;489;p28"/>
              <p:cNvSpPr/>
              <p:nvPr/>
            </p:nvSpPr>
            <p:spPr>
              <a:xfrm>
                <a:off x="4572000" y="3762375"/>
                <a:ext cx="1333500" cy="285900"/>
              </a:xfrm>
              <a:prstGeom prst="roundRect">
                <a:avLst>
                  <a:gd fmla="val 13333" name="adj"/>
                </a:avLst>
              </a:prstGeom>
              <a:solidFill>
                <a:srgbClr val="FEE2E2"/>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8"/>
              <p:cNvSpPr txBox="1"/>
              <p:nvPr/>
            </p:nvSpPr>
            <p:spPr>
              <a:xfrm>
                <a:off x="4619625" y="3762375"/>
                <a:ext cx="1238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850">
                    <a:solidFill>
                      <a:srgbClr val="991B1B"/>
                    </a:solidFill>
                    <a:latin typeface="Inter"/>
                    <a:ea typeface="Inter"/>
                    <a:cs typeface="Inter"/>
                    <a:sym typeface="Inter"/>
                  </a:rPr>
                  <a:t>P Xử lý hàng không phù hợp</a:t>
                </a:r>
                <a:endParaRPr sz="850">
                  <a:solidFill>
                    <a:srgbClr val="991B1B"/>
                  </a:solidFill>
                  <a:latin typeface="Inter"/>
                  <a:ea typeface="Inter"/>
                  <a:cs typeface="Inter"/>
                  <a:sym typeface="Inter"/>
                </a:endParaRPr>
              </a:p>
            </p:txBody>
          </p:sp>
          <p:pic>
            <p:nvPicPr>
              <p:cNvPr id="491" name="Google Shape;491;p28"/>
              <p:cNvPicPr preferRelativeResize="0"/>
              <p:nvPr/>
            </p:nvPicPr>
            <p:blipFill rotWithShape="1">
              <a:blip r:embed="rId8">
                <a:alphaModFix/>
              </a:blip>
              <a:srcRect b="0" l="0" r="0" t="0"/>
              <a:stretch/>
            </p:blipFill>
            <p:spPr>
              <a:xfrm>
                <a:off x="2752725" y="4048125"/>
                <a:ext cx="1257300" cy="285900"/>
              </a:xfrm>
              <a:prstGeom prst="rect">
                <a:avLst/>
              </a:prstGeom>
              <a:noFill/>
              <a:ln>
                <a:noFill/>
              </a:ln>
            </p:spPr>
          </p:pic>
          <p:pic>
            <p:nvPicPr>
              <p:cNvPr id="492" name="Google Shape;492;p28"/>
              <p:cNvPicPr preferRelativeResize="0"/>
              <p:nvPr/>
            </p:nvPicPr>
            <p:blipFill rotWithShape="1">
              <a:blip r:embed="rId9">
                <a:alphaModFix/>
              </a:blip>
              <a:srcRect b="0" l="0" r="0" t="0"/>
              <a:stretch/>
            </p:blipFill>
            <p:spPr>
              <a:xfrm>
                <a:off x="4000500" y="4048125"/>
                <a:ext cx="1247700" cy="200100"/>
              </a:xfrm>
              <a:prstGeom prst="rect">
                <a:avLst/>
              </a:prstGeom>
              <a:noFill/>
              <a:ln>
                <a:noFill/>
              </a:ln>
            </p:spPr>
          </p:pic>
          <p:sp>
            <p:nvSpPr>
              <p:cNvPr id="493" name="Google Shape;493;p28"/>
              <p:cNvSpPr/>
              <p:nvPr/>
            </p:nvSpPr>
            <p:spPr>
              <a:xfrm>
                <a:off x="2095500" y="4333875"/>
                <a:ext cx="3810000" cy="285900"/>
              </a:xfrm>
              <a:prstGeom prst="roundRect">
                <a:avLst>
                  <a:gd fmla="val 13333"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28"/>
              <p:cNvSpPr txBox="1"/>
              <p:nvPr/>
            </p:nvSpPr>
            <p:spPr>
              <a:xfrm>
                <a:off x="2190750" y="4333875"/>
                <a:ext cx="3619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900">
                    <a:solidFill>
                      <a:srgbClr val="FFFFFF"/>
                    </a:solidFill>
                    <a:latin typeface="Inter SemiBold"/>
                    <a:ea typeface="Inter SemiBold"/>
                    <a:cs typeface="Inter SemiBold"/>
                    <a:sym typeface="Inter SemiBold"/>
                  </a:rPr>
                  <a:t>Báo cáo kết quả kiểm tra – Thống kê hiện trạng chất lượng theo tháng</a:t>
                </a:r>
                <a:endParaRPr b="0" sz="900">
                  <a:solidFill>
                    <a:srgbClr val="FFFFFF"/>
                  </a:solidFill>
                  <a:latin typeface="Inter SemiBold"/>
                  <a:ea typeface="Inter SemiBold"/>
                  <a:cs typeface="Inter SemiBold"/>
                  <a:sym typeface="Inter SemiBold"/>
                </a:endParaRPr>
              </a:p>
            </p:txBody>
          </p:sp>
        </p:grpSp>
      </p:grpSp>
      <p:grpSp>
        <p:nvGrpSpPr>
          <p:cNvPr id="495" name="Google Shape;495;p28"/>
          <p:cNvGrpSpPr/>
          <p:nvPr/>
        </p:nvGrpSpPr>
        <p:grpSpPr>
          <a:xfrm>
            <a:off x="6096000" y="1047750"/>
            <a:ext cx="2667000" cy="3619500"/>
            <a:chOff x="6096000" y="1047750"/>
            <a:chExt cx="2667000" cy="3619500"/>
          </a:xfrm>
        </p:grpSpPr>
        <p:sp>
          <p:nvSpPr>
            <p:cNvPr id="496" name="Google Shape;496;p28"/>
            <p:cNvSpPr/>
            <p:nvPr/>
          </p:nvSpPr>
          <p:spPr>
            <a:xfrm>
              <a:off x="6096000" y="1047750"/>
              <a:ext cx="2667000" cy="3619500"/>
            </a:xfrm>
            <a:prstGeom prst="roundRect">
              <a:avLst>
                <a:gd fmla="val 3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28"/>
            <p:cNvSpPr/>
            <p:nvPr/>
          </p:nvSpPr>
          <p:spPr>
            <a:xfrm>
              <a:off x="6096000" y="1047750"/>
              <a:ext cx="2667000" cy="381000"/>
            </a:xfrm>
            <a:prstGeom prst="roundRect">
              <a:avLst>
                <a:gd fmla="val 25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28"/>
            <p:cNvSpPr txBox="1"/>
            <p:nvPr/>
          </p:nvSpPr>
          <p:spPr>
            <a:xfrm>
              <a:off x="6096000" y="1047750"/>
              <a:ext cx="2667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1000">
                  <a:solidFill>
                    <a:srgbClr val="FFFFFF"/>
                  </a:solidFill>
                  <a:latin typeface="Montserrat"/>
                  <a:ea typeface="Montserrat"/>
                  <a:cs typeface="Montserrat"/>
                  <a:sym typeface="Montserrat"/>
                </a:rPr>
                <a:t>PHÊ DUYỆT &amp; KÌ HẠN</a:t>
              </a:r>
              <a:endParaRPr b="1" sz="1000">
                <a:solidFill>
                  <a:srgbClr val="FFFFFF"/>
                </a:solidFill>
                <a:latin typeface="Montserrat"/>
                <a:ea typeface="Montserrat"/>
                <a:cs typeface="Montserrat"/>
                <a:sym typeface="Montserrat"/>
              </a:endParaRPr>
            </a:p>
          </p:txBody>
        </p:sp>
        <p:sp>
          <p:nvSpPr>
            <p:cNvPr id="499" name="Google Shape;499;p28"/>
            <p:cNvSpPr txBox="1"/>
            <p:nvPr/>
          </p:nvSpPr>
          <p:spPr>
            <a:xfrm>
              <a:off x="6286500" y="1571625"/>
              <a:ext cx="2286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000">
                  <a:solidFill>
                    <a:srgbClr val="8BC249"/>
                  </a:solidFill>
                  <a:latin typeface="Inter"/>
                  <a:ea typeface="Inter"/>
                  <a:cs typeface="Inter"/>
                  <a:sym typeface="Inter"/>
                </a:rPr>
                <a:t>• Người duyệt:</a:t>
              </a:r>
              <a:br>
                <a:rPr lang="vi" sz="1000">
                  <a:solidFill>
                    <a:srgbClr val="334155"/>
                  </a:solidFill>
                  <a:latin typeface="Inter"/>
                  <a:ea typeface="Inter"/>
                  <a:cs typeface="Inter"/>
                  <a:sym typeface="Inter"/>
                </a:rPr>
              </a:br>
              <a:r>
                <a:rPr lang="vi" sz="1000">
                  <a:solidFill>
                    <a:srgbClr val="334155"/>
                  </a:solidFill>
                  <a:latin typeface="Inter"/>
                  <a:ea typeface="Inter"/>
                  <a:cs typeface="Inter"/>
                  <a:sym typeface="Inter"/>
                </a:rPr>
                <a:t>Trưởng BP chất lượng / Người kiểm tra</a:t>
              </a:r>
              <a:endParaRPr sz="1000">
                <a:solidFill>
                  <a:srgbClr val="334155"/>
                </a:solidFill>
                <a:latin typeface="Inter"/>
                <a:ea typeface="Inter"/>
                <a:cs typeface="Inter"/>
                <a:sym typeface="Inter"/>
              </a:endParaRPr>
            </a:p>
            <a:p>
              <a:pPr indent="0" lvl="0" marL="0" rtl="0" algn="l">
                <a:spcBef>
                  <a:spcPts val="1125"/>
                </a:spcBef>
                <a:spcAft>
                  <a:spcPts val="0"/>
                </a:spcAft>
                <a:buNone/>
              </a:pPr>
              <a:r>
                <a:rPr b="1" lang="vi" sz="1000">
                  <a:solidFill>
                    <a:srgbClr val="8BC249"/>
                  </a:solidFill>
                  <a:latin typeface="Inter"/>
                  <a:ea typeface="Inter"/>
                  <a:cs typeface="Inter"/>
                  <a:sym typeface="Inter"/>
                </a:rPr>
                <a:t>• Kì hạn kiểm tra:</a:t>
              </a:r>
              <a:br>
                <a:rPr lang="vi" sz="1000">
                  <a:solidFill>
                    <a:srgbClr val="334155"/>
                  </a:solidFill>
                  <a:latin typeface="Inter"/>
                  <a:ea typeface="Inter"/>
                  <a:cs typeface="Inter"/>
                  <a:sym typeface="Inter"/>
                </a:rPr>
              </a:br>
              <a:r>
                <a:rPr lang="vi" sz="1000">
                  <a:solidFill>
                    <a:srgbClr val="334155"/>
                  </a:solidFill>
                  <a:latin typeface="Inter"/>
                  <a:ea typeface="Inter"/>
                  <a:cs typeface="Inter"/>
                  <a:sym typeface="Inter"/>
                </a:rPr>
                <a:t>Xử lý dữ liệu nghiêm ngặt trong vòng </a:t>
              </a:r>
              <a:r>
                <a:rPr b="1" lang="vi" sz="1000">
                  <a:solidFill>
                    <a:srgbClr val="EF4444"/>
                  </a:solidFill>
                  <a:latin typeface="Inter"/>
                  <a:ea typeface="Inter"/>
                  <a:cs typeface="Inter"/>
                  <a:sym typeface="Inter"/>
                </a:rPr>
                <a:t>24H</a:t>
              </a:r>
              <a:r>
                <a:rPr lang="vi" sz="1000">
                  <a:solidFill>
                    <a:srgbClr val="334155"/>
                  </a:solidFill>
                  <a:latin typeface="Inter"/>
                  <a:ea typeface="Inter"/>
                  <a:cs typeface="Inter"/>
                  <a:sym typeface="Inter"/>
                </a:rPr>
                <a:t>.</a:t>
              </a:r>
              <a:endParaRPr sz="1000">
                <a:solidFill>
                  <a:srgbClr val="334155"/>
                </a:solidFill>
                <a:latin typeface="Inter"/>
                <a:ea typeface="Inter"/>
                <a:cs typeface="Inter"/>
                <a:sym typeface="Inter"/>
              </a:endParaRPr>
            </a:p>
            <a:p>
              <a:pPr indent="0" lvl="0" marL="0" rtl="0" algn="l">
                <a:spcBef>
                  <a:spcPts val="1125"/>
                </a:spcBef>
                <a:spcAft>
                  <a:spcPts val="0"/>
                </a:spcAft>
                <a:buNone/>
              </a:pPr>
              <a:r>
                <a:rPr b="1" lang="vi" sz="1000">
                  <a:solidFill>
                    <a:srgbClr val="8BC249"/>
                  </a:solidFill>
                  <a:latin typeface="Inter"/>
                  <a:ea typeface="Inter"/>
                  <a:cs typeface="Inter"/>
                  <a:sym typeface="Inter"/>
                </a:rPr>
                <a:t>• Kì hạn đối sách NG:</a:t>
              </a:r>
              <a:br>
                <a:rPr lang="vi" sz="1000">
                  <a:solidFill>
                    <a:srgbClr val="334155"/>
                  </a:solidFill>
                  <a:latin typeface="Inter"/>
                  <a:ea typeface="Inter"/>
                  <a:cs typeface="Inter"/>
                  <a:sym typeface="Inter"/>
                </a:rPr>
              </a:br>
              <a:r>
                <a:rPr lang="vi" sz="1000">
                  <a:solidFill>
                    <a:srgbClr val="334155"/>
                  </a:solidFill>
                  <a:latin typeface="Inter"/>
                  <a:ea typeface="Inter"/>
                  <a:cs typeface="Inter"/>
                  <a:sym typeface="Inter"/>
                </a:rPr>
                <a:t>- Trong nước: </a:t>
              </a:r>
              <a:r>
                <a:rPr b="1" lang="vi" sz="1000">
                  <a:solidFill>
                    <a:srgbClr val="334155"/>
                  </a:solidFill>
                  <a:latin typeface="Inter"/>
                  <a:ea typeface="Inter"/>
                  <a:cs typeface="Inter"/>
                  <a:sym typeface="Inter"/>
                </a:rPr>
                <a:t>3 ngày</a:t>
              </a:r>
              <a:br>
                <a:rPr lang="vi" sz="1000">
                  <a:solidFill>
                    <a:srgbClr val="334155"/>
                  </a:solidFill>
                  <a:latin typeface="Inter"/>
                  <a:ea typeface="Inter"/>
                  <a:cs typeface="Inter"/>
                  <a:sym typeface="Inter"/>
                </a:rPr>
              </a:br>
              <a:r>
                <a:rPr lang="vi" sz="1000">
                  <a:solidFill>
                    <a:srgbClr val="334155"/>
                  </a:solidFill>
                  <a:latin typeface="Inter"/>
                  <a:ea typeface="Inter"/>
                  <a:cs typeface="Inter"/>
                  <a:sym typeface="Inter"/>
                </a:rPr>
                <a:t>- Nước ngoài: </a:t>
              </a:r>
              <a:r>
                <a:rPr b="1" lang="vi" sz="1000">
                  <a:solidFill>
                    <a:srgbClr val="334155"/>
                  </a:solidFill>
                  <a:latin typeface="Inter"/>
                  <a:ea typeface="Inter"/>
                  <a:cs typeface="Inter"/>
                  <a:sym typeface="Inter"/>
                </a:rPr>
                <a:t>7 ngày</a:t>
              </a:r>
              <a:endParaRPr sz="1000">
                <a:solidFill>
                  <a:srgbClr val="334155"/>
                </a:solidFill>
                <a:latin typeface="Inter"/>
                <a:ea typeface="Inter"/>
                <a:cs typeface="Inter"/>
                <a:sym typeface="Inter"/>
              </a:endParaRPr>
            </a:p>
            <a:p>
              <a:pPr indent="0" lvl="0" marL="0" rtl="0" algn="l">
                <a:spcBef>
                  <a:spcPts val="1875"/>
                </a:spcBef>
                <a:spcAft>
                  <a:spcPts val="0"/>
                </a:spcAft>
                <a:buNone/>
              </a:pPr>
              <a:r>
                <a:rPr i="1" lang="vi" sz="850">
                  <a:solidFill>
                    <a:srgbClr val="334155"/>
                  </a:solidFill>
                  <a:highlight>
                    <a:srgbClr val="FFFBEB"/>
                  </a:highlight>
                  <a:latin typeface="Inter"/>
                  <a:ea typeface="Inter"/>
                  <a:cs typeface="Inter"/>
                  <a:sym typeface="Inter"/>
                </a:rPr>
                <a:t>* Lưu trình báo cáo đơn vị định kỳ vào ngày 28 hàng tháng.</a:t>
              </a:r>
              <a:endParaRPr i="1" sz="850">
                <a:solidFill>
                  <a:srgbClr val="334155"/>
                </a:solidFill>
                <a:highlight>
                  <a:srgbClr val="FFFBEB"/>
                </a:highlight>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3" name="Shape 503"/>
        <p:cNvGrpSpPr/>
        <p:nvPr/>
      </p:nvGrpSpPr>
      <p:grpSpPr>
        <a:xfrm>
          <a:off x="0" y="0"/>
          <a:ext cx="0" cy="0"/>
          <a:chOff x="0" y="0"/>
          <a:chExt cx="0" cy="0"/>
        </a:xfrm>
      </p:grpSpPr>
      <p:sp>
        <p:nvSpPr>
          <p:cNvPr id="504" name="Google Shape;504;p29"/>
          <p:cNvSpPr txBox="1"/>
          <p:nvPr/>
        </p:nvSpPr>
        <p:spPr>
          <a:xfrm>
            <a:off x="607219" y="357188"/>
            <a:ext cx="8143800" cy="472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vi" sz="1018">
                <a:solidFill>
                  <a:srgbClr val="8BC249"/>
                </a:solidFill>
                <a:latin typeface="Montserrat SemiBold"/>
                <a:ea typeface="Montserrat SemiBold"/>
                <a:cs typeface="Montserrat SemiBold"/>
                <a:sym typeface="Montserrat SemiBold"/>
              </a:rPr>
              <a:t>VIETNAM IQC TEAM</a:t>
            </a:r>
            <a:endParaRPr b="0" i="0" sz="1018">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i="0" lang="vi" sz="2050">
                <a:solidFill>
                  <a:srgbClr val="0F172A"/>
                </a:solidFill>
                <a:latin typeface="Montserrat"/>
                <a:ea typeface="Montserrat"/>
                <a:cs typeface="Montserrat"/>
                <a:sym typeface="Montserrat"/>
              </a:rPr>
              <a:t>KHÓ KHĂN</a:t>
            </a:r>
            <a:endParaRPr b="0" i="0" sz="1218">
              <a:solidFill>
                <a:srgbClr val="8BC249"/>
              </a:solidFill>
              <a:latin typeface="Montserrat SemiBold"/>
              <a:ea typeface="Montserrat SemiBold"/>
              <a:cs typeface="Montserrat SemiBold"/>
              <a:sym typeface="Montserrat SemiBold"/>
            </a:endParaRPr>
          </a:p>
        </p:txBody>
      </p:sp>
      <p:sp>
        <p:nvSpPr>
          <p:cNvPr id="505" name="Google Shape;505;p29"/>
          <p:cNvSpPr/>
          <p:nvPr/>
        </p:nvSpPr>
        <p:spPr>
          <a:xfrm>
            <a:off x="428625" y="392906"/>
            <a:ext cx="57000" cy="428700"/>
          </a:xfrm>
          <a:prstGeom prst="rect">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6" name="Google Shape;506;p29"/>
          <p:cNvGrpSpPr/>
          <p:nvPr/>
        </p:nvGrpSpPr>
        <p:grpSpPr>
          <a:xfrm>
            <a:off x="428625" y="1047750"/>
            <a:ext cx="8286750" cy="1428900"/>
            <a:chOff x="428625" y="1047750"/>
            <a:chExt cx="8286750" cy="1428900"/>
          </a:xfrm>
        </p:grpSpPr>
        <p:sp>
          <p:nvSpPr>
            <p:cNvPr id="507" name="Google Shape;507;p29"/>
            <p:cNvSpPr/>
            <p:nvPr/>
          </p:nvSpPr>
          <p:spPr>
            <a:xfrm>
              <a:off x="428625" y="1047750"/>
              <a:ext cx="26670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9"/>
            <p:cNvSpPr/>
            <p:nvPr/>
          </p:nvSpPr>
          <p:spPr>
            <a:xfrm>
              <a:off x="428625" y="1047750"/>
              <a:ext cx="26670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09" name="Google Shape;509;p29"/>
            <p:cNvPicPr preferRelativeResize="0"/>
            <p:nvPr/>
          </p:nvPicPr>
          <p:blipFill rotWithShape="1">
            <a:blip r:embed="rId4">
              <a:alphaModFix/>
            </a:blip>
            <a:srcRect b="0" l="0" r="0" t="0"/>
            <a:stretch/>
          </p:blipFill>
          <p:spPr>
            <a:xfrm>
              <a:off x="619125" y="1190625"/>
              <a:ext cx="285900" cy="285900"/>
            </a:xfrm>
            <a:prstGeom prst="rect">
              <a:avLst/>
            </a:prstGeom>
            <a:noFill/>
            <a:ln>
              <a:noFill/>
            </a:ln>
          </p:spPr>
        </p:pic>
        <p:sp>
          <p:nvSpPr>
            <p:cNvPr id="510" name="Google Shape;510;p29"/>
            <p:cNvSpPr txBox="1"/>
            <p:nvPr/>
          </p:nvSpPr>
          <p:spPr>
            <a:xfrm>
              <a:off x="619125" y="152400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200">
                  <a:solidFill>
                    <a:srgbClr val="1E293B"/>
                  </a:solidFill>
                  <a:latin typeface="Montserrat"/>
                  <a:ea typeface="Montserrat"/>
                  <a:cs typeface="Montserrat"/>
                  <a:sym typeface="Montserrat"/>
                </a:rPr>
                <a:t>TỐC ĐỘ &amp; HIỆU SUẤT</a:t>
              </a:r>
              <a:endParaRPr b="1" sz="1200">
                <a:solidFill>
                  <a:srgbClr val="1E293B"/>
                </a:solidFill>
                <a:latin typeface="Montserrat"/>
                <a:ea typeface="Montserrat"/>
                <a:cs typeface="Montserrat"/>
                <a:sym typeface="Montserrat"/>
              </a:endParaRPr>
            </a:p>
            <a:p>
              <a:pPr indent="0" lvl="0" marL="0" rtl="0" algn="l">
                <a:spcBef>
                  <a:spcPts val="375"/>
                </a:spcBef>
                <a:spcAft>
                  <a:spcPts val="0"/>
                </a:spcAft>
                <a:buNone/>
              </a:pPr>
              <a:r>
                <a:rPr lang="vi" sz="1000">
                  <a:solidFill>
                    <a:srgbClr val="475569"/>
                  </a:solidFill>
                  <a:latin typeface="Inter"/>
                  <a:ea typeface="Inter"/>
                  <a:cs typeface="Inter"/>
                  <a:sym typeface="Inter"/>
                </a:rPr>
                <a:t>Hệ thống xử lý chậm tương tự bộ phận OQC, gây cản trở khâu tiếp nhận hàng hóa nhanh.</a:t>
              </a:r>
              <a:endParaRPr sz="1000">
                <a:solidFill>
                  <a:srgbClr val="475569"/>
                </a:solidFill>
                <a:latin typeface="Inter"/>
                <a:ea typeface="Inter"/>
                <a:cs typeface="Inter"/>
                <a:sym typeface="Inter"/>
              </a:endParaRPr>
            </a:p>
          </p:txBody>
        </p:sp>
        <p:sp>
          <p:nvSpPr>
            <p:cNvPr id="511" name="Google Shape;511;p29"/>
            <p:cNvSpPr/>
            <p:nvPr/>
          </p:nvSpPr>
          <p:spPr>
            <a:xfrm>
              <a:off x="3238500" y="1047750"/>
              <a:ext cx="26670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29"/>
            <p:cNvSpPr/>
            <p:nvPr/>
          </p:nvSpPr>
          <p:spPr>
            <a:xfrm>
              <a:off x="3238500" y="1047750"/>
              <a:ext cx="26670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13" name="Google Shape;513;p29"/>
            <p:cNvPicPr preferRelativeResize="0"/>
            <p:nvPr/>
          </p:nvPicPr>
          <p:blipFill rotWithShape="1">
            <a:blip r:embed="rId5">
              <a:alphaModFix/>
            </a:blip>
            <a:srcRect b="0" l="0" r="0" t="0"/>
            <a:stretch/>
          </p:blipFill>
          <p:spPr>
            <a:xfrm>
              <a:off x="3429000" y="1190625"/>
              <a:ext cx="285900" cy="285900"/>
            </a:xfrm>
            <a:prstGeom prst="rect">
              <a:avLst/>
            </a:prstGeom>
            <a:noFill/>
            <a:ln>
              <a:noFill/>
            </a:ln>
          </p:spPr>
        </p:pic>
        <p:sp>
          <p:nvSpPr>
            <p:cNvPr id="514" name="Google Shape;514;p29"/>
            <p:cNvSpPr txBox="1"/>
            <p:nvPr/>
          </p:nvSpPr>
          <p:spPr>
            <a:xfrm>
              <a:off x="3429000" y="152400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200">
                  <a:solidFill>
                    <a:srgbClr val="1E293B"/>
                  </a:solidFill>
                  <a:latin typeface="Montserrat"/>
                  <a:ea typeface="Montserrat"/>
                  <a:cs typeface="Montserrat"/>
                  <a:sym typeface="Montserrat"/>
                </a:rPr>
                <a:t>KIỂM SOÁT LỎNG LẺO</a:t>
              </a:r>
              <a:endParaRPr b="1" sz="1200">
                <a:solidFill>
                  <a:srgbClr val="1E293B"/>
                </a:solidFill>
                <a:latin typeface="Montserrat"/>
                <a:ea typeface="Montserrat"/>
                <a:cs typeface="Montserrat"/>
                <a:sym typeface="Montserrat"/>
              </a:endParaRPr>
            </a:p>
            <a:p>
              <a:pPr indent="0" lvl="0" marL="0" rtl="0" algn="l">
                <a:spcBef>
                  <a:spcPts val="375"/>
                </a:spcBef>
                <a:spcAft>
                  <a:spcPts val="0"/>
                </a:spcAft>
                <a:buNone/>
              </a:pPr>
              <a:r>
                <a:rPr lang="vi" sz="1000">
                  <a:solidFill>
                    <a:srgbClr val="475569"/>
                  </a:solidFill>
                  <a:latin typeface="Inter"/>
                  <a:ea typeface="Inter"/>
                  <a:cs typeface="Inter"/>
                  <a:sym typeface="Inter"/>
                </a:rPr>
                <a:t>Hàng chưa Pass kiểm định trên hệ thống nhưng thực tế vẫn có thể mang ra chuyền sản xuất sử dụng.</a:t>
              </a:r>
              <a:endParaRPr sz="1000">
                <a:solidFill>
                  <a:srgbClr val="475569"/>
                </a:solidFill>
                <a:latin typeface="Inter"/>
                <a:ea typeface="Inter"/>
                <a:cs typeface="Inter"/>
                <a:sym typeface="Inter"/>
              </a:endParaRPr>
            </a:p>
          </p:txBody>
        </p:sp>
        <p:sp>
          <p:nvSpPr>
            <p:cNvPr id="515" name="Google Shape;515;p29"/>
            <p:cNvSpPr/>
            <p:nvPr/>
          </p:nvSpPr>
          <p:spPr>
            <a:xfrm>
              <a:off x="6048375" y="1047750"/>
              <a:ext cx="26670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29"/>
            <p:cNvSpPr/>
            <p:nvPr/>
          </p:nvSpPr>
          <p:spPr>
            <a:xfrm>
              <a:off x="6048375" y="1047750"/>
              <a:ext cx="26670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17" name="Google Shape;517;p29"/>
            <p:cNvPicPr preferRelativeResize="0"/>
            <p:nvPr/>
          </p:nvPicPr>
          <p:blipFill rotWithShape="1">
            <a:blip r:embed="rId6">
              <a:alphaModFix/>
            </a:blip>
            <a:srcRect b="0" l="0" r="0" t="0"/>
            <a:stretch/>
          </p:blipFill>
          <p:spPr>
            <a:xfrm>
              <a:off x="6238875" y="1190625"/>
              <a:ext cx="285900" cy="285900"/>
            </a:xfrm>
            <a:prstGeom prst="rect">
              <a:avLst/>
            </a:prstGeom>
            <a:noFill/>
            <a:ln>
              <a:noFill/>
            </a:ln>
          </p:spPr>
        </p:pic>
        <p:sp>
          <p:nvSpPr>
            <p:cNvPr id="518" name="Google Shape;518;p29"/>
            <p:cNvSpPr txBox="1"/>
            <p:nvPr/>
          </p:nvSpPr>
          <p:spPr>
            <a:xfrm>
              <a:off x="6238875" y="152400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200">
                  <a:solidFill>
                    <a:srgbClr val="1E293B"/>
                  </a:solidFill>
                  <a:latin typeface="Montserrat"/>
                  <a:ea typeface="Montserrat"/>
                  <a:cs typeface="Montserrat"/>
                  <a:sym typeface="Montserrat"/>
                </a:rPr>
                <a:t>THIẾU QUY TẮC FIFO</a:t>
              </a:r>
              <a:endParaRPr b="1" sz="1200">
                <a:solidFill>
                  <a:srgbClr val="1E293B"/>
                </a:solidFill>
                <a:latin typeface="Montserrat"/>
                <a:ea typeface="Montserrat"/>
                <a:cs typeface="Montserrat"/>
                <a:sym typeface="Montserrat"/>
              </a:endParaRPr>
            </a:p>
            <a:p>
              <a:pPr indent="0" lvl="0" marL="0" rtl="0" algn="l">
                <a:spcBef>
                  <a:spcPts val="375"/>
                </a:spcBef>
                <a:spcAft>
                  <a:spcPts val="0"/>
                </a:spcAft>
                <a:buNone/>
              </a:pPr>
              <a:r>
                <a:rPr lang="vi" sz="1000">
                  <a:solidFill>
                    <a:srgbClr val="475569"/>
                  </a:solidFill>
                  <a:latin typeface="Inter"/>
                  <a:ea typeface="Inter"/>
                  <a:cs typeface="Inter"/>
                  <a:sym typeface="Inter"/>
                </a:rPr>
                <a:t>Chưa có cơ chế kiểm soát First In First Out (Nhập trước Xuất trước) cho nguyên vật liệu trên phần mềm MES/ERP.</a:t>
              </a:r>
              <a:endParaRPr sz="1000">
                <a:solidFill>
                  <a:srgbClr val="475569"/>
                </a:solidFill>
                <a:latin typeface="Inter"/>
                <a:ea typeface="Inter"/>
                <a:cs typeface="Inter"/>
                <a:sym typeface="Inter"/>
              </a:endParaRPr>
            </a:p>
          </p:txBody>
        </p:sp>
      </p:grpSp>
      <p:grpSp>
        <p:nvGrpSpPr>
          <p:cNvPr id="519" name="Google Shape;519;p29"/>
          <p:cNvGrpSpPr/>
          <p:nvPr/>
        </p:nvGrpSpPr>
        <p:grpSpPr>
          <a:xfrm>
            <a:off x="428625" y="2619375"/>
            <a:ext cx="8286900" cy="2238300"/>
            <a:chOff x="428625" y="2619375"/>
            <a:chExt cx="8286900" cy="2238300"/>
          </a:xfrm>
        </p:grpSpPr>
        <p:sp>
          <p:nvSpPr>
            <p:cNvPr id="520" name="Google Shape;520;p29"/>
            <p:cNvSpPr/>
            <p:nvPr/>
          </p:nvSpPr>
          <p:spPr>
            <a:xfrm>
              <a:off x="428625" y="2619375"/>
              <a:ext cx="8286900" cy="2238300"/>
            </a:xfrm>
            <a:prstGeom prst="roundRect">
              <a:avLst>
                <a:gd fmla="val 510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29"/>
            <p:cNvSpPr txBox="1"/>
            <p:nvPr/>
          </p:nvSpPr>
          <p:spPr>
            <a:xfrm>
              <a:off x="619125" y="2762250"/>
              <a:ext cx="7905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833">
                  <a:solidFill>
                    <a:srgbClr val="B91C1C"/>
                  </a:solidFill>
                  <a:highlight>
                    <a:srgbClr val="FEE2E2"/>
                  </a:highlight>
                  <a:latin typeface="Montserrat"/>
                  <a:ea typeface="Montserrat"/>
                  <a:cs typeface="Montserrat"/>
                  <a:sym typeface="Montserrat"/>
                </a:rPr>
                <a:t>DATA</a:t>
              </a:r>
              <a:endParaRPr sz="1295">
                <a:latin typeface="Inter"/>
                <a:ea typeface="Inter"/>
                <a:cs typeface="Inter"/>
                <a:sym typeface="Inter"/>
              </a:endParaRPr>
            </a:p>
            <a:p>
              <a:pPr indent="0" lvl="0" marL="0" rtl="0" algn="l">
                <a:spcBef>
                  <a:spcPts val="0"/>
                </a:spcBef>
                <a:spcAft>
                  <a:spcPts val="0"/>
                </a:spcAft>
                <a:buNone/>
              </a:pPr>
              <a:r>
                <a:rPr b="1" lang="vi" sz="971">
                  <a:solidFill>
                    <a:srgbClr val="1E293B"/>
                  </a:solidFill>
                  <a:latin typeface="Montserrat"/>
                  <a:ea typeface="Montserrat"/>
                  <a:cs typeface="Montserrat"/>
                  <a:sym typeface="Montserrat"/>
                </a:rPr>
                <a:t>NHẬP TAY &amp; QUẢN LÝ FILE EXCEL RỜI RẠC</a:t>
              </a:r>
              <a:endParaRPr b="1" sz="971">
                <a:solidFill>
                  <a:srgbClr val="1E293B"/>
                </a:solidFill>
                <a:latin typeface="Montserrat"/>
                <a:ea typeface="Montserrat"/>
                <a:cs typeface="Montserrat"/>
                <a:sym typeface="Montserrat"/>
              </a:endParaRPr>
            </a:p>
            <a:p>
              <a:pPr indent="0" lvl="0" marL="0" rtl="0" algn="l">
                <a:spcBef>
                  <a:spcPts val="150"/>
                </a:spcBef>
                <a:spcAft>
                  <a:spcPts val="0"/>
                </a:spcAft>
                <a:buNone/>
              </a:pPr>
              <a:r>
                <a:rPr lang="vi" sz="879">
                  <a:solidFill>
                    <a:srgbClr val="475569"/>
                  </a:solidFill>
                  <a:latin typeface="Inter"/>
                  <a:ea typeface="Inter"/>
                  <a:cs typeface="Inter"/>
                  <a:sym typeface="Inter"/>
                </a:rPr>
                <a:t>Dữ liệu IQC Sorting 100% và IQC Sampling Check hoàn toàn phải nhập tay, theo dõi bằng các file Excel thủ công, tốn nguồn lực và dễ lỗi cấu trúc.</a:t>
              </a:r>
              <a:endParaRPr sz="879">
                <a:solidFill>
                  <a:srgbClr val="475569"/>
                </a:solidFill>
                <a:latin typeface="Inter"/>
                <a:ea typeface="Inter"/>
                <a:cs typeface="Inter"/>
                <a:sym typeface="Inter"/>
              </a:endParaRPr>
            </a:p>
            <a:p>
              <a:pPr indent="0" lvl="0" marL="0" rtl="0" algn="l">
                <a:spcBef>
                  <a:spcPts val="900"/>
                </a:spcBef>
                <a:spcAft>
                  <a:spcPts val="0"/>
                </a:spcAft>
                <a:buNone/>
              </a:pPr>
              <a:r>
                <a:rPr b="1" lang="vi" sz="833">
                  <a:solidFill>
                    <a:srgbClr val="B91C1C"/>
                  </a:solidFill>
                  <a:highlight>
                    <a:srgbClr val="FEE2E2"/>
                  </a:highlight>
                  <a:latin typeface="Montserrat"/>
                  <a:ea typeface="Montserrat"/>
                  <a:cs typeface="Montserrat"/>
                  <a:sym typeface="Montserrat"/>
                </a:rPr>
                <a:t>LINE</a:t>
              </a:r>
              <a:endParaRPr sz="1295">
                <a:latin typeface="Inter"/>
                <a:ea typeface="Inter"/>
                <a:cs typeface="Inter"/>
                <a:sym typeface="Inter"/>
              </a:endParaRPr>
            </a:p>
            <a:p>
              <a:pPr indent="0" lvl="0" marL="0" rtl="0" algn="l">
                <a:spcBef>
                  <a:spcPts val="0"/>
                </a:spcBef>
                <a:spcAft>
                  <a:spcPts val="0"/>
                </a:spcAft>
                <a:buNone/>
              </a:pPr>
              <a:r>
                <a:rPr b="1" lang="vi" sz="971">
                  <a:solidFill>
                    <a:srgbClr val="1E293B"/>
                  </a:solidFill>
                  <a:latin typeface="Montserrat"/>
                  <a:ea typeface="Montserrat"/>
                  <a:cs typeface="Montserrat"/>
                  <a:sym typeface="Montserrat"/>
                </a:rPr>
                <a:t>NGUYÊN VẬT LIỆU NG LỌT VÀO LINE SẢN XUẤT</a:t>
              </a:r>
              <a:endParaRPr b="1" sz="971">
                <a:solidFill>
                  <a:srgbClr val="1E293B"/>
                </a:solidFill>
                <a:latin typeface="Montserrat"/>
                <a:ea typeface="Montserrat"/>
                <a:cs typeface="Montserrat"/>
                <a:sym typeface="Montserrat"/>
              </a:endParaRPr>
            </a:p>
            <a:p>
              <a:pPr indent="0" lvl="0" marL="0" rtl="0" algn="l">
                <a:spcBef>
                  <a:spcPts val="150"/>
                </a:spcBef>
                <a:spcAft>
                  <a:spcPts val="0"/>
                </a:spcAft>
                <a:buNone/>
              </a:pPr>
              <a:r>
                <a:rPr lang="vi" sz="879">
                  <a:solidFill>
                    <a:srgbClr val="475569"/>
                  </a:solidFill>
                  <a:latin typeface="Inter"/>
                  <a:ea typeface="Inter"/>
                  <a:cs typeface="Inter"/>
                  <a:sym typeface="Inter"/>
                </a:rPr>
                <a:t>Vật tư IQC lỗi (NG) bị lọt vào dây chuyền. Khi thu hồi chuyển ra kho vật tư phát sinh tình trạng </a:t>
              </a:r>
              <a:r>
                <a:rPr b="1" lang="vi" sz="879">
                  <a:solidFill>
                    <a:srgbClr val="475569"/>
                  </a:solidFill>
                  <a:latin typeface="Inter"/>
                  <a:ea typeface="Inter"/>
                  <a:cs typeface="Inter"/>
                  <a:sym typeface="Inter"/>
                </a:rPr>
                <a:t>không có dữ liệu thống kê</a:t>
              </a:r>
              <a:r>
                <a:rPr lang="vi" sz="879">
                  <a:solidFill>
                    <a:srgbClr val="475569"/>
                  </a:solidFill>
                  <a:latin typeface="Inter"/>
                  <a:ea typeface="Inter"/>
                  <a:cs typeface="Inter"/>
                  <a:sym typeface="Inter"/>
                </a:rPr>
                <a:t> để kiểm soát nguyên nhân.</a:t>
              </a:r>
              <a:endParaRPr sz="879">
                <a:solidFill>
                  <a:srgbClr val="475569"/>
                </a:solidFill>
                <a:latin typeface="Inter"/>
                <a:ea typeface="Inter"/>
                <a:cs typeface="Inter"/>
                <a:sym typeface="Inter"/>
              </a:endParaRPr>
            </a:p>
            <a:p>
              <a:pPr indent="0" lvl="0" marL="0" rtl="0" algn="l">
                <a:spcBef>
                  <a:spcPts val="900"/>
                </a:spcBef>
                <a:spcAft>
                  <a:spcPts val="0"/>
                </a:spcAft>
                <a:buNone/>
              </a:pPr>
              <a:r>
                <a:rPr b="1" lang="vi" sz="833">
                  <a:solidFill>
                    <a:srgbClr val="B91C1C"/>
                  </a:solidFill>
                  <a:highlight>
                    <a:srgbClr val="FEE2E2"/>
                  </a:highlight>
                  <a:latin typeface="Montserrat"/>
                  <a:ea typeface="Montserrat"/>
                  <a:cs typeface="Montserrat"/>
                  <a:sym typeface="Montserrat"/>
                </a:rPr>
                <a:t>LOCAL</a:t>
              </a:r>
              <a:endParaRPr sz="1295">
                <a:latin typeface="Inter"/>
                <a:ea typeface="Inter"/>
                <a:cs typeface="Inter"/>
                <a:sym typeface="Inter"/>
              </a:endParaRPr>
            </a:p>
            <a:p>
              <a:pPr indent="0" lvl="0" marL="0" rtl="0" algn="l">
                <a:spcBef>
                  <a:spcPts val="0"/>
                </a:spcBef>
                <a:spcAft>
                  <a:spcPts val="0"/>
                </a:spcAft>
                <a:buNone/>
              </a:pPr>
              <a:r>
                <a:rPr b="1" lang="vi" sz="971">
                  <a:solidFill>
                    <a:srgbClr val="1E293B"/>
                  </a:solidFill>
                  <a:latin typeface="Montserrat"/>
                  <a:ea typeface="Montserrat"/>
                  <a:cs typeface="Montserrat"/>
                  <a:sym typeface="Montserrat"/>
                </a:rPr>
                <a:t>KẾT QUẢ ĐO ĐẠC LƯU CỤC BỘ &amp; THIẾU TẬP TRUNG</a:t>
              </a:r>
              <a:endParaRPr b="1" sz="971">
                <a:solidFill>
                  <a:srgbClr val="1E293B"/>
                </a:solidFill>
                <a:latin typeface="Montserrat"/>
                <a:ea typeface="Montserrat"/>
                <a:cs typeface="Montserrat"/>
                <a:sym typeface="Montserrat"/>
              </a:endParaRPr>
            </a:p>
            <a:p>
              <a:pPr indent="0" lvl="0" marL="0" rtl="0" algn="l">
                <a:spcBef>
                  <a:spcPts val="150"/>
                </a:spcBef>
                <a:spcAft>
                  <a:spcPts val="900"/>
                </a:spcAft>
                <a:buNone/>
              </a:pPr>
              <a:r>
                <a:rPr lang="vi" sz="879">
                  <a:solidFill>
                    <a:srgbClr val="475569"/>
                  </a:solidFill>
                  <a:latin typeface="Inter"/>
                  <a:ea typeface="Inter"/>
                  <a:cs typeface="Inter"/>
                  <a:sym typeface="Inter"/>
                </a:rPr>
                <a:t>Dữ liệu đo kiểm và hồ sơ hạng mục kiểm thử test dầu đang bị cô lập, lưu trữ phân mảnh trên Excel của máy trạm cá nhân, khó trích xuất dữ liệu tổng quan.</a:t>
              </a:r>
              <a:endParaRPr sz="879">
                <a:solidFill>
                  <a:srgbClr val="475569"/>
                </a:solidFill>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pic>
        <p:nvPicPr>
          <p:cNvPr descr="image.png" id="526" name="Google Shape;526;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7" name="Google Shape;527;p30"/>
          <p:cNvSpPr txBox="1"/>
          <p:nvPr/>
        </p:nvSpPr>
        <p:spPr>
          <a:xfrm>
            <a:off x="571500" y="357188"/>
            <a:ext cx="8551200" cy="47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PQC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SƠ ĐỒ QUY TRÌNH KIỂM SOÁT CHẤT LƯỢNG CÔNG ĐOẠN</a:t>
            </a:r>
            <a:endParaRPr b="0" i="0" sz="1200" u="none" cap="none" strike="noStrike">
              <a:solidFill>
                <a:srgbClr val="000000"/>
              </a:solidFill>
              <a:latin typeface="Arial"/>
              <a:ea typeface="Arial"/>
              <a:cs typeface="Arial"/>
              <a:sym typeface="Arial"/>
            </a:endParaRPr>
          </a:p>
        </p:txBody>
      </p:sp>
      <p:sp>
        <p:nvSpPr>
          <p:cNvPr id="528" name="Google Shape;528;p30"/>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529" name="Google Shape;529;p30"/>
          <p:cNvGrpSpPr/>
          <p:nvPr/>
        </p:nvGrpSpPr>
        <p:grpSpPr>
          <a:xfrm>
            <a:off x="428625" y="1047750"/>
            <a:ext cx="5524500" cy="3714900"/>
            <a:chOff x="428625" y="1047750"/>
            <a:chExt cx="5524500" cy="3714900"/>
          </a:xfrm>
        </p:grpSpPr>
        <p:sp>
          <p:nvSpPr>
            <p:cNvPr id="530" name="Google Shape;530;p30"/>
            <p:cNvSpPr/>
            <p:nvPr/>
          </p:nvSpPr>
          <p:spPr>
            <a:xfrm>
              <a:off x="428625" y="1047750"/>
              <a:ext cx="5524500" cy="3714900"/>
            </a:xfrm>
            <a:prstGeom prst="roundRect">
              <a:avLst>
                <a:gd fmla="val 307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31" name="Google Shape;531;p30"/>
            <p:cNvGrpSpPr/>
            <p:nvPr/>
          </p:nvGrpSpPr>
          <p:grpSpPr>
            <a:xfrm>
              <a:off x="1762125" y="1238250"/>
              <a:ext cx="2857500" cy="476400"/>
              <a:chOff x="1762125" y="1238250"/>
              <a:chExt cx="2857500" cy="476400"/>
            </a:xfrm>
          </p:grpSpPr>
          <p:sp>
            <p:nvSpPr>
              <p:cNvPr id="532" name="Google Shape;532;p30"/>
              <p:cNvSpPr/>
              <p:nvPr/>
            </p:nvSpPr>
            <p:spPr>
              <a:xfrm>
                <a:off x="1762125" y="1238250"/>
                <a:ext cx="2857500" cy="476400"/>
              </a:xfrm>
              <a:prstGeom prst="roundRect">
                <a:avLst>
                  <a:gd fmla="val 16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30"/>
              <p:cNvSpPr txBox="1"/>
              <p:nvPr/>
            </p:nvSpPr>
            <p:spPr>
              <a:xfrm>
                <a:off x="1762125" y="1238250"/>
                <a:ext cx="2857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000">
                    <a:solidFill>
                      <a:srgbClr val="1E293B"/>
                    </a:solidFill>
                    <a:latin typeface="Montserrat SemiBold"/>
                    <a:ea typeface="Montserrat SemiBold"/>
                    <a:cs typeface="Montserrat SemiBold"/>
                    <a:sym typeface="Montserrat SemiBold"/>
                  </a:rPr>
                  <a:t>Phát sinh hàng NG (Khâu Check PQC hoặc Công nhân sản xuất phát hiện)</a:t>
                </a:r>
                <a:endParaRPr b="0" sz="1000">
                  <a:solidFill>
                    <a:srgbClr val="1E293B"/>
                  </a:solidFill>
                  <a:latin typeface="Montserrat SemiBold"/>
                  <a:ea typeface="Montserrat SemiBold"/>
                  <a:cs typeface="Montserrat SemiBold"/>
                  <a:sym typeface="Montserrat SemiBold"/>
                </a:endParaRPr>
              </a:p>
            </p:txBody>
          </p:sp>
        </p:grpSp>
        <p:pic>
          <p:nvPicPr>
            <p:cNvPr id="534" name="Google Shape;534;p30"/>
            <p:cNvPicPr preferRelativeResize="0"/>
            <p:nvPr/>
          </p:nvPicPr>
          <p:blipFill rotWithShape="1">
            <a:blip r:embed="rId4">
              <a:alphaModFix/>
            </a:blip>
            <a:srcRect b="0" l="0" r="0" t="0"/>
            <a:stretch/>
          </p:blipFill>
          <p:spPr>
            <a:xfrm>
              <a:off x="3181350" y="1714500"/>
              <a:ext cx="19200" cy="190500"/>
            </a:xfrm>
            <a:prstGeom prst="rect">
              <a:avLst/>
            </a:prstGeom>
            <a:noFill/>
            <a:ln>
              <a:noFill/>
            </a:ln>
          </p:spPr>
        </p:pic>
        <p:grpSp>
          <p:nvGrpSpPr>
            <p:cNvPr id="535" name="Google Shape;535;p30"/>
            <p:cNvGrpSpPr/>
            <p:nvPr/>
          </p:nvGrpSpPr>
          <p:grpSpPr>
            <a:xfrm>
              <a:off x="1285875" y="1905000"/>
              <a:ext cx="3810000" cy="381000"/>
              <a:chOff x="1285875" y="1905000"/>
              <a:chExt cx="3810000" cy="381000"/>
            </a:xfrm>
          </p:grpSpPr>
          <p:sp>
            <p:nvSpPr>
              <p:cNvPr id="536" name="Google Shape;536;p30"/>
              <p:cNvSpPr/>
              <p:nvPr/>
            </p:nvSpPr>
            <p:spPr>
              <a:xfrm>
                <a:off x="1285875" y="1905000"/>
                <a:ext cx="3810000" cy="3810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30"/>
              <p:cNvSpPr txBox="1"/>
              <p:nvPr/>
            </p:nvSpPr>
            <p:spPr>
              <a:xfrm>
                <a:off x="1285875" y="1905000"/>
                <a:ext cx="381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000">
                    <a:solidFill>
                      <a:srgbClr val="FFFFFF"/>
                    </a:solidFill>
                    <a:latin typeface="Montserrat SemiBold"/>
                    <a:ea typeface="Montserrat SemiBold"/>
                    <a:cs typeface="Montserrat SemiBold"/>
                    <a:sym typeface="Montserrat SemiBold"/>
                  </a:rPr>
                  <a:t>Thông báo khẩn cho Leader &amp; Bộ phận QC cấp trên / Khối Sản xuất</a:t>
                </a:r>
                <a:endParaRPr b="0" sz="1000">
                  <a:solidFill>
                    <a:srgbClr val="FFFFFF"/>
                  </a:solidFill>
                  <a:latin typeface="Montserrat SemiBold"/>
                  <a:ea typeface="Montserrat SemiBold"/>
                  <a:cs typeface="Montserrat SemiBold"/>
                  <a:sym typeface="Montserrat SemiBold"/>
                </a:endParaRPr>
              </a:p>
            </p:txBody>
          </p:sp>
        </p:grpSp>
        <p:pic>
          <p:nvPicPr>
            <p:cNvPr id="538" name="Google Shape;538;p30"/>
            <p:cNvPicPr preferRelativeResize="0"/>
            <p:nvPr/>
          </p:nvPicPr>
          <p:blipFill rotWithShape="1">
            <a:blip r:embed="rId4">
              <a:alphaModFix/>
            </a:blip>
            <a:srcRect b="0" l="0" r="0" t="0"/>
            <a:stretch/>
          </p:blipFill>
          <p:spPr>
            <a:xfrm>
              <a:off x="3181350" y="2286000"/>
              <a:ext cx="19200" cy="190500"/>
            </a:xfrm>
            <a:prstGeom prst="rect">
              <a:avLst/>
            </a:prstGeom>
            <a:noFill/>
            <a:ln>
              <a:noFill/>
            </a:ln>
          </p:spPr>
        </p:pic>
        <p:grpSp>
          <p:nvGrpSpPr>
            <p:cNvPr id="539" name="Google Shape;539;p30"/>
            <p:cNvGrpSpPr/>
            <p:nvPr/>
          </p:nvGrpSpPr>
          <p:grpSpPr>
            <a:xfrm>
              <a:off x="2238375" y="2476500"/>
              <a:ext cx="1905000" cy="381000"/>
              <a:chOff x="2238375" y="2476500"/>
              <a:chExt cx="1905000" cy="381000"/>
            </a:xfrm>
          </p:grpSpPr>
          <p:sp>
            <p:nvSpPr>
              <p:cNvPr id="540" name="Google Shape;540;p30"/>
              <p:cNvSpPr/>
              <p:nvPr/>
            </p:nvSpPr>
            <p:spPr>
              <a:xfrm>
                <a:off x="2238375" y="2476500"/>
                <a:ext cx="1905000" cy="381000"/>
              </a:xfrm>
              <a:prstGeom prst="roundRect">
                <a:avLst>
                  <a:gd fmla="val 50000" name="adj"/>
                </a:avLst>
              </a:prstGeom>
              <a:solidFill>
                <a:srgbClr val="FFFFFF"/>
              </a:solidFill>
              <a:ln cap="flat" cmpd="sng" w="19050">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30"/>
              <p:cNvSpPr txBox="1"/>
              <p:nvPr/>
            </p:nvSpPr>
            <p:spPr>
              <a:xfrm>
                <a:off x="2238375" y="2476500"/>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1000">
                    <a:solidFill>
                      <a:srgbClr val="8BC249"/>
                    </a:solidFill>
                    <a:latin typeface="Montserrat"/>
                    <a:ea typeface="Montserrat"/>
                    <a:cs typeface="Montserrat"/>
                    <a:sym typeface="Montserrat"/>
                  </a:rPr>
                  <a:t>QUẢN LÝ / QC / LEADER TIẾN HÀNH CHECK LOT</a:t>
                </a:r>
                <a:endParaRPr b="1" sz="1000">
                  <a:solidFill>
                    <a:srgbClr val="8BC249"/>
                  </a:solidFill>
                  <a:latin typeface="Montserrat"/>
                  <a:ea typeface="Montserrat"/>
                  <a:cs typeface="Montserrat"/>
                  <a:sym typeface="Montserrat"/>
                </a:endParaRPr>
              </a:p>
            </p:txBody>
          </p:sp>
        </p:grpSp>
        <p:pic>
          <p:nvPicPr>
            <p:cNvPr id="542" name="Google Shape;542;p30"/>
            <p:cNvPicPr preferRelativeResize="0"/>
            <p:nvPr/>
          </p:nvPicPr>
          <p:blipFill rotWithShape="1">
            <a:blip r:embed="rId5">
              <a:alphaModFix/>
            </a:blip>
            <a:srcRect b="0" l="0" r="0" t="0"/>
            <a:stretch/>
          </p:blipFill>
          <p:spPr>
            <a:xfrm>
              <a:off x="1085850" y="2847975"/>
              <a:ext cx="2105100" cy="200100"/>
            </a:xfrm>
            <a:prstGeom prst="rect">
              <a:avLst/>
            </a:prstGeom>
            <a:noFill/>
            <a:ln>
              <a:noFill/>
            </a:ln>
          </p:spPr>
        </p:pic>
        <p:pic>
          <p:nvPicPr>
            <p:cNvPr id="543" name="Google Shape;543;p30"/>
            <p:cNvPicPr preferRelativeResize="0"/>
            <p:nvPr/>
          </p:nvPicPr>
          <p:blipFill rotWithShape="1">
            <a:blip r:embed="rId4">
              <a:alphaModFix/>
            </a:blip>
            <a:srcRect b="0" l="0" r="0" t="0"/>
            <a:stretch/>
          </p:blipFill>
          <p:spPr>
            <a:xfrm>
              <a:off x="3181350" y="2857500"/>
              <a:ext cx="19200" cy="190500"/>
            </a:xfrm>
            <a:prstGeom prst="rect">
              <a:avLst/>
            </a:prstGeom>
            <a:noFill/>
            <a:ln>
              <a:noFill/>
            </a:ln>
          </p:spPr>
        </p:pic>
        <p:pic>
          <p:nvPicPr>
            <p:cNvPr id="544" name="Google Shape;544;p30"/>
            <p:cNvPicPr preferRelativeResize="0"/>
            <p:nvPr/>
          </p:nvPicPr>
          <p:blipFill rotWithShape="1">
            <a:blip r:embed="rId6">
              <a:alphaModFix/>
            </a:blip>
            <a:srcRect b="0" l="0" r="0" t="0"/>
            <a:stretch/>
          </p:blipFill>
          <p:spPr>
            <a:xfrm>
              <a:off x="3190875" y="2847975"/>
              <a:ext cx="2105100" cy="200100"/>
            </a:xfrm>
            <a:prstGeom prst="rect">
              <a:avLst/>
            </a:prstGeom>
            <a:noFill/>
            <a:ln>
              <a:noFill/>
            </a:ln>
          </p:spPr>
        </p:pic>
        <p:grpSp>
          <p:nvGrpSpPr>
            <p:cNvPr id="545" name="Google Shape;545;p30"/>
            <p:cNvGrpSpPr/>
            <p:nvPr/>
          </p:nvGrpSpPr>
          <p:grpSpPr>
            <a:xfrm>
              <a:off x="619125" y="3048000"/>
              <a:ext cx="952500" cy="1143000"/>
              <a:chOff x="619125" y="3048000"/>
              <a:chExt cx="952500" cy="1143000"/>
            </a:xfrm>
          </p:grpSpPr>
          <p:sp>
            <p:nvSpPr>
              <p:cNvPr id="546" name="Google Shape;546;p30"/>
              <p:cNvSpPr/>
              <p:nvPr/>
            </p:nvSpPr>
            <p:spPr>
              <a:xfrm>
                <a:off x="619125" y="3048000"/>
                <a:ext cx="952500" cy="1143000"/>
              </a:xfrm>
              <a:prstGeom prst="roundRect">
                <a:avLst>
                  <a:gd fmla="val 8000" name="adj"/>
                </a:avLst>
              </a:prstGeom>
              <a:solidFill>
                <a:srgbClr val="FFFFFF"/>
              </a:solidFill>
              <a:ln cap="flat" cmpd="sng" w="9525">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30"/>
              <p:cNvSpPr txBox="1"/>
              <p:nvPr/>
            </p:nvSpPr>
            <p:spPr>
              <a:xfrm>
                <a:off x="619125" y="3048000"/>
                <a:ext cx="952500" cy="1143000"/>
              </a:xfrm>
              <a:prstGeom prst="rect">
                <a:avLst/>
              </a:prstGeom>
              <a:noFill/>
              <a:ln>
                <a:noFill/>
              </a:ln>
            </p:spPr>
            <p:txBody>
              <a:bodyPr anchorCtr="0" anchor="t" bIns="76200" lIns="76200" spcFirstLastPara="1" rIns="76200" wrap="square" tIns="76200">
                <a:noAutofit/>
              </a:bodyPr>
              <a:lstStyle/>
              <a:p>
                <a:pPr indent="0" lvl="0" marL="0" rtl="0" algn="ctr">
                  <a:spcBef>
                    <a:spcPts val="0"/>
                  </a:spcBef>
                  <a:spcAft>
                    <a:spcPts val="0"/>
                  </a:spcAft>
                  <a:buNone/>
                </a:pPr>
                <a:r>
                  <a:rPr b="0" lang="vi" sz="800">
                    <a:solidFill>
                      <a:srgbClr val="8BC249"/>
                    </a:solidFill>
                    <a:latin typeface="Inter ExtraBold"/>
                    <a:ea typeface="Inter ExtraBold"/>
                    <a:cs typeface="Inter ExtraBold"/>
                    <a:sym typeface="Inter ExtraBold"/>
                  </a:rPr>
                  <a:t>OK (ĐẠT)</a:t>
                </a:r>
                <a:endParaRPr b="0" sz="800">
                  <a:solidFill>
                    <a:srgbClr val="8BC249"/>
                  </a:solidFill>
                  <a:latin typeface="Inter ExtraBold"/>
                  <a:ea typeface="Inter ExtraBold"/>
                  <a:cs typeface="Inter ExtraBold"/>
                  <a:sym typeface="Inter ExtraBold"/>
                </a:endParaRPr>
              </a:p>
              <a:p>
                <a:pPr indent="0" lvl="0" marL="0" rtl="0" algn="ctr">
                  <a:spcBef>
                    <a:spcPts val="600"/>
                  </a:spcBef>
                  <a:spcAft>
                    <a:spcPts val="0"/>
                  </a:spcAft>
                  <a:buNone/>
                </a:pPr>
                <a:r>
                  <a:rPr lang="vi" sz="750">
                    <a:solidFill>
                      <a:srgbClr val="64748B"/>
                    </a:solidFill>
                    <a:latin typeface="Inter"/>
                    <a:ea typeface="Inter"/>
                    <a:cs typeface="Inter"/>
                    <a:sym typeface="Inter"/>
                  </a:rPr>
                  <a:t>Chuyển lại công đoạn tiếp theo (Hiển thị nhãn Label kèm theo)</a:t>
                </a:r>
                <a:endParaRPr sz="750">
                  <a:solidFill>
                    <a:srgbClr val="64748B"/>
                  </a:solidFill>
                  <a:latin typeface="Inter"/>
                  <a:ea typeface="Inter"/>
                  <a:cs typeface="Inter"/>
                  <a:sym typeface="Inter"/>
                </a:endParaRPr>
              </a:p>
            </p:txBody>
          </p:sp>
        </p:grpSp>
        <p:grpSp>
          <p:nvGrpSpPr>
            <p:cNvPr id="548" name="Google Shape;548;p30"/>
            <p:cNvGrpSpPr/>
            <p:nvPr/>
          </p:nvGrpSpPr>
          <p:grpSpPr>
            <a:xfrm>
              <a:off x="2714625" y="3048000"/>
              <a:ext cx="952500" cy="1143000"/>
              <a:chOff x="2714625" y="3048000"/>
              <a:chExt cx="952500" cy="1143000"/>
            </a:xfrm>
          </p:grpSpPr>
          <p:sp>
            <p:nvSpPr>
              <p:cNvPr id="549" name="Google Shape;549;p30"/>
              <p:cNvSpPr/>
              <p:nvPr/>
            </p:nvSpPr>
            <p:spPr>
              <a:xfrm>
                <a:off x="2714625" y="3048000"/>
                <a:ext cx="952500" cy="1143000"/>
              </a:xfrm>
              <a:prstGeom prst="roundRect">
                <a:avLst>
                  <a:gd fmla="val 8000" name="adj"/>
                </a:avLst>
              </a:prstGeom>
              <a:solidFill>
                <a:srgbClr val="FFFFFF"/>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30"/>
              <p:cNvSpPr txBox="1"/>
              <p:nvPr/>
            </p:nvSpPr>
            <p:spPr>
              <a:xfrm>
                <a:off x="2714625" y="3048000"/>
                <a:ext cx="952500" cy="1143000"/>
              </a:xfrm>
              <a:prstGeom prst="rect">
                <a:avLst/>
              </a:prstGeom>
              <a:noFill/>
              <a:ln>
                <a:noFill/>
              </a:ln>
            </p:spPr>
            <p:txBody>
              <a:bodyPr anchorCtr="0" anchor="t" bIns="76200" lIns="76200" spcFirstLastPara="1" rIns="76200" wrap="square" tIns="76200">
                <a:noAutofit/>
              </a:bodyPr>
              <a:lstStyle/>
              <a:p>
                <a:pPr indent="0" lvl="0" marL="0" rtl="0" algn="ctr">
                  <a:spcBef>
                    <a:spcPts val="0"/>
                  </a:spcBef>
                  <a:spcAft>
                    <a:spcPts val="0"/>
                  </a:spcAft>
                  <a:buNone/>
                </a:pPr>
                <a:r>
                  <a:rPr b="0" lang="vi" sz="800">
                    <a:solidFill>
                      <a:srgbClr val="F59E0B"/>
                    </a:solidFill>
                    <a:latin typeface="Inter ExtraBold"/>
                    <a:ea typeface="Inter ExtraBold"/>
                    <a:cs typeface="Inter ExtraBold"/>
                    <a:sym typeface="Inter ExtraBold"/>
                  </a:rPr>
                  <a:t>SPECIAL LOT</a:t>
                </a:r>
                <a:endParaRPr b="0" sz="800">
                  <a:solidFill>
                    <a:srgbClr val="F59E0B"/>
                  </a:solidFill>
                  <a:latin typeface="Inter ExtraBold"/>
                  <a:ea typeface="Inter ExtraBold"/>
                  <a:cs typeface="Inter ExtraBold"/>
                  <a:sym typeface="Inter ExtraBold"/>
                </a:endParaRPr>
              </a:p>
              <a:p>
                <a:pPr indent="0" lvl="0" marL="0" rtl="0" algn="ctr">
                  <a:spcBef>
                    <a:spcPts val="600"/>
                  </a:spcBef>
                  <a:spcAft>
                    <a:spcPts val="0"/>
                  </a:spcAft>
                  <a:buNone/>
                </a:pPr>
                <a:r>
                  <a:rPr lang="vi" sz="750">
                    <a:solidFill>
                      <a:srgbClr val="64748B"/>
                    </a:solidFill>
                    <a:latin typeface="Inter"/>
                    <a:ea typeface="Inter"/>
                    <a:cs typeface="Inter"/>
                    <a:sym typeface="Inter"/>
                  </a:rPr>
                  <a:t>Chuyển ban KTSP phân tích để Hội đồng QC ra quyết định</a:t>
                </a:r>
                <a:endParaRPr sz="750">
                  <a:solidFill>
                    <a:srgbClr val="64748B"/>
                  </a:solidFill>
                  <a:latin typeface="Inter"/>
                  <a:ea typeface="Inter"/>
                  <a:cs typeface="Inter"/>
                  <a:sym typeface="Inter"/>
                </a:endParaRPr>
              </a:p>
            </p:txBody>
          </p:sp>
        </p:grpSp>
        <p:grpSp>
          <p:nvGrpSpPr>
            <p:cNvPr id="551" name="Google Shape;551;p30"/>
            <p:cNvGrpSpPr/>
            <p:nvPr/>
          </p:nvGrpSpPr>
          <p:grpSpPr>
            <a:xfrm>
              <a:off x="4810125" y="3048000"/>
              <a:ext cx="952500" cy="1143000"/>
              <a:chOff x="4810125" y="3048000"/>
              <a:chExt cx="952500" cy="1143000"/>
            </a:xfrm>
          </p:grpSpPr>
          <p:sp>
            <p:nvSpPr>
              <p:cNvPr id="552" name="Google Shape;552;p30"/>
              <p:cNvSpPr/>
              <p:nvPr/>
            </p:nvSpPr>
            <p:spPr>
              <a:xfrm>
                <a:off x="4810125" y="3048000"/>
                <a:ext cx="952500" cy="1143000"/>
              </a:xfrm>
              <a:prstGeom prst="roundRect">
                <a:avLst>
                  <a:gd fmla="val 8000" name="adj"/>
                </a:avLst>
              </a:prstGeom>
              <a:solidFill>
                <a:srgbClr val="FFFFFF"/>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30"/>
              <p:cNvSpPr txBox="1"/>
              <p:nvPr/>
            </p:nvSpPr>
            <p:spPr>
              <a:xfrm>
                <a:off x="4810125" y="3048000"/>
                <a:ext cx="952500" cy="1143000"/>
              </a:xfrm>
              <a:prstGeom prst="rect">
                <a:avLst/>
              </a:prstGeom>
              <a:noFill/>
              <a:ln>
                <a:noFill/>
              </a:ln>
            </p:spPr>
            <p:txBody>
              <a:bodyPr anchorCtr="0" anchor="t" bIns="76200" lIns="76200" spcFirstLastPara="1" rIns="76200" wrap="square" tIns="76200">
                <a:noAutofit/>
              </a:bodyPr>
              <a:lstStyle/>
              <a:p>
                <a:pPr indent="0" lvl="0" marL="0" rtl="0" algn="ctr">
                  <a:spcBef>
                    <a:spcPts val="0"/>
                  </a:spcBef>
                  <a:spcAft>
                    <a:spcPts val="0"/>
                  </a:spcAft>
                  <a:buNone/>
                </a:pPr>
                <a:r>
                  <a:rPr b="0" lang="vi" sz="800">
                    <a:solidFill>
                      <a:srgbClr val="EF4444"/>
                    </a:solidFill>
                    <a:latin typeface="Inter ExtraBold"/>
                    <a:ea typeface="Inter ExtraBold"/>
                    <a:cs typeface="Inter ExtraBold"/>
                    <a:sym typeface="Inter ExtraBold"/>
                  </a:rPr>
                  <a:t>NG (LỖI CHẮC CHẮN)</a:t>
                </a:r>
                <a:endParaRPr b="0" sz="800">
                  <a:solidFill>
                    <a:srgbClr val="EF4444"/>
                  </a:solidFill>
                  <a:latin typeface="Inter ExtraBold"/>
                  <a:ea typeface="Inter ExtraBold"/>
                  <a:cs typeface="Inter ExtraBold"/>
                  <a:sym typeface="Inter ExtraBold"/>
                </a:endParaRPr>
              </a:p>
              <a:p>
                <a:pPr indent="0" lvl="0" marL="0" rtl="0" algn="ctr">
                  <a:spcBef>
                    <a:spcPts val="600"/>
                  </a:spcBef>
                  <a:spcAft>
                    <a:spcPts val="0"/>
                  </a:spcAft>
                  <a:buNone/>
                </a:pPr>
                <a:r>
                  <a:rPr lang="vi" sz="750">
                    <a:solidFill>
                      <a:srgbClr val="64748B"/>
                    </a:solidFill>
                    <a:latin typeface="Inter"/>
                    <a:ea typeface="Inter"/>
                    <a:cs typeface="Inter"/>
                    <a:sym typeface="Inter"/>
                  </a:rPr>
                  <a:t>Cô lập hàng, dán label Holding. Phát lệnh NCR nội bộ xử lý.</a:t>
                </a:r>
                <a:endParaRPr sz="750">
                  <a:solidFill>
                    <a:srgbClr val="64748B"/>
                  </a:solidFill>
                  <a:latin typeface="Inter"/>
                  <a:ea typeface="Inter"/>
                  <a:cs typeface="Inter"/>
                  <a:sym typeface="Inter"/>
                </a:endParaRPr>
              </a:p>
            </p:txBody>
          </p:sp>
        </p:grpSp>
        <p:grpSp>
          <p:nvGrpSpPr>
            <p:cNvPr id="554" name="Google Shape;554;p30"/>
            <p:cNvGrpSpPr/>
            <p:nvPr/>
          </p:nvGrpSpPr>
          <p:grpSpPr>
            <a:xfrm>
              <a:off x="619125" y="4191000"/>
              <a:ext cx="5143500" cy="524025"/>
              <a:chOff x="619125" y="4191000"/>
              <a:chExt cx="5143500" cy="524025"/>
            </a:xfrm>
          </p:grpSpPr>
          <p:pic>
            <p:nvPicPr>
              <p:cNvPr id="555" name="Google Shape;555;p30"/>
              <p:cNvPicPr preferRelativeResize="0"/>
              <p:nvPr/>
            </p:nvPicPr>
            <p:blipFill rotWithShape="1">
              <a:blip r:embed="rId7">
                <a:alphaModFix/>
              </a:blip>
              <a:srcRect b="0" l="0" r="0" t="0"/>
              <a:stretch/>
            </p:blipFill>
            <p:spPr>
              <a:xfrm>
                <a:off x="1085850" y="4191000"/>
                <a:ext cx="4210200" cy="200100"/>
              </a:xfrm>
              <a:prstGeom prst="rect">
                <a:avLst/>
              </a:prstGeom>
              <a:noFill/>
              <a:ln>
                <a:noFill/>
              </a:ln>
            </p:spPr>
          </p:pic>
          <p:pic>
            <p:nvPicPr>
              <p:cNvPr id="556" name="Google Shape;556;p30"/>
              <p:cNvPicPr preferRelativeResize="0"/>
              <p:nvPr/>
            </p:nvPicPr>
            <p:blipFill rotWithShape="1">
              <a:blip r:embed="rId8">
                <a:alphaModFix/>
              </a:blip>
              <a:srcRect b="0" l="0" r="0" t="0"/>
              <a:stretch/>
            </p:blipFill>
            <p:spPr>
              <a:xfrm>
                <a:off x="3181350" y="4191000"/>
                <a:ext cx="19200" cy="190500"/>
              </a:xfrm>
              <a:prstGeom prst="rect">
                <a:avLst/>
              </a:prstGeom>
              <a:noFill/>
              <a:ln>
                <a:noFill/>
              </a:ln>
            </p:spPr>
          </p:pic>
          <p:sp>
            <p:nvSpPr>
              <p:cNvPr id="557" name="Google Shape;557;p30"/>
              <p:cNvSpPr txBox="1"/>
              <p:nvPr/>
            </p:nvSpPr>
            <p:spPr>
              <a:xfrm>
                <a:off x="619125" y="4429125"/>
                <a:ext cx="5143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EF4444"/>
                    </a:solidFill>
                    <a:latin typeface="Inter"/>
                    <a:ea typeface="Inter"/>
                    <a:cs typeface="Inter"/>
                    <a:sym typeface="Inter"/>
                  </a:rPr>
                  <a:t>Ghi lại kết quả, dán nhãn NG và Hủy hàng hoàn toàn trên hệ thống</a:t>
                </a:r>
                <a:endParaRPr b="1" sz="900">
                  <a:solidFill>
                    <a:srgbClr val="EF4444"/>
                  </a:solidFill>
                  <a:latin typeface="Inter"/>
                  <a:ea typeface="Inter"/>
                  <a:cs typeface="Inter"/>
                  <a:sym typeface="Inter"/>
                </a:endParaRPr>
              </a:p>
            </p:txBody>
          </p:sp>
        </p:grpSp>
      </p:grpSp>
      <p:grpSp>
        <p:nvGrpSpPr>
          <p:cNvPr id="558" name="Google Shape;558;p30"/>
          <p:cNvGrpSpPr/>
          <p:nvPr/>
        </p:nvGrpSpPr>
        <p:grpSpPr>
          <a:xfrm>
            <a:off x="6143625" y="1047750"/>
            <a:ext cx="2571900" cy="3714900"/>
            <a:chOff x="6143625" y="1047750"/>
            <a:chExt cx="2571900" cy="3714900"/>
          </a:xfrm>
        </p:grpSpPr>
        <p:sp>
          <p:nvSpPr>
            <p:cNvPr id="559" name="Google Shape;559;p30"/>
            <p:cNvSpPr/>
            <p:nvPr/>
          </p:nvSpPr>
          <p:spPr>
            <a:xfrm>
              <a:off x="6143625" y="1047750"/>
              <a:ext cx="2571900" cy="37149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30"/>
            <p:cNvSpPr/>
            <p:nvPr/>
          </p:nvSpPr>
          <p:spPr>
            <a:xfrm>
              <a:off x="6143625" y="1047750"/>
              <a:ext cx="2571900" cy="381000"/>
            </a:xfrm>
            <a:prstGeom prst="roundRect">
              <a:avLst>
                <a:gd fmla="val 3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1" name="Google Shape;561;p30"/>
            <p:cNvPicPr preferRelativeResize="0"/>
            <p:nvPr/>
          </p:nvPicPr>
          <p:blipFill rotWithShape="1">
            <a:blip r:embed="rId9">
              <a:alphaModFix/>
            </a:blip>
            <a:srcRect b="0" l="2634" r="2634" t="0"/>
            <a:stretch/>
          </p:blipFill>
          <p:spPr>
            <a:xfrm>
              <a:off x="6286500" y="1143000"/>
              <a:ext cx="190500" cy="190500"/>
            </a:xfrm>
            <a:prstGeom prst="rect">
              <a:avLst/>
            </a:prstGeom>
            <a:noFill/>
            <a:ln>
              <a:noFill/>
            </a:ln>
          </p:spPr>
        </p:pic>
        <p:sp>
          <p:nvSpPr>
            <p:cNvPr id="562" name="Google Shape;562;p30"/>
            <p:cNvSpPr txBox="1"/>
            <p:nvPr/>
          </p:nvSpPr>
          <p:spPr>
            <a:xfrm>
              <a:off x="6524625" y="1047750"/>
              <a:ext cx="2047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900">
                  <a:solidFill>
                    <a:srgbClr val="1E293B"/>
                  </a:solidFill>
                  <a:latin typeface="Montserrat"/>
                  <a:ea typeface="Montserrat"/>
                  <a:cs typeface="Montserrat"/>
                  <a:sym typeface="Montserrat"/>
                </a:rPr>
                <a:t>QUY ĐỊNH NGHIÊM NGẶT VỀ HÀNG NG</a:t>
              </a:r>
              <a:endParaRPr b="1" sz="900">
                <a:solidFill>
                  <a:srgbClr val="1E293B"/>
                </a:solidFill>
                <a:latin typeface="Montserrat"/>
                <a:ea typeface="Montserrat"/>
                <a:cs typeface="Montserrat"/>
                <a:sym typeface="Montserrat"/>
              </a:endParaRPr>
            </a:p>
          </p:txBody>
        </p:sp>
        <p:sp>
          <p:nvSpPr>
            <p:cNvPr id="563" name="Google Shape;563;p30"/>
            <p:cNvSpPr txBox="1"/>
            <p:nvPr/>
          </p:nvSpPr>
          <p:spPr>
            <a:xfrm>
              <a:off x="6286500" y="1524000"/>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950">
                  <a:solidFill>
                    <a:srgbClr val="1E293B"/>
                  </a:solidFill>
                  <a:latin typeface="Inter"/>
                  <a:ea typeface="Inter"/>
                  <a:cs typeface="Inter"/>
                  <a:sym typeface="Inter"/>
                </a:rPr>
                <a:t>• Khoanh vùng Lot:</a:t>
              </a:r>
              <a:br>
                <a:rPr lang="vi" sz="950">
                  <a:solidFill>
                    <a:srgbClr val="475569"/>
                  </a:solidFill>
                  <a:latin typeface="Inter"/>
                  <a:ea typeface="Inter"/>
                  <a:cs typeface="Inter"/>
                  <a:sym typeface="Inter"/>
                </a:rPr>
              </a:br>
              <a:r>
                <a:rPr lang="vi" sz="950">
                  <a:solidFill>
                    <a:srgbClr val="475569"/>
                  </a:solidFill>
                  <a:latin typeface="Inter"/>
                  <a:ea typeface="Inter"/>
                  <a:cs typeface="Inter"/>
                  <a:sym typeface="Inter"/>
                </a:rPr>
                <a:t>Phải cách ly lập tức mã lỗi, dán nhãn trạng thái Holding để tránh phối trộn nhầm lẫn sang hàng OK đang sản xuất.</a:t>
              </a:r>
              <a:endParaRPr sz="950">
                <a:solidFill>
                  <a:srgbClr val="475569"/>
                </a:solidFill>
                <a:latin typeface="Inter"/>
                <a:ea typeface="Inter"/>
                <a:cs typeface="Inter"/>
                <a:sym typeface="Inter"/>
              </a:endParaRPr>
            </a:p>
            <a:p>
              <a:pPr indent="0" lvl="0" marL="0" rtl="0" algn="l">
                <a:spcBef>
                  <a:spcPts val="1500"/>
                </a:spcBef>
                <a:spcAft>
                  <a:spcPts val="0"/>
                </a:spcAft>
                <a:buNone/>
              </a:pPr>
              <a:r>
                <a:rPr b="1" lang="vi" sz="950">
                  <a:solidFill>
                    <a:srgbClr val="1E293B"/>
                  </a:solidFill>
                  <a:latin typeface="Inter"/>
                  <a:ea typeface="Inter"/>
                  <a:cs typeface="Inter"/>
                  <a:sym typeface="Inter"/>
                </a:rPr>
                <a:t>• Trách nhiệm liên đới:</a:t>
              </a:r>
              <a:br>
                <a:rPr lang="vi" sz="950">
                  <a:solidFill>
                    <a:srgbClr val="475569"/>
                  </a:solidFill>
                  <a:latin typeface="Inter"/>
                  <a:ea typeface="Inter"/>
                  <a:cs typeface="Inter"/>
                  <a:sym typeface="Inter"/>
                </a:rPr>
              </a:br>
              <a:r>
                <a:rPr lang="vi" sz="950">
                  <a:solidFill>
                    <a:srgbClr val="475569"/>
                  </a:solidFill>
                  <a:latin typeface="Inter"/>
                  <a:ea typeface="Inter"/>
                  <a:cs typeface="Inter"/>
                  <a:sym typeface="Inter"/>
                </a:rPr>
                <a:t>Công nhân, Nhân viên, Team Leader và Group Leader QC bắt buộc phải ký biên bản xác nhận luồng NCR kỹ thuật.</a:t>
              </a:r>
              <a:endParaRPr sz="950">
                <a:solidFill>
                  <a:srgbClr val="475569"/>
                </a:solidFill>
                <a:latin typeface="Inter"/>
                <a:ea typeface="Inter"/>
                <a:cs typeface="Inter"/>
                <a:sym typeface="Inte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pic>
        <p:nvPicPr>
          <p:cNvPr descr="image.png" id="568" name="Google Shape;568;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69" name="Google Shape;569;p31"/>
          <p:cNvSpPr txBox="1"/>
          <p:nvPr/>
        </p:nvSpPr>
        <p:spPr>
          <a:xfrm>
            <a:off x="571500" y="357188"/>
            <a:ext cx="8551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OQC </a:t>
            </a:r>
            <a:r>
              <a:rPr lang="vi">
                <a:solidFill>
                  <a:srgbClr val="8BC249"/>
                </a:solidFill>
                <a:latin typeface="Montserrat SemiBold"/>
                <a:ea typeface="Montserrat SemiBold"/>
                <a:cs typeface="Montserrat SemiBold"/>
                <a:sym typeface="Montserrat SemiBold"/>
              </a:rPr>
              <a:t>&amp; </a:t>
            </a:r>
            <a:r>
              <a:rPr lang="vi" sz="1100">
                <a:solidFill>
                  <a:srgbClr val="8BC249"/>
                </a:solidFill>
                <a:latin typeface="Montserrat SemiBold"/>
                <a:ea typeface="Montserrat SemiBold"/>
                <a:cs typeface="Montserrat SemiBold"/>
                <a:sym typeface="Montserrat SemiBold"/>
              </a:rPr>
              <a:t>FOQC TEAM</a:t>
            </a:r>
            <a:endParaRPr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SƠ ĐỒ QUY TRÌNH KIỂM SOÁT CHẤT LƯỢNG ĐẦU RA</a:t>
            </a:r>
            <a:endParaRPr b="0" i="0" sz="1200" u="none" cap="none" strike="noStrike">
              <a:solidFill>
                <a:srgbClr val="000000"/>
              </a:solidFill>
              <a:latin typeface="Arial"/>
              <a:ea typeface="Arial"/>
              <a:cs typeface="Arial"/>
              <a:sym typeface="Arial"/>
            </a:endParaRPr>
          </a:p>
        </p:txBody>
      </p:sp>
      <p:sp>
        <p:nvSpPr>
          <p:cNvPr id="570" name="Google Shape;570;p31"/>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571" name="Google Shape;571;p31"/>
          <p:cNvGrpSpPr/>
          <p:nvPr/>
        </p:nvGrpSpPr>
        <p:grpSpPr>
          <a:xfrm>
            <a:off x="428625" y="1047750"/>
            <a:ext cx="5524500" cy="3714900"/>
            <a:chOff x="428625" y="1047750"/>
            <a:chExt cx="5524500" cy="3714900"/>
          </a:xfrm>
        </p:grpSpPr>
        <p:sp>
          <p:nvSpPr>
            <p:cNvPr id="572" name="Google Shape;572;p31"/>
            <p:cNvSpPr/>
            <p:nvPr/>
          </p:nvSpPr>
          <p:spPr>
            <a:xfrm>
              <a:off x="428625" y="1047750"/>
              <a:ext cx="5524500" cy="3714900"/>
            </a:xfrm>
            <a:prstGeom prst="roundRect">
              <a:avLst>
                <a:gd fmla="val 307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3" name="Google Shape;573;p31"/>
            <p:cNvGrpSpPr/>
            <p:nvPr/>
          </p:nvGrpSpPr>
          <p:grpSpPr>
            <a:xfrm>
              <a:off x="1762125" y="1238250"/>
              <a:ext cx="2857500" cy="476400"/>
              <a:chOff x="1762125" y="1238250"/>
              <a:chExt cx="2857500" cy="476400"/>
            </a:xfrm>
          </p:grpSpPr>
          <p:sp>
            <p:nvSpPr>
              <p:cNvPr id="574" name="Google Shape;574;p31"/>
              <p:cNvSpPr/>
              <p:nvPr/>
            </p:nvSpPr>
            <p:spPr>
              <a:xfrm>
                <a:off x="1762125" y="1238250"/>
                <a:ext cx="2857500" cy="476400"/>
              </a:xfrm>
              <a:prstGeom prst="roundRect">
                <a:avLst>
                  <a:gd fmla="val 16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31"/>
              <p:cNvSpPr txBox="1"/>
              <p:nvPr/>
            </p:nvSpPr>
            <p:spPr>
              <a:xfrm>
                <a:off x="1762125" y="1238250"/>
                <a:ext cx="2857500" cy="476400"/>
              </a:xfrm>
              <a:prstGeom prst="rect">
                <a:avLst/>
              </a:prstGeom>
              <a:noFill/>
              <a:ln>
                <a:noFill/>
              </a:ln>
            </p:spPr>
            <p:txBody>
              <a:bodyPr anchorCtr="0" anchor="ctr" bIns="0" lIns="95250" spcFirstLastPara="1" rIns="95250" wrap="square" tIns="0">
                <a:noAutofit/>
              </a:bodyPr>
              <a:lstStyle/>
              <a:p>
                <a:pPr indent="0" lvl="0" marL="0" rtl="0" algn="ctr">
                  <a:spcBef>
                    <a:spcPts val="0"/>
                  </a:spcBef>
                  <a:spcAft>
                    <a:spcPts val="0"/>
                  </a:spcAft>
                  <a:buNone/>
                </a:pPr>
                <a:r>
                  <a:rPr b="0" lang="vi" sz="1000">
                    <a:solidFill>
                      <a:srgbClr val="1E293B"/>
                    </a:solidFill>
                    <a:latin typeface="Montserrat SemiBold"/>
                    <a:ea typeface="Montserrat SemiBold"/>
                    <a:cs typeface="Montserrat SemiBold"/>
                    <a:sym typeface="Montserrat SemiBold"/>
                  </a:rPr>
                  <a:t>Nhận bàn giao hàng hóa từ khối Sản xuất</a:t>
                </a:r>
                <a:endParaRPr b="0" sz="1000">
                  <a:solidFill>
                    <a:srgbClr val="1E293B"/>
                  </a:solidFill>
                  <a:latin typeface="Montserrat SemiBold"/>
                  <a:ea typeface="Montserrat SemiBold"/>
                  <a:cs typeface="Montserrat SemiBold"/>
                  <a:sym typeface="Montserrat SemiBold"/>
                </a:endParaRPr>
              </a:p>
            </p:txBody>
          </p:sp>
        </p:grpSp>
        <p:pic>
          <p:nvPicPr>
            <p:cNvPr id="576" name="Google Shape;576;p31"/>
            <p:cNvPicPr preferRelativeResize="0"/>
            <p:nvPr/>
          </p:nvPicPr>
          <p:blipFill rotWithShape="1">
            <a:blip r:embed="rId4">
              <a:alphaModFix/>
            </a:blip>
            <a:srcRect b="0" l="0" r="0" t="0"/>
            <a:stretch/>
          </p:blipFill>
          <p:spPr>
            <a:xfrm>
              <a:off x="3181350" y="1714500"/>
              <a:ext cx="19200" cy="190500"/>
            </a:xfrm>
            <a:prstGeom prst="rect">
              <a:avLst/>
            </a:prstGeom>
            <a:noFill/>
            <a:ln>
              <a:noFill/>
            </a:ln>
          </p:spPr>
        </p:pic>
        <p:grpSp>
          <p:nvGrpSpPr>
            <p:cNvPr id="577" name="Google Shape;577;p31"/>
            <p:cNvGrpSpPr/>
            <p:nvPr/>
          </p:nvGrpSpPr>
          <p:grpSpPr>
            <a:xfrm>
              <a:off x="1285875" y="1905000"/>
              <a:ext cx="3810000" cy="381000"/>
              <a:chOff x="1285875" y="1905000"/>
              <a:chExt cx="3810000" cy="381000"/>
            </a:xfrm>
          </p:grpSpPr>
          <p:sp>
            <p:nvSpPr>
              <p:cNvPr id="578" name="Google Shape;578;p31"/>
              <p:cNvSpPr/>
              <p:nvPr/>
            </p:nvSpPr>
            <p:spPr>
              <a:xfrm>
                <a:off x="1285875" y="1905000"/>
                <a:ext cx="3810000" cy="3810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31"/>
              <p:cNvSpPr txBox="1"/>
              <p:nvPr/>
            </p:nvSpPr>
            <p:spPr>
              <a:xfrm>
                <a:off x="1285875" y="1905000"/>
                <a:ext cx="381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vi" sz="1000">
                    <a:solidFill>
                      <a:srgbClr val="FFFFFF"/>
                    </a:solidFill>
                    <a:latin typeface="Montserrat SemiBold"/>
                    <a:ea typeface="Montserrat SemiBold"/>
                    <a:cs typeface="Montserrat SemiBold"/>
                    <a:sym typeface="Montserrat SemiBold"/>
                  </a:rPr>
                  <a:t>OQC Check Ngoại quan &amp; Tính năng?</a:t>
                </a:r>
                <a:endParaRPr b="0" sz="1000">
                  <a:solidFill>
                    <a:srgbClr val="FFFFFF"/>
                  </a:solidFill>
                  <a:latin typeface="Montserrat SemiBold"/>
                  <a:ea typeface="Montserrat SemiBold"/>
                  <a:cs typeface="Montserrat SemiBold"/>
                  <a:sym typeface="Montserrat SemiBold"/>
                </a:endParaRPr>
              </a:p>
            </p:txBody>
          </p:sp>
        </p:grpSp>
        <p:pic>
          <p:nvPicPr>
            <p:cNvPr id="580" name="Google Shape;580;p31"/>
            <p:cNvPicPr preferRelativeResize="0"/>
            <p:nvPr/>
          </p:nvPicPr>
          <p:blipFill rotWithShape="1">
            <a:blip r:embed="rId5">
              <a:alphaModFix/>
            </a:blip>
            <a:srcRect b="0" l="0" r="0" t="0"/>
            <a:stretch/>
          </p:blipFill>
          <p:spPr>
            <a:xfrm>
              <a:off x="2228850" y="2286000"/>
              <a:ext cx="1924200" cy="190500"/>
            </a:xfrm>
            <a:prstGeom prst="rect">
              <a:avLst/>
            </a:prstGeom>
            <a:noFill/>
            <a:ln>
              <a:noFill/>
            </a:ln>
          </p:spPr>
        </p:pic>
        <p:grpSp>
          <p:nvGrpSpPr>
            <p:cNvPr id="581" name="Google Shape;581;p31"/>
            <p:cNvGrpSpPr/>
            <p:nvPr/>
          </p:nvGrpSpPr>
          <p:grpSpPr>
            <a:xfrm>
              <a:off x="1047750" y="2476500"/>
              <a:ext cx="1428900" cy="762000"/>
              <a:chOff x="1047750" y="2476500"/>
              <a:chExt cx="1428900" cy="762000"/>
            </a:xfrm>
          </p:grpSpPr>
          <p:sp>
            <p:nvSpPr>
              <p:cNvPr id="582" name="Google Shape;582;p31"/>
              <p:cNvSpPr/>
              <p:nvPr/>
            </p:nvSpPr>
            <p:spPr>
              <a:xfrm>
                <a:off x="1047750" y="2476500"/>
                <a:ext cx="1428900" cy="762000"/>
              </a:xfrm>
              <a:prstGeom prst="roundRect">
                <a:avLst>
                  <a:gd fmla="val 10000" name="adj"/>
                </a:avLst>
              </a:prstGeom>
              <a:solidFill>
                <a:srgbClr val="FFFFFF"/>
              </a:solidFill>
              <a:ln cap="flat" cmpd="sng" w="9525">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31"/>
              <p:cNvSpPr txBox="1"/>
              <p:nvPr/>
            </p:nvSpPr>
            <p:spPr>
              <a:xfrm>
                <a:off x="1047750" y="2476500"/>
                <a:ext cx="1428900" cy="762000"/>
              </a:xfrm>
              <a:prstGeom prst="rect">
                <a:avLst/>
              </a:prstGeom>
              <a:noFill/>
              <a:ln>
                <a:noFill/>
              </a:ln>
            </p:spPr>
            <p:txBody>
              <a:bodyPr anchorCtr="0" anchor="t" bIns="76200" lIns="76200" spcFirstLastPara="1" rIns="76200" wrap="square" tIns="76200">
                <a:noAutofit/>
              </a:bodyPr>
              <a:lstStyle/>
              <a:p>
                <a:pPr indent="0" lvl="0" marL="0" rtl="0" algn="ctr">
                  <a:spcBef>
                    <a:spcPts val="0"/>
                  </a:spcBef>
                  <a:spcAft>
                    <a:spcPts val="0"/>
                  </a:spcAft>
                  <a:buNone/>
                </a:pPr>
                <a:r>
                  <a:rPr b="0" lang="vi" sz="900">
                    <a:solidFill>
                      <a:srgbClr val="8BC249"/>
                    </a:solidFill>
                    <a:latin typeface="Inter ExtraBold"/>
                    <a:ea typeface="Inter ExtraBold"/>
                    <a:cs typeface="Inter ExtraBold"/>
                    <a:sym typeface="Inter ExtraBold"/>
                  </a:rPr>
                  <a:t>OK</a:t>
                </a:r>
                <a:endParaRPr b="0" sz="900">
                  <a:solidFill>
                    <a:srgbClr val="8BC249"/>
                  </a:solidFill>
                  <a:latin typeface="Inter ExtraBold"/>
                  <a:ea typeface="Inter ExtraBold"/>
                  <a:cs typeface="Inter ExtraBold"/>
                  <a:sym typeface="Inter ExtraBold"/>
                </a:endParaRPr>
              </a:p>
              <a:p>
                <a:pPr indent="0" lvl="0" marL="0" rtl="0" algn="ctr">
                  <a:spcBef>
                    <a:spcPts val="375"/>
                  </a:spcBef>
                  <a:spcAft>
                    <a:spcPts val="0"/>
                  </a:spcAft>
                  <a:buNone/>
                </a:pPr>
                <a:r>
                  <a:rPr b="0" lang="vi" sz="750">
                    <a:solidFill>
                      <a:srgbClr val="64748B"/>
                    </a:solidFill>
                    <a:latin typeface="Inter"/>
                    <a:ea typeface="Inter"/>
                    <a:cs typeface="Inter"/>
                    <a:sym typeface="Inter"/>
                  </a:rPr>
                  <a:t>Đóng dấu "Pass" &amp; Nhập kết quả lên hệ thống (C530) → Nhập kho thành phẩm</a:t>
                </a:r>
                <a:endParaRPr b="0" sz="750">
                  <a:solidFill>
                    <a:srgbClr val="64748B"/>
                  </a:solidFill>
                  <a:latin typeface="Inter"/>
                  <a:ea typeface="Inter"/>
                  <a:cs typeface="Inter"/>
                  <a:sym typeface="Inter"/>
                </a:endParaRPr>
              </a:p>
            </p:txBody>
          </p:sp>
        </p:grpSp>
        <p:grpSp>
          <p:nvGrpSpPr>
            <p:cNvPr id="584" name="Google Shape;584;p31"/>
            <p:cNvGrpSpPr/>
            <p:nvPr/>
          </p:nvGrpSpPr>
          <p:grpSpPr>
            <a:xfrm>
              <a:off x="3905250" y="2476500"/>
              <a:ext cx="1428900" cy="762000"/>
              <a:chOff x="3905250" y="2476500"/>
              <a:chExt cx="1428900" cy="762000"/>
            </a:xfrm>
          </p:grpSpPr>
          <p:sp>
            <p:nvSpPr>
              <p:cNvPr id="585" name="Google Shape;585;p31"/>
              <p:cNvSpPr/>
              <p:nvPr/>
            </p:nvSpPr>
            <p:spPr>
              <a:xfrm>
                <a:off x="3905250" y="2476500"/>
                <a:ext cx="1428900" cy="762000"/>
              </a:xfrm>
              <a:prstGeom prst="roundRect">
                <a:avLst>
                  <a:gd fmla="val 10000" name="adj"/>
                </a:avLst>
              </a:prstGeom>
              <a:solidFill>
                <a:srgbClr val="FFFFFF"/>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31"/>
              <p:cNvSpPr txBox="1"/>
              <p:nvPr/>
            </p:nvSpPr>
            <p:spPr>
              <a:xfrm>
                <a:off x="3905250" y="2476500"/>
                <a:ext cx="1428900" cy="762000"/>
              </a:xfrm>
              <a:prstGeom prst="rect">
                <a:avLst/>
              </a:prstGeom>
              <a:noFill/>
              <a:ln>
                <a:noFill/>
              </a:ln>
            </p:spPr>
            <p:txBody>
              <a:bodyPr anchorCtr="0" anchor="t" bIns="76200" lIns="76200" spcFirstLastPara="1" rIns="76200" wrap="square" tIns="76200">
                <a:noAutofit/>
              </a:bodyPr>
              <a:lstStyle/>
              <a:p>
                <a:pPr indent="0" lvl="0" marL="0" rtl="0" algn="ctr">
                  <a:spcBef>
                    <a:spcPts val="0"/>
                  </a:spcBef>
                  <a:spcAft>
                    <a:spcPts val="0"/>
                  </a:spcAft>
                  <a:buNone/>
                </a:pPr>
                <a:r>
                  <a:rPr b="0" lang="vi" sz="900">
                    <a:solidFill>
                      <a:srgbClr val="EF4444"/>
                    </a:solidFill>
                    <a:latin typeface="Inter ExtraBold"/>
                    <a:ea typeface="Inter ExtraBold"/>
                    <a:cs typeface="Inter ExtraBold"/>
                    <a:sym typeface="Inter ExtraBold"/>
                  </a:rPr>
                  <a:t>NG</a:t>
                </a:r>
                <a:endParaRPr b="0" sz="900">
                  <a:solidFill>
                    <a:srgbClr val="EF4444"/>
                  </a:solidFill>
                  <a:latin typeface="Inter ExtraBold"/>
                  <a:ea typeface="Inter ExtraBold"/>
                  <a:cs typeface="Inter ExtraBold"/>
                  <a:sym typeface="Inter ExtraBold"/>
                </a:endParaRPr>
              </a:p>
              <a:p>
                <a:pPr indent="0" lvl="0" marL="0" rtl="0" algn="ctr">
                  <a:spcBef>
                    <a:spcPts val="375"/>
                  </a:spcBef>
                  <a:spcAft>
                    <a:spcPts val="0"/>
                  </a:spcAft>
                  <a:buNone/>
                </a:pPr>
                <a:r>
                  <a:rPr b="0" lang="vi" sz="750">
                    <a:solidFill>
                      <a:srgbClr val="64748B"/>
                    </a:solidFill>
                    <a:latin typeface="Inter"/>
                    <a:ea typeface="Inter"/>
                    <a:cs typeface="Inter"/>
                    <a:sym typeface="Inter"/>
                  </a:rPr>
                  <a:t>Thông báo cấp trên, Đóng NCR nội bộ, cách ly hàng Holding</a:t>
                </a:r>
                <a:endParaRPr b="0" sz="750">
                  <a:solidFill>
                    <a:srgbClr val="64748B"/>
                  </a:solidFill>
                  <a:latin typeface="Inter"/>
                  <a:ea typeface="Inter"/>
                  <a:cs typeface="Inter"/>
                  <a:sym typeface="Inter"/>
                </a:endParaRPr>
              </a:p>
            </p:txBody>
          </p:sp>
        </p:grpSp>
        <p:pic>
          <p:nvPicPr>
            <p:cNvPr id="587" name="Google Shape;587;p31"/>
            <p:cNvPicPr preferRelativeResize="0"/>
            <p:nvPr/>
          </p:nvPicPr>
          <p:blipFill rotWithShape="1">
            <a:blip r:embed="rId4">
              <a:alphaModFix/>
            </a:blip>
            <a:srcRect b="0" l="0" r="0" t="0"/>
            <a:stretch/>
          </p:blipFill>
          <p:spPr>
            <a:xfrm>
              <a:off x="1752600" y="3238500"/>
              <a:ext cx="19200" cy="190500"/>
            </a:xfrm>
            <a:prstGeom prst="rect">
              <a:avLst/>
            </a:prstGeom>
            <a:noFill/>
            <a:ln>
              <a:noFill/>
            </a:ln>
          </p:spPr>
        </p:pic>
        <p:grpSp>
          <p:nvGrpSpPr>
            <p:cNvPr id="588" name="Google Shape;588;p31"/>
            <p:cNvGrpSpPr/>
            <p:nvPr/>
          </p:nvGrpSpPr>
          <p:grpSpPr>
            <a:xfrm>
              <a:off x="809625" y="3429000"/>
              <a:ext cx="1905000" cy="381000"/>
              <a:chOff x="809625" y="3429000"/>
              <a:chExt cx="1905000" cy="381000"/>
            </a:xfrm>
          </p:grpSpPr>
          <p:sp>
            <p:nvSpPr>
              <p:cNvPr id="589" name="Google Shape;589;p31"/>
              <p:cNvSpPr/>
              <p:nvPr/>
            </p:nvSpPr>
            <p:spPr>
              <a:xfrm>
                <a:off x="809625" y="3429000"/>
                <a:ext cx="1905000" cy="381000"/>
              </a:xfrm>
              <a:prstGeom prst="roundRect">
                <a:avLst>
                  <a:gd fmla="val 50000" name="adj"/>
                </a:avLst>
              </a:prstGeom>
              <a:solidFill>
                <a:srgbClr val="FFFFFF"/>
              </a:solidFill>
              <a:ln cap="flat" cmpd="sng" w="19050">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31"/>
              <p:cNvSpPr txBox="1"/>
              <p:nvPr/>
            </p:nvSpPr>
            <p:spPr>
              <a:xfrm>
                <a:off x="809625" y="3429000"/>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8BC249"/>
                    </a:solidFill>
                    <a:latin typeface="Montserrat"/>
                    <a:ea typeface="Montserrat"/>
                    <a:cs typeface="Montserrat"/>
                    <a:sym typeface="Montserrat"/>
                  </a:rPr>
                  <a:t>FQC TIẾN HÀNH RE-CHECK</a:t>
                </a:r>
                <a:endParaRPr b="1" sz="900">
                  <a:solidFill>
                    <a:srgbClr val="8BC249"/>
                  </a:solidFill>
                  <a:latin typeface="Montserrat"/>
                  <a:ea typeface="Montserrat"/>
                  <a:cs typeface="Montserrat"/>
                  <a:sym typeface="Montserrat"/>
                </a:endParaRPr>
              </a:p>
            </p:txBody>
          </p:sp>
        </p:grpSp>
        <p:pic>
          <p:nvPicPr>
            <p:cNvPr id="591" name="Google Shape;591;p31"/>
            <p:cNvPicPr preferRelativeResize="0"/>
            <p:nvPr/>
          </p:nvPicPr>
          <p:blipFill rotWithShape="1">
            <a:blip r:embed="rId6">
              <a:alphaModFix/>
            </a:blip>
            <a:srcRect b="0" l="0" r="0" t="0"/>
            <a:stretch/>
          </p:blipFill>
          <p:spPr>
            <a:xfrm>
              <a:off x="1276350" y="3810000"/>
              <a:ext cx="971700" cy="190500"/>
            </a:xfrm>
            <a:prstGeom prst="rect">
              <a:avLst/>
            </a:prstGeom>
            <a:noFill/>
            <a:ln>
              <a:noFill/>
            </a:ln>
          </p:spPr>
        </p:pic>
        <p:grpSp>
          <p:nvGrpSpPr>
            <p:cNvPr id="592" name="Google Shape;592;p31"/>
            <p:cNvGrpSpPr/>
            <p:nvPr/>
          </p:nvGrpSpPr>
          <p:grpSpPr>
            <a:xfrm>
              <a:off x="571500" y="4000500"/>
              <a:ext cx="1095300" cy="571500"/>
              <a:chOff x="571500" y="4000500"/>
              <a:chExt cx="1095300" cy="571500"/>
            </a:xfrm>
          </p:grpSpPr>
          <p:sp>
            <p:nvSpPr>
              <p:cNvPr id="593" name="Google Shape;593;p31"/>
              <p:cNvSpPr/>
              <p:nvPr/>
            </p:nvSpPr>
            <p:spPr>
              <a:xfrm>
                <a:off x="571500" y="4000500"/>
                <a:ext cx="1095300" cy="571500"/>
              </a:xfrm>
              <a:prstGeom prst="roundRect">
                <a:avLst>
                  <a:gd fmla="val 13333" name="adj"/>
                </a:avLst>
              </a:prstGeom>
              <a:solidFill>
                <a:srgbClr val="F1F8E9"/>
              </a:solidFill>
              <a:ln cap="flat" cmpd="sng" w="9525">
                <a:solidFill>
                  <a:srgbClr val="8BC24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31"/>
              <p:cNvSpPr txBox="1"/>
              <p:nvPr/>
            </p:nvSpPr>
            <p:spPr>
              <a:xfrm>
                <a:off x="571500" y="4000500"/>
                <a:ext cx="1095300" cy="571500"/>
              </a:xfrm>
              <a:prstGeom prst="rect">
                <a:avLst/>
              </a:prstGeom>
              <a:no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1" lang="vi" sz="800">
                    <a:solidFill>
                      <a:srgbClr val="8BC249"/>
                    </a:solidFill>
                    <a:latin typeface="Inter"/>
                    <a:ea typeface="Inter"/>
                    <a:cs typeface="Inter"/>
                    <a:sym typeface="Inter"/>
                  </a:rPr>
                  <a:t>OK</a:t>
                </a:r>
                <a:endParaRPr b="1" sz="800">
                  <a:solidFill>
                    <a:srgbClr val="8BC249"/>
                  </a:solidFill>
                  <a:latin typeface="Inter"/>
                  <a:ea typeface="Inter"/>
                  <a:cs typeface="Inter"/>
                  <a:sym typeface="Inter"/>
                </a:endParaRPr>
              </a:p>
              <a:p>
                <a:pPr indent="0" lvl="0" marL="0" rtl="0" algn="ctr">
                  <a:spcBef>
                    <a:spcPts val="0"/>
                  </a:spcBef>
                  <a:spcAft>
                    <a:spcPts val="0"/>
                  </a:spcAft>
                  <a:buNone/>
                </a:pPr>
                <a:r>
                  <a:rPr lang="vi" sz="700">
                    <a:solidFill>
                      <a:srgbClr val="334155"/>
                    </a:solidFill>
                    <a:latin typeface="Inter"/>
                    <a:ea typeface="Inter"/>
                    <a:cs typeface="Inter"/>
                    <a:sym typeface="Inter"/>
                  </a:rPr>
                  <a:t>Lưu dữ liệu lên hệ thống Nais (C546)</a:t>
                </a:r>
                <a:endParaRPr sz="700">
                  <a:solidFill>
                    <a:srgbClr val="334155"/>
                  </a:solidFill>
                  <a:latin typeface="Inter"/>
                  <a:ea typeface="Inter"/>
                  <a:cs typeface="Inter"/>
                  <a:sym typeface="Inter"/>
                </a:endParaRPr>
              </a:p>
            </p:txBody>
          </p:sp>
        </p:grpSp>
        <p:grpSp>
          <p:nvGrpSpPr>
            <p:cNvPr id="595" name="Google Shape;595;p31"/>
            <p:cNvGrpSpPr/>
            <p:nvPr/>
          </p:nvGrpSpPr>
          <p:grpSpPr>
            <a:xfrm>
              <a:off x="2000250" y="4000500"/>
              <a:ext cx="1095300" cy="571500"/>
              <a:chOff x="2000250" y="4000500"/>
              <a:chExt cx="1095300" cy="571500"/>
            </a:xfrm>
          </p:grpSpPr>
          <p:sp>
            <p:nvSpPr>
              <p:cNvPr id="596" name="Google Shape;596;p31"/>
              <p:cNvSpPr/>
              <p:nvPr/>
            </p:nvSpPr>
            <p:spPr>
              <a:xfrm>
                <a:off x="2000250" y="4000500"/>
                <a:ext cx="1095300" cy="571500"/>
              </a:xfrm>
              <a:prstGeom prst="roundRect">
                <a:avLst>
                  <a:gd fmla="val 13333" name="adj"/>
                </a:avLst>
              </a:prstGeom>
              <a:solidFill>
                <a:srgbClr val="FEE2E2"/>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31"/>
              <p:cNvSpPr txBox="1"/>
              <p:nvPr/>
            </p:nvSpPr>
            <p:spPr>
              <a:xfrm>
                <a:off x="2000250" y="4000500"/>
                <a:ext cx="1095300" cy="571500"/>
              </a:xfrm>
              <a:prstGeom prst="rect">
                <a:avLst/>
              </a:prstGeom>
              <a:no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1" lang="vi" sz="800">
                    <a:solidFill>
                      <a:srgbClr val="EF4444"/>
                    </a:solidFill>
                    <a:latin typeface="Inter"/>
                    <a:ea typeface="Inter"/>
                    <a:cs typeface="Inter"/>
                    <a:sym typeface="Inter"/>
                  </a:rPr>
                  <a:t>NG</a:t>
                </a:r>
                <a:endParaRPr b="1" sz="800">
                  <a:solidFill>
                    <a:srgbClr val="EF4444"/>
                  </a:solidFill>
                  <a:latin typeface="Inter"/>
                  <a:ea typeface="Inter"/>
                  <a:cs typeface="Inter"/>
                  <a:sym typeface="Inter"/>
                </a:endParaRPr>
              </a:p>
              <a:p>
                <a:pPr indent="0" lvl="0" marL="0" rtl="0" algn="ctr">
                  <a:spcBef>
                    <a:spcPts val="0"/>
                  </a:spcBef>
                  <a:spcAft>
                    <a:spcPts val="0"/>
                  </a:spcAft>
                  <a:buNone/>
                </a:pPr>
                <a:r>
                  <a:rPr lang="vi" sz="700">
                    <a:solidFill>
                      <a:srgbClr val="334155"/>
                    </a:solidFill>
                    <a:latin typeface="Inter"/>
                    <a:ea typeface="Inter"/>
                    <a:cs typeface="Inter"/>
                    <a:sym typeface="Inter"/>
                  </a:rPr>
                  <a:t>Vòng lặp ngược - Chuyển sang xử lý từ NCR</a:t>
                </a:r>
                <a:endParaRPr sz="700">
                  <a:solidFill>
                    <a:srgbClr val="334155"/>
                  </a:solidFill>
                  <a:latin typeface="Inter"/>
                  <a:ea typeface="Inter"/>
                  <a:cs typeface="Inter"/>
                  <a:sym typeface="Inter"/>
                </a:endParaRPr>
              </a:p>
            </p:txBody>
          </p:sp>
        </p:grpSp>
      </p:grpSp>
      <p:grpSp>
        <p:nvGrpSpPr>
          <p:cNvPr id="598" name="Google Shape;598;p31"/>
          <p:cNvGrpSpPr/>
          <p:nvPr/>
        </p:nvGrpSpPr>
        <p:grpSpPr>
          <a:xfrm>
            <a:off x="6143625" y="1047750"/>
            <a:ext cx="2571900" cy="3714900"/>
            <a:chOff x="6143625" y="1047750"/>
            <a:chExt cx="2571900" cy="3714900"/>
          </a:xfrm>
        </p:grpSpPr>
        <p:sp>
          <p:nvSpPr>
            <p:cNvPr id="599" name="Google Shape;599;p31"/>
            <p:cNvSpPr/>
            <p:nvPr/>
          </p:nvSpPr>
          <p:spPr>
            <a:xfrm>
              <a:off x="6143625" y="1047750"/>
              <a:ext cx="2571900" cy="37149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31"/>
            <p:cNvSpPr/>
            <p:nvPr/>
          </p:nvSpPr>
          <p:spPr>
            <a:xfrm>
              <a:off x="6143625" y="1047750"/>
              <a:ext cx="2571900" cy="381000"/>
            </a:xfrm>
            <a:prstGeom prst="roundRect">
              <a:avLst>
                <a:gd fmla="val 30000" name="adj"/>
              </a:avLst>
            </a:prstGeom>
            <a:solidFill>
              <a:srgbClr val="8BC24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p31"/>
            <p:cNvSpPr txBox="1"/>
            <p:nvPr/>
          </p:nvSpPr>
          <p:spPr>
            <a:xfrm>
              <a:off x="6286500" y="1047750"/>
              <a:ext cx="2286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1400">
                  <a:solidFill>
                    <a:srgbClr val="8BC249"/>
                  </a:solidFill>
                  <a:latin typeface="Material Icons"/>
                  <a:ea typeface="Material Icons"/>
                  <a:cs typeface="Material Icons"/>
                  <a:sym typeface="Material Icons"/>
                </a:rPr>
                <a:t>assignment</a:t>
              </a:r>
              <a:r>
                <a:rPr b="1" lang="vi" sz="900">
                  <a:solidFill>
                    <a:srgbClr val="1E293B"/>
                  </a:solidFill>
                  <a:latin typeface="Montserrat"/>
                  <a:ea typeface="Montserrat"/>
                  <a:cs typeface="Montserrat"/>
                  <a:sym typeface="Montserrat"/>
                </a:rPr>
                <a:t>HẠNG MỤC ĐO KIỂM CỐ ĐỊNH</a:t>
              </a:r>
              <a:endParaRPr b="1" sz="900">
                <a:solidFill>
                  <a:srgbClr val="1E293B"/>
                </a:solidFill>
                <a:latin typeface="Montserrat"/>
                <a:ea typeface="Montserrat"/>
                <a:cs typeface="Montserrat"/>
                <a:sym typeface="Montserrat"/>
              </a:endParaRPr>
            </a:p>
          </p:txBody>
        </p:sp>
        <p:sp>
          <p:nvSpPr>
            <p:cNvPr id="602" name="Google Shape;602;p31"/>
            <p:cNvSpPr txBox="1"/>
            <p:nvPr/>
          </p:nvSpPr>
          <p:spPr>
            <a:xfrm>
              <a:off x="6286500" y="1524000"/>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900">
                  <a:solidFill>
                    <a:srgbClr val="1E293B"/>
                  </a:solidFill>
                  <a:latin typeface="Inter"/>
                  <a:ea typeface="Inter"/>
                  <a:cs typeface="Inter"/>
                  <a:sym typeface="Inter"/>
                </a:rPr>
                <a:t>• OQC Tác nghiệp:</a:t>
              </a:r>
              <a:r>
                <a:rPr lang="vi" sz="900">
                  <a:solidFill>
                    <a:srgbClr val="475569"/>
                  </a:solidFill>
                  <a:latin typeface="Inter"/>
                  <a:ea typeface="Inter"/>
                  <a:cs typeface="Inter"/>
                  <a:sym typeface="Inter"/>
                </a:rPr>
                <a:t> Lấy mẫu tạo lot màn hình C512, đo trị số ESR, Check ngoại quan, phân cấp phân loại mã hàng C531 theo đúng tiêu chuẩn SOP.</a:t>
              </a:r>
              <a:endParaRPr sz="900">
                <a:solidFill>
                  <a:srgbClr val="475569"/>
                </a:solidFill>
                <a:latin typeface="Inter"/>
                <a:ea typeface="Inter"/>
                <a:cs typeface="Inter"/>
                <a:sym typeface="Inter"/>
              </a:endParaRPr>
            </a:p>
            <a:p>
              <a:pPr indent="0" lvl="0" marL="0" rtl="0" algn="l">
                <a:spcBef>
                  <a:spcPts val="1125"/>
                </a:spcBef>
                <a:spcAft>
                  <a:spcPts val="0"/>
                </a:spcAft>
                <a:buNone/>
              </a:pPr>
              <a:r>
                <a:rPr b="1" lang="vi" sz="900">
                  <a:solidFill>
                    <a:srgbClr val="1E293B"/>
                  </a:solidFill>
                  <a:latin typeface="Inter"/>
                  <a:ea typeface="Inter"/>
                  <a:cs typeface="Inter"/>
                  <a:sym typeface="Inter"/>
                </a:rPr>
                <a:t>• FQC Tác nghiệp:</a:t>
              </a:r>
              <a:r>
                <a:rPr lang="vi" sz="900">
                  <a:solidFill>
                    <a:srgbClr val="475569"/>
                  </a:solidFill>
                  <a:latin typeface="Inter"/>
                  <a:ea typeface="Inter"/>
                  <a:cs typeface="Inter"/>
                  <a:sym typeface="Inter"/>
                </a:rPr>
                <a:t> Đo kiểm tra ngoại quan nâng cao, kiểm tra đặc tính kỹ thuật dòng điện, đồng bộ hóa làm sạch dữ liệu lên phân hệ Nais (C546).</a:t>
              </a:r>
              <a:endParaRPr sz="900">
                <a:solidFill>
                  <a:srgbClr val="475569"/>
                </a:solidFill>
                <a:latin typeface="Inter"/>
                <a:ea typeface="Inter"/>
                <a:cs typeface="Inter"/>
                <a:sym typeface="Inte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pic>
        <p:nvPicPr>
          <p:cNvPr descr="image.png" id="607" name="Google Shape;607;p3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08" name="Google Shape;608;p32"/>
          <p:cNvSpPr/>
          <p:nvPr/>
        </p:nvSpPr>
        <p:spPr>
          <a:xfrm>
            <a:off x="428625" y="392906"/>
            <a:ext cx="57000" cy="4287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9" name="Google Shape;609;p32"/>
          <p:cNvSpPr txBox="1"/>
          <p:nvPr/>
        </p:nvSpPr>
        <p:spPr>
          <a:xfrm>
            <a:off x="607219" y="357188"/>
            <a:ext cx="8143800" cy="4773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OQC</a:t>
            </a:r>
            <a:endParaRPr sz="1100">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0F172A"/>
                </a:solidFill>
                <a:latin typeface="Montserrat"/>
                <a:ea typeface="Montserrat"/>
                <a:cs typeface="Montserrat"/>
                <a:sym typeface="Montserrat"/>
              </a:rPr>
              <a:t>KHÓ KHĂN &amp; YÊU CẦU HỆ THỐNG</a:t>
            </a:r>
            <a:endParaRPr b="0" i="0" sz="1100" u="none" cap="none" strike="noStrike">
              <a:solidFill>
                <a:srgbClr val="8BC249"/>
              </a:solidFill>
              <a:latin typeface="Montserrat SemiBold"/>
              <a:ea typeface="Montserrat SemiBold"/>
              <a:cs typeface="Montserrat SemiBold"/>
              <a:sym typeface="Montserrat SemiBold"/>
            </a:endParaRPr>
          </a:p>
        </p:txBody>
      </p:sp>
      <p:grpSp>
        <p:nvGrpSpPr>
          <p:cNvPr id="610" name="Google Shape;610;p32"/>
          <p:cNvGrpSpPr/>
          <p:nvPr/>
        </p:nvGrpSpPr>
        <p:grpSpPr>
          <a:xfrm>
            <a:off x="428625" y="1143000"/>
            <a:ext cx="4000500" cy="2000250"/>
            <a:chOff x="571500" y="1524000"/>
            <a:chExt cx="5334000" cy="2667000"/>
          </a:xfrm>
        </p:grpSpPr>
        <p:sp>
          <p:nvSpPr>
            <p:cNvPr id="611" name="Google Shape;611;p32"/>
            <p:cNvSpPr/>
            <p:nvPr/>
          </p:nvSpPr>
          <p:spPr>
            <a:xfrm>
              <a:off x="571500" y="1524000"/>
              <a:ext cx="5334000" cy="2667000"/>
            </a:xfrm>
            <a:prstGeom prst="roundRect">
              <a:avLst>
                <a:gd fmla="val 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2" name="Google Shape;612;p32"/>
            <p:cNvSpPr/>
            <p:nvPr/>
          </p:nvSpPr>
          <p:spPr>
            <a:xfrm>
              <a:off x="571500" y="1524000"/>
              <a:ext cx="5334000" cy="57300"/>
            </a:xfrm>
            <a:prstGeom prst="roundRect">
              <a:avLst>
                <a:gd fmla="val 50000" name="adj"/>
              </a:avLst>
            </a:prstGeom>
            <a:solidFill>
              <a:srgbClr val="F8FAF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3" name="Google Shape;613;p32"/>
            <p:cNvSpPr txBox="1"/>
            <p:nvPr/>
          </p:nvSpPr>
          <p:spPr>
            <a:xfrm>
              <a:off x="857250" y="1809750"/>
              <a:ext cx="4762500" cy="2095500"/>
            </a:xfrm>
            <a:prstGeom prst="rect">
              <a:avLst/>
            </a:prstGeom>
            <a:solidFill>
              <a:srgbClr val="F8FA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EF4444"/>
                </a:solidFill>
                <a:latin typeface="Mate"/>
                <a:ea typeface="Mate"/>
                <a:cs typeface="Mate"/>
                <a:sym typeface="Mate"/>
              </a:endParaRPr>
            </a:p>
            <a:p>
              <a:pPr indent="0" lvl="0" marL="0" marR="0" rtl="0" algn="l">
                <a:lnSpc>
                  <a:spcPct val="100000"/>
                </a:lnSpc>
                <a:spcBef>
                  <a:spcPts val="8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HIỆU SUẤT MES THẤP</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6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Màn hình load dữ liệu rất chậm. Khi truy vấn khoảng thời gian (range) lớn thường xuyên gây treo hoặc sập ứng dụng (crash).</a:t>
              </a:r>
              <a:endParaRPr b="0" i="0" sz="1200" u="none" cap="none" strike="noStrike">
                <a:solidFill>
                  <a:srgbClr val="475569"/>
                </a:solidFill>
                <a:latin typeface="Inter"/>
                <a:ea typeface="Inter"/>
                <a:cs typeface="Inter"/>
                <a:sym typeface="Inter"/>
              </a:endParaRPr>
            </a:p>
          </p:txBody>
        </p:sp>
      </p:grpSp>
      <p:grpSp>
        <p:nvGrpSpPr>
          <p:cNvPr id="614" name="Google Shape;614;p32"/>
          <p:cNvGrpSpPr/>
          <p:nvPr/>
        </p:nvGrpSpPr>
        <p:grpSpPr>
          <a:xfrm>
            <a:off x="4714875" y="1143000"/>
            <a:ext cx="4000500" cy="2000250"/>
            <a:chOff x="6286500" y="1524000"/>
            <a:chExt cx="5334000" cy="2667000"/>
          </a:xfrm>
        </p:grpSpPr>
        <p:sp>
          <p:nvSpPr>
            <p:cNvPr id="615" name="Google Shape;615;p32"/>
            <p:cNvSpPr/>
            <p:nvPr/>
          </p:nvSpPr>
          <p:spPr>
            <a:xfrm>
              <a:off x="6286500" y="1524000"/>
              <a:ext cx="5334000" cy="2667000"/>
            </a:xfrm>
            <a:prstGeom prst="roundRect">
              <a:avLst>
                <a:gd fmla="val 4285" name="adj"/>
              </a:avLst>
            </a:prstGeom>
            <a:solidFill>
              <a:srgbClr val="F8FAFC"/>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6" name="Google Shape;616;p32"/>
            <p:cNvSpPr/>
            <p:nvPr/>
          </p:nvSpPr>
          <p:spPr>
            <a:xfrm>
              <a:off x="6286500" y="1524000"/>
              <a:ext cx="5334000" cy="57300"/>
            </a:xfrm>
            <a:prstGeom prst="roundRect">
              <a:avLst>
                <a:gd fmla="val 50000" name="adj"/>
              </a:avLst>
            </a:prstGeom>
            <a:solidFill>
              <a:srgbClr val="F8FAF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7" name="Google Shape;617;p32"/>
            <p:cNvSpPr txBox="1"/>
            <p:nvPr/>
          </p:nvSpPr>
          <p:spPr>
            <a:xfrm>
              <a:off x="6572250" y="1809750"/>
              <a:ext cx="4762500" cy="2095500"/>
            </a:xfrm>
            <a:prstGeom prst="rect">
              <a:avLst/>
            </a:prstGeom>
            <a:solidFill>
              <a:srgbClr val="F8FAFC"/>
            </a:solidFill>
            <a:ln>
              <a:noFill/>
            </a:ln>
          </p:spPr>
          <p:txBody>
            <a:bodyPr anchorCtr="0" anchor="t" bIns="0" lIns="0" spcFirstLastPara="1" rIns="0" wrap="square" tIns="0">
              <a:noAutofit/>
            </a:bodyPr>
            <a:lstStyle/>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LỖ HỔNG QUY TRÌNH NHẬP KHO</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6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Tồn tại tình trạng một số Lot hàng chưa Pass qua kiểm định OQC nhưng hệ thống vẫn cho phép nhập kho thành công.</a:t>
              </a:r>
              <a:endParaRPr b="0" i="0" sz="1200" u="none" cap="none" strike="noStrike">
                <a:solidFill>
                  <a:srgbClr val="475569"/>
                </a:solidFill>
                <a:latin typeface="Inter"/>
                <a:ea typeface="Inter"/>
                <a:cs typeface="Inter"/>
                <a:sym typeface="Inter"/>
              </a:endParaRPr>
            </a:p>
          </p:txBody>
        </p:sp>
      </p:grpSp>
      <p:grpSp>
        <p:nvGrpSpPr>
          <p:cNvPr id="618" name="Google Shape;618;p32"/>
          <p:cNvGrpSpPr/>
          <p:nvPr/>
        </p:nvGrpSpPr>
        <p:grpSpPr>
          <a:xfrm>
            <a:off x="428625" y="3571875"/>
            <a:ext cx="8286750" cy="1000125"/>
            <a:chOff x="571500" y="4762500"/>
            <a:chExt cx="11049000" cy="1333500"/>
          </a:xfrm>
        </p:grpSpPr>
        <p:sp>
          <p:nvSpPr>
            <p:cNvPr id="619" name="Google Shape;619;p32"/>
            <p:cNvSpPr/>
            <p:nvPr/>
          </p:nvSpPr>
          <p:spPr>
            <a:xfrm>
              <a:off x="571500" y="4762500"/>
              <a:ext cx="11049000" cy="1333500"/>
            </a:xfrm>
            <a:prstGeom prst="roundRect">
              <a:avLst>
                <a:gd fmla="val 8571" name="adj"/>
              </a:avLst>
            </a:prstGeom>
            <a:solidFill>
              <a:srgbClr val="F8FAF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0" name="Google Shape;620;p32"/>
            <p:cNvSpPr/>
            <p:nvPr/>
          </p:nvSpPr>
          <p:spPr>
            <a:xfrm>
              <a:off x="571500" y="4762500"/>
              <a:ext cx="57300" cy="1333500"/>
            </a:xfrm>
            <a:prstGeom prst="roundRect">
              <a:avLst>
                <a:gd fmla="val 50000" name="adj"/>
              </a:avLst>
            </a:prstGeom>
            <a:solidFill>
              <a:srgbClr val="F8FAF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1" name="Google Shape;621;p32"/>
            <p:cNvSpPr txBox="1"/>
            <p:nvPr/>
          </p:nvSpPr>
          <p:spPr>
            <a:xfrm>
              <a:off x="952500" y="4905375"/>
              <a:ext cx="10287000" cy="1047900"/>
            </a:xfrm>
            <a:prstGeom prst="rect">
              <a:avLst/>
            </a:prstGeom>
            <a:solidFill>
              <a:srgbClr val="F8FAF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vi" sz="1500" u="none" cap="none" strike="noStrike">
                  <a:solidFill>
                    <a:srgbClr val="8BC249"/>
                  </a:solidFill>
                  <a:latin typeface="Mate"/>
                  <a:ea typeface="Mate"/>
                  <a:cs typeface="Mate"/>
                  <a:sym typeface="Mate"/>
                </a:rPr>
                <a:t>         </a:t>
              </a:r>
              <a:r>
                <a:rPr b="1" i="0" lang="vi" sz="1500" u="none" cap="none" strike="noStrike">
                  <a:solidFill>
                    <a:srgbClr val="8BC249"/>
                  </a:solidFill>
                  <a:latin typeface="Montserrat"/>
                  <a:ea typeface="Montserrat"/>
                  <a:cs typeface="Montserrat"/>
                  <a:sym typeface="Montserrat"/>
                </a:rPr>
                <a:t>MONG MUỐN HỆ THỐNG MỚI</a:t>
              </a:r>
              <a:endParaRPr b="1" i="0" sz="1500" u="none" cap="none" strike="noStrike">
                <a:solidFill>
                  <a:srgbClr val="8BC249"/>
                </a:solidFill>
                <a:latin typeface="Montserrat"/>
                <a:ea typeface="Montserrat"/>
                <a:cs typeface="Montserrat"/>
                <a:sym typeface="Montserrat"/>
              </a:endParaRPr>
            </a:p>
            <a:p>
              <a:pPr indent="0" lvl="0" marL="0" marR="0" rtl="0" algn="l">
                <a:lnSpc>
                  <a:spcPct val="100000"/>
                </a:lnSpc>
                <a:spcBef>
                  <a:spcPts val="6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Tốc độ xử lý dữ liệu lớn (Big Data) ổn định. Tích hợp chức năng </a:t>
              </a:r>
              <a:r>
                <a:rPr b="1" i="0" lang="vi" sz="1200" u="none" cap="none" strike="noStrike">
                  <a:solidFill>
                    <a:srgbClr val="475569"/>
                  </a:solidFill>
                  <a:latin typeface="Inter"/>
                  <a:ea typeface="Inter"/>
                  <a:cs typeface="Inter"/>
                  <a:sym typeface="Inter"/>
                </a:rPr>
                <a:t>Quản lý Vấn đề Khách hàng (Customer Issue Management)</a:t>
              </a:r>
              <a:r>
                <a:rPr b="0" i="0" lang="vi" sz="1200" u="none" cap="none" strike="noStrike">
                  <a:solidFill>
                    <a:srgbClr val="475569"/>
                  </a:solidFill>
                  <a:latin typeface="Inter"/>
                  <a:ea typeface="Inter"/>
                  <a:cs typeface="Inter"/>
                  <a:sym typeface="Inter"/>
                </a:rPr>
                <a:t> tập trung.</a:t>
              </a:r>
              <a:endParaRPr b="0" i="0" sz="1200" u="none" cap="none" strike="noStrike">
                <a:solidFill>
                  <a:srgbClr val="475569"/>
                </a:solidFill>
                <a:latin typeface="Inter"/>
                <a:ea typeface="Inter"/>
                <a:cs typeface="Inter"/>
                <a:sym typeface="Inter"/>
              </a:endParaRPr>
            </a:p>
          </p:txBody>
        </p:sp>
      </p:grpSp>
      <p:pic>
        <p:nvPicPr>
          <p:cNvPr id="622" name="Google Shape;622;p32"/>
          <p:cNvPicPr preferRelativeResize="0"/>
          <p:nvPr/>
        </p:nvPicPr>
        <p:blipFill rotWithShape="1">
          <a:blip r:embed="rId4">
            <a:alphaModFix/>
          </a:blip>
          <a:srcRect b="0" l="0" r="0" t="0"/>
          <a:stretch/>
        </p:blipFill>
        <p:spPr>
          <a:xfrm>
            <a:off x="669388" y="1239199"/>
            <a:ext cx="461676" cy="461676"/>
          </a:xfrm>
          <a:prstGeom prst="rect">
            <a:avLst/>
          </a:prstGeom>
          <a:noFill/>
          <a:ln>
            <a:noFill/>
          </a:ln>
        </p:spPr>
      </p:pic>
      <p:pic>
        <p:nvPicPr>
          <p:cNvPr id="623" name="Google Shape;623;p32"/>
          <p:cNvPicPr preferRelativeResize="0"/>
          <p:nvPr/>
        </p:nvPicPr>
        <p:blipFill rotWithShape="1">
          <a:blip r:embed="rId5">
            <a:alphaModFix/>
          </a:blip>
          <a:srcRect b="0" l="0" r="0" t="0"/>
          <a:stretch/>
        </p:blipFill>
        <p:spPr>
          <a:xfrm>
            <a:off x="4912198" y="1239201"/>
            <a:ext cx="391325" cy="391325"/>
          </a:xfrm>
          <a:prstGeom prst="rect">
            <a:avLst/>
          </a:prstGeom>
          <a:noFill/>
          <a:ln>
            <a:noFill/>
          </a:ln>
        </p:spPr>
      </p:pic>
      <p:pic>
        <p:nvPicPr>
          <p:cNvPr id="624" name="Google Shape;624;p32"/>
          <p:cNvPicPr preferRelativeResize="0"/>
          <p:nvPr/>
        </p:nvPicPr>
        <p:blipFill rotWithShape="1">
          <a:blip r:embed="rId6">
            <a:alphaModFix/>
          </a:blip>
          <a:srcRect b="0" l="0" r="0" t="0"/>
          <a:stretch/>
        </p:blipFill>
        <p:spPr>
          <a:xfrm>
            <a:off x="736204" y="3672459"/>
            <a:ext cx="328041" cy="32804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8" name="Shape 628"/>
        <p:cNvGrpSpPr/>
        <p:nvPr/>
      </p:nvGrpSpPr>
      <p:grpSpPr>
        <a:xfrm>
          <a:off x="0" y="0"/>
          <a:ext cx="0" cy="0"/>
          <a:chOff x="0" y="0"/>
          <a:chExt cx="0" cy="0"/>
        </a:xfrm>
      </p:grpSpPr>
      <p:sp>
        <p:nvSpPr>
          <p:cNvPr id="629" name="Google Shape;629;p33"/>
          <p:cNvSpPr/>
          <p:nvPr/>
        </p:nvSpPr>
        <p:spPr>
          <a:xfrm>
            <a:off x="428625" y="357188"/>
            <a:ext cx="71400" cy="406800"/>
          </a:xfrm>
          <a:prstGeom prst="rect">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33"/>
          <p:cNvSpPr txBox="1"/>
          <p:nvPr/>
        </p:nvSpPr>
        <p:spPr>
          <a:xfrm>
            <a:off x="619125" y="357188"/>
            <a:ext cx="8096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100">
                <a:solidFill>
                  <a:srgbClr val="8BC249"/>
                </a:solidFill>
                <a:latin typeface="Montserrat SemiBold"/>
                <a:ea typeface="Montserrat SemiBold"/>
                <a:cs typeface="Montserrat SemiBold"/>
                <a:sym typeface="Montserrat SemiBold"/>
              </a:rPr>
              <a:t>VIETNAM QC TEAM</a:t>
            </a:r>
            <a:endParaRPr b="0" sz="1100">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2000">
                <a:solidFill>
                  <a:srgbClr val="1E293B"/>
                </a:solidFill>
                <a:latin typeface="Montserrat"/>
                <a:ea typeface="Montserrat"/>
                <a:cs typeface="Montserrat"/>
                <a:sym typeface="Montserrat"/>
              </a:rPr>
              <a:t>NHỮNG KHÓ KHĂN HIỆN TẠI</a:t>
            </a:r>
            <a:endParaRPr b="1" sz="2000">
              <a:solidFill>
                <a:srgbClr val="1E293B"/>
              </a:solidFill>
              <a:latin typeface="Montserrat"/>
              <a:ea typeface="Montserrat"/>
              <a:cs typeface="Montserrat"/>
              <a:sym typeface="Montserrat"/>
            </a:endParaRPr>
          </a:p>
        </p:txBody>
      </p:sp>
      <p:grpSp>
        <p:nvGrpSpPr>
          <p:cNvPr id="631" name="Google Shape;631;p33"/>
          <p:cNvGrpSpPr/>
          <p:nvPr/>
        </p:nvGrpSpPr>
        <p:grpSpPr>
          <a:xfrm>
            <a:off x="428625" y="1190625"/>
            <a:ext cx="3952800" cy="1428900"/>
            <a:chOff x="428625" y="1190625"/>
            <a:chExt cx="3952800" cy="1428900"/>
          </a:xfrm>
        </p:grpSpPr>
        <p:sp>
          <p:nvSpPr>
            <p:cNvPr id="632" name="Google Shape;632;p33"/>
            <p:cNvSpPr/>
            <p:nvPr/>
          </p:nvSpPr>
          <p:spPr>
            <a:xfrm>
              <a:off x="428625" y="1190625"/>
              <a:ext cx="39528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33"/>
            <p:cNvSpPr/>
            <p:nvPr/>
          </p:nvSpPr>
          <p:spPr>
            <a:xfrm>
              <a:off x="428625" y="1190625"/>
              <a:ext cx="38100" cy="1428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33"/>
            <p:cNvSpPr txBox="1"/>
            <p:nvPr/>
          </p:nvSpPr>
          <p:spPr>
            <a:xfrm>
              <a:off x="619125" y="1333500"/>
              <a:ext cx="3571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220">
                  <a:solidFill>
                    <a:srgbClr val="EF4444"/>
                  </a:solidFill>
                  <a:latin typeface="Material Icons"/>
                  <a:ea typeface="Material Icons"/>
                  <a:cs typeface="Material Icons"/>
                  <a:sym typeface="Material Icons"/>
                </a:rPr>
                <a:t>history_edu</a:t>
              </a:r>
              <a:endParaRPr sz="222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1" lang="vi" sz="1203">
                  <a:solidFill>
                    <a:srgbClr val="1E293B"/>
                  </a:solidFill>
                  <a:latin typeface="Montserrat"/>
                  <a:ea typeface="Montserrat"/>
                  <a:cs typeface="Montserrat"/>
                  <a:sym typeface="Montserrat"/>
                </a:rPr>
                <a:t>Gánh nặng báo cáo thủ công</a:t>
              </a:r>
              <a:endParaRPr b="1" sz="1203">
                <a:solidFill>
                  <a:srgbClr val="1E293B"/>
                </a:solidFill>
                <a:latin typeface="Montserrat"/>
                <a:ea typeface="Montserrat"/>
                <a:cs typeface="Montserrat"/>
                <a:sym typeface="Montserrat"/>
              </a:endParaRPr>
            </a:p>
            <a:p>
              <a:pPr indent="0" lvl="0" marL="0" rtl="0" algn="l">
                <a:spcBef>
                  <a:spcPts val="450"/>
                </a:spcBef>
                <a:spcAft>
                  <a:spcPts val="0"/>
                </a:spcAft>
                <a:buNone/>
              </a:pPr>
              <a:r>
                <a:rPr b="0" lang="vi" sz="925">
                  <a:solidFill>
                    <a:srgbClr val="475569"/>
                  </a:solidFill>
                  <a:latin typeface="Inter"/>
                  <a:ea typeface="Inter"/>
                  <a:cs typeface="Inter"/>
                  <a:sym typeface="Inter"/>
                </a:rPr>
                <a:t>Việc tổng hợp báo cáo hàng Test, Ngày/Tuần/Tháng, Customer Claim và cải tiến mất rất nhiều thời gian do làm thủ công.</a:t>
              </a:r>
              <a:endParaRPr b="0" sz="925">
                <a:solidFill>
                  <a:srgbClr val="475569"/>
                </a:solidFill>
                <a:latin typeface="Inter"/>
                <a:ea typeface="Inter"/>
                <a:cs typeface="Inter"/>
                <a:sym typeface="Inter"/>
              </a:endParaRPr>
            </a:p>
          </p:txBody>
        </p:sp>
      </p:grpSp>
      <p:grpSp>
        <p:nvGrpSpPr>
          <p:cNvPr id="635" name="Google Shape;635;p33"/>
          <p:cNvGrpSpPr/>
          <p:nvPr/>
        </p:nvGrpSpPr>
        <p:grpSpPr>
          <a:xfrm>
            <a:off x="4762500" y="1190625"/>
            <a:ext cx="3952800" cy="1428900"/>
            <a:chOff x="4762500" y="1190625"/>
            <a:chExt cx="3952800" cy="1428900"/>
          </a:xfrm>
        </p:grpSpPr>
        <p:sp>
          <p:nvSpPr>
            <p:cNvPr id="636" name="Google Shape;636;p33"/>
            <p:cNvSpPr/>
            <p:nvPr/>
          </p:nvSpPr>
          <p:spPr>
            <a:xfrm>
              <a:off x="4762500" y="1190625"/>
              <a:ext cx="39528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33"/>
            <p:cNvSpPr/>
            <p:nvPr/>
          </p:nvSpPr>
          <p:spPr>
            <a:xfrm>
              <a:off x="4762500" y="1190625"/>
              <a:ext cx="38100" cy="1428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33"/>
            <p:cNvSpPr txBox="1"/>
            <p:nvPr/>
          </p:nvSpPr>
          <p:spPr>
            <a:xfrm>
              <a:off x="4953000" y="1333500"/>
              <a:ext cx="3571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220">
                  <a:solidFill>
                    <a:srgbClr val="EF4444"/>
                  </a:solidFill>
                  <a:latin typeface="Material Icons"/>
                  <a:ea typeface="Material Icons"/>
                  <a:cs typeface="Material Icons"/>
                  <a:sym typeface="Material Icons"/>
                </a:rPr>
                <a:t>groups</a:t>
              </a:r>
              <a:endParaRPr sz="222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1" lang="vi" sz="1203">
                  <a:solidFill>
                    <a:srgbClr val="1E293B"/>
                  </a:solidFill>
                  <a:latin typeface="Montserrat"/>
                  <a:ea typeface="Montserrat"/>
                  <a:cs typeface="Montserrat"/>
                  <a:sym typeface="Montserrat"/>
                </a:rPr>
                <a:t>Hợp tác liên phòng ban chậm</a:t>
              </a:r>
              <a:endParaRPr b="1" sz="1203">
                <a:solidFill>
                  <a:srgbClr val="1E293B"/>
                </a:solidFill>
                <a:latin typeface="Montserrat"/>
                <a:ea typeface="Montserrat"/>
                <a:cs typeface="Montserrat"/>
                <a:sym typeface="Montserrat"/>
              </a:endParaRPr>
            </a:p>
            <a:p>
              <a:pPr indent="0" lvl="0" marL="0" rtl="0" algn="l">
                <a:spcBef>
                  <a:spcPts val="450"/>
                </a:spcBef>
                <a:spcAft>
                  <a:spcPts val="0"/>
                </a:spcAft>
                <a:buNone/>
              </a:pPr>
              <a:r>
                <a:rPr b="0" lang="vi" sz="925">
                  <a:solidFill>
                    <a:srgbClr val="475569"/>
                  </a:solidFill>
                  <a:latin typeface="Inter"/>
                  <a:ea typeface="Inter"/>
                  <a:cs typeface="Inter"/>
                  <a:sym typeface="Inter"/>
                </a:rPr>
                <a:t>Báo cáo 8D đòi hỏi nhiều phòng ban (Sản xuất, Kỹ thuật) phối hợp, rất khó thúc đẩy họ cập nhật đúng tiến độ (SLA) của khách hàng.</a:t>
              </a:r>
              <a:endParaRPr b="0" sz="925">
                <a:solidFill>
                  <a:srgbClr val="475569"/>
                </a:solidFill>
                <a:latin typeface="Inter"/>
                <a:ea typeface="Inter"/>
                <a:cs typeface="Inter"/>
                <a:sym typeface="Inter"/>
              </a:endParaRPr>
            </a:p>
          </p:txBody>
        </p:sp>
      </p:grpSp>
      <p:grpSp>
        <p:nvGrpSpPr>
          <p:cNvPr id="639" name="Google Shape;639;p33"/>
          <p:cNvGrpSpPr/>
          <p:nvPr/>
        </p:nvGrpSpPr>
        <p:grpSpPr>
          <a:xfrm>
            <a:off x="428625" y="2857500"/>
            <a:ext cx="3952800" cy="1428900"/>
            <a:chOff x="428625" y="2857500"/>
            <a:chExt cx="3952800" cy="1428900"/>
          </a:xfrm>
        </p:grpSpPr>
        <p:sp>
          <p:nvSpPr>
            <p:cNvPr id="640" name="Google Shape;640;p33"/>
            <p:cNvSpPr/>
            <p:nvPr/>
          </p:nvSpPr>
          <p:spPr>
            <a:xfrm>
              <a:off x="428625" y="2857500"/>
              <a:ext cx="39528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33"/>
            <p:cNvSpPr/>
            <p:nvPr/>
          </p:nvSpPr>
          <p:spPr>
            <a:xfrm>
              <a:off x="428625" y="2857500"/>
              <a:ext cx="38100" cy="1428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33"/>
            <p:cNvSpPr txBox="1"/>
            <p:nvPr/>
          </p:nvSpPr>
          <p:spPr>
            <a:xfrm>
              <a:off x="619125" y="3000375"/>
              <a:ext cx="3571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220">
                  <a:solidFill>
                    <a:srgbClr val="EF4444"/>
                  </a:solidFill>
                  <a:latin typeface="Material Icons"/>
                  <a:ea typeface="Material Icons"/>
                  <a:cs typeface="Material Icons"/>
                  <a:sym typeface="Material Icons"/>
                </a:rPr>
                <a:t>report_problem</a:t>
              </a:r>
              <a:endParaRPr sz="222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1" lang="vi" sz="1203">
                  <a:solidFill>
                    <a:srgbClr val="1E293B"/>
                  </a:solidFill>
                  <a:latin typeface="Montserrat"/>
                  <a:ea typeface="Montserrat"/>
                  <a:cs typeface="Montserrat"/>
                  <a:sym typeface="Montserrat"/>
                </a:rPr>
                <a:t>Rủi ro sai lệch dữ liệu</a:t>
              </a:r>
              <a:endParaRPr b="1" sz="1203">
                <a:solidFill>
                  <a:srgbClr val="1E293B"/>
                </a:solidFill>
                <a:latin typeface="Montserrat"/>
                <a:ea typeface="Montserrat"/>
                <a:cs typeface="Montserrat"/>
                <a:sym typeface="Montserrat"/>
              </a:endParaRPr>
            </a:p>
            <a:p>
              <a:pPr indent="0" lvl="0" marL="0" rtl="0" algn="l">
                <a:spcBef>
                  <a:spcPts val="450"/>
                </a:spcBef>
                <a:spcAft>
                  <a:spcPts val="0"/>
                </a:spcAft>
                <a:buNone/>
              </a:pPr>
              <a:r>
                <a:rPr b="0" lang="vi" sz="925">
                  <a:solidFill>
                    <a:srgbClr val="475569"/>
                  </a:solidFill>
                  <a:latin typeface="Inter"/>
                  <a:ea typeface="Inter"/>
                  <a:cs typeface="Inter"/>
                  <a:sym typeface="Inter"/>
                </a:rPr>
                <a:t>Dữ liệu đầu vào (IQC, PQC, OQC) nếu nhập tay sai sót sẽ làm sai lệch toàn bộ báo cáo tự động (Hiện tượng "Dữ liệu rác vào, báo cáo rác ra").</a:t>
              </a:r>
              <a:endParaRPr b="0" sz="925">
                <a:solidFill>
                  <a:srgbClr val="475569"/>
                </a:solidFill>
                <a:latin typeface="Inter"/>
                <a:ea typeface="Inter"/>
                <a:cs typeface="Inter"/>
                <a:sym typeface="Inter"/>
              </a:endParaRPr>
            </a:p>
          </p:txBody>
        </p:sp>
      </p:grpSp>
      <p:grpSp>
        <p:nvGrpSpPr>
          <p:cNvPr id="643" name="Google Shape;643;p33"/>
          <p:cNvGrpSpPr/>
          <p:nvPr/>
        </p:nvGrpSpPr>
        <p:grpSpPr>
          <a:xfrm>
            <a:off x="4762500" y="2857500"/>
            <a:ext cx="3952800" cy="1428900"/>
            <a:chOff x="4762500" y="2857500"/>
            <a:chExt cx="3952800" cy="1428900"/>
          </a:xfrm>
        </p:grpSpPr>
        <p:sp>
          <p:nvSpPr>
            <p:cNvPr id="644" name="Google Shape;644;p33"/>
            <p:cNvSpPr/>
            <p:nvPr/>
          </p:nvSpPr>
          <p:spPr>
            <a:xfrm>
              <a:off x="4762500" y="2857500"/>
              <a:ext cx="39528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33"/>
            <p:cNvSpPr/>
            <p:nvPr/>
          </p:nvSpPr>
          <p:spPr>
            <a:xfrm>
              <a:off x="4762500" y="2857500"/>
              <a:ext cx="38100" cy="1428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33"/>
            <p:cNvSpPr txBox="1"/>
            <p:nvPr/>
          </p:nvSpPr>
          <p:spPr>
            <a:xfrm>
              <a:off x="4953000" y="3000375"/>
              <a:ext cx="3571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400">
                  <a:solidFill>
                    <a:srgbClr val="EF4444"/>
                  </a:solidFill>
                  <a:latin typeface="Material Icons"/>
                  <a:ea typeface="Material Icons"/>
                  <a:cs typeface="Material Icons"/>
                  <a:sym typeface="Material Icons"/>
                </a:rPr>
                <a:t>published_with_changes</a:t>
              </a:r>
              <a:endParaRPr sz="2400">
                <a:solidFill>
                  <a:srgbClr val="EF4444"/>
                </a:solidFill>
                <a:latin typeface="Material Icons"/>
                <a:ea typeface="Material Icons"/>
                <a:cs typeface="Material Icons"/>
                <a:sym typeface="Material Icons"/>
              </a:endParaRPr>
            </a:p>
            <a:p>
              <a:pPr indent="0" lvl="0" marL="0" rtl="0" algn="l">
                <a:spcBef>
                  <a:spcPts val="600"/>
                </a:spcBef>
                <a:spcAft>
                  <a:spcPts val="0"/>
                </a:spcAft>
                <a:buNone/>
              </a:pPr>
              <a:r>
                <a:rPr b="1" lang="vi" sz="1300">
                  <a:solidFill>
                    <a:srgbClr val="1E293B"/>
                  </a:solidFill>
                  <a:latin typeface="Montserrat"/>
                  <a:ea typeface="Montserrat"/>
                  <a:cs typeface="Montserrat"/>
                  <a:sym typeface="Montserrat"/>
                </a:rPr>
                <a:t>Rào cản thay đổi quy trình</a:t>
              </a:r>
              <a:endParaRPr b="1" sz="1300">
                <a:solidFill>
                  <a:srgbClr val="1E293B"/>
                </a:solidFill>
                <a:latin typeface="Montserrat"/>
                <a:ea typeface="Montserrat"/>
                <a:cs typeface="Montserrat"/>
                <a:sym typeface="Montserrat"/>
              </a:endParaRPr>
            </a:p>
            <a:p>
              <a:pPr indent="0" lvl="0" marL="0" rtl="0" algn="l">
                <a:spcBef>
                  <a:spcPts val="450"/>
                </a:spcBef>
                <a:spcAft>
                  <a:spcPts val="0"/>
                </a:spcAft>
                <a:buNone/>
              </a:pPr>
              <a:r>
                <a:rPr lang="vi" sz="1000">
                  <a:solidFill>
                    <a:srgbClr val="475569"/>
                  </a:solidFill>
                  <a:latin typeface="Inter"/>
                  <a:ea typeface="Inter"/>
                  <a:cs typeface="Inter"/>
                  <a:sym typeface="Inter"/>
                </a:rPr>
                <a:t>M</a:t>
              </a:r>
              <a:r>
                <a:rPr b="0" lang="vi" sz="1000">
                  <a:solidFill>
                    <a:srgbClr val="475569"/>
                  </a:solidFill>
                  <a:latin typeface="Inter"/>
                  <a:ea typeface="Inter"/>
                  <a:cs typeface="Inter"/>
                  <a:sym typeface="Inter"/>
                </a:rPr>
                <a:t>a trận phân quyền phê duyệt tài liệu phức tạp và chồng chéo </a:t>
              </a:r>
              <a:r>
                <a:rPr lang="vi" sz="1000">
                  <a:solidFill>
                    <a:srgbClr val="475569"/>
                  </a:solidFill>
                  <a:latin typeface="Inter"/>
                  <a:ea typeface="Inter"/>
                  <a:cs typeface="Inter"/>
                  <a:sym typeface="Inter"/>
                </a:rPr>
                <a:t>đã tồn tại từ lâu</a:t>
              </a:r>
              <a:r>
                <a:rPr b="0" lang="vi" sz="1000">
                  <a:solidFill>
                    <a:srgbClr val="475569"/>
                  </a:solidFill>
                  <a:latin typeface="Inter"/>
                  <a:ea typeface="Inter"/>
                  <a:cs typeface="Inter"/>
                  <a:sym typeface="Inter"/>
                </a:rPr>
                <a:t>.</a:t>
              </a:r>
              <a:endParaRPr b="0" sz="1000">
                <a:solidFill>
                  <a:srgbClr val="475569"/>
                </a:solidFill>
                <a:latin typeface="Inter"/>
                <a:ea typeface="Inter"/>
                <a:cs typeface="Inter"/>
                <a:sym typeface="Inte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0" name="Shape 650"/>
        <p:cNvGrpSpPr/>
        <p:nvPr/>
      </p:nvGrpSpPr>
      <p:grpSpPr>
        <a:xfrm>
          <a:off x="0" y="0"/>
          <a:ext cx="0" cy="0"/>
          <a:chOff x="0" y="0"/>
          <a:chExt cx="0" cy="0"/>
        </a:xfrm>
      </p:grpSpPr>
      <p:sp>
        <p:nvSpPr>
          <p:cNvPr id="651" name="Google Shape;651;p34"/>
          <p:cNvSpPr txBox="1"/>
          <p:nvPr/>
        </p:nvSpPr>
        <p:spPr>
          <a:xfrm>
            <a:off x="619125" y="321469"/>
            <a:ext cx="8096400" cy="477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vi" sz="1100">
                <a:solidFill>
                  <a:srgbClr val="8BC249"/>
                </a:solidFill>
                <a:latin typeface="Montserrat SemiBold"/>
                <a:ea typeface="Montserrat SemiBold"/>
                <a:cs typeface="Montserrat SemiBold"/>
                <a:sym typeface="Montserrat SemiBold"/>
              </a:rPr>
              <a:t>VIETNAM QC MANAGEMENT &amp; QA</a:t>
            </a:r>
            <a:endParaRPr b="0" sz="1100">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2000">
                <a:solidFill>
                  <a:srgbClr val="1E293B"/>
                </a:solidFill>
                <a:latin typeface="Montserrat"/>
                <a:ea typeface="Montserrat"/>
                <a:cs typeface="Montserrat"/>
                <a:sym typeface="Montserrat"/>
              </a:rPr>
              <a:t>YÊU CẦU CHỨC NĂNG ĐỐI VỚI HỆ THỐNG MỚI</a:t>
            </a:r>
            <a:endParaRPr b="1" sz="2000">
              <a:solidFill>
                <a:srgbClr val="1E293B"/>
              </a:solidFill>
              <a:latin typeface="Montserrat"/>
              <a:ea typeface="Montserrat"/>
              <a:cs typeface="Montserrat"/>
              <a:sym typeface="Montserrat"/>
            </a:endParaRPr>
          </a:p>
        </p:txBody>
      </p:sp>
      <p:grpSp>
        <p:nvGrpSpPr>
          <p:cNvPr id="652" name="Google Shape;652;p34"/>
          <p:cNvGrpSpPr/>
          <p:nvPr/>
        </p:nvGrpSpPr>
        <p:grpSpPr>
          <a:xfrm>
            <a:off x="428625" y="1047750"/>
            <a:ext cx="8286900" cy="3429000"/>
            <a:chOff x="428625" y="1047750"/>
            <a:chExt cx="8286900" cy="3429000"/>
          </a:xfrm>
        </p:grpSpPr>
        <p:grpSp>
          <p:nvGrpSpPr>
            <p:cNvPr id="653" name="Google Shape;653;p34"/>
            <p:cNvGrpSpPr/>
            <p:nvPr/>
          </p:nvGrpSpPr>
          <p:grpSpPr>
            <a:xfrm>
              <a:off x="428625" y="1047750"/>
              <a:ext cx="2571900" cy="1428900"/>
              <a:chOff x="428625" y="1047750"/>
              <a:chExt cx="2571900" cy="1428900"/>
            </a:xfrm>
          </p:grpSpPr>
          <p:sp>
            <p:nvSpPr>
              <p:cNvPr id="654" name="Google Shape;654;p34"/>
              <p:cNvSpPr/>
              <p:nvPr/>
            </p:nvSpPr>
            <p:spPr>
              <a:xfrm>
                <a:off x="428625" y="1047750"/>
                <a:ext cx="25719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34"/>
              <p:cNvSpPr/>
              <p:nvPr/>
            </p:nvSpPr>
            <p:spPr>
              <a:xfrm>
                <a:off x="428625" y="1047750"/>
                <a:ext cx="38100" cy="14289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34"/>
              <p:cNvSpPr txBox="1"/>
              <p:nvPr/>
            </p:nvSpPr>
            <p:spPr>
              <a:xfrm>
                <a:off x="619125" y="1190625"/>
                <a:ext cx="2238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400">
                    <a:solidFill>
                      <a:srgbClr val="8BC249"/>
                    </a:solidFill>
                    <a:latin typeface="Material Icons"/>
                    <a:ea typeface="Material Icons"/>
                    <a:cs typeface="Material Icons"/>
                    <a:sym typeface="Material Icons"/>
                  </a:rPr>
                  <a:t>cloud_upload</a:t>
                </a:r>
                <a:endParaRPr sz="2400">
                  <a:solidFill>
                    <a:srgbClr val="8BC249"/>
                  </a:solidFill>
                  <a:latin typeface="Material Icons"/>
                  <a:ea typeface="Material Icons"/>
                  <a:cs typeface="Material Icons"/>
                  <a:sym typeface="Material Icons"/>
                </a:endParaRPr>
              </a:p>
              <a:p>
                <a:pPr indent="0" lvl="0" marL="0" rtl="0" algn="l">
                  <a:spcBef>
                    <a:spcPts val="600"/>
                  </a:spcBef>
                  <a:spcAft>
                    <a:spcPts val="0"/>
                  </a:spcAft>
                  <a:buNone/>
                </a:pPr>
                <a:r>
                  <a:rPr b="1" lang="vi" sz="1000">
                    <a:solidFill>
                      <a:srgbClr val="1E293B"/>
                    </a:solidFill>
                    <a:latin typeface="Montserrat"/>
                    <a:ea typeface="Montserrat"/>
                    <a:cs typeface="Montserrat"/>
                    <a:sym typeface="Montserrat"/>
                  </a:rPr>
                  <a:t>TẢI DỮ LIỆU ĐỘ TIN CẬY</a:t>
                </a:r>
                <a:endParaRPr b="1" sz="1000">
                  <a:solidFill>
                    <a:srgbClr val="1E293B"/>
                  </a:solidFill>
                  <a:latin typeface="Montserrat"/>
                  <a:ea typeface="Montserrat"/>
                  <a:cs typeface="Montserrat"/>
                  <a:sym typeface="Montserrat"/>
                </a:endParaRPr>
              </a:p>
              <a:p>
                <a:pPr indent="0" lvl="0" marL="0" rtl="0" algn="l">
                  <a:spcBef>
                    <a:spcPts val="300"/>
                  </a:spcBef>
                  <a:spcAft>
                    <a:spcPts val="0"/>
                  </a:spcAft>
                  <a:buNone/>
                </a:pPr>
                <a:r>
                  <a:rPr b="0" lang="vi" sz="900">
                    <a:solidFill>
                      <a:srgbClr val="64748B"/>
                    </a:solidFill>
                    <a:latin typeface="Inter"/>
                    <a:ea typeface="Inter"/>
                    <a:cs typeface="Inter"/>
                    <a:sym typeface="Inter"/>
                  </a:rPr>
                  <a:t>Tự động đồng bộ và tải trực tiếp kết quả test từ máy kiểm thử về hệ thống trung tâm.</a:t>
                </a:r>
                <a:endParaRPr b="0" sz="900">
                  <a:solidFill>
                    <a:srgbClr val="64748B"/>
                  </a:solidFill>
                  <a:latin typeface="Inter"/>
                  <a:ea typeface="Inter"/>
                  <a:cs typeface="Inter"/>
                  <a:sym typeface="Inter"/>
                </a:endParaRPr>
              </a:p>
            </p:txBody>
          </p:sp>
        </p:grpSp>
        <p:grpSp>
          <p:nvGrpSpPr>
            <p:cNvPr id="657" name="Google Shape;657;p34"/>
            <p:cNvGrpSpPr/>
            <p:nvPr/>
          </p:nvGrpSpPr>
          <p:grpSpPr>
            <a:xfrm>
              <a:off x="3286125" y="1047750"/>
              <a:ext cx="2571900" cy="1428900"/>
              <a:chOff x="3286125" y="1047750"/>
              <a:chExt cx="2571900" cy="1428900"/>
            </a:xfrm>
          </p:grpSpPr>
          <p:sp>
            <p:nvSpPr>
              <p:cNvPr id="658" name="Google Shape;658;p34"/>
              <p:cNvSpPr/>
              <p:nvPr/>
            </p:nvSpPr>
            <p:spPr>
              <a:xfrm>
                <a:off x="3286125" y="1047750"/>
                <a:ext cx="25719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9" name="Google Shape;659;p34"/>
              <p:cNvSpPr/>
              <p:nvPr/>
            </p:nvSpPr>
            <p:spPr>
              <a:xfrm>
                <a:off x="3286125" y="1047750"/>
                <a:ext cx="38100" cy="14289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34"/>
              <p:cNvSpPr txBox="1"/>
              <p:nvPr/>
            </p:nvSpPr>
            <p:spPr>
              <a:xfrm>
                <a:off x="3476625" y="1190625"/>
                <a:ext cx="2238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400">
                    <a:solidFill>
                      <a:srgbClr val="8BC249"/>
                    </a:solidFill>
                    <a:latin typeface="Material Icons"/>
                    <a:ea typeface="Material Icons"/>
                    <a:cs typeface="Material Icons"/>
                    <a:sym typeface="Material Icons"/>
                  </a:rPr>
                  <a:t>assignment</a:t>
                </a:r>
                <a:endParaRPr sz="2400">
                  <a:solidFill>
                    <a:srgbClr val="8BC249"/>
                  </a:solidFill>
                  <a:latin typeface="Material Icons"/>
                  <a:ea typeface="Material Icons"/>
                  <a:cs typeface="Material Icons"/>
                  <a:sym typeface="Material Icons"/>
                </a:endParaRPr>
              </a:p>
              <a:p>
                <a:pPr indent="0" lvl="0" marL="0" rtl="0" algn="l">
                  <a:spcBef>
                    <a:spcPts val="600"/>
                  </a:spcBef>
                  <a:spcAft>
                    <a:spcPts val="0"/>
                  </a:spcAft>
                  <a:buNone/>
                </a:pPr>
                <a:r>
                  <a:rPr b="1" lang="vi" sz="1000">
                    <a:solidFill>
                      <a:srgbClr val="1E293B"/>
                    </a:solidFill>
                    <a:latin typeface="Montserrat"/>
                    <a:ea typeface="Montserrat"/>
                    <a:cs typeface="Montserrat"/>
                    <a:sym typeface="Montserrat"/>
                  </a:rPr>
                  <a:t>QUẢN TRỊ BIẾN ĐỘNG QMS</a:t>
                </a:r>
                <a:endParaRPr b="1" sz="1000">
                  <a:solidFill>
                    <a:srgbClr val="1E293B"/>
                  </a:solidFill>
                  <a:latin typeface="Montserrat"/>
                  <a:ea typeface="Montserrat"/>
                  <a:cs typeface="Montserrat"/>
                  <a:sym typeface="Montserrat"/>
                </a:endParaRPr>
              </a:p>
              <a:p>
                <a:pPr indent="0" lvl="0" marL="0" rtl="0" algn="l">
                  <a:spcBef>
                    <a:spcPts val="300"/>
                  </a:spcBef>
                  <a:spcAft>
                    <a:spcPts val="0"/>
                  </a:spcAft>
                  <a:buNone/>
                </a:pPr>
                <a:r>
                  <a:rPr b="0" lang="vi" sz="900">
                    <a:solidFill>
                      <a:srgbClr val="64748B"/>
                    </a:solidFill>
                    <a:latin typeface="Inter"/>
                    <a:ea typeface="Inter"/>
                    <a:cs typeface="Inter"/>
                    <a:sym typeface="Inter"/>
                  </a:rPr>
                  <a:t>Số hóa tài liệu QMS, phân quyền phê duyệt và theo dõi lịch sử quản lý thay đổi trực tiếp.</a:t>
                </a:r>
                <a:endParaRPr b="0" sz="900">
                  <a:solidFill>
                    <a:srgbClr val="64748B"/>
                  </a:solidFill>
                  <a:latin typeface="Inter"/>
                  <a:ea typeface="Inter"/>
                  <a:cs typeface="Inter"/>
                  <a:sym typeface="Inter"/>
                </a:endParaRPr>
              </a:p>
            </p:txBody>
          </p:sp>
        </p:grpSp>
        <p:grpSp>
          <p:nvGrpSpPr>
            <p:cNvPr id="661" name="Google Shape;661;p34"/>
            <p:cNvGrpSpPr/>
            <p:nvPr/>
          </p:nvGrpSpPr>
          <p:grpSpPr>
            <a:xfrm>
              <a:off x="6143625" y="1047750"/>
              <a:ext cx="2571900" cy="1428900"/>
              <a:chOff x="6143625" y="1047750"/>
              <a:chExt cx="2571900" cy="1428900"/>
            </a:xfrm>
          </p:grpSpPr>
          <p:sp>
            <p:nvSpPr>
              <p:cNvPr id="662" name="Google Shape;662;p34"/>
              <p:cNvSpPr/>
              <p:nvPr/>
            </p:nvSpPr>
            <p:spPr>
              <a:xfrm>
                <a:off x="6143625" y="1047750"/>
                <a:ext cx="25719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34"/>
              <p:cNvSpPr/>
              <p:nvPr/>
            </p:nvSpPr>
            <p:spPr>
              <a:xfrm>
                <a:off x="6143625" y="1047750"/>
                <a:ext cx="38100" cy="14289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34"/>
              <p:cNvSpPr txBox="1"/>
              <p:nvPr/>
            </p:nvSpPr>
            <p:spPr>
              <a:xfrm>
                <a:off x="6334125" y="1190625"/>
                <a:ext cx="2238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2400">
                    <a:solidFill>
                      <a:srgbClr val="8BC249"/>
                    </a:solidFill>
                    <a:latin typeface="Material Icons"/>
                    <a:ea typeface="Material Icons"/>
                    <a:cs typeface="Material Icons"/>
                    <a:sym typeface="Material Icons"/>
                  </a:rPr>
                  <a:t>analytics</a:t>
                </a:r>
                <a:endParaRPr sz="2400">
                  <a:solidFill>
                    <a:srgbClr val="8BC249"/>
                  </a:solidFill>
                  <a:latin typeface="Material Icons"/>
                  <a:ea typeface="Material Icons"/>
                  <a:cs typeface="Material Icons"/>
                  <a:sym typeface="Material Icons"/>
                </a:endParaRPr>
              </a:p>
              <a:p>
                <a:pPr indent="0" lvl="0" marL="0" rtl="0" algn="l">
                  <a:spcBef>
                    <a:spcPts val="600"/>
                  </a:spcBef>
                  <a:spcAft>
                    <a:spcPts val="0"/>
                  </a:spcAft>
                  <a:buNone/>
                </a:pPr>
                <a:r>
                  <a:rPr b="1" lang="vi" sz="1000">
                    <a:solidFill>
                      <a:srgbClr val="1E293B"/>
                    </a:solidFill>
                    <a:latin typeface="Montserrat"/>
                    <a:ea typeface="Montserrat"/>
                    <a:cs typeface="Montserrat"/>
                    <a:sym typeface="Montserrat"/>
                  </a:rPr>
                  <a:t>SỐ HÓA TRUNG TÂM BÁO CÁO</a:t>
                </a:r>
                <a:endParaRPr b="1" sz="1000">
                  <a:solidFill>
                    <a:srgbClr val="1E293B"/>
                  </a:solidFill>
                  <a:latin typeface="Montserrat"/>
                  <a:ea typeface="Montserrat"/>
                  <a:cs typeface="Montserrat"/>
                  <a:sym typeface="Montserrat"/>
                </a:endParaRPr>
              </a:p>
              <a:p>
                <a:pPr indent="0" lvl="0" marL="0" rtl="0" algn="l">
                  <a:spcBef>
                    <a:spcPts val="300"/>
                  </a:spcBef>
                  <a:spcAft>
                    <a:spcPts val="0"/>
                  </a:spcAft>
                  <a:buNone/>
                </a:pPr>
                <a:r>
                  <a:rPr b="0" lang="vi" sz="900">
                    <a:solidFill>
                      <a:srgbClr val="64748B"/>
                    </a:solidFill>
                    <a:latin typeface="Inter"/>
                    <a:ea typeface="Inter"/>
                    <a:cs typeface="Inter"/>
                    <a:sym typeface="Inter"/>
                  </a:rPr>
                  <a:t>Xây dựng Report Hub tự động tổng hợp số liệu IQC, PQC, OQC và các báo cáo kỹ thuật 4M, TF.</a:t>
                </a:r>
                <a:endParaRPr b="0" sz="900">
                  <a:solidFill>
                    <a:srgbClr val="64748B"/>
                  </a:solidFill>
                  <a:latin typeface="Inter"/>
                  <a:ea typeface="Inter"/>
                  <a:cs typeface="Inter"/>
                  <a:sym typeface="Inter"/>
                </a:endParaRPr>
              </a:p>
            </p:txBody>
          </p:sp>
        </p:grpSp>
        <p:grpSp>
          <p:nvGrpSpPr>
            <p:cNvPr id="665" name="Google Shape;665;p34"/>
            <p:cNvGrpSpPr/>
            <p:nvPr/>
          </p:nvGrpSpPr>
          <p:grpSpPr>
            <a:xfrm>
              <a:off x="428625" y="2762250"/>
              <a:ext cx="4000500" cy="1714500"/>
              <a:chOff x="428625" y="2762250"/>
              <a:chExt cx="4000500" cy="1714500"/>
            </a:xfrm>
          </p:grpSpPr>
          <p:sp>
            <p:nvSpPr>
              <p:cNvPr id="666" name="Google Shape;666;p34"/>
              <p:cNvSpPr/>
              <p:nvPr/>
            </p:nvSpPr>
            <p:spPr>
              <a:xfrm>
                <a:off x="428625" y="2762250"/>
                <a:ext cx="4000500" cy="17145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7" name="Google Shape;667;p34"/>
              <p:cNvSpPr/>
              <p:nvPr/>
            </p:nvSpPr>
            <p:spPr>
              <a:xfrm>
                <a:off x="428625" y="2762250"/>
                <a:ext cx="38100" cy="17145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34"/>
              <p:cNvSpPr txBox="1"/>
              <p:nvPr/>
            </p:nvSpPr>
            <p:spPr>
              <a:xfrm>
                <a:off x="619125" y="2905125"/>
                <a:ext cx="36672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2800">
                    <a:solidFill>
                      <a:srgbClr val="8BC249"/>
                    </a:solidFill>
                    <a:latin typeface="Material Icons"/>
                    <a:ea typeface="Material Icons"/>
                    <a:cs typeface="Material Icons"/>
                    <a:sym typeface="Material Icons"/>
                  </a:rPr>
                  <a:t>description</a:t>
                </a:r>
                <a:endParaRPr sz="2800">
                  <a:solidFill>
                    <a:srgbClr val="8BC249"/>
                  </a:solidFill>
                  <a:latin typeface="Material Icons"/>
                  <a:ea typeface="Material Icons"/>
                  <a:cs typeface="Material Icons"/>
                  <a:sym typeface="Material Icons"/>
                </a:endParaRPr>
              </a:p>
              <a:p>
                <a:pPr indent="0" lvl="0" marL="0" rtl="0" algn="l">
                  <a:spcBef>
                    <a:spcPts val="750"/>
                  </a:spcBef>
                  <a:spcAft>
                    <a:spcPts val="0"/>
                  </a:spcAft>
                  <a:buNone/>
                </a:pPr>
                <a:r>
                  <a:rPr b="1" lang="vi" sz="1100">
                    <a:solidFill>
                      <a:srgbClr val="1E293B"/>
                    </a:solidFill>
                    <a:latin typeface="Montserrat"/>
                    <a:ea typeface="Montserrat"/>
                    <a:cs typeface="Montserrat"/>
                    <a:sym typeface="Montserrat"/>
                  </a:rPr>
                  <a:t>SỐ HÓA LƯU TRÌNH CUSTOMER CLAIM &amp; 8D REPORT</a:t>
                </a:r>
                <a:endParaRPr b="1" sz="1100">
                  <a:solidFill>
                    <a:srgbClr val="1E293B"/>
                  </a:solidFill>
                  <a:latin typeface="Montserrat"/>
                  <a:ea typeface="Montserrat"/>
                  <a:cs typeface="Montserrat"/>
                  <a:sym typeface="Montserrat"/>
                </a:endParaRPr>
              </a:p>
              <a:p>
                <a:pPr indent="0" lvl="0" marL="0" rtl="0" algn="l">
                  <a:spcBef>
                    <a:spcPts val="450"/>
                  </a:spcBef>
                  <a:spcAft>
                    <a:spcPts val="0"/>
                  </a:spcAft>
                  <a:buNone/>
                </a:pPr>
                <a:r>
                  <a:rPr b="0" lang="vi" sz="1000">
                    <a:solidFill>
                      <a:srgbClr val="475569"/>
                    </a:solidFill>
                    <a:latin typeface="Inter"/>
                    <a:ea typeface="Inter"/>
                    <a:cs typeface="Inter"/>
                    <a:sym typeface="Inter"/>
                  </a:rPr>
                  <a:t>Toàn bộ hồ sơ khiếu nại, báo cáo kỹ thuật và tài liệu </a:t>
                </a:r>
                <a:r>
                  <a:rPr b="1" lang="vi" sz="1000">
                    <a:solidFill>
                      <a:srgbClr val="475569"/>
                    </a:solidFill>
                    <a:latin typeface="Inter"/>
                    <a:ea typeface="Inter"/>
                    <a:cs typeface="Inter"/>
                    <a:sym typeface="Inter"/>
                  </a:rPr>
                  <a:t>8D Report</a:t>
                </a:r>
                <a:r>
                  <a:rPr b="0" lang="vi" sz="1000">
                    <a:solidFill>
                      <a:srgbClr val="475569"/>
                    </a:solidFill>
                    <a:latin typeface="Inter"/>
                    <a:ea typeface="Inter"/>
                    <a:cs typeface="Inter"/>
                    <a:sym typeface="Inter"/>
                  </a:rPr>
                  <a:t> phải được cập nhật, phê duyệt và lưu trữ trực tiếp trên hệ thống mới.</a:t>
                </a:r>
                <a:endParaRPr b="0" sz="1000">
                  <a:solidFill>
                    <a:srgbClr val="475569"/>
                  </a:solidFill>
                  <a:latin typeface="Inter"/>
                  <a:ea typeface="Inter"/>
                  <a:cs typeface="Inter"/>
                  <a:sym typeface="Inter"/>
                </a:endParaRPr>
              </a:p>
            </p:txBody>
          </p:sp>
        </p:grpSp>
        <p:grpSp>
          <p:nvGrpSpPr>
            <p:cNvPr id="669" name="Google Shape;669;p34"/>
            <p:cNvGrpSpPr/>
            <p:nvPr/>
          </p:nvGrpSpPr>
          <p:grpSpPr>
            <a:xfrm>
              <a:off x="4714875" y="2762250"/>
              <a:ext cx="4000500" cy="1714500"/>
              <a:chOff x="4714875" y="2762250"/>
              <a:chExt cx="4000500" cy="1714500"/>
            </a:xfrm>
          </p:grpSpPr>
          <p:sp>
            <p:nvSpPr>
              <p:cNvPr id="670" name="Google Shape;670;p34"/>
              <p:cNvSpPr/>
              <p:nvPr/>
            </p:nvSpPr>
            <p:spPr>
              <a:xfrm>
                <a:off x="4714875" y="2762250"/>
                <a:ext cx="4000500" cy="17145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34"/>
              <p:cNvSpPr/>
              <p:nvPr/>
            </p:nvSpPr>
            <p:spPr>
              <a:xfrm>
                <a:off x="4714875" y="2762250"/>
                <a:ext cx="38100" cy="17145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2" name="Google Shape;672;p34"/>
              <p:cNvSpPr txBox="1"/>
              <p:nvPr/>
            </p:nvSpPr>
            <p:spPr>
              <a:xfrm>
                <a:off x="4905375" y="2905125"/>
                <a:ext cx="36672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2800">
                    <a:solidFill>
                      <a:srgbClr val="8BC249"/>
                    </a:solidFill>
                    <a:latin typeface="Material Icons"/>
                    <a:ea typeface="Material Icons"/>
                    <a:cs typeface="Material Icons"/>
                    <a:sym typeface="Material Icons"/>
                  </a:rPr>
                  <a:t>analytics</a:t>
                </a:r>
                <a:endParaRPr sz="2800">
                  <a:solidFill>
                    <a:srgbClr val="8BC249"/>
                  </a:solidFill>
                  <a:latin typeface="Material Icons"/>
                  <a:ea typeface="Material Icons"/>
                  <a:cs typeface="Material Icons"/>
                  <a:sym typeface="Material Icons"/>
                </a:endParaRPr>
              </a:p>
              <a:p>
                <a:pPr indent="0" lvl="0" marL="0" rtl="0" algn="l">
                  <a:spcBef>
                    <a:spcPts val="750"/>
                  </a:spcBef>
                  <a:spcAft>
                    <a:spcPts val="0"/>
                  </a:spcAft>
                  <a:buNone/>
                </a:pPr>
                <a:r>
                  <a:rPr b="1" lang="vi" sz="1100">
                    <a:solidFill>
                      <a:srgbClr val="1E293B"/>
                    </a:solidFill>
                    <a:latin typeface="Montserrat"/>
                    <a:ea typeface="Montserrat"/>
                    <a:cs typeface="Montserrat"/>
                    <a:sym typeface="Montserrat"/>
                  </a:rPr>
                  <a:t>QUẢN LÝ LỖI KHÁCH HÀNG</a:t>
                </a:r>
                <a:endParaRPr b="1" sz="1100">
                  <a:solidFill>
                    <a:srgbClr val="1E293B"/>
                  </a:solidFill>
                  <a:latin typeface="Montserrat"/>
                  <a:ea typeface="Montserrat"/>
                  <a:cs typeface="Montserrat"/>
                  <a:sym typeface="Montserrat"/>
                </a:endParaRPr>
              </a:p>
              <a:p>
                <a:pPr indent="0" lvl="0" marL="0" rtl="0" algn="l">
                  <a:spcBef>
                    <a:spcPts val="450"/>
                  </a:spcBef>
                  <a:spcAft>
                    <a:spcPts val="0"/>
                  </a:spcAft>
                  <a:buNone/>
                </a:pPr>
                <a:r>
                  <a:rPr b="0" lang="vi" sz="1000">
                    <a:solidFill>
                      <a:srgbClr val="475569"/>
                    </a:solidFill>
                    <a:latin typeface="Inter"/>
                    <a:ea typeface="Inter"/>
                    <a:cs typeface="Inter"/>
                    <a:sym typeface="Inter"/>
                  </a:rPr>
                  <a:t>Xây dựng Report Hub tự động tổng hợp số liệu IQC, PQC, OQC và các báo cáo kỹ thuật 4M, TF.</a:t>
                </a:r>
                <a:endParaRPr b="0" sz="1000">
                  <a:solidFill>
                    <a:srgbClr val="475569"/>
                  </a:solidFill>
                  <a:latin typeface="Inter"/>
                  <a:ea typeface="Inter"/>
                  <a:cs typeface="Inter"/>
                  <a:sym typeface="Inter"/>
                </a:endParaRPr>
              </a:p>
            </p:txBody>
          </p:sp>
        </p:grpSp>
      </p:grpSp>
      <p:sp>
        <p:nvSpPr>
          <p:cNvPr id="673" name="Google Shape;673;p34"/>
          <p:cNvSpPr/>
          <p:nvPr/>
        </p:nvSpPr>
        <p:spPr>
          <a:xfrm>
            <a:off x="392906" y="321469"/>
            <a:ext cx="71700" cy="4002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7" name="Shape 677"/>
        <p:cNvGrpSpPr/>
        <p:nvPr/>
      </p:nvGrpSpPr>
      <p:grpSpPr>
        <a:xfrm>
          <a:off x="0" y="0"/>
          <a:ext cx="0" cy="0"/>
          <a:chOff x="0" y="0"/>
          <a:chExt cx="0" cy="0"/>
        </a:xfrm>
      </p:grpSpPr>
      <p:pic>
        <p:nvPicPr>
          <p:cNvPr descr="image.png" id="678" name="Google Shape;678;p3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679" name="Google Shape;679;p35"/>
          <p:cNvPicPr preferRelativeResize="0"/>
          <p:nvPr/>
        </p:nvPicPr>
        <p:blipFill rotWithShape="1">
          <a:blip r:embed="rId4">
            <a:alphaModFix/>
          </a:blip>
          <a:srcRect b="0" l="0" r="0" t="0"/>
          <a:stretch/>
        </p:blipFill>
        <p:spPr>
          <a:xfrm>
            <a:off x="428625" y="942975"/>
            <a:ext cx="8286750" cy="3843338"/>
          </a:xfrm>
          <a:prstGeom prst="rect">
            <a:avLst/>
          </a:prstGeom>
          <a:noFill/>
          <a:ln>
            <a:noFill/>
          </a:ln>
        </p:spPr>
      </p:pic>
      <p:sp>
        <p:nvSpPr>
          <p:cNvPr id="680" name="Google Shape;680;p35"/>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ELECTRODE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QUY TRÌNH SẢN XUẤT ĐIỆN CỰC</a:t>
            </a:r>
            <a:endParaRPr b="0" i="0" sz="1200" u="none" cap="none" strike="noStrike">
              <a:solidFill>
                <a:srgbClr val="000000"/>
              </a:solidFill>
              <a:latin typeface="Arial"/>
              <a:ea typeface="Arial"/>
              <a:cs typeface="Arial"/>
              <a:sym typeface="Arial"/>
            </a:endParaRPr>
          </a:p>
        </p:txBody>
      </p:sp>
      <p:sp>
        <p:nvSpPr>
          <p:cNvPr id="681" name="Google Shape;681;p35"/>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image.png" id="682" name="Google Shape;682;p35"/>
          <p:cNvPicPr preferRelativeResize="0"/>
          <p:nvPr/>
        </p:nvPicPr>
        <p:blipFill rotWithShape="1">
          <a:blip r:embed="rId5">
            <a:alphaModFix/>
          </a:blip>
          <a:srcRect b="0" l="0" r="0" t="0"/>
          <a:stretch/>
        </p:blipFill>
        <p:spPr>
          <a:xfrm>
            <a:off x="4411265" y="2425303"/>
            <a:ext cx="321469" cy="428625"/>
          </a:xfrm>
          <a:prstGeom prst="rect">
            <a:avLst/>
          </a:prstGeom>
          <a:noFill/>
          <a:ln>
            <a:noFill/>
          </a:ln>
        </p:spPr>
      </p:pic>
      <p:sp>
        <p:nvSpPr>
          <p:cNvPr id="683" name="Google Shape;683;p35"/>
          <p:cNvSpPr txBox="1"/>
          <p:nvPr/>
        </p:nvSpPr>
        <p:spPr>
          <a:xfrm>
            <a:off x="2959298" y="2996803"/>
            <a:ext cx="3225300" cy="1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vi" sz="1100" u="none" cap="none" strike="noStrike">
                <a:solidFill>
                  <a:srgbClr val="1E293B"/>
                </a:solidFill>
                <a:latin typeface="Montserrat"/>
                <a:ea typeface="Montserrat"/>
                <a:cs typeface="Montserrat"/>
                <a:sym typeface="Montserrat"/>
              </a:rPr>
              <a:t>DÀNH CHO FLOWCHART ELECTRODE TEAM</a:t>
            </a:r>
            <a:endParaRPr b="0" i="0" sz="1100" u="none" cap="none" strike="noStrike">
              <a:solidFill>
                <a:srgbClr val="000000"/>
              </a:solidFill>
              <a:latin typeface="Arial"/>
              <a:ea typeface="Arial"/>
              <a:cs typeface="Arial"/>
              <a:sym typeface="Arial"/>
            </a:endParaRPr>
          </a:p>
        </p:txBody>
      </p:sp>
      <p:sp>
        <p:nvSpPr>
          <p:cNvPr id="684" name="Google Shape;684;p35"/>
          <p:cNvSpPr txBox="1"/>
          <p:nvPr/>
        </p:nvSpPr>
        <p:spPr>
          <a:xfrm>
            <a:off x="2471738" y="3161109"/>
            <a:ext cx="42006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vi" sz="900" u="none" cap="none" strike="noStrike">
                <a:solidFill>
                  <a:srgbClr val="64748B"/>
                </a:solidFill>
                <a:latin typeface="Inter"/>
                <a:ea typeface="Inter"/>
                <a:cs typeface="Inter"/>
                <a:sym typeface="Inter"/>
              </a:rPr>
              <a:t>Tích hợp sơ đồ báo cáo, xử lý Claim khách hàng và cải tiến quy trình (PDCA).</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8" name="Shape 688"/>
        <p:cNvGrpSpPr/>
        <p:nvPr/>
      </p:nvGrpSpPr>
      <p:grpSpPr>
        <a:xfrm>
          <a:off x="0" y="0"/>
          <a:ext cx="0" cy="0"/>
          <a:chOff x="0" y="0"/>
          <a:chExt cx="0" cy="0"/>
        </a:xfrm>
      </p:grpSpPr>
      <p:pic>
        <p:nvPicPr>
          <p:cNvPr descr="image.png" id="689" name="Google Shape;689;p3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90" name="Google Shape;690;p36"/>
          <p:cNvSpPr txBox="1"/>
          <p:nvPr/>
        </p:nvSpPr>
        <p:spPr>
          <a:xfrm>
            <a:off x="571500" y="357188"/>
            <a:ext cx="8551200" cy="47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1" i="0" lang="vi" sz="1100" u="none" cap="none" strike="noStrike">
                <a:solidFill>
                  <a:srgbClr val="8BC249"/>
                </a:solidFill>
                <a:latin typeface="Montserrat"/>
                <a:ea typeface="Montserrat"/>
                <a:cs typeface="Montserrat"/>
                <a:sym typeface="Montserrat"/>
              </a:rPr>
              <a:t>VIETNAM R&amp;D TEAM</a:t>
            </a:r>
            <a:endParaRPr b="1" i="0" sz="1100" u="none" cap="none" strike="noStrike">
              <a:solidFill>
                <a:srgbClr val="8BC249"/>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2000"/>
              <a:buFont typeface="Arial"/>
              <a:buNone/>
            </a:pPr>
            <a:r>
              <a:rPr b="1" i="0" lang="vi" sz="2000" u="none" cap="none" strike="noStrike">
                <a:solidFill>
                  <a:schemeClr val="dk1"/>
                </a:solidFill>
                <a:latin typeface="Montserrat"/>
                <a:ea typeface="Montserrat"/>
                <a:cs typeface="Montserrat"/>
                <a:sym typeface="Montserrat"/>
              </a:rPr>
              <a:t>SƠ ĐỒ QUY TRÌNH PHÁT TRIỂN SẢN PHẨM</a:t>
            </a:r>
            <a:endParaRPr b="1" i="0" sz="1200" u="none" cap="none" strike="noStrike">
              <a:solidFill>
                <a:srgbClr val="8BC249"/>
              </a:solidFill>
              <a:latin typeface="Montserrat"/>
              <a:ea typeface="Montserrat"/>
              <a:cs typeface="Montserrat"/>
              <a:sym typeface="Montserrat"/>
            </a:endParaRPr>
          </a:p>
        </p:txBody>
      </p:sp>
      <p:sp>
        <p:nvSpPr>
          <p:cNvPr id="691" name="Google Shape;691;p36"/>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image.png" id="692" name="Google Shape;692;p36"/>
          <p:cNvPicPr preferRelativeResize="0"/>
          <p:nvPr/>
        </p:nvPicPr>
        <p:blipFill rotWithShape="1">
          <a:blip r:embed="rId4">
            <a:alphaModFix/>
          </a:blip>
          <a:srcRect b="0" l="0" r="0" t="0"/>
          <a:stretch/>
        </p:blipFill>
        <p:spPr>
          <a:xfrm>
            <a:off x="428625" y="1132618"/>
            <a:ext cx="8286750" cy="3653692"/>
          </a:xfrm>
          <a:prstGeom prst="rect">
            <a:avLst/>
          </a:prstGeom>
          <a:noFill/>
          <a:ln>
            <a:noFill/>
          </a:ln>
        </p:spPr>
      </p:pic>
      <p:pic>
        <p:nvPicPr>
          <p:cNvPr descr="image.png" id="693" name="Google Shape;693;p36"/>
          <p:cNvPicPr preferRelativeResize="0"/>
          <p:nvPr/>
        </p:nvPicPr>
        <p:blipFill rotWithShape="1">
          <a:blip r:embed="rId5">
            <a:alphaModFix/>
          </a:blip>
          <a:srcRect b="0" l="0" r="0" t="0"/>
          <a:stretch/>
        </p:blipFill>
        <p:spPr>
          <a:xfrm>
            <a:off x="4304109" y="2379203"/>
            <a:ext cx="535781" cy="428625"/>
          </a:xfrm>
          <a:prstGeom prst="rect">
            <a:avLst/>
          </a:prstGeom>
          <a:noFill/>
          <a:ln>
            <a:noFill/>
          </a:ln>
        </p:spPr>
      </p:pic>
      <p:sp>
        <p:nvSpPr>
          <p:cNvPr id="694" name="Google Shape;694;p36"/>
          <p:cNvSpPr txBox="1"/>
          <p:nvPr/>
        </p:nvSpPr>
        <p:spPr>
          <a:xfrm>
            <a:off x="3394352" y="3084425"/>
            <a:ext cx="2355300" cy="1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vi" sz="1100" u="none" cap="none" strike="noStrike">
                <a:solidFill>
                  <a:srgbClr val="000000"/>
                </a:solidFill>
                <a:latin typeface="Inter"/>
                <a:ea typeface="Inter"/>
                <a:cs typeface="Inter"/>
                <a:sym typeface="Inter"/>
              </a:rPr>
              <a:t>DÀNH CHO FLOWCHART R&amp;D</a:t>
            </a:r>
            <a:endParaRPr b="0" i="0" sz="1100" u="none" cap="none" strike="noStrike">
              <a:solidFill>
                <a:srgbClr val="000000"/>
              </a:solidFill>
              <a:latin typeface="Arial"/>
              <a:ea typeface="Arial"/>
              <a:cs typeface="Arial"/>
              <a:sym typeface="Arial"/>
            </a:endParaRPr>
          </a:p>
        </p:txBody>
      </p:sp>
      <p:sp>
        <p:nvSpPr>
          <p:cNvPr id="695" name="Google Shape;695;p36"/>
          <p:cNvSpPr txBox="1"/>
          <p:nvPr/>
        </p:nvSpPr>
        <p:spPr>
          <a:xfrm>
            <a:off x="1943100" y="3382454"/>
            <a:ext cx="52578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vi" sz="900" u="none" cap="none" strike="noStrike">
                <a:solidFill>
                  <a:srgbClr val="64748B"/>
                </a:solidFill>
                <a:latin typeface="Inter"/>
                <a:ea typeface="Inter"/>
                <a:cs typeface="Inter"/>
                <a:sym typeface="Inter"/>
              </a:rPr>
              <a:t>Tích hợp sơ đồ luồng thiết lập công đoạn sản phẩm mới, kiểm试 kỹ thuật và phê duyệt BOM mẫu.</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pic>
        <p:nvPicPr>
          <p:cNvPr descr="image.png" id="700" name="Google Shape;700;p3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01" name="Google Shape;701;p37"/>
          <p:cNvSpPr txBox="1"/>
          <p:nvPr/>
        </p:nvSpPr>
        <p:spPr>
          <a:xfrm>
            <a:off x="571500" y="357188"/>
            <a:ext cx="85512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vi" sz="1100" u="none" cap="none" strike="noStrike">
                <a:solidFill>
                  <a:srgbClr val="8BC249"/>
                </a:solidFill>
                <a:latin typeface="Montserrat"/>
                <a:ea typeface="Montserrat"/>
                <a:cs typeface="Montserrat"/>
                <a:sym typeface="Montserrat"/>
              </a:rPr>
              <a:t>VIETNAM R&amp;D TEAM</a:t>
            </a:r>
            <a:endParaRPr b="1" i="0" sz="1100" u="none" cap="none" strike="noStrike">
              <a:solidFill>
                <a:srgbClr val="8BC249"/>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00"/>
              <a:buFont typeface="Arial"/>
              <a:buNone/>
            </a:pPr>
            <a:r>
              <a:rPr b="0" i="0" lang="vi" sz="2000" u="none" cap="none" strike="noStrike">
                <a:solidFill>
                  <a:srgbClr val="1E293B"/>
                </a:solidFill>
                <a:latin typeface="Montserrat ExtraBold"/>
                <a:ea typeface="Montserrat ExtraBold"/>
                <a:cs typeface="Montserrat ExtraBold"/>
                <a:sym typeface="Montserrat ExtraBold"/>
              </a:rPr>
              <a:t>KHÓ KHĂN &amp; HẠN CHẾ HIỆN TẠI</a:t>
            </a:r>
            <a:endParaRPr b="0" i="0" sz="2000" u="none" cap="none" strike="noStrike">
              <a:solidFill>
                <a:srgbClr val="1E293B"/>
              </a:solidFill>
              <a:latin typeface="Montserrat ExtraBold"/>
              <a:ea typeface="Montserrat ExtraBold"/>
              <a:cs typeface="Montserrat ExtraBold"/>
              <a:sym typeface="Montserrat ExtraBold"/>
            </a:endParaRPr>
          </a:p>
        </p:txBody>
      </p:sp>
      <p:sp>
        <p:nvSpPr>
          <p:cNvPr id="702" name="Google Shape;702;p37"/>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3" name="Google Shape;703;p37"/>
          <p:cNvSpPr txBox="1"/>
          <p:nvPr/>
        </p:nvSpPr>
        <p:spPr>
          <a:xfrm>
            <a:off x="571500" y="1035844"/>
            <a:ext cx="5715000" cy="207900"/>
          </a:xfrm>
          <a:prstGeom prst="rect">
            <a:avLst/>
          </a:prstGeom>
          <a:solidFill>
            <a:srgbClr val="000000">
              <a:alpha val="0"/>
            </a:srgbClr>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1" lang="vi" sz="1400" u="none" cap="none" strike="noStrike">
                <a:solidFill>
                  <a:srgbClr val="475569"/>
                </a:solidFill>
                <a:latin typeface="Inter Medium"/>
                <a:ea typeface="Inter Medium"/>
                <a:cs typeface="Inter Medium"/>
                <a:sym typeface="Inter Medium"/>
              </a:rPr>
              <a:t>Quy trình thiết lập sản phẩm mới rườm rà và hệ thống thiếu ổn định.</a:t>
            </a:r>
            <a:endParaRPr b="0" i="1" sz="1400" u="none" cap="none" strike="noStrike">
              <a:solidFill>
                <a:srgbClr val="475569"/>
              </a:solidFill>
              <a:latin typeface="Inter Medium"/>
              <a:ea typeface="Inter Medium"/>
              <a:cs typeface="Inter Medium"/>
              <a:sym typeface="Inter Medium"/>
            </a:endParaRPr>
          </a:p>
        </p:txBody>
      </p:sp>
      <p:grpSp>
        <p:nvGrpSpPr>
          <p:cNvPr id="704" name="Google Shape;704;p37"/>
          <p:cNvGrpSpPr/>
          <p:nvPr/>
        </p:nvGrpSpPr>
        <p:grpSpPr>
          <a:xfrm>
            <a:off x="571500" y="1618828"/>
            <a:ext cx="8001000" cy="1285875"/>
            <a:chOff x="762000" y="2095500"/>
            <a:chExt cx="10668000" cy="1714500"/>
          </a:xfrm>
        </p:grpSpPr>
        <p:sp>
          <p:nvSpPr>
            <p:cNvPr id="705" name="Google Shape;705;p37"/>
            <p:cNvSpPr/>
            <p:nvPr/>
          </p:nvSpPr>
          <p:spPr>
            <a:xfrm>
              <a:off x="762000" y="2095500"/>
              <a:ext cx="10668000" cy="17145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06" name="Google Shape;706;p37"/>
            <p:cNvSpPr/>
            <p:nvPr/>
          </p:nvSpPr>
          <p:spPr>
            <a:xfrm>
              <a:off x="762000" y="2095500"/>
              <a:ext cx="76200" cy="17145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07" name="Google Shape;707;p37"/>
            <p:cNvSpPr txBox="1"/>
            <p:nvPr/>
          </p:nvSpPr>
          <p:spPr>
            <a:xfrm>
              <a:off x="1047750" y="2095500"/>
              <a:ext cx="10096500" cy="1714500"/>
            </a:xfrm>
            <a:prstGeom prst="rect">
              <a:avLst/>
            </a:prstGeom>
            <a:noFill/>
            <a:ln>
              <a:noFill/>
            </a:ln>
          </p:spPr>
          <p:txBody>
            <a:bodyPr anchorCtr="0" anchor="ctr" bIns="0" lIns="142875" spcFirstLastPara="1" rIns="142875"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vi" sz="2100" u="none" cap="none" strike="noStrike">
                  <a:solidFill>
                    <a:srgbClr val="F59E0B"/>
                  </a:solidFill>
                  <a:latin typeface="Mate"/>
                  <a:ea typeface="Mate"/>
                  <a:cs typeface="Mate"/>
                  <a:sym typeface="Mate"/>
                </a:rPr>
                <a:t>       </a:t>
              </a:r>
              <a:r>
                <a:rPr b="1" i="0" lang="vi" sz="1400" u="none" cap="none" strike="noStrike">
                  <a:solidFill>
                    <a:srgbClr val="1E293B"/>
                  </a:solidFill>
                  <a:latin typeface="Inter"/>
                  <a:ea typeface="Inter"/>
                  <a:cs typeface="Inter"/>
                  <a:sym typeface="Inter"/>
                </a:rPr>
                <a:t>THAO TÁC THỦ CÔNG NHIỀU BƯỚC</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Khi nhập công đoạn cho các sản phẩm mới, kỹ sư bắt buộc phải nhập mã Model rồi thực hiện rất nhiều bước phản hồi, kiểm tra thủ công mới có thể xuất ra được đầy đủ thông tin của Model đó</a:t>
              </a:r>
              <a:r>
                <a:rPr b="0" i="0" lang="vi" sz="1100" u="none" cap="none" strike="noStrike">
                  <a:solidFill>
                    <a:srgbClr val="475569"/>
                  </a:solidFill>
                  <a:latin typeface="Inter"/>
                  <a:ea typeface="Inter"/>
                  <a:cs typeface="Inter"/>
                  <a:sym typeface="Inter"/>
                </a:rPr>
                <a:t>.</a:t>
              </a:r>
              <a:endParaRPr b="0" i="0" sz="1100" u="none" cap="none" strike="noStrike">
                <a:solidFill>
                  <a:srgbClr val="475569"/>
                </a:solidFill>
                <a:latin typeface="Inter"/>
                <a:ea typeface="Inter"/>
                <a:cs typeface="Inter"/>
                <a:sym typeface="Inter"/>
              </a:endParaRPr>
            </a:p>
          </p:txBody>
        </p:sp>
      </p:grpSp>
      <p:grpSp>
        <p:nvGrpSpPr>
          <p:cNvPr id="708" name="Google Shape;708;p37"/>
          <p:cNvGrpSpPr/>
          <p:nvPr/>
        </p:nvGrpSpPr>
        <p:grpSpPr>
          <a:xfrm>
            <a:off x="571500" y="3000375"/>
            <a:ext cx="8001000" cy="1285875"/>
            <a:chOff x="762000" y="4000500"/>
            <a:chExt cx="10668000" cy="1714500"/>
          </a:xfrm>
        </p:grpSpPr>
        <p:sp>
          <p:nvSpPr>
            <p:cNvPr id="709" name="Google Shape;709;p37"/>
            <p:cNvSpPr/>
            <p:nvPr/>
          </p:nvSpPr>
          <p:spPr>
            <a:xfrm>
              <a:off x="762000" y="4000500"/>
              <a:ext cx="10668000" cy="17145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0" name="Google Shape;710;p37"/>
            <p:cNvSpPr/>
            <p:nvPr/>
          </p:nvSpPr>
          <p:spPr>
            <a:xfrm>
              <a:off x="762000" y="4000500"/>
              <a:ext cx="76200" cy="1714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1" name="Google Shape;711;p37"/>
            <p:cNvSpPr txBox="1"/>
            <p:nvPr/>
          </p:nvSpPr>
          <p:spPr>
            <a:xfrm>
              <a:off x="1047750" y="4000500"/>
              <a:ext cx="10096500" cy="1714500"/>
            </a:xfrm>
            <a:prstGeom prst="rect">
              <a:avLst/>
            </a:prstGeom>
            <a:noFill/>
            <a:ln>
              <a:noFill/>
            </a:ln>
          </p:spPr>
          <p:txBody>
            <a:bodyPr anchorCtr="0" anchor="ctr" bIns="0" lIns="142875" spcFirstLastPara="1" rIns="142875"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vi" sz="2100" u="none" cap="none" strike="noStrike">
                  <a:solidFill>
                    <a:srgbClr val="EF4444"/>
                  </a:solidFill>
                  <a:latin typeface="Mate"/>
                  <a:ea typeface="Mate"/>
                  <a:cs typeface="Mate"/>
                  <a:sym typeface="Mate"/>
                </a:rPr>
                <a:t>       </a:t>
              </a:r>
              <a:r>
                <a:rPr b="1" i="0" lang="vi" sz="1400" u="none" cap="none" strike="noStrike">
                  <a:solidFill>
                    <a:srgbClr val="1E293B"/>
                  </a:solidFill>
                  <a:latin typeface="Inter"/>
                  <a:ea typeface="Inter"/>
                  <a:cs typeface="Inter"/>
                  <a:sym typeface="Inter"/>
                </a:rPr>
                <a:t>HỆ THỐNG QUÁ TẢI &amp; CRASH</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Hiệu năng xử lý dữ liệu của hệ thống cũ rất chậm, thường xuyên xảy ra tình trạng đơ máy hoặc sập ứng dụng đột ngột (Crash App) khi truy vấn thông tin kỹ thuật phức tạp.</a:t>
              </a:r>
              <a:endParaRPr b="0" i="0" sz="1200" u="none" cap="none" strike="noStrike">
                <a:solidFill>
                  <a:srgbClr val="475569"/>
                </a:solidFill>
                <a:latin typeface="Inter"/>
                <a:ea typeface="Inter"/>
                <a:cs typeface="Inter"/>
                <a:sym typeface="Inter"/>
              </a:endParaRPr>
            </a:p>
          </p:txBody>
        </p:sp>
      </p:grpSp>
      <p:pic>
        <p:nvPicPr>
          <p:cNvPr id="712" name="Google Shape;712;p37"/>
          <p:cNvPicPr preferRelativeResize="0"/>
          <p:nvPr/>
        </p:nvPicPr>
        <p:blipFill rotWithShape="1">
          <a:blip r:embed="rId4">
            <a:alphaModFix/>
          </a:blip>
          <a:srcRect b="0" l="0" r="0" t="0"/>
          <a:stretch/>
        </p:blipFill>
        <p:spPr>
          <a:xfrm>
            <a:off x="932831" y="1858589"/>
            <a:ext cx="370190" cy="370190"/>
          </a:xfrm>
          <a:prstGeom prst="rect">
            <a:avLst/>
          </a:prstGeom>
          <a:noFill/>
          <a:ln>
            <a:noFill/>
          </a:ln>
        </p:spPr>
      </p:pic>
      <p:pic>
        <p:nvPicPr>
          <p:cNvPr id="713" name="Google Shape;713;p37"/>
          <p:cNvPicPr preferRelativeResize="0"/>
          <p:nvPr/>
        </p:nvPicPr>
        <p:blipFill rotWithShape="1">
          <a:blip r:embed="rId5">
            <a:alphaModFix/>
          </a:blip>
          <a:srcRect b="0" l="0" r="0" t="0"/>
          <a:stretch/>
        </p:blipFill>
        <p:spPr>
          <a:xfrm>
            <a:off x="932831" y="3216403"/>
            <a:ext cx="396713" cy="3967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7" name="Shape 717"/>
        <p:cNvGrpSpPr/>
        <p:nvPr/>
      </p:nvGrpSpPr>
      <p:grpSpPr>
        <a:xfrm>
          <a:off x="0" y="0"/>
          <a:ext cx="0" cy="0"/>
          <a:chOff x="0" y="0"/>
          <a:chExt cx="0" cy="0"/>
        </a:xfrm>
      </p:grpSpPr>
      <p:sp>
        <p:nvSpPr>
          <p:cNvPr id="718" name="Google Shape;718;p38"/>
          <p:cNvSpPr txBox="1"/>
          <p:nvPr/>
        </p:nvSpPr>
        <p:spPr>
          <a:xfrm>
            <a:off x="571500" y="285750"/>
            <a:ext cx="8001000" cy="461700"/>
          </a:xfrm>
          <a:prstGeom prst="rect">
            <a:avLst/>
          </a:prstGeom>
          <a:solidFill>
            <a:srgbClr val="000000">
              <a:alpha val="0"/>
            </a:srgbClr>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vi" sz="1100" u="none" cap="none" strike="noStrike">
                <a:solidFill>
                  <a:srgbClr val="8BC249"/>
                </a:solidFill>
                <a:latin typeface="Montserrat"/>
                <a:ea typeface="Montserrat"/>
                <a:cs typeface="Montserrat"/>
                <a:sym typeface="Montserrat"/>
              </a:rPr>
              <a:t>VIETNAM R&amp;D TEAM</a:t>
            </a:r>
            <a:endParaRPr b="1" i="0" sz="1100" u="none" cap="none" strike="noStrike">
              <a:solidFill>
                <a:srgbClr val="8BC249"/>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00"/>
              <a:buFont typeface="Arial"/>
              <a:buNone/>
            </a:pPr>
            <a:r>
              <a:rPr b="0" i="0" lang="vi" sz="2000" u="none" cap="none" strike="noStrike">
                <a:solidFill>
                  <a:srgbClr val="1E293B"/>
                </a:solidFill>
                <a:latin typeface="Montserrat ExtraBold"/>
                <a:ea typeface="Montserrat ExtraBold"/>
                <a:cs typeface="Montserrat ExtraBold"/>
                <a:sym typeface="Montserrat ExtraBold"/>
              </a:rPr>
              <a:t>YÊU CẦU ĐỐI VỚI HỆ THỐNG MỚI</a:t>
            </a:r>
            <a:endParaRPr b="0" i="0" sz="2000" u="none" cap="none" strike="noStrike">
              <a:solidFill>
                <a:srgbClr val="1E293B"/>
              </a:solidFill>
              <a:latin typeface="Montserrat ExtraBold"/>
              <a:ea typeface="Montserrat ExtraBold"/>
              <a:cs typeface="Montserrat ExtraBold"/>
              <a:sym typeface="Montserrat ExtraBold"/>
            </a:endParaRPr>
          </a:p>
        </p:txBody>
      </p:sp>
      <p:sp>
        <p:nvSpPr>
          <p:cNvPr id="719" name="Google Shape;719;p38"/>
          <p:cNvSpPr/>
          <p:nvPr/>
        </p:nvSpPr>
        <p:spPr>
          <a:xfrm>
            <a:off x="428625" y="357188"/>
            <a:ext cx="57000" cy="4287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720" name="Google Shape;720;p38"/>
          <p:cNvGrpSpPr/>
          <p:nvPr/>
        </p:nvGrpSpPr>
        <p:grpSpPr>
          <a:xfrm>
            <a:off x="571500" y="1143000"/>
            <a:ext cx="2571750" cy="3000375"/>
            <a:chOff x="762000" y="1524000"/>
            <a:chExt cx="3429000" cy="4000500"/>
          </a:xfrm>
        </p:grpSpPr>
        <p:sp>
          <p:nvSpPr>
            <p:cNvPr id="721" name="Google Shape;721;p38"/>
            <p:cNvSpPr/>
            <p:nvPr/>
          </p:nvSpPr>
          <p:spPr>
            <a:xfrm>
              <a:off x="762000" y="1524000"/>
              <a:ext cx="3429000" cy="40005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2" name="Google Shape;722;p38"/>
            <p:cNvSpPr/>
            <p:nvPr/>
          </p:nvSpPr>
          <p:spPr>
            <a:xfrm>
              <a:off x="762000" y="1524000"/>
              <a:ext cx="3429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3" name="Google Shape;723;p38"/>
            <p:cNvSpPr txBox="1"/>
            <p:nvPr/>
          </p:nvSpPr>
          <p:spPr>
            <a:xfrm>
              <a:off x="1047750" y="1809750"/>
              <a:ext cx="28575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vi" sz="3000" u="none" cap="none" strike="noStrike">
                  <a:solidFill>
                    <a:srgbClr val="8BC249"/>
                  </a:solidFill>
                  <a:latin typeface="Mate"/>
                  <a:ea typeface="Mate"/>
                  <a:cs typeface="Mate"/>
                  <a:sym typeface="Mate"/>
                </a:rPr>
                <a:t>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1. TRUY VẤN THÔNG TIN "MỘT CHẠM"</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Hệ thống mới tối ưu hóa luồng xử lý: Chỉ cần người dùng nhập mã Model, phần mềm phải tự động liên kết dữ liệu và </a:t>
              </a:r>
              <a:r>
                <a:rPr b="1" i="0" lang="vi" sz="1200" u="none" cap="none" strike="noStrike">
                  <a:solidFill>
                    <a:srgbClr val="0F172A"/>
                  </a:solidFill>
                  <a:latin typeface="Inter"/>
                  <a:ea typeface="Inter"/>
                  <a:cs typeface="Inter"/>
                  <a:sym typeface="Inter"/>
                </a:rPr>
                <a:t>hiển thị toàn bộ thông tin (Full Info)</a:t>
              </a:r>
              <a:r>
                <a:rPr b="0" i="0" lang="vi" sz="1200" u="none" cap="none" strike="noStrike">
                  <a:solidFill>
                    <a:srgbClr val="475569"/>
                  </a:solidFill>
                  <a:latin typeface="Inter"/>
                  <a:ea typeface="Inter"/>
                  <a:cs typeface="Inter"/>
                  <a:sym typeface="Inter"/>
                </a:rPr>
                <a:t> của Model đó ngay lập tức.</a:t>
              </a:r>
              <a:endParaRPr b="0" i="0" sz="1200" u="none" cap="none" strike="noStrike">
                <a:solidFill>
                  <a:srgbClr val="475569"/>
                </a:solidFill>
                <a:latin typeface="Inter"/>
                <a:ea typeface="Inter"/>
                <a:cs typeface="Inter"/>
                <a:sym typeface="Inter"/>
              </a:endParaRPr>
            </a:p>
          </p:txBody>
        </p:sp>
      </p:grpSp>
      <p:grpSp>
        <p:nvGrpSpPr>
          <p:cNvPr id="724" name="Google Shape;724;p38"/>
          <p:cNvGrpSpPr/>
          <p:nvPr/>
        </p:nvGrpSpPr>
        <p:grpSpPr>
          <a:xfrm>
            <a:off x="3286125" y="1143000"/>
            <a:ext cx="2571750" cy="3000375"/>
            <a:chOff x="4381500" y="1524000"/>
            <a:chExt cx="3429000" cy="4000500"/>
          </a:xfrm>
        </p:grpSpPr>
        <p:sp>
          <p:nvSpPr>
            <p:cNvPr id="725" name="Google Shape;725;p38"/>
            <p:cNvSpPr/>
            <p:nvPr/>
          </p:nvSpPr>
          <p:spPr>
            <a:xfrm>
              <a:off x="4381500" y="1524000"/>
              <a:ext cx="3429000" cy="40005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6" name="Google Shape;726;p38"/>
            <p:cNvSpPr/>
            <p:nvPr/>
          </p:nvSpPr>
          <p:spPr>
            <a:xfrm>
              <a:off x="4381500" y="1524000"/>
              <a:ext cx="3429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7" name="Google Shape;727;p38"/>
            <p:cNvSpPr txBox="1"/>
            <p:nvPr/>
          </p:nvSpPr>
          <p:spPr>
            <a:xfrm>
              <a:off x="4667250" y="1809750"/>
              <a:ext cx="28575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2. VẬN HÀNH NHANH &amp; ỔN ĐỊNH</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Nâng cấp kiến trúc hạ tầng nhằm đảm bảo tốc độ phản hồi </a:t>
              </a:r>
              <a:r>
                <a:rPr b="1" i="0" lang="vi" sz="1200" u="none" cap="none" strike="noStrike">
                  <a:solidFill>
                    <a:srgbClr val="0F172A"/>
                  </a:solidFill>
                  <a:latin typeface="Inter"/>
                  <a:ea typeface="Inter"/>
                  <a:cs typeface="Inter"/>
                  <a:sym typeface="Inter"/>
                </a:rPr>
                <a:t>tính bằng mili-giây</a:t>
              </a:r>
              <a:r>
                <a:rPr b="0" i="0" lang="vi" sz="1200" u="none" cap="none" strike="noStrike">
                  <a:solidFill>
                    <a:srgbClr val="475569"/>
                  </a:solidFill>
                  <a:latin typeface="Inter"/>
                  <a:ea typeface="Inter"/>
                  <a:cs typeface="Inter"/>
                  <a:sym typeface="Inter"/>
                </a:rPr>
                <a:t>, vận hành mượt mà và chấm dứt hoàn toàn lỗi sập ứng dụng khi xử lý BOM lớn.</a:t>
              </a:r>
              <a:endParaRPr b="0" i="0" sz="1200" u="none" cap="none" strike="noStrike">
                <a:solidFill>
                  <a:srgbClr val="475569"/>
                </a:solidFill>
                <a:latin typeface="Inter"/>
                <a:ea typeface="Inter"/>
                <a:cs typeface="Inter"/>
                <a:sym typeface="Inter"/>
              </a:endParaRPr>
            </a:p>
          </p:txBody>
        </p:sp>
      </p:grpSp>
      <p:grpSp>
        <p:nvGrpSpPr>
          <p:cNvPr id="728" name="Google Shape;728;p38"/>
          <p:cNvGrpSpPr/>
          <p:nvPr/>
        </p:nvGrpSpPr>
        <p:grpSpPr>
          <a:xfrm>
            <a:off x="6000750" y="1143000"/>
            <a:ext cx="2571750" cy="3000375"/>
            <a:chOff x="8001000" y="1524000"/>
            <a:chExt cx="3429000" cy="4000500"/>
          </a:xfrm>
        </p:grpSpPr>
        <p:sp>
          <p:nvSpPr>
            <p:cNvPr id="729" name="Google Shape;729;p38"/>
            <p:cNvSpPr/>
            <p:nvPr/>
          </p:nvSpPr>
          <p:spPr>
            <a:xfrm>
              <a:off x="8001000" y="1524000"/>
              <a:ext cx="3429000" cy="40005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0" name="Google Shape;730;p38"/>
            <p:cNvSpPr/>
            <p:nvPr/>
          </p:nvSpPr>
          <p:spPr>
            <a:xfrm>
              <a:off x="8001000" y="1524000"/>
              <a:ext cx="3429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1" name="Google Shape;731;p38"/>
            <p:cNvSpPr txBox="1"/>
            <p:nvPr/>
          </p:nvSpPr>
          <p:spPr>
            <a:xfrm>
              <a:off x="8286750" y="1809750"/>
              <a:ext cx="28575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3. DI TRÚ DỮ LIỆU</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Đảm bảo kế hoạch chuyển đổi và </a:t>
              </a:r>
              <a:r>
                <a:rPr b="1" i="0" lang="vi" sz="1200" u="none" cap="none" strike="noStrike">
                  <a:solidFill>
                    <a:srgbClr val="0F172A"/>
                  </a:solidFill>
                  <a:latin typeface="Inter"/>
                  <a:ea typeface="Inter"/>
                  <a:cs typeface="Inter"/>
                  <a:sym typeface="Inter"/>
                </a:rPr>
                <a:t>transfer toàn bộ dữ liệu lịch sử</a:t>
              </a:r>
              <a:r>
                <a:rPr b="0" i="0" lang="vi" sz="1200" u="none" cap="none" strike="noStrike">
                  <a:solidFill>
                    <a:srgbClr val="475569"/>
                  </a:solidFill>
                  <a:latin typeface="Inter"/>
                  <a:ea typeface="Inter"/>
                  <a:cs typeface="Inter"/>
                  <a:sym typeface="Inter"/>
                </a:rPr>
                <a:t> sang hệ thống mới một cách đầy đủ, nguyên vẹn và chính xác 100%.</a:t>
              </a:r>
              <a:endParaRPr b="0" i="0" sz="1200" u="none" cap="none" strike="noStrike">
                <a:solidFill>
                  <a:srgbClr val="475569"/>
                </a:solidFill>
                <a:latin typeface="Inter"/>
                <a:ea typeface="Inter"/>
                <a:cs typeface="Inter"/>
                <a:sym typeface="Inter"/>
              </a:endParaRPr>
            </a:p>
          </p:txBody>
        </p:sp>
      </p:grpSp>
      <p:pic>
        <p:nvPicPr>
          <p:cNvPr id="732" name="Google Shape;732;p38"/>
          <p:cNvPicPr preferRelativeResize="0"/>
          <p:nvPr/>
        </p:nvPicPr>
        <p:blipFill rotWithShape="1">
          <a:blip r:embed="rId4">
            <a:alphaModFix/>
          </a:blip>
          <a:srcRect b="0" l="0" r="0" t="0"/>
          <a:stretch/>
        </p:blipFill>
        <p:spPr>
          <a:xfrm>
            <a:off x="785813" y="1480440"/>
            <a:ext cx="376047" cy="376047"/>
          </a:xfrm>
          <a:prstGeom prst="rect">
            <a:avLst/>
          </a:prstGeom>
          <a:noFill/>
          <a:ln>
            <a:noFill/>
          </a:ln>
        </p:spPr>
      </p:pic>
      <p:pic>
        <p:nvPicPr>
          <p:cNvPr id="733" name="Google Shape;733;p38"/>
          <p:cNvPicPr preferRelativeResize="0"/>
          <p:nvPr/>
        </p:nvPicPr>
        <p:blipFill rotWithShape="1">
          <a:blip r:embed="rId5">
            <a:alphaModFix/>
          </a:blip>
          <a:srcRect b="0" l="0" r="0" t="0"/>
          <a:stretch/>
        </p:blipFill>
        <p:spPr>
          <a:xfrm>
            <a:off x="3500438" y="1374141"/>
            <a:ext cx="588645" cy="588645"/>
          </a:xfrm>
          <a:prstGeom prst="rect">
            <a:avLst/>
          </a:prstGeom>
          <a:noFill/>
          <a:ln>
            <a:noFill/>
          </a:ln>
        </p:spPr>
      </p:pic>
      <p:pic>
        <p:nvPicPr>
          <p:cNvPr id="734" name="Google Shape;734;p38"/>
          <p:cNvPicPr preferRelativeResize="0"/>
          <p:nvPr/>
        </p:nvPicPr>
        <p:blipFill rotWithShape="1">
          <a:blip r:embed="rId6">
            <a:alphaModFix/>
          </a:blip>
          <a:srcRect b="0" l="0" r="0" t="0"/>
          <a:stretch/>
        </p:blipFill>
        <p:spPr>
          <a:xfrm>
            <a:off x="6215063" y="1378457"/>
            <a:ext cx="478030" cy="47803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8" name="Shape 738"/>
        <p:cNvGrpSpPr/>
        <p:nvPr/>
      </p:nvGrpSpPr>
      <p:grpSpPr>
        <a:xfrm>
          <a:off x="0" y="0"/>
          <a:ext cx="0" cy="0"/>
          <a:chOff x="0" y="0"/>
          <a:chExt cx="0" cy="0"/>
        </a:xfrm>
      </p:grpSpPr>
      <p:pic>
        <p:nvPicPr>
          <p:cNvPr id="739" name="Google Shape;739;p3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40" name="Google Shape;740;p39"/>
          <p:cNvSpPr txBox="1"/>
          <p:nvPr/>
        </p:nvSpPr>
        <p:spPr>
          <a:xfrm>
            <a:off x="571500" y="285750"/>
            <a:ext cx="8001000" cy="461700"/>
          </a:xfrm>
          <a:prstGeom prst="rect">
            <a:avLst/>
          </a:prstGeom>
          <a:solidFill>
            <a:srgbClr val="000000">
              <a:alpha val="0"/>
            </a:srgbClr>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LOGISTICS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QUY TRÌNH ĐĂNG KÝ XUẤT KHẨU</a:t>
            </a:r>
            <a:endParaRPr b="1" i="0" sz="2000" u="none" cap="none" strike="noStrike">
              <a:solidFill>
                <a:srgbClr val="1E293B"/>
              </a:solidFill>
              <a:latin typeface="Montserrat"/>
              <a:ea typeface="Montserrat"/>
              <a:cs typeface="Montserrat"/>
              <a:sym typeface="Montserrat"/>
            </a:endParaRPr>
          </a:p>
        </p:txBody>
      </p:sp>
      <p:sp>
        <p:nvSpPr>
          <p:cNvPr id="741" name="Google Shape;741;p39"/>
          <p:cNvSpPr/>
          <p:nvPr/>
        </p:nvSpPr>
        <p:spPr>
          <a:xfrm>
            <a:off x="428625" y="357188"/>
            <a:ext cx="57000" cy="428700"/>
          </a:xfrm>
          <a:prstGeom prst="rect">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742" name="Google Shape;742;p39"/>
          <p:cNvGrpSpPr/>
          <p:nvPr/>
        </p:nvGrpSpPr>
        <p:grpSpPr>
          <a:xfrm>
            <a:off x="428625" y="1000125"/>
            <a:ext cx="8286750" cy="714375"/>
            <a:chOff x="571500" y="1333500"/>
            <a:chExt cx="11049000" cy="952500"/>
          </a:xfrm>
        </p:grpSpPr>
        <p:sp>
          <p:nvSpPr>
            <p:cNvPr id="743" name="Google Shape;743;p39"/>
            <p:cNvSpPr/>
            <p:nvPr/>
          </p:nvSpPr>
          <p:spPr>
            <a:xfrm>
              <a:off x="571500" y="1333500"/>
              <a:ext cx="110490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4" name="Google Shape;744;p39"/>
            <p:cNvSpPr/>
            <p:nvPr/>
          </p:nvSpPr>
          <p:spPr>
            <a:xfrm>
              <a:off x="571500" y="1333500"/>
              <a:ext cx="76200" cy="9525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5" name="Google Shape;745;p39"/>
            <p:cNvSpPr txBox="1"/>
            <p:nvPr/>
          </p:nvSpPr>
          <p:spPr>
            <a:xfrm>
              <a:off x="857250" y="1333500"/>
              <a:ext cx="10477500" cy="9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Bước 1: Duyệt Shipping Request</a:t>
              </a:r>
              <a:endParaRPr b="1" i="0" sz="1200" u="none" cap="none" strike="noStrike">
                <a:solidFill>
                  <a:srgbClr val="1E293B"/>
                </a:solidFill>
                <a:latin typeface="Inter"/>
                <a:ea typeface="Inter"/>
                <a:cs typeface="Inter"/>
                <a:sym typeface="Inter"/>
              </a:endParaRPr>
            </a:p>
            <a:p>
              <a:pPr indent="0" lvl="0" marL="0" marR="0" rtl="0" algn="l">
                <a:lnSpc>
                  <a:spcPct val="100000"/>
                </a:lnSpc>
                <a:spcBef>
                  <a:spcPts val="200"/>
                </a:spcBef>
                <a:spcAft>
                  <a:spcPts val="0"/>
                </a:spcAft>
                <a:buClr>
                  <a:srgbClr val="000000"/>
                </a:buClr>
                <a:buSzPts val="1000"/>
                <a:buFont typeface="Arial"/>
                <a:buNone/>
              </a:pPr>
              <a:r>
                <a:rPr b="0" i="0" lang="vi" sz="1000" u="none" cap="none" strike="noStrike">
                  <a:solidFill>
                    <a:srgbClr val="475569"/>
                  </a:solidFill>
                  <a:latin typeface="Inter"/>
                  <a:ea typeface="Inter"/>
                  <a:cs typeface="Inter"/>
                  <a:sym typeface="Inter"/>
                </a:rPr>
                <a:t>Thực hiện sau khi bộ phận kho xác nhận và tiến hành trừ tồn kho.</a:t>
              </a:r>
              <a:endParaRPr b="0" i="0" sz="1000" u="none" cap="none" strike="noStrike">
                <a:solidFill>
                  <a:srgbClr val="475569"/>
                </a:solidFill>
                <a:latin typeface="Inter"/>
                <a:ea typeface="Inter"/>
                <a:cs typeface="Inter"/>
                <a:sym typeface="Inter"/>
              </a:endParaRPr>
            </a:p>
          </p:txBody>
        </p:sp>
      </p:grpSp>
      <p:grpSp>
        <p:nvGrpSpPr>
          <p:cNvPr id="746" name="Google Shape;746;p39"/>
          <p:cNvGrpSpPr/>
          <p:nvPr/>
        </p:nvGrpSpPr>
        <p:grpSpPr>
          <a:xfrm>
            <a:off x="428625" y="1821656"/>
            <a:ext cx="8286750" cy="785925"/>
            <a:chOff x="571500" y="2428875"/>
            <a:chExt cx="11049000" cy="1047900"/>
          </a:xfrm>
        </p:grpSpPr>
        <p:sp>
          <p:nvSpPr>
            <p:cNvPr id="747" name="Google Shape;747;p39"/>
            <p:cNvSpPr/>
            <p:nvPr/>
          </p:nvSpPr>
          <p:spPr>
            <a:xfrm>
              <a:off x="571500" y="2428875"/>
              <a:ext cx="11049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8" name="Google Shape;748;p39"/>
            <p:cNvSpPr/>
            <p:nvPr/>
          </p:nvSpPr>
          <p:spPr>
            <a:xfrm>
              <a:off x="571500" y="2428875"/>
              <a:ext cx="76200" cy="10479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9" name="Google Shape;749;p39"/>
            <p:cNvSpPr txBox="1"/>
            <p:nvPr/>
          </p:nvSpPr>
          <p:spPr>
            <a:xfrm>
              <a:off x="857250" y="2428875"/>
              <a:ext cx="10477500" cy="10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Bước 2: Đăng ký Shipping Confirmation Documents</a:t>
              </a:r>
              <a:endParaRPr b="1" i="0" sz="1200" u="none" cap="none" strike="noStrike">
                <a:solidFill>
                  <a:srgbClr val="1E293B"/>
                </a:solidFill>
                <a:latin typeface="Inter"/>
                <a:ea typeface="Inter"/>
                <a:cs typeface="Inter"/>
                <a:sym typeface="Inter"/>
              </a:endParaRPr>
            </a:p>
            <a:p>
              <a:pPr indent="0" lvl="0" marL="0" marR="0" rtl="0" algn="l">
                <a:lnSpc>
                  <a:spcPct val="100000"/>
                </a:lnSpc>
                <a:spcBef>
                  <a:spcPts val="200"/>
                </a:spcBef>
                <a:spcAft>
                  <a:spcPts val="0"/>
                </a:spcAft>
                <a:buClr>
                  <a:srgbClr val="000000"/>
                </a:buClr>
                <a:buSzPts val="900"/>
                <a:buFont typeface="Arial"/>
                <a:buNone/>
              </a:pPr>
              <a:r>
                <a:rPr b="0" i="0" lang="vi" sz="900" u="none" cap="none" strike="noStrike">
                  <a:solidFill>
                    <a:srgbClr val="64748B"/>
                  </a:solidFill>
                  <a:latin typeface="Inter"/>
                  <a:ea typeface="Inter"/>
                  <a:cs typeface="Inter"/>
                  <a:sym typeface="Inter"/>
                </a:rPr>
                <a:t>Bao gồm: Tờ khai xuất khẩu, Vận đơn (Bill), Phương thức vận chuyển, Hóa đơn (Invoice), POD, ETA, ETD, Term, Quốc gia, Chi tiết theo dõi (Tracking details).</a:t>
              </a:r>
              <a:endParaRPr b="0" i="0" sz="900" u="none" cap="none" strike="noStrike">
                <a:solidFill>
                  <a:srgbClr val="64748B"/>
                </a:solidFill>
                <a:latin typeface="Inter"/>
                <a:ea typeface="Inter"/>
                <a:cs typeface="Inter"/>
                <a:sym typeface="Inter"/>
              </a:endParaRPr>
            </a:p>
          </p:txBody>
        </p:sp>
      </p:grpSp>
      <p:grpSp>
        <p:nvGrpSpPr>
          <p:cNvPr id="750" name="Google Shape;750;p39"/>
          <p:cNvGrpSpPr/>
          <p:nvPr/>
        </p:nvGrpSpPr>
        <p:grpSpPr>
          <a:xfrm>
            <a:off x="428625" y="2714625"/>
            <a:ext cx="8286750" cy="714375"/>
            <a:chOff x="571500" y="3619500"/>
            <a:chExt cx="11049000" cy="952500"/>
          </a:xfrm>
        </p:grpSpPr>
        <p:sp>
          <p:nvSpPr>
            <p:cNvPr id="751" name="Google Shape;751;p39"/>
            <p:cNvSpPr/>
            <p:nvPr/>
          </p:nvSpPr>
          <p:spPr>
            <a:xfrm>
              <a:off x="571500" y="3619500"/>
              <a:ext cx="110490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52" name="Google Shape;752;p39"/>
            <p:cNvSpPr/>
            <p:nvPr/>
          </p:nvSpPr>
          <p:spPr>
            <a:xfrm>
              <a:off x="571500" y="3619500"/>
              <a:ext cx="76200" cy="9525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53" name="Google Shape;753;p39"/>
            <p:cNvSpPr txBox="1"/>
            <p:nvPr/>
          </p:nvSpPr>
          <p:spPr>
            <a:xfrm>
              <a:off x="857250" y="3619500"/>
              <a:ext cx="10477500" cy="9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Bước 3: Phê duyệt Shipping Confirmation</a:t>
              </a:r>
              <a:endParaRPr b="1" i="0" sz="1200" u="none" cap="none" strike="noStrike">
                <a:solidFill>
                  <a:srgbClr val="1E293B"/>
                </a:solidFill>
                <a:latin typeface="Inter"/>
                <a:ea typeface="Inter"/>
                <a:cs typeface="Inter"/>
                <a:sym typeface="Inter"/>
              </a:endParaRPr>
            </a:p>
            <a:p>
              <a:pPr indent="0" lvl="0" marL="0" marR="0" rtl="0" algn="l">
                <a:lnSpc>
                  <a:spcPct val="100000"/>
                </a:lnSpc>
                <a:spcBef>
                  <a:spcPts val="200"/>
                </a:spcBef>
                <a:spcAft>
                  <a:spcPts val="0"/>
                </a:spcAft>
                <a:buClr>
                  <a:srgbClr val="000000"/>
                </a:buClr>
                <a:buSzPts val="1000"/>
                <a:buFont typeface="Arial"/>
                <a:buNone/>
              </a:pPr>
              <a:r>
                <a:rPr b="0" i="0" lang="vi" sz="1000" u="none" cap="none" strike="noStrike">
                  <a:solidFill>
                    <a:srgbClr val="475569"/>
                  </a:solidFill>
                  <a:latin typeface="Inter"/>
                  <a:ea typeface="Inter"/>
                  <a:cs typeface="Inter"/>
                  <a:sym typeface="Inter"/>
                </a:rPr>
                <a:t>Xác nhận chính xác thông tin đăng ký và số lượng thực tế.</a:t>
              </a:r>
              <a:endParaRPr b="0" i="0" sz="1000" u="none" cap="none" strike="noStrike">
                <a:solidFill>
                  <a:srgbClr val="475569"/>
                </a:solidFill>
                <a:latin typeface="Inter"/>
                <a:ea typeface="Inter"/>
                <a:cs typeface="Inter"/>
                <a:sym typeface="Inter"/>
              </a:endParaRPr>
            </a:p>
          </p:txBody>
        </p:sp>
      </p:grpSp>
      <p:grpSp>
        <p:nvGrpSpPr>
          <p:cNvPr id="754" name="Google Shape;754;p39"/>
          <p:cNvGrpSpPr/>
          <p:nvPr/>
        </p:nvGrpSpPr>
        <p:grpSpPr>
          <a:xfrm>
            <a:off x="428625" y="3714750"/>
            <a:ext cx="8286750" cy="857250"/>
            <a:chOff x="571500" y="4953000"/>
            <a:chExt cx="11049000" cy="1143000"/>
          </a:xfrm>
        </p:grpSpPr>
        <p:sp>
          <p:nvSpPr>
            <p:cNvPr id="755" name="Google Shape;755;p39"/>
            <p:cNvSpPr/>
            <p:nvPr/>
          </p:nvSpPr>
          <p:spPr>
            <a:xfrm>
              <a:off x="571500" y="4953000"/>
              <a:ext cx="11049000" cy="1143000"/>
            </a:xfrm>
            <a:prstGeom prst="roundRect">
              <a:avLst>
                <a:gd fmla="val 10000" name="adj"/>
              </a:avLst>
            </a:prstGeom>
            <a:solidFill>
              <a:srgbClr val="FEF2F2"/>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56" name="Google Shape;756;p39"/>
            <p:cNvSpPr txBox="1"/>
            <p:nvPr/>
          </p:nvSpPr>
          <p:spPr>
            <a:xfrm>
              <a:off x="857250" y="4953000"/>
              <a:ext cx="1047750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vi" sz="1200" u="none" cap="none" strike="noStrike">
                  <a:solidFill>
                    <a:srgbClr val="B91C1C"/>
                  </a:solidFill>
                  <a:latin typeface="Mate"/>
                  <a:ea typeface="Mate"/>
                  <a:cs typeface="Mate"/>
                  <a:sym typeface="Mate"/>
                </a:rPr>
                <a:t>          </a:t>
              </a:r>
              <a:r>
                <a:rPr b="1" i="0" lang="vi" sz="1000" u="none" cap="none" strike="noStrike">
                  <a:solidFill>
                    <a:srgbClr val="B91C1C"/>
                  </a:solidFill>
                  <a:latin typeface="Montserrat"/>
                  <a:ea typeface="Montserrat"/>
                  <a:cs typeface="Montserrat"/>
                  <a:sym typeface="Montserrat"/>
                </a:rPr>
                <a:t>QUY TẮC XỬ LÝ KHI SAI SÓT (NOTE)</a:t>
              </a:r>
              <a:endParaRPr b="1" i="0" sz="1000" u="none" cap="none" strike="noStrike">
                <a:solidFill>
                  <a:srgbClr val="B91C1C"/>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900"/>
                <a:buFont typeface="Arial"/>
                <a:buNone/>
              </a:pPr>
              <a:r>
                <a:rPr b="0" i="0" lang="vi" sz="900" u="none" cap="none" strike="noStrike">
                  <a:solidFill>
                    <a:srgbClr val="7F1D1D"/>
                  </a:solidFill>
                  <a:latin typeface="Inter"/>
                  <a:ea typeface="Inter"/>
                  <a:cs typeface="Inter"/>
                  <a:sym typeface="Inter"/>
                </a:rPr>
                <a:t>Khi phát hiện bất kỳ sai sót nào trong 3 bước trên, người phê duyệt có quyền </a:t>
              </a:r>
              <a:r>
                <a:rPr b="1" i="0" lang="vi" sz="900" u="none" cap="none" strike="noStrike">
                  <a:solidFill>
                    <a:srgbClr val="7F1D1D"/>
                  </a:solidFill>
                  <a:latin typeface="Inter"/>
                  <a:ea typeface="Inter"/>
                  <a:cs typeface="Inter"/>
                  <a:sym typeface="Inter"/>
                </a:rPr>
                <a:t>từ chối phê duyệt</a:t>
              </a:r>
              <a:r>
                <a:rPr b="0" i="0" lang="vi" sz="900" u="none" cap="none" strike="noStrike">
                  <a:solidFill>
                    <a:srgbClr val="7F1D1D"/>
                  </a:solidFill>
                  <a:latin typeface="Inter"/>
                  <a:ea typeface="Inter"/>
                  <a:cs typeface="Inter"/>
                  <a:sym typeface="Inter"/>
                </a:rPr>
                <a:t> và yêu cầu bộ phận C/S thực hiện đăng ký lại từ đầu lưu trình.</a:t>
              </a:r>
              <a:endParaRPr b="0" i="0" sz="900" u="none" cap="none" strike="noStrike">
                <a:solidFill>
                  <a:srgbClr val="7F1D1D"/>
                </a:solidFill>
                <a:latin typeface="Inter"/>
                <a:ea typeface="Inter"/>
                <a:cs typeface="Inter"/>
                <a:sym typeface="Inter"/>
              </a:endParaRPr>
            </a:p>
          </p:txBody>
        </p:sp>
      </p:grpSp>
      <p:pic>
        <p:nvPicPr>
          <p:cNvPr id="757" name="Google Shape;757;p39"/>
          <p:cNvPicPr preferRelativeResize="0"/>
          <p:nvPr/>
        </p:nvPicPr>
        <p:blipFill rotWithShape="1">
          <a:blip r:embed="rId4">
            <a:alphaModFix/>
          </a:blip>
          <a:srcRect b="0" l="0" r="0" t="0"/>
          <a:stretch/>
        </p:blipFill>
        <p:spPr>
          <a:xfrm>
            <a:off x="642938" y="3830810"/>
            <a:ext cx="312564" cy="3125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1" name="Shape 761"/>
        <p:cNvGrpSpPr/>
        <p:nvPr/>
      </p:nvGrpSpPr>
      <p:grpSpPr>
        <a:xfrm>
          <a:off x="0" y="0"/>
          <a:ext cx="0" cy="0"/>
          <a:chOff x="0" y="0"/>
          <a:chExt cx="0" cy="0"/>
        </a:xfrm>
      </p:grpSpPr>
      <p:pic>
        <p:nvPicPr>
          <p:cNvPr descr="image.png" id="762" name="Google Shape;762;p40"/>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763" name="Google Shape;763;p40"/>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LOGISTICS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QUY TRÌNH QUẢN LÝ NHẬP KHẨU</a:t>
            </a:r>
            <a:endParaRPr b="1" i="0" sz="2000" u="none" cap="none" strike="noStrike">
              <a:solidFill>
                <a:srgbClr val="1E293B"/>
              </a:solidFill>
              <a:latin typeface="Montserrat"/>
              <a:ea typeface="Montserrat"/>
              <a:cs typeface="Montserrat"/>
              <a:sym typeface="Montserrat"/>
            </a:endParaRPr>
          </a:p>
        </p:txBody>
      </p:sp>
      <p:sp>
        <p:nvSpPr>
          <p:cNvPr id="764" name="Google Shape;764;p40"/>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765" name="Google Shape;765;p40"/>
          <p:cNvPicPr preferRelativeResize="0"/>
          <p:nvPr/>
        </p:nvPicPr>
        <p:blipFill rotWithShape="1">
          <a:blip r:embed="rId5">
            <a:alphaModFix/>
          </a:blip>
          <a:srcRect b="0" l="0" r="0" t="0"/>
          <a:stretch/>
        </p:blipFill>
        <p:spPr>
          <a:xfrm>
            <a:off x="2357438" y="1664494"/>
            <a:ext cx="357300" cy="100125"/>
          </a:xfrm>
          <a:prstGeom prst="rect">
            <a:avLst/>
          </a:prstGeom>
          <a:noFill/>
          <a:ln>
            <a:noFill/>
          </a:ln>
        </p:spPr>
      </p:pic>
      <p:pic>
        <p:nvPicPr>
          <p:cNvPr id="766" name="Google Shape;766;p40"/>
          <p:cNvPicPr preferRelativeResize="0"/>
          <p:nvPr/>
        </p:nvPicPr>
        <p:blipFill rotWithShape="1">
          <a:blip r:embed="rId5">
            <a:alphaModFix/>
          </a:blip>
          <a:srcRect b="0" l="0" r="0" t="0"/>
          <a:stretch/>
        </p:blipFill>
        <p:spPr>
          <a:xfrm>
            <a:off x="4500563" y="1664494"/>
            <a:ext cx="357300" cy="100125"/>
          </a:xfrm>
          <a:prstGeom prst="rect">
            <a:avLst/>
          </a:prstGeom>
          <a:noFill/>
          <a:ln>
            <a:noFill/>
          </a:ln>
        </p:spPr>
      </p:pic>
      <p:pic>
        <p:nvPicPr>
          <p:cNvPr id="767" name="Google Shape;767;p40"/>
          <p:cNvPicPr preferRelativeResize="0"/>
          <p:nvPr/>
        </p:nvPicPr>
        <p:blipFill rotWithShape="1">
          <a:blip r:embed="rId6">
            <a:alphaModFix/>
          </a:blip>
          <a:srcRect b="0" l="0" r="0" t="0"/>
          <a:stretch/>
        </p:blipFill>
        <p:spPr>
          <a:xfrm>
            <a:off x="1384719" y="3072050"/>
            <a:ext cx="6509252" cy="915300"/>
          </a:xfrm>
          <a:prstGeom prst="rect">
            <a:avLst/>
          </a:prstGeom>
          <a:noFill/>
          <a:ln>
            <a:noFill/>
          </a:ln>
        </p:spPr>
      </p:pic>
      <p:pic>
        <p:nvPicPr>
          <p:cNvPr id="768" name="Google Shape;768;p40"/>
          <p:cNvPicPr preferRelativeResize="0"/>
          <p:nvPr/>
        </p:nvPicPr>
        <p:blipFill rotWithShape="1">
          <a:blip r:embed="rId5">
            <a:alphaModFix/>
          </a:blip>
          <a:srcRect b="0" l="0" r="0" t="0"/>
          <a:stretch/>
        </p:blipFill>
        <p:spPr>
          <a:xfrm>
            <a:off x="3467250" y="3882394"/>
            <a:ext cx="357300" cy="100125"/>
          </a:xfrm>
          <a:prstGeom prst="rect">
            <a:avLst/>
          </a:prstGeom>
          <a:noFill/>
          <a:ln>
            <a:noFill/>
          </a:ln>
        </p:spPr>
      </p:pic>
      <p:pic>
        <p:nvPicPr>
          <p:cNvPr id="769" name="Google Shape;769;p40"/>
          <p:cNvPicPr preferRelativeResize="0"/>
          <p:nvPr/>
        </p:nvPicPr>
        <p:blipFill rotWithShape="1">
          <a:blip r:embed="rId5">
            <a:alphaModFix/>
          </a:blip>
          <a:srcRect b="0" l="0" r="0" t="0"/>
          <a:stretch/>
        </p:blipFill>
        <p:spPr>
          <a:xfrm>
            <a:off x="5610375" y="3882394"/>
            <a:ext cx="357300" cy="100125"/>
          </a:xfrm>
          <a:prstGeom prst="rect">
            <a:avLst/>
          </a:prstGeom>
          <a:noFill/>
          <a:ln>
            <a:noFill/>
          </a:ln>
        </p:spPr>
      </p:pic>
      <p:grpSp>
        <p:nvGrpSpPr>
          <p:cNvPr id="770" name="Google Shape;770;p40"/>
          <p:cNvGrpSpPr/>
          <p:nvPr/>
        </p:nvGrpSpPr>
        <p:grpSpPr>
          <a:xfrm>
            <a:off x="571500" y="1071563"/>
            <a:ext cx="8215425" cy="1718831"/>
            <a:chOff x="762000" y="1428750"/>
            <a:chExt cx="10953900" cy="2291775"/>
          </a:xfrm>
        </p:grpSpPr>
        <p:grpSp>
          <p:nvGrpSpPr>
            <p:cNvPr id="771" name="Google Shape;771;p40"/>
            <p:cNvGrpSpPr/>
            <p:nvPr/>
          </p:nvGrpSpPr>
          <p:grpSpPr>
            <a:xfrm>
              <a:off x="762000" y="1428750"/>
              <a:ext cx="2381400" cy="2291700"/>
              <a:chOff x="762000" y="1428750"/>
              <a:chExt cx="2381400" cy="2291700"/>
            </a:xfrm>
          </p:grpSpPr>
          <p:sp>
            <p:nvSpPr>
              <p:cNvPr id="772" name="Google Shape;772;p40"/>
              <p:cNvSpPr/>
              <p:nvPr/>
            </p:nvSpPr>
            <p:spPr>
              <a:xfrm>
                <a:off x="762000" y="1428750"/>
                <a:ext cx="2381400" cy="22917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3" name="Google Shape;773;p40"/>
              <p:cNvSpPr/>
              <p:nvPr/>
            </p:nvSpPr>
            <p:spPr>
              <a:xfrm>
                <a:off x="7620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4" name="Google Shape;774;p40"/>
              <p:cNvSpPr txBox="1"/>
              <p:nvPr/>
            </p:nvSpPr>
            <p:spPr>
              <a:xfrm>
                <a:off x="904875" y="157162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1: </a:t>
                </a:r>
                <a:r>
                  <a:rPr b="1" i="0" lang="vi" sz="1400" u="none" cap="none" strike="noStrike">
                    <a:solidFill>
                      <a:srgbClr val="1E293B"/>
                    </a:solidFill>
                    <a:latin typeface="Inter"/>
                    <a:ea typeface="Inter"/>
                    <a:cs typeface="Inter"/>
                    <a:sym typeface="Inter"/>
                  </a:rPr>
                  <a:t>Nhận thông tin hàng hóa</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Nhận kế hoạch giao hàng và yêu cầu nhập hàng từ bộ phận mua hàng </a:t>
                </a:r>
                <a:r>
                  <a:rPr lang="vi" sz="1200">
                    <a:solidFill>
                      <a:srgbClr val="475569"/>
                    </a:solidFill>
                    <a:latin typeface="Inter"/>
                    <a:ea typeface="Inter"/>
                    <a:cs typeface="Inter"/>
                    <a:sym typeface="Inter"/>
                  </a:rPr>
                  <a:t>hoặc</a:t>
                </a:r>
                <a:r>
                  <a:rPr b="0" i="0" lang="vi" sz="1200" u="none" cap="none" strike="noStrike">
                    <a:solidFill>
                      <a:srgbClr val="475569"/>
                    </a:solidFill>
                    <a:latin typeface="Inter"/>
                    <a:ea typeface="Inter"/>
                    <a:cs typeface="Inter"/>
                    <a:sym typeface="Inter"/>
                  </a:rPr>
                  <a:t> liên quan khác.</a:t>
                </a:r>
                <a:endParaRPr b="0" i="0" sz="1200" u="none" cap="none" strike="noStrike">
                  <a:solidFill>
                    <a:srgbClr val="475569"/>
                  </a:solidFill>
                  <a:latin typeface="Inter"/>
                  <a:ea typeface="Inter"/>
                  <a:cs typeface="Inter"/>
                  <a:sym typeface="Inter"/>
                </a:endParaRPr>
              </a:p>
            </p:txBody>
          </p:sp>
        </p:grpSp>
        <p:grpSp>
          <p:nvGrpSpPr>
            <p:cNvPr id="775" name="Google Shape;775;p40"/>
            <p:cNvGrpSpPr/>
            <p:nvPr/>
          </p:nvGrpSpPr>
          <p:grpSpPr>
            <a:xfrm>
              <a:off x="3619500" y="1428750"/>
              <a:ext cx="2381400" cy="2291700"/>
              <a:chOff x="3619500" y="1428750"/>
              <a:chExt cx="2381400" cy="2291700"/>
            </a:xfrm>
          </p:grpSpPr>
          <p:sp>
            <p:nvSpPr>
              <p:cNvPr id="776" name="Google Shape;776;p40"/>
              <p:cNvSpPr/>
              <p:nvPr/>
            </p:nvSpPr>
            <p:spPr>
              <a:xfrm>
                <a:off x="3619500" y="1428750"/>
                <a:ext cx="2381400" cy="22917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7" name="Google Shape;777;p40"/>
              <p:cNvSpPr/>
              <p:nvPr/>
            </p:nvSpPr>
            <p:spPr>
              <a:xfrm>
                <a:off x="36195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8" name="Google Shape;778;p40"/>
              <p:cNvSpPr txBox="1"/>
              <p:nvPr/>
            </p:nvSpPr>
            <p:spPr>
              <a:xfrm>
                <a:off x="3762375" y="157162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2: </a:t>
                </a:r>
                <a:r>
                  <a:rPr b="1" i="0" lang="vi" sz="1400" u="none" cap="none" strike="noStrike">
                    <a:solidFill>
                      <a:srgbClr val="1E293B"/>
                    </a:solidFill>
                    <a:latin typeface="Inter"/>
                    <a:ea typeface="Inter"/>
                    <a:cs typeface="Inter"/>
                    <a:sym typeface="Inter"/>
                  </a:rPr>
                  <a:t>Kiểm tra thông tin</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Kiểm tra bộ chứng từ bao gồm: Hợp đồng, Tên hàng hóa, Invoice, Packing list, Điều kiện giao hàng...</a:t>
                </a:r>
                <a:endParaRPr b="0" i="0" sz="1200" u="none" cap="none" strike="noStrike">
                  <a:solidFill>
                    <a:srgbClr val="475569"/>
                  </a:solidFill>
                  <a:latin typeface="Inter"/>
                  <a:ea typeface="Inter"/>
                  <a:cs typeface="Inter"/>
                  <a:sym typeface="Inter"/>
                </a:endParaRPr>
              </a:p>
            </p:txBody>
          </p:sp>
        </p:grpSp>
        <p:grpSp>
          <p:nvGrpSpPr>
            <p:cNvPr id="779" name="Google Shape;779;p40"/>
            <p:cNvGrpSpPr/>
            <p:nvPr/>
          </p:nvGrpSpPr>
          <p:grpSpPr>
            <a:xfrm>
              <a:off x="6477000" y="1428750"/>
              <a:ext cx="2381400" cy="2291775"/>
              <a:chOff x="6477000" y="1428750"/>
              <a:chExt cx="2381400" cy="2291775"/>
            </a:xfrm>
          </p:grpSpPr>
          <p:sp>
            <p:nvSpPr>
              <p:cNvPr id="780" name="Google Shape;780;p40"/>
              <p:cNvSpPr/>
              <p:nvPr/>
            </p:nvSpPr>
            <p:spPr>
              <a:xfrm>
                <a:off x="6477000" y="142875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1" name="Google Shape;781;p40"/>
              <p:cNvSpPr/>
              <p:nvPr/>
            </p:nvSpPr>
            <p:spPr>
              <a:xfrm>
                <a:off x="64770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2" name="Google Shape;782;p40"/>
              <p:cNvSpPr txBox="1"/>
              <p:nvPr/>
            </p:nvSpPr>
            <p:spPr>
              <a:xfrm>
                <a:off x="6619875" y="1571625"/>
                <a:ext cx="2095500" cy="214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3: </a:t>
                </a:r>
                <a:r>
                  <a:rPr b="1" i="0" lang="vi" sz="1400" u="none" cap="none" strike="noStrike">
                    <a:solidFill>
                      <a:srgbClr val="1E293B"/>
                    </a:solidFill>
                    <a:latin typeface="Inter"/>
                    <a:ea typeface="Inter"/>
                    <a:cs typeface="Inter"/>
                    <a:sym typeface="Inter"/>
                  </a:rPr>
                  <a:t>Sắp xếp vận chuyển &amp; Đặt Booking</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Nhận thông tin hàng hóa. Đặt booking với Forwarder và sắp xếp lịch trình vận chuyển.</a:t>
                </a:r>
                <a:endParaRPr b="0" i="0" sz="1200" u="none" cap="none" strike="noStrike">
                  <a:solidFill>
                    <a:srgbClr val="475569"/>
                  </a:solidFill>
                  <a:latin typeface="Inter"/>
                  <a:ea typeface="Inter"/>
                  <a:cs typeface="Inter"/>
                  <a:sym typeface="Inter"/>
                </a:endParaRPr>
              </a:p>
            </p:txBody>
          </p:sp>
        </p:grpSp>
        <p:grpSp>
          <p:nvGrpSpPr>
            <p:cNvPr id="783" name="Google Shape;783;p40"/>
            <p:cNvGrpSpPr/>
            <p:nvPr/>
          </p:nvGrpSpPr>
          <p:grpSpPr>
            <a:xfrm>
              <a:off x="9334500" y="1428750"/>
              <a:ext cx="2381400" cy="2291700"/>
              <a:chOff x="9334500" y="1428750"/>
              <a:chExt cx="2381400" cy="2291700"/>
            </a:xfrm>
          </p:grpSpPr>
          <p:sp>
            <p:nvSpPr>
              <p:cNvPr id="784" name="Google Shape;784;p40"/>
              <p:cNvSpPr/>
              <p:nvPr/>
            </p:nvSpPr>
            <p:spPr>
              <a:xfrm>
                <a:off x="9334500" y="1428750"/>
                <a:ext cx="2381400" cy="22917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5" name="Google Shape;785;p40"/>
              <p:cNvSpPr/>
              <p:nvPr/>
            </p:nvSpPr>
            <p:spPr>
              <a:xfrm>
                <a:off x="93345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6" name="Google Shape;786;p40"/>
              <p:cNvSpPr txBox="1"/>
              <p:nvPr/>
            </p:nvSpPr>
            <p:spPr>
              <a:xfrm>
                <a:off x="9477375" y="157162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4: </a:t>
                </a:r>
                <a:r>
                  <a:rPr b="1" i="0" lang="vi" sz="1400" u="none" cap="none" strike="noStrike">
                    <a:solidFill>
                      <a:srgbClr val="1E293B"/>
                    </a:solidFill>
                    <a:latin typeface="Inter"/>
                    <a:ea typeface="Inter"/>
                    <a:cs typeface="Inter"/>
                    <a:sym typeface="Inter"/>
                  </a:rPr>
                  <a:t>Kiểm tra chứng từ &amp; Thủ tục Hải quan</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Nhận chứng từ, chuẩn bị hồ sơ xin giấy phép, yêu cầu FWD mở tờ khai Hải quan.</a:t>
                </a:r>
                <a:endParaRPr b="0" i="0" sz="1200" u="none" cap="none" strike="noStrike">
                  <a:solidFill>
                    <a:srgbClr val="475569"/>
                  </a:solidFill>
                  <a:latin typeface="Inter"/>
                  <a:ea typeface="Inter"/>
                  <a:cs typeface="Inter"/>
                  <a:sym typeface="Inter"/>
                </a:endParaRPr>
              </a:p>
            </p:txBody>
          </p:sp>
        </p:grpSp>
      </p:grpSp>
      <p:grpSp>
        <p:nvGrpSpPr>
          <p:cNvPr id="787" name="Google Shape;787;p40"/>
          <p:cNvGrpSpPr/>
          <p:nvPr/>
        </p:nvGrpSpPr>
        <p:grpSpPr>
          <a:xfrm>
            <a:off x="1681313" y="3289286"/>
            <a:ext cx="6072300" cy="1807597"/>
            <a:chOff x="2190750" y="3619500"/>
            <a:chExt cx="8096400" cy="1714500"/>
          </a:xfrm>
        </p:grpSpPr>
        <p:grpSp>
          <p:nvGrpSpPr>
            <p:cNvPr id="788" name="Google Shape;788;p40"/>
            <p:cNvGrpSpPr/>
            <p:nvPr/>
          </p:nvGrpSpPr>
          <p:grpSpPr>
            <a:xfrm>
              <a:off x="2190750" y="3619500"/>
              <a:ext cx="2381400" cy="1714500"/>
              <a:chOff x="2190750" y="3619500"/>
              <a:chExt cx="2381400" cy="1714500"/>
            </a:xfrm>
          </p:grpSpPr>
          <p:sp>
            <p:nvSpPr>
              <p:cNvPr id="789" name="Google Shape;789;p40"/>
              <p:cNvSpPr/>
              <p:nvPr/>
            </p:nvSpPr>
            <p:spPr>
              <a:xfrm>
                <a:off x="21907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0" name="Google Shape;790;p40"/>
              <p:cNvSpPr/>
              <p:nvPr/>
            </p:nvSpPr>
            <p:spPr>
              <a:xfrm>
                <a:off x="21907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1" name="Google Shape;791;p40"/>
              <p:cNvSpPr txBox="1"/>
              <p:nvPr/>
            </p:nvSpPr>
            <p:spPr>
              <a:xfrm>
                <a:off x="2333625" y="376237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5: </a:t>
                </a:r>
                <a:r>
                  <a:rPr b="1" i="0" lang="vi" sz="1400" u="none" cap="none" strike="noStrike">
                    <a:solidFill>
                      <a:srgbClr val="1E293B"/>
                    </a:solidFill>
                    <a:latin typeface="Inter"/>
                    <a:ea typeface="Inter"/>
                    <a:cs typeface="Inter"/>
                    <a:sym typeface="Inter"/>
                  </a:rPr>
                  <a:t>Vận chuyển (Trucking)</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Sắp xếp vận chuyển từ cảng/sân bay về nhà máy và thông báo cho các bộ phận liên quan.</a:t>
                </a:r>
                <a:endParaRPr b="0" i="0" sz="1200" u="none" cap="none" strike="noStrike">
                  <a:solidFill>
                    <a:srgbClr val="475569"/>
                  </a:solidFill>
                  <a:latin typeface="Inter"/>
                  <a:ea typeface="Inter"/>
                  <a:cs typeface="Inter"/>
                  <a:sym typeface="Inter"/>
                </a:endParaRPr>
              </a:p>
            </p:txBody>
          </p:sp>
        </p:grpSp>
        <p:grpSp>
          <p:nvGrpSpPr>
            <p:cNvPr id="792" name="Google Shape;792;p40"/>
            <p:cNvGrpSpPr/>
            <p:nvPr/>
          </p:nvGrpSpPr>
          <p:grpSpPr>
            <a:xfrm>
              <a:off x="5048250" y="3619500"/>
              <a:ext cx="2381400" cy="1714500"/>
              <a:chOff x="5048250" y="3619500"/>
              <a:chExt cx="2381400" cy="1714500"/>
            </a:xfrm>
          </p:grpSpPr>
          <p:sp>
            <p:nvSpPr>
              <p:cNvPr id="793" name="Google Shape;793;p40"/>
              <p:cNvSpPr/>
              <p:nvPr/>
            </p:nvSpPr>
            <p:spPr>
              <a:xfrm>
                <a:off x="50482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4" name="Google Shape;794;p40"/>
              <p:cNvSpPr/>
              <p:nvPr/>
            </p:nvSpPr>
            <p:spPr>
              <a:xfrm>
                <a:off x="50482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5" name="Google Shape;795;p40"/>
              <p:cNvSpPr txBox="1"/>
              <p:nvPr/>
            </p:nvSpPr>
            <p:spPr>
              <a:xfrm>
                <a:off x="5191125" y="376237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6: </a:t>
                </a:r>
                <a:r>
                  <a:rPr b="1" i="0" lang="vi" sz="1400" u="none" cap="none" strike="noStrike">
                    <a:solidFill>
                      <a:srgbClr val="1E293B"/>
                    </a:solidFill>
                    <a:latin typeface="Inter"/>
                    <a:ea typeface="Inter"/>
                    <a:cs typeface="Inter"/>
                    <a:sym typeface="Inter"/>
                  </a:rPr>
                  <a:t>Nhập kho &amp; Xác nhận tình trạng</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Bàn giao hàng cho Kho. Xác nhận trạng thái và phản hồi ngay nếu có lỗi.</a:t>
                </a:r>
                <a:endParaRPr b="0" i="0" sz="1200" u="none" cap="none" strike="noStrike">
                  <a:solidFill>
                    <a:srgbClr val="475569"/>
                  </a:solidFill>
                  <a:latin typeface="Inter"/>
                  <a:ea typeface="Inter"/>
                  <a:cs typeface="Inter"/>
                  <a:sym typeface="Inter"/>
                </a:endParaRPr>
              </a:p>
            </p:txBody>
          </p:sp>
        </p:grpSp>
        <p:grpSp>
          <p:nvGrpSpPr>
            <p:cNvPr id="796" name="Google Shape;796;p40"/>
            <p:cNvGrpSpPr/>
            <p:nvPr/>
          </p:nvGrpSpPr>
          <p:grpSpPr>
            <a:xfrm>
              <a:off x="7905750" y="3619500"/>
              <a:ext cx="2381400" cy="1714500"/>
              <a:chOff x="7905750" y="3619500"/>
              <a:chExt cx="2381400" cy="1714500"/>
            </a:xfrm>
          </p:grpSpPr>
          <p:sp>
            <p:nvSpPr>
              <p:cNvPr id="797" name="Google Shape;797;p40"/>
              <p:cNvSpPr/>
              <p:nvPr/>
            </p:nvSpPr>
            <p:spPr>
              <a:xfrm>
                <a:off x="79057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8" name="Google Shape;798;p40"/>
              <p:cNvSpPr/>
              <p:nvPr/>
            </p:nvSpPr>
            <p:spPr>
              <a:xfrm>
                <a:off x="79057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9" name="Google Shape;799;p40"/>
              <p:cNvSpPr txBox="1"/>
              <p:nvPr/>
            </p:nvSpPr>
            <p:spPr>
              <a:xfrm>
                <a:off x="8048625" y="3762375"/>
                <a:ext cx="2095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7: </a:t>
                </a:r>
                <a:r>
                  <a:rPr b="1" i="0" lang="vi" sz="1400" u="none" cap="none" strike="noStrike">
                    <a:solidFill>
                      <a:srgbClr val="1E293B"/>
                    </a:solidFill>
                    <a:latin typeface="Inter"/>
                    <a:ea typeface="Inter"/>
                    <a:cs typeface="Inter"/>
                    <a:sym typeface="Inter"/>
                  </a:rPr>
                  <a:t>Hoàn tất thủ tục pháp lý khác</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Đối với máy móc thiết bị: Phối hợp kiểm tra tem nhãn và xác nhận hoàn thành thủ tục.</a:t>
                </a:r>
                <a:endParaRPr b="0" i="0" sz="1200" u="none" cap="none" strike="noStrike">
                  <a:solidFill>
                    <a:srgbClr val="475569"/>
                  </a:solidFill>
                  <a:latin typeface="Inter"/>
                  <a:ea typeface="Inter"/>
                  <a:cs typeface="Inter"/>
                  <a:sym typeface="Inter"/>
                </a:endParaRPr>
              </a:p>
            </p:txBody>
          </p:sp>
        </p:grpSp>
      </p:grpSp>
      <p:pic>
        <p:nvPicPr>
          <p:cNvPr id="800" name="Google Shape;800;p40"/>
          <p:cNvPicPr preferRelativeResize="0"/>
          <p:nvPr/>
        </p:nvPicPr>
        <p:blipFill rotWithShape="1">
          <a:blip r:embed="rId5">
            <a:alphaModFix/>
          </a:blip>
          <a:srcRect b="0" l="0" r="0" t="0"/>
          <a:stretch/>
        </p:blipFill>
        <p:spPr>
          <a:xfrm>
            <a:off x="6643688" y="1664438"/>
            <a:ext cx="357300" cy="100125"/>
          </a:xfrm>
          <a:prstGeom prst="rect">
            <a:avLst/>
          </a:prstGeom>
          <a:noFill/>
          <a:ln>
            <a:noFill/>
          </a:ln>
        </p:spPr>
      </p:pic>
      <p:cxnSp>
        <p:nvCxnSpPr>
          <p:cNvPr id="801" name="Google Shape;801;p40"/>
          <p:cNvCxnSpPr>
            <a:endCxn id="784" idx="2"/>
          </p:cNvCxnSpPr>
          <p:nvPr/>
        </p:nvCxnSpPr>
        <p:spPr>
          <a:xfrm rot="10800000">
            <a:off x="7893900" y="2790338"/>
            <a:ext cx="1500" cy="281700"/>
          </a:xfrm>
          <a:prstGeom prst="straightConnector1">
            <a:avLst/>
          </a:prstGeom>
          <a:noFill/>
          <a:ln cap="flat" cmpd="sng" w="19050">
            <a:solidFill>
              <a:srgbClr val="8BC249"/>
            </a:solidFill>
            <a:prstDash val="solid"/>
            <a:round/>
            <a:headEnd len="sm" w="sm" type="non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5" name="Shape 805"/>
        <p:cNvGrpSpPr/>
        <p:nvPr/>
      </p:nvGrpSpPr>
      <p:grpSpPr>
        <a:xfrm>
          <a:off x="0" y="0"/>
          <a:ext cx="0" cy="0"/>
          <a:chOff x="0" y="0"/>
          <a:chExt cx="0" cy="0"/>
        </a:xfrm>
      </p:grpSpPr>
      <p:pic>
        <p:nvPicPr>
          <p:cNvPr descr="image.png" id="806" name="Google Shape;806;p41"/>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807" name="Google Shape;807;p41"/>
          <p:cNvGrpSpPr/>
          <p:nvPr/>
        </p:nvGrpSpPr>
        <p:grpSpPr>
          <a:xfrm>
            <a:off x="571500" y="1071623"/>
            <a:ext cx="1786050" cy="1765592"/>
            <a:chOff x="762000" y="1428750"/>
            <a:chExt cx="2381400" cy="1714500"/>
          </a:xfrm>
        </p:grpSpPr>
        <p:sp>
          <p:nvSpPr>
            <p:cNvPr id="808" name="Google Shape;808;p41"/>
            <p:cNvSpPr/>
            <p:nvPr/>
          </p:nvSpPr>
          <p:spPr>
            <a:xfrm>
              <a:off x="762000" y="142875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9" name="Google Shape;809;p41"/>
            <p:cNvSpPr/>
            <p:nvPr/>
          </p:nvSpPr>
          <p:spPr>
            <a:xfrm>
              <a:off x="7620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0" name="Google Shape;810;p41"/>
            <p:cNvSpPr txBox="1"/>
            <p:nvPr/>
          </p:nvSpPr>
          <p:spPr>
            <a:xfrm>
              <a:off x="904875" y="157162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1: </a:t>
              </a:r>
              <a:r>
                <a:rPr b="1" i="0" lang="vi" sz="1400" u="none" cap="none" strike="noStrike">
                  <a:solidFill>
                    <a:srgbClr val="1E293B"/>
                  </a:solidFill>
                  <a:latin typeface="Inter"/>
                  <a:ea typeface="Inter"/>
                  <a:cs typeface="Inter"/>
                  <a:sym typeface="Inter"/>
                </a:rPr>
                <a:t>Nhận kế hoạch xuất hàng</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Tiếp nhận kế hoạch từ bộ phận bán hàng. Kiểm tra điều kiện giao hàng, thanh toán, địa chỉ và hình thức vận chuyển.</a:t>
              </a:r>
              <a:endParaRPr b="0" i="0" sz="1200" u="none" cap="none" strike="noStrike">
                <a:solidFill>
                  <a:srgbClr val="475569"/>
                </a:solidFill>
                <a:latin typeface="Inter"/>
                <a:ea typeface="Inter"/>
                <a:cs typeface="Inter"/>
                <a:sym typeface="Inter"/>
              </a:endParaRPr>
            </a:p>
          </p:txBody>
        </p:sp>
      </p:grpSp>
      <p:grpSp>
        <p:nvGrpSpPr>
          <p:cNvPr id="811" name="Google Shape;811;p41"/>
          <p:cNvGrpSpPr/>
          <p:nvPr/>
        </p:nvGrpSpPr>
        <p:grpSpPr>
          <a:xfrm>
            <a:off x="2714625" y="1071623"/>
            <a:ext cx="1786050" cy="1765592"/>
            <a:chOff x="3619500" y="1428750"/>
            <a:chExt cx="2381400" cy="1714500"/>
          </a:xfrm>
        </p:grpSpPr>
        <p:sp>
          <p:nvSpPr>
            <p:cNvPr id="812" name="Google Shape;812;p41"/>
            <p:cNvSpPr/>
            <p:nvPr/>
          </p:nvSpPr>
          <p:spPr>
            <a:xfrm>
              <a:off x="3619500" y="142875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3" name="Google Shape;813;p41"/>
            <p:cNvSpPr/>
            <p:nvPr/>
          </p:nvSpPr>
          <p:spPr>
            <a:xfrm>
              <a:off x="36195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4" name="Google Shape;814;p41"/>
            <p:cNvSpPr txBox="1"/>
            <p:nvPr/>
          </p:nvSpPr>
          <p:spPr>
            <a:xfrm>
              <a:off x="3762375" y="157162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2: </a:t>
              </a:r>
              <a:r>
                <a:rPr b="1" i="0" lang="vi" sz="1400" u="none" cap="none" strike="noStrike">
                  <a:solidFill>
                    <a:srgbClr val="1E293B"/>
                  </a:solidFill>
                  <a:latin typeface="Inter"/>
                  <a:ea typeface="Inter"/>
                  <a:cs typeface="Inter"/>
                  <a:sym typeface="Inter"/>
                </a:rPr>
                <a:t>Chuẩn bị hàng hóa</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Xác nhận tồn kho thực tế, lịch giao hàng với bộ phận Kho và Sản xuất. Thông báo Kinh doanh nếu có bất thường.</a:t>
              </a:r>
              <a:endParaRPr b="0" i="0" sz="1200" u="none" cap="none" strike="noStrike">
                <a:solidFill>
                  <a:srgbClr val="475569"/>
                </a:solidFill>
                <a:latin typeface="Inter"/>
                <a:ea typeface="Inter"/>
                <a:cs typeface="Inter"/>
                <a:sym typeface="Inter"/>
              </a:endParaRPr>
            </a:p>
          </p:txBody>
        </p:sp>
      </p:grpSp>
      <p:grpSp>
        <p:nvGrpSpPr>
          <p:cNvPr id="815" name="Google Shape;815;p41"/>
          <p:cNvGrpSpPr/>
          <p:nvPr/>
        </p:nvGrpSpPr>
        <p:grpSpPr>
          <a:xfrm>
            <a:off x="4857750" y="1071624"/>
            <a:ext cx="1786050" cy="1765592"/>
            <a:chOff x="6477000" y="1428750"/>
            <a:chExt cx="2381400" cy="1714500"/>
          </a:xfrm>
        </p:grpSpPr>
        <p:sp>
          <p:nvSpPr>
            <p:cNvPr id="816" name="Google Shape;816;p41"/>
            <p:cNvSpPr/>
            <p:nvPr/>
          </p:nvSpPr>
          <p:spPr>
            <a:xfrm>
              <a:off x="6477000" y="142875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7" name="Google Shape;817;p41"/>
            <p:cNvSpPr/>
            <p:nvPr/>
          </p:nvSpPr>
          <p:spPr>
            <a:xfrm>
              <a:off x="64770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8" name="Google Shape;818;p41"/>
            <p:cNvSpPr txBox="1"/>
            <p:nvPr/>
          </p:nvSpPr>
          <p:spPr>
            <a:xfrm>
              <a:off x="6619875" y="157162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3: </a:t>
              </a:r>
              <a:r>
                <a:rPr b="1" i="0" lang="vi" sz="1400" u="none" cap="none" strike="noStrike">
                  <a:solidFill>
                    <a:srgbClr val="1E293B"/>
                  </a:solidFill>
                  <a:latin typeface="Inter"/>
                  <a:ea typeface="Inter"/>
                  <a:cs typeface="Inter"/>
                  <a:sym typeface="Inter"/>
                </a:rPr>
                <a:t>Đặt chỗ</a:t>
              </a:r>
              <a:endParaRPr b="0" i="0" sz="1400" u="none" cap="none" strike="noStrike">
                <a:solidFill>
                  <a:srgbClr val="8BC249"/>
                </a:solidFill>
                <a:latin typeface="Inter ExtraBold"/>
                <a:ea typeface="Inter ExtraBold"/>
                <a:cs typeface="Inter ExtraBold"/>
                <a:sym typeface="Inter ExtraBold"/>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Gửi yêu cầu đặt chỗ đến Forwarder dựa trên lượng hàng. Chọn phương thức FCL, LCL, Air, Express tối ưu chi phí.</a:t>
              </a:r>
              <a:endParaRPr b="0" i="0" sz="1200" u="none" cap="none" strike="noStrike">
                <a:solidFill>
                  <a:srgbClr val="475569"/>
                </a:solidFill>
                <a:latin typeface="Inter"/>
                <a:ea typeface="Inter"/>
                <a:cs typeface="Inter"/>
                <a:sym typeface="Inter"/>
              </a:endParaRPr>
            </a:p>
          </p:txBody>
        </p:sp>
      </p:grpSp>
      <p:grpSp>
        <p:nvGrpSpPr>
          <p:cNvPr id="819" name="Google Shape;819;p41"/>
          <p:cNvGrpSpPr/>
          <p:nvPr/>
        </p:nvGrpSpPr>
        <p:grpSpPr>
          <a:xfrm>
            <a:off x="7000875" y="1071610"/>
            <a:ext cx="1786050" cy="1776736"/>
            <a:chOff x="9334500" y="1428750"/>
            <a:chExt cx="2381400" cy="1714500"/>
          </a:xfrm>
        </p:grpSpPr>
        <p:sp>
          <p:nvSpPr>
            <p:cNvPr id="820" name="Google Shape;820;p41"/>
            <p:cNvSpPr/>
            <p:nvPr/>
          </p:nvSpPr>
          <p:spPr>
            <a:xfrm>
              <a:off x="9334500" y="142875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1" name="Google Shape;821;p41"/>
            <p:cNvSpPr/>
            <p:nvPr/>
          </p:nvSpPr>
          <p:spPr>
            <a:xfrm>
              <a:off x="9334500" y="142875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2" name="Google Shape;822;p41"/>
            <p:cNvSpPr txBox="1"/>
            <p:nvPr/>
          </p:nvSpPr>
          <p:spPr>
            <a:xfrm>
              <a:off x="9477375" y="157162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4:</a:t>
              </a:r>
              <a:r>
                <a:rPr b="1" i="0" lang="vi" sz="1400" u="none" cap="none" strike="noStrike">
                  <a:solidFill>
                    <a:srgbClr val="1E293B"/>
                  </a:solidFill>
                  <a:latin typeface="Inter"/>
                  <a:ea typeface="Inter"/>
                  <a:cs typeface="Inter"/>
                  <a:sym typeface="Inter"/>
                </a:rPr>
                <a:t>Chứng từ xuất khẩu</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Khởi tạo Invoice và Packing List. Kiểm tra đối chiếu số lượng thực tế với kế hoạch xuất hàng.</a:t>
              </a:r>
              <a:endParaRPr b="0" i="0" sz="1200" u="none" cap="none" strike="noStrike">
                <a:solidFill>
                  <a:srgbClr val="475569"/>
                </a:solidFill>
                <a:latin typeface="Inter"/>
                <a:ea typeface="Inter"/>
                <a:cs typeface="Inter"/>
                <a:sym typeface="Inter"/>
              </a:endParaRPr>
            </a:p>
          </p:txBody>
        </p:sp>
      </p:grpSp>
      <p:grpSp>
        <p:nvGrpSpPr>
          <p:cNvPr id="823" name="Google Shape;823;p41"/>
          <p:cNvGrpSpPr/>
          <p:nvPr/>
        </p:nvGrpSpPr>
        <p:grpSpPr>
          <a:xfrm>
            <a:off x="5949506" y="3165731"/>
            <a:ext cx="1786050" cy="1765592"/>
            <a:chOff x="7905750" y="3619500"/>
            <a:chExt cx="2381400" cy="1714500"/>
          </a:xfrm>
        </p:grpSpPr>
        <p:sp>
          <p:nvSpPr>
            <p:cNvPr id="824" name="Google Shape;824;p41"/>
            <p:cNvSpPr/>
            <p:nvPr/>
          </p:nvSpPr>
          <p:spPr>
            <a:xfrm>
              <a:off x="79057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5" name="Google Shape;825;p41"/>
            <p:cNvSpPr/>
            <p:nvPr/>
          </p:nvSpPr>
          <p:spPr>
            <a:xfrm>
              <a:off x="79057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6" name="Google Shape;826;p41"/>
            <p:cNvSpPr txBox="1"/>
            <p:nvPr/>
          </p:nvSpPr>
          <p:spPr>
            <a:xfrm>
              <a:off x="8048625" y="376237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5</a:t>
              </a:r>
              <a:endParaRPr b="0" i="0" sz="1400" u="none" cap="none" strike="noStrike">
                <a:solidFill>
                  <a:srgbClr val="8BC249"/>
                </a:solidFill>
                <a:latin typeface="Inter ExtraBold"/>
                <a:ea typeface="Inter ExtraBold"/>
                <a:cs typeface="Inter ExtraBold"/>
                <a:sym typeface="Inter ExtraBold"/>
              </a:endParaRPr>
            </a:p>
            <a:p>
              <a:pPr indent="0" lvl="0" marL="0" marR="0" rtl="0" algn="l">
                <a:lnSpc>
                  <a:spcPct val="100000"/>
                </a:lnSpc>
                <a:spcBef>
                  <a:spcPts val="300"/>
                </a:spcBef>
                <a:spcAft>
                  <a:spcPts val="0"/>
                </a:spcAft>
                <a:buClr>
                  <a:srgbClr val="000000"/>
                </a:buClr>
                <a:buSzPts val="1400"/>
                <a:buFont typeface="Arial"/>
                <a:buNone/>
              </a:pPr>
              <a:r>
                <a:rPr b="1" i="0" lang="vi" sz="1400" u="none" cap="none" strike="noStrike">
                  <a:solidFill>
                    <a:srgbClr val="1E293B"/>
                  </a:solidFill>
                  <a:latin typeface="Inter"/>
                  <a:ea typeface="Inter"/>
                  <a:cs typeface="Inter"/>
                  <a:sym typeface="Inter"/>
                </a:rPr>
                <a:t>Thủ tục Hải quan</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Forwarder truyền tờ khai. Cung cấp thông tin hàng hóa, người nhận để thông quan hoàn tất tờ khai hải quan.</a:t>
              </a:r>
              <a:endParaRPr b="0" i="0" sz="1200" u="none" cap="none" strike="noStrike">
                <a:solidFill>
                  <a:srgbClr val="475569"/>
                </a:solidFill>
                <a:latin typeface="Inter"/>
                <a:ea typeface="Inter"/>
                <a:cs typeface="Inter"/>
                <a:sym typeface="Inter"/>
              </a:endParaRPr>
            </a:p>
          </p:txBody>
        </p:sp>
      </p:grpSp>
      <p:sp>
        <p:nvSpPr>
          <p:cNvPr id="827" name="Google Shape;827;p41"/>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LOGISTICS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QUY TRÌNH QUẢN LÝ XUẤT KHẨU</a:t>
            </a:r>
            <a:endParaRPr b="0" i="0" sz="1200" u="none" cap="none" strike="noStrike">
              <a:solidFill>
                <a:srgbClr val="000000"/>
              </a:solidFill>
              <a:latin typeface="Arial"/>
              <a:ea typeface="Arial"/>
              <a:cs typeface="Arial"/>
              <a:sym typeface="Arial"/>
            </a:endParaRPr>
          </a:p>
        </p:txBody>
      </p:sp>
      <p:grpSp>
        <p:nvGrpSpPr>
          <p:cNvPr id="828" name="Google Shape;828;p41"/>
          <p:cNvGrpSpPr/>
          <p:nvPr/>
        </p:nvGrpSpPr>
        <p:grpSpPr>
          <a:xfrm>
            <a:off x="3806381" y="3165731"/>
            <a:ext cx="1786050" cy="1765592"/>
            <a:chOff x="5048250" y="3619500"/>
            <a:chExt cx="2381400" cy="1714500"/>
          </a:xfrm>
        </p:grpSpPr>
        <p:sp>
          <p:nvSpPr>
            <p:cNvPr id="829" name="Google Shape;829;p41"/>
            <p:cNvSpPr/>
            <p:nvPr/>
          </p:nvSpPr>
          <p:spPr>
            <a:xfrm>
              <a:off x="50482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0" name="Google Shape;830;p41"/>
            <p:cNvSpPr/>
            <p:nvPr/>
          </p:nvSpPr>
          <p:spPr>
            <a:xfrm>
              <a:off x="50482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1" name="Google Shape;831;p41"/>
            <p:cNvSpPr txBox="1"/>
            <p:nvPr/>
          </p:nvSpPr>
          <p:spPr>
            <a:xfrm>
              <a:off x="5191125" y="376237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vi" sz="1200" u="none" cap="none" strike="noStrike">
                  <a:solidFill>
                    <a:srgbClr val="8BC249"/>
                  </a:solidFill>
                  <a:latin typeface="Inter ExtraBold"/>
                  <a:ea typeface="Inter ExtraBold"/>
                  <a:cs typeface="Inter ExtraBold"/>
                  <a:sym typeface="Inter ExtraBold"/>
                </a:rPr>
                <a:t>Bước 6</a:t>
              </a:r>
              <a:endParaRPr b="0" i="0" sz="1200" u="none" cap="none" strike="noStrike">
                <a:solidFill>
                  <a:srgbClr val="8BC249"/>
                </a:solidFill>
                <a:latin typeface="Inter ExtraBold"/>
                <a:ea typeface="Inter ExtraBold"/>
                <a:cs typeface="Inter ExtraBold"/>
                <a:sym typeface="Inter ExtraBold"/>
              </a:endParaRPr>
            </a:p>
            <a:p>
              <a:pPr indent="0" lvl="0" marL="0" marR="0" rtl="0" algn="l">
                <a:lnSpc>
                  <a:spcPct val="100000"/>
                </a:lnSpc>
                <a:spcBef>
                  <a:spcPts val="300"/>
                </a:spcBef>
                <a:spcAft>
                  <a:spcPts val="0"/>
                </a:spcAft>
                <a:buClr>
                  <a:srgbClr val="000000"/>
                </a:buClr>
                <a:buSzPts val="1200"/>
                <a:buFont typeface="Arial"/>
                <a:buNone/>
              </a:pPr>
              <a:r>
                <a:rPr b="1" i="0" lang="vi" sz="1200" u="none" cap="none" strike="noStrike">
                  <a:solidFill>
                    <a:srgbClr val="1E293B"/>
                  </a:solidFill>
                  <a:latin typeface="Inter"/>
                  <a:ea typeface="Inter"/>
                  <a:cs typeface="Inter"/>
                  <a:sym typeface="Inter"/>
                </a:rPr>
                <a:t>Giao hàng (Delivery)</a:t>
              </a:r>
              <a:endParaRPr b="1" i="0" sz="1200" u="none" cap="none" strike="noStrike">
                <a:solidFill>
                  <a:srgbClr val="1E293B"/>
                </a:solidFill>
                <a:latin typeface="Inter"/>
                <a:ea typeface="Inter"/>
                <a:cs typeface="Inter"/>
                <a:sym typeface="Inter"/>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Xác nhận thông tin lái xe/xe. Kiểm tra tình trạng, kẹp Seal và bàn giao chứng từ ký xác nhận giữa Kho và lái xe.</a:t>
              </a:r>
              <a:endParaRPr b="0" i="0" sz="1200" u="none" cap="none" strike="noStrike">
                <a:solidFill>
                  <a:srgbClr val="475569"/>
                </a:solidFill>
                <a:latin typeface="Inter"/>
                <a:ea typeface="Inter"/>
                <a:cs typeface="Inter"/>
                <a:sym typeface="Inter"/>
              </a:endParaRPr>
            </a:p>
          </p:txBody>
        </p:sp>
      </p:grpSp>
      <p:grpSp>
        <p:nvGrpSpPr>
          <p:cNvPr id="832" name="Google Shape;832;p41"/>
          <p:cNvGrpSpPr/>
          <p:nvPr/>
        </p:nvGrpSpPr>
        <p:grpSpPr>
          <a:xfrm>
            <a:off x="1663256" y="3165690"/>
            <a:ext cx="1786050" cy="1765592"/>
            <a:chOff x="2190750" y="3619500"/>
            <a:chExt cx="2381400" cy="1714500"/>
          </a:xfrm>
        </p:grpSpPr>
        <p:sp>
          <p:nvSpPr>
            <p:cNvPr id="833" name="Google Shape;833;p41"/>
            <p:cNvSpPr/>
            <p:nvPr/>
          </p:nvSpPr>
          <p:spPr>
            <a:xfrm>
              <a:off x="2190750" y="3619500"/>
              <a:ext cx="2381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4" name="Google Shape;834;p41"/>
            <p:cNvSpPr/>
            <p:nvPr/>
          </p:nvSpPr>
          <p:spPr>
            <a:xfrm>
              <a:off x="2190750" y="3619500"/>
              <a:ext cx="2381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5" name="Google Shape;835;p41"/>
            <p:cNvSpPr txBox="1"/>
            <p:nvPr/>
          </p:nvSpPr>
          <p:spPr>
            <a:xfrm>
              <a:off x="2333625" y="3762375"/>
              <a:ext cx="20955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vi" sz="1400" u="none" cap="none" strike="noStrike">
                  <a:solidFill>
                    <a:srgbClr val="8BC249"/>
                  </a:solidFill>
                  <a:latin typeface="Inter ExtraBold"/>
                  <a:ea typeface="Inter ExtraBold"/>
                  <a:cs typeface="Inter ExtraBold"/>
                  <a:sym typeface="Inter ExtraBold"/>
                </a:rPr>
                <a:t>Bước 7</a:t>
              </a:r>
              <a:endParaRPr b="0" i="0" sz="1400" u="none" cap="none" strike="noStrike">
                <a:solidFill>
                  <a:srgbClr val="8BC249"/>
                </a:solidFill>
                <a:latin typeface="Inter ExtraBold"/>
                <a:ea typeface="Inter ExtraBold"/>
                <a:cs typeface="Inter ExtraBold"/>
                <a:sym typeface="Inter ExtraBold"/>
              </a:endParaRPr>
            </a:p>
            <a:p>
              <a:pPr indent="0" lvl="0" marL="0" marR="0" rtl="0" algn="l">
                <a:lnSpc>
                  <a:spcPct val="100000"/>
                </a:lnSpc>
                <a:spcBef>
                  <a:spcPts val="300"/>
                </a:spcBef>
                <a:spcAft>
                  <a:spcPts val="0"/>
                </a:spcAft>
                <a:buClr>
                  <a:srgbClr val="000000"/>
                </a:buClr>
                <a:buSzPts val="1400"/>
                <a:buFont typeface="Arial"/>
                <a:buNone/>
              </a:pPr>
              <a:r>
                <a:rPr b="1" i="0" lang="vi" sz="1400" u="none" cap="none" strike="noStrike">
                  <a:solidFill>
                    <a:srgbClr val="1E293B"/>
                  </a:solidFill>
                  <a:latin typeface="Inter"/>
                  <a:ea typeface="Inter"/>
                  <a:cs typeface="Inter"/>
                  <a:sym typeface="Inter"/>
                </a:rPr>
                <a:t>Xác nhận sau giao</a:t>
              </a:r>
              <a:endParaRPr b="1" i="0" sz="1400" u="none" cap="none" strike="noStrike">
                <a:solidFill>
                  <a:srgbClr val="1E293B"/>
                </a:solidFill>
                <a:latin typeface="Inter"/>
                <a:ea typeface="Inter"/>
                <a:cs typeface="Inter"/>
                <a:sym typeface="Inter"/>
              </a:endParaRPr>
            </a:p>
            <a:p>
              <a:pPr indent="0" lvl="0" marL="0" marR="0" rtl="0" algn="l">
                <a:lnSpc>
                  <a:spcPct val="100000"/>
                </a:lnSpc>
                <a:spcBef>
                  <a:spcPts val="5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Cập nhật trạng thái tàu, báo cáo sự cố. Cung cấp phiếu giao nhận và giải quyết khiếu nại phát sinh.</a:t>
              </a:r>
              <a:endParaRPr b="0" i="0" sz="1200" u="none" cap="none" strike="noStrike">
                <a:solidFill>
                  <a:srgbClr val="475569"/>
                </a:solidFill>
                <a:latin typeface="Inter"/>
                <a:ea typeface="Inter"/>
                <a:cs typeface="Inter"/>
                <a:sym typeface="Inter"/>
              </a:endParaRPr>
            </a:p>
          </p:txBody>
        </p:sp>
      </p:grpSp>
      <p:sp>
        <p:nvSpPr>
          <p:cNvPr id="836" name="Google Shape;836;p41"/>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837" name="Google Shape;837;p41"/>
          <p:cNvPicPr preferRelativeResize="0"/>
          <p:nvPr/>
        </p:nvPicPr>
        <p:blipFill rotWithShape="1">
          <a:blip r:embed="rId4">
            <a:alphaModFix/>
          </a:blip>
          <a:srcRect b="0" l="0" r="0" t="0"/>
          <a:stretch/>
        </p:blipFill>
        <p:spPr>
          <a:xfrm>
            <a:off x="2357438" y="1664494"/>
            <a:ext cx="357300" cy="100125"/>
          </a:xfrm>
          <a:prstGeom prst="rect">
            <a:avLst/>
          </a:prstGeom>
          <a:noFill/>
          <a:ln>
            <a:noFill/>
          </a:ln>
        </p:spPr>
      </p:pic>
      <p:pic>
        <p:nvPicPr>
          <p:cNvPr id="838" name="Google Shape;838;p41"/>
          <p:cNvPicPr preferRelativeResize="0"/>
          <p:nvPr/>
        </p:nvPicPr>
        <p:blipFill rotWithShape="1">
          <a:blip r:embed="rId4">
            <a:alphaModFix/>
          </a:blip>
          <a:srcRect b="0" l="0" r="0" t="0"/>
          <a:stretch/>
        </p:blipFill>
        <p:spPr>
          <a:xfrm>
            <a:off x="4500563" y="1664494"/>
            <a:ext cx="357300" cy="100125"/>
          </a:xfrm>
          <a:prstGeom prst="rect">
            <a:avLst/>
          </a:prstGeom>
          <a:noFill/>
          <a:ln>
            <a:noFill/>
          </a:ln>
        </p:spPr>
      </p:pic>
      <p:pic>
        <p:nvPicPr>
          <p:cNvPr id="839" name="Google Shape;839;p41"/>
          <p:cNvPicPr preferRelativeResize="0"/>
          <p:nvPr/>
        </p:nvPicPr>
        <p:blipFill rotWithShape="1">
          <a:blip r:embed="rId4">
            <a:alphaModFix/>
          </a:blip>
          <a:srcRect b="0" l="0" r="0" t="0"/>
          <a:stretch/>
        </p:blipFill>
        <p:spPr>
          <a:xfrm>
            <a:off x="6643688" y="1664494"/>
            <a:ext cx="357300" cy="100125"/>
          </a:xfrm>
          <a:prstGeom prst="rect">
            <a:avLst/>
          </a:prstGeom>
          <a:noFill/>
          <a:ln>
            <a:noFill/>
          </a:ln>
        </p:spPr>
      </p:pic>
      <p:pic>
        <p:nvPicPr>
          <p:cNvPr id="840" name="Google Shape;840;p41"/>
          <p:cNvPicPr preferRelativeResize="0"/>
          <p:nvPr/>
        </p:nvPicPr>
        <p:blipFill rotWithShape="1">
          <a:blip r:embed="rId4">
            <a:alphaModFix/>
          </a:blip>
          <a:srcRect b="0" l="0" r="0" t="0"/>
          <a:stretch/>
        </p:blipFill>
        <p:spPr>
          <a:xfrm>
            <a:off x="3449194" y="3923869"/>
            <a:ext cx="357300" cy="100125"/>
          </a:xfrm>
          <a:prstGeom prst="rect">
            <a:avLst/>
          </a:prstGeom>
          <a:noFill/>
          <a:ln>
            <a:noFill/>
          </a:ln>
        </p:spPr>
      </p:pic>
      <p:pic>
        <p:nvPicPr>
          <p:cNvPr id="841" name="Google Shape;841;p41"/>
          <p:cNvPicPr preferRelativeResize="0"/>
          <p:nvPr/>
        </p:nvPicPr>
        <p:blipFill rotWithShape="1">
          <a:blip r:embed="rId4">
            <a:alphaModFix/>
          </a:blip>
          <a:srcRect b="0" l="0" r="0" t="0"/>
          <a:stretch/>
        </p:blipFill>
        <p:spPr>
          <a:xfrm>
            <a:off x="5592319" y="3923869"/>
            <a:ext cx="357300" cy="100125"/>
          </a:xfrm>
          <a:prstGeom prst="rect">
            <a:avLst/>
          </a:prstGeom>
          <a:noFill/>
          <a:ln>
            <a:noFill/>
          </a:ln>
        </p:spPr>
      </p:pic>
      <p:cxnSp>
        <p:nvCxnSpPr>
          <p:cNvPr id="842" name="Google Shape;842;p41"/>
          <p:cNvCxnSpPr>
            <a:stCxn id="820" idx="2"/>
          </p:cNvCxnSpPr>
          <p:nvPr/>
        </p:nvCxnSpPr>
        <p:spPr>
          <a:xfrm>
            <a:off x="7893900" y="2848346"/>
            <a:ext cx="1500" cy="169800"/>
          </a:xfrm>
          <a:prstGeom prst="straightConnector1">
            <a:avLst/>
          </a:prstGeom>
          <a:noFill/>
          <a:ln cap="flat" cmpd="sng" w="19050">
            <a:solidFill>
              <a:srgbClr val="8BC249"/>
            </a:solidFill>
            <a:prstDash val="solid"/>
            <a:round/>
            <a:headEnd len="sm" w="sm" type="none"/>
            <a:tailEnd len="sm" w="sm" type="none"/>
          </a:ln>
        </p:spPr>
      </p:cxnSp>
      <p:pic>
        <p:nvPicPr>
          <p:cNvPr id="843" name="Google Shape;843;p41"/>
          <p:cNvPicPr preferRelativeResize="0"/>
          <p:nvPr/>
        </p:nvPicPr>
        <p:blipFill rotWithShape="1">
          <a:blip r:embed="rId5">
            <a:alphaModFix/>
          </a:blip>
          <a:srcRect b="0" l="0" r="0" t="0"/>
          <a:stretch/>
        </p:blipFill>
        <p:spPr>
          <a:xfrm>
            <a:off x="1404656" y="3009469"/>
            <a:ext cx="6498000" cy="960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pic>
        <p:nvPicPr>
          <p:cNvPr id="848" name="Google Shape;848;p42"/>
          <p:cNvPicPr preferRelativeResize="0"/>
          <p:nvPr/>
        </p:nvPicPr>
        <p:blipFill rotWithShape="1">
          <a:blip r:embed="rId3">
            <a:alphaModFix/>
          </a:blip>
          <a:srcRect b="0" l="0" r="0" t="0"/>
          <a:stretch/>
        </p:blipFill>
        <p:spPr>
          <a:xfrm>
            <a:off x="0" y="71438"/>
            <a:ext cx="9144000" cy="5143500"/>
          </a:xfrm>
          <a:prstGeom prst="rect">
            <a:avLst/>
          </a:prstGeom>
          <a:noFill/>
          <a:ln>
            <a:noFill/>
          </a:ln>
        </p:spPr>
      </p:pic>
      <p:sp>
        <p:nvSpPr>
          <p:cNvPr id="849" name="Google Shape;849;p42"/>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LOGISTICS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KHÓ KHĂN &amp; HẠN CHẾ VẬN HÀNH HIỆN TẠI</a:t>
            </a:r>
            <a:endParaRPr b="0" i="0" sz="1200" u="none" cap="none" strike="noStrike">
              <a:solidFill>
                <a:srgbClr val="000000"/>
              </a:solidFill>
              <a:latin typeface="Arial"/>
              <a:ea typeface="Arial"/>
              <a:cs typeface="Arial"/>
              <a:sym typeface="Arial"/>
            </a:endParaRPr>
          </a:p>
        </p:txBody>
      </p:sp>
      <p:sp>
        <p:nvSpPr>
          <p:cNvPr id="850" name="Google Shape;850;p42"/>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851" name="Google Shape;851;p42"/>
          <p:cNvGrpSpPr/>
          <p:nvPr/>
        </p:nvGrpSpPr>
        <p:grpSpPr>
          <a:xfrm>
            <a:off x="428625" y="1143000"/>
            <a:ext cx="2000250" cy="3000375"/>
            <a:chOff x="571500" y="1524000"/>
            <a:chExt cx="2667000" cy="4000500"/>
          </a:xfrm>
        </p:grpSpPr>
        <p:sp>
          <p:nvSpPr>
            <p:cNvPr id="852" name="Google Shape;852;p42"/>
            <p:cNvSpPr/>
            <p:nvPr/>
          </p:nvSpPr>
          <p:spPr>
            <a:xfrm>
              <a:off x="571500" y="1524000"/>
              <a:ext cx="2667000" cy="4000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3" name="Google Shape;853;p42"/>
            <p:cNvSpPr/>
            <p:nvPr/>
          </p:nvSpPr>
          <p:spPr>
            <a:xfrm>
              <a:off x="571500" y="1524000"/>
              <a:ext cx="2667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4" name="Google Shape;854;p42"/>
            <p:cNvSpPr txBox="1"/>
            <p:nvPr/>
          </p:nvSpPr>
          <p:spPr>
            <a:xfrm>
              <a:off x="809625" y="1809750"/>
              <a:ext cx="21909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1. PHÂN MẢNH DỮ LIỆU ECUS</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Dữ liệu thông quan nhập khẩu và xuất khẩu chưa thể liên thông trực tiếp với hệ thống nội bộ, phải nhập và kiểm tra chéo thủ công giữa Ecus và Groupware.</a:t>
              </a:r>
              <a:endParaRPr b="0" i="0" sz="1200" u="none" cap="none" strike="noStrike">
                <a:solidFill>
                  <a:srgbClr val="475569"/>
                </a:solidFill>
                <a:latin typeface="Inter"/>
                <a:ea typeface="Inter"/>
                <a:cs typeface="Inter"/>
                <a:sym typeface="Inter"/>
              </a:endParaRPr>
            </a:p>
          </p:txBody>
        </p:sp>
      </p:grpSp>
      <p:grpSp>
        <p:nvGrpSpPr>
          <p:cNvPr id="855" name="Google Shape;855;p42"/>
          <p:cNvGrpSpPr/>
          <p:nvPr/>
        </p:nvGrpSpPr>
        <p:grpSpPr>
          <a:xfrm>
            <a:off x="2536031" y="1143000"/>
            <a:ext cx="2000250" cy="3000375"/>
            <a:chOff x="3381375" y="1524000"/>
            <a:chExt cx="2667000" cy="4000500"/>
          </a:xfrm>
        </p:grpSpPr>
        <p:sp>
          <p:nvSpPr>
            <p:cNvPr id="856" name="Google Shape;856;p42"/>
            <p:cNvSpPr/>
            <p:nvPr/>
          </p:nvSpPr>
          <p:spPr>
            <a:xfrm>
              <a:off x="3381375" y="1524000"/>
              <a:ext cx="2667000" cy="4000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7" name="Google Shape;857;p42"/>
            <p:cNvSpPr/>
            <p:nvPr/>
          </p:nvSpPr>
          <p:spPr>
            <a:xfrm>
              <a:off x="3381375" y="1524000"/>
              <a:ext cx="2667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8" name="Google Shape;858;p42"/>
            <p:cNvSpPr txBox="1"/>
            <p:nvPr/>
          </p:nvSpPr>
          <p:spPr>
            <a:xfrm>
              <a:off x="3619500" y="1809750"/>
              <a:ext cx="21909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2. THIẾU DỮ LIỆU THỜI GIAN THỰC</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Báo cáo xuất nhập tồn của nguyên phụ liệu (NPL) và thành phẩm (TP) chưa được tự động hóa theo thời gian thực, gây chậm trễ cho khâu lập kế hoạch đóng gói (Packing).</a:t>
              </a:r>
              <a:endParaRPr b="0" i="0" sz="1200" u="none" cap="none" strike="noStrike">
                <a:solidFill>
                  <a:srgbClr val="475569"/>
                </a:solidFill>
                <a:latin typeface="Inter"/>
                <a:ea typeface="Inter"/>
                <a:cs typeface="Inter"/>
                <a:sym typeface="Inter"/>
              </a:endParaRPr>
            </a:p>
          </p:txBody>
        </p:sp>
      </p:grpSp>
      <p:grpSp>
        <p:nvGrpSpPr>
          <p:cNvPr id="859" name="Google Shape;859;p42"/>
          <p:cNvGrpSpPr/>
          <p:nvPr/>
        </p:nvGrpSpPr>
        <p:grpSpPr>
          <a:xfrm>
            <a:off x="4643438" y="1143000"/>
            <a:ext cx="2000250" cy="3000375"/>
            <a:chOff x="6191250" y="1524000"/>
            <a:chExt cx="2667000" cy="4000500"/>
          </a:xfrm>
        </p:grpSpPr>
        <p:sp>
          <p:nvSpPr>
            <p:cNvPr id="860" name="Google Shape;860;p42"/>
            <p:cNvSpPr/>
            <p:nvPr/>
          </p:nvSpPr>
          <p:spPr>
            <a:xfrm>
              <a:off x="6191250" y="1524000"/>
              <a:ext cx="2667000" cy="4000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1" name="Google Shape;861;p42"/>
            <p:cNvSpPr/>
            <p:nvPr/>
          </p:nvSpPr>
          <p:spPr>
            <a:xfrm>
              <a:off x="6191250" y="1524000"/>
              <a:ext cx="2667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2" name="Google Shape;862;p42"/>
            <p:cNvSpPr txBox="1"/>
            <p:nvPr/>
          </p:nvSpPr>
          <p:spPr>
            <a:xfrm>
              <a:off x="6429375" y="1809750"/>
              <a:ext cx="21909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0" i="0" lang="vi" sz="2700" u="none" cap="none" strike="noStrike">
                  <a:solidFill>
                    <a:srgbClr val="8BC249"/>
                  </a:solidFill>
                  <a:latin typeface="Mate"/>
                  <a:ea typeface="Mate"/>
                  <a:cs typeface="Mate"/>
                  <a:sym typeface="Mate"/>
                </a:rPr>
                <a:t> </a:t>
              </a:r>
              <a:endParaRPr b="0" i="0" sz="27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3. ĐỒNG BỘ HÓA MÃ KHO &amp; HẢI QUAN</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Chưa có cơ chế chạy song song (song song code) giữa mã quản lý kho nội bộ và mã khai báo của cơ quan Hải quan, dễ dẫn đến nhầm lẫn loại hàng hóa.</a:t>
              </a:r>
              <a:endParaRPr b="0" i="0" sz="1200" u="none" cap="none" strike="noStrike">
                <a:solidFill>
                  <a:srgbClr val="475569"/>
                </a:solidFill>
                <a:latin typeface="Inter"/>
                <a:ea typeface="Inter"/>
                <a:cs typeface="Inter"/>
                <a:sym typeface="Inter"/>
              </a:endParaRPr>
            </a:p>
          </p:txBody>
        </p:sp>
      </p:grpSp>
      <p:grpSp>
        <p:nvGrpSpPr>
          <p:cNvPr id="863" name="Google Shape;863;p42"/>
          <p:cNvGrpSpPr/>
          <p:nvPr/>
        </p:nvGrpSpPr>
        <p:grpSpPr>
          <a:xfrm>
            <a:off x="6750844" y="1143000"/>
            <a:ext cx="2000250" cy="3000375"/>
            <a:chOff x="9001125" y="1524000"/>
            <a:chExt cx="2667000" cy="4000500"/>
          </a:xfrm>
        </p:grpSpPr>
        <p:sp>
          <p:nvSpPr>
            <p:cNvPr id="864" name="Google Shape;864;p42"/>
            <p:cNvSpPr/>
            <p:nvPr/>
          </p:nvSpPr>
          <p:spPr>
            <a:xfrm>
              <a:off x="9001125" y="1524000"/>
              <a:ext cx="2667000" cy="4000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5" name="Google Shape;865;p42"/>
            <p:cNvSpPr/>
            <p:nvPr/>
          </p:nvSpPr>
          <p:spPr>
            <a:xfrm>
              <a:off x="9001125" y="1524000"/>
              <a:ext cx="26670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6" name="Google Shape;866;p42"/>
            <p:cNvSpPr txBox="1"/>
            <p:nvPr/>
          </p:nvSpPr>
          <p:spPr>
            <a:xfrm>
              <a:off x="9239250" y="1809750"/>
              <a:ext cx="2190900" cy="342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8BC249"/>
                </a:solidFill>
                <a:latin typeface="Mate"/>
                <a:ea typeface="Mate"/>
                <a:cs typeface="Mate"/>
                <a:sym typeface="Mate"/>
              </a:endParaRPr>
            </a:p>
            <a:p>
              <a:pPr indent="0" lvl="0" marL="0" marR="0" rtl="0" algn="l">
                <a:lnSpc>
                  <a:spcPct val="100000"/>
                </a:lnSpc>
                <a:spcBef>
                  <a:spcPts val="11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4. QUẢN LÝ CHI PHÍ THỦ CÔNG</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Các hạng mục định mức chi phí phải nhập và xuất báo cáo thông qua file Excel riêng lẻ, chưa thể quản trị tập trung hoặc liên thông trực tiếp với B.O.M.</a:t>
              </a:r>
              <a:endParaRPr b="0" i="0" sz="1200" u="none" cap="none" strike="noStrike">
                <a:solidFill>
                  <a:srgbClr val="475569"/>
                </a:solidFill>
                <a:latin typeface="Inter"/>
                <a:ea typeface="Inter"/>
                <a:cs typeface="Inter"/>
                <a:sym typeface="Inter"/>
              </a:endParaRPr>
            </a:p>
          </p:txBody>
        </p:sp>
      </p:grpSp>
      <p:pic>
        <p:nvPicPr>
          <p:cNvPr id="867" name="Google Shape;867;p42"/>
          <p:cNvPicPr preferRelativeResize="0"/>
          <p:nvPr/>
        </p:nvPicPr>
        <p:blipFill rotWithShape="1">
          <a:blip r:embed="rId4">
            <a:alphaModFix/>
          </a:blip>
          <a:srcRect b="0" l="0" r="0" t="0"/>
          <a:stretch/>
        </p:blipFill>
        <p:spPr>
          <a:xfrm>
            <a:off x="607219" y="1366536"/>
            <a:ext cx="424353" cy="424353"/>
          </a:xfrm>
          <a:prstGeom prst="rect">
            <a:avLst/>
          </a:prstGeom>
          <a:noFill/>
          <a:ln>
            <a:noFill/>
          </a:ln>
        </p:spPr>
      </p:pic>
      <p:pic>
        <p:nvPicPr>
          <p:cNvPr id="868" name="Google Shape;868;p42"/>
          <p:cNvPicPr preferRelativeResize="0"/>
          <p:nvPr/>
        </p:nvPicPr>
        <p:blipFill rotWithShape="1">
          <a:blip r:embed="rId5">
            <a:alphaModFix/>
          </a:blip>
          <a:srcRect b="0" l="0" r="0" t="0"/>
          <a:stretch/>
        </p:blipFill>
        <p:spPr>
          <a:xfrm>
            <a:off x="2714625" y="1357313"/>
            <a:ext cx="446913" cy="446913"/>
          </a:xfrm>
          <a:prstGeom prst="rect">
            <a:avLst/>
          </a:prstGeom>
          <a:noFill/>
          <a:ln>
            <a:noFill/>
          </a:ln>
        </p:spPr>
      </p:pic>
      <p:pic>
        <p:nvPicPr>
          <p:cNvPr id="869" name="Google Shape;869;p42"/>
          <p:cNvPicPr preferRelativeResize="0"/>
          <p:nvPr/>
        </p:nvPicPr>
        <p:blipFill rotWithShape="1">
          <a:blip r:embed="rId6">
            <a:alphaModFix/>
          </a:blip>
          <a:srcRect b="0" l="0" r="0" t="0"/>
          <a:stretch/>
        </p:blipFill>
        <p:spPr>
          <a:xfrm>
            <a:off x="4822031" y="1343975"/>
            <a:ext cx="446913" cy="446913"/>
          </a:xfrm>
          <a:prstGeom prst="rect">
            <a:avLst/>
          </a:prstGeom>
          <a:noFill/>
          <a:ln>
            <a:noFill/>
          </a:ln>
        </p:spPr>
      </p:pic>
      <p:pic>
        <p:nvPicPr>
          <p:cNvPr id="870" name="Google Shape;870;p42"/>
          <p:cNvPicPr preferRelativeResize="0"/>
          <p:nvPr/>
        </p:nvPicPr>
        <p:blipFill rotWithShape="1">
          <a:blip r:embed="rId7">
            <a:alphaModFix/>
          </a:blip>
          <a:srcRect b="0" l="0" r="0" t="0"/>
          <a:stretch/>
        </p:blipFill>
        <p:spPr>
          <a:xfrm>
            <a:off x="6929438" y="1366536"/>
            <a:ext cx="449770" cy="44977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pic>
        <p:nvPicPr>
          <p:cNvPr descr="image.png" id="875" name="Google Shape;875;p4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76" name="Google Shape;876;p43"/>
          <p:cNvSpPr txBox="1"/>
          <p:nvPr/>
        </p:nvSpPr>
        <p:spPr>
          <a:xfrm>
            <a:off x="571500" y="357188"/>
            <a:ext cx="8001000" cy="498000"/>
          </a:xfrm>
          <a:prstGeom prst="rect">
            <a:avLst/>
          </a:prstGeom>
          <a:solidFill>
            <a:srgbClr val="000000">
              <a:alpha val="0"/>
            </a:srgbClr>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vi" sz="1100" u="none" cap="none" strike="noStrike">
                <a:solidFill>
                  <a:srgbClr val="8BC249"/>
                </a:solidFill>
                <a:latin typeface="Montserrat SemiBold"/>
                <a:ea typeface="Montserrat SemiBold"/>
                <a:cs typeface="Montserrat SemiBold"/>
                <a:sym typeface="Montserrat SemiBold"/>
              </a:rPr>
              <a:t>VIETNAM LOGISTICS TEAM</a:t>
            </a:r>
            <a:endParaRPr b="0" i="0" sz="11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300"/>
              </a:spcBef>
              <a:spcAft>
                <a:spcPts val="0"/>
              </a:spcAft>
              <a:buClr>
                <a:srgbClr val="000000"/>
              </a:buClr>
              <a:buSzPts val="2000"/>
              <a:buFont typeface="Arial"/>
              <a:buNone/>
            </a:pPr>
            <a:r>
              <a:rPr b="1" i="0" lang="vi" sz="2000" u="none" cap="none" strike="noStrike">
                <a:solidFill>
                  <a:srgbClr val="1E293B"/>
                </a:solidFill>
                <a:latin typeface="Montserrat"/>
                <a:ea typeface="Montserrat"/>
                <a:cs typeface="Montserrat"/>
                <a:sym typeface="Montserrat"/>
              </a:rPr>
              <a:t>ĐỀ XUẤT YÊU CẦU ĐỐI VỚI HỆ THỐNG MỚI</a:t>
            </a:r>
            <a:endParaRPr b="1" i="0" sz="2000" u="none" cap="none" strike="noStrike">
              <a:solidFill>
                <a:srgbClr val="1E293B"/>
              </a:solidFill>
              <a:latin typeface="Montserrat"/>
              <a:ea typeface="Montserrat"/>
              <a:cs typeface="Montserrat"/>
              <a:sym typeface="Montserrat"/>
            </a:endParaRPr>
          </a:p>
        </p:txBody>
      </p:sp>
      <p:grpSp>
        <p:nvGrpSpPr>
          <p:cNvPr id="877" name="Google Shape;877;p43"/>
          <p:cNvGrpSpPr/>
          <p:nvPr/>
        </p:nvGrpSpPr>
        <p:grpSpPr>
          <a:xfrm>
            <a:off x="428625" y="1143000"/>
            <a:ext cx="2664675" cy="3429000"/>
            <a:chOff x="571500" y="1524000"/>
            <a:chExt cx="3552900" cy="4572000"/>
          </a:xfrm>
        </p:grpSpPr>
        <p:sp>
          <p:nvSpPr>
            <p:cNvPr id="878" name="Google Shape;878;p43"/>
            <p:cNvSpPr/>
            <p:nvPr/>
          </p:nvSpPr>
          <p:spPr>
            <a:xfrm>
              <a:off x="571500" y="1524000"/>
              <a:ext cx="3552900" cy="4572000"/>
            </a:xfrm>
            <a:prstGeom prst="roundRect">
              <a:avLst>
                <a:gd fmla="val 40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9" name="Google Shape;879;p43"/>
            <p:cNvSpPr/>
            <p:nvPr/>
          </p:nvSpPr>
          <p:spPr>
            <a:xfrm>
              <a:off x="571500" y="1524000"/>
              <a:ext cx="35529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0" name="Google Shape;880;p43"/>
            <p:cNvSpPr txBox="1"/>
            <p:nvPr/>
          </p:nvSpPr>
          <p:spPr>
            <a:xfrm>
              <a:off x="857250" y="1809750"/>
              <a:ext cx="2981400" cy="40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4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Tích hợp trực tiếp phần mềm Ecus</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11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Thiết lập kết nối hai chiều (2-way link) tự động đẩy dữ liệu tờ khai hải quan từ Ecus sang hệ thống mới và ngược lại khi làm chứng từ xuất nhập khẩu.</a:t>
              </a:r>
              <a:endParaRPr b="0" i="0" sz="1200" u="none" cap="none" strike="noStrike">
                <a:solidFill>
                  <a:srgbClr val="475569"/>
                </a:solidFill>
                <a:latin typeface="Inter"/>
                <a:ea typeface="Inter"/>
                <a:cs typeface="Inter"/>
                <a:sym typeface="Inter"/>
              </a:endParaRPr>
            </a:p>
          </p:txBody>
        </p:sp>
      </p:grpSp>
      <p:grpSp>
        <p:nvGrpSpPr>
          <p:cNvPr id="881" name="Google Shape;881;p43"/>
          <p:cNvGrpSpPr/>
          <p:nvPr/>
        </p:nvGrpSpPr>
        <p:grpSpPr>
          <a:xfrm>
            <a:off x="3236119" y="1143000"/>
            <a:ext cx="2671650" cy="3429000"/>
            <a:chOff x="4314825" y="1524000"/>
            <a:chExt cx="3562200" cy="4572000"/>
          </a:xfrm>
        </p:grpSpPr>
        <p:sp>
          <p:nvSpPr>
            <p:cNvPr id="882" name="Google Shape;882;p43"/>
            <p:cNvSpPr/>
            <p:nvPr/>
          </p:nvSpPr>
          <p:spPr>
            <a:xfrm>
              <a:off x="4314825" y="1524000"/>
              <a:ext cx="3562200" cy="4572000"/>
            </a:xfrm>
            <a:prstGeom prst="roundRect">
              <a:avLst>
                <a:gd fmla="val 40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3" name="Google Shape;883;p43"/>
            <p:cNvSpPr/>
            <p:nvPr/>
          </p:nvSpPr>
          <p:spPr>
            <a:xfrm>
              <a:off x="4314825" y="1524000"/>
              <a:ext cx="35622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4" name="Google Shape;884;p43"/>
            <p:cNvSpPr txBox="1"/>
            <p:nvPr/>
          </p:nvSpPr>
          <p:spPr>
            <a:xfrm>
              <a:off x="4600575" y="1809750"/>
              <a:ext cx="2991000" cy="40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4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Quản lý song song Code &amp; Real-time Stock</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11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Đồng bộ song song mã kho nội bộ và mã Hải quan đối với cả NVL và Thành phẩm. Tự động xuất báo cáo Xuất-Nhập-Tồn và Invoice, Packing ngay trên hệ thống.</a:t>
              </a:r>
              <a:endParaRPr b="0" i="0" sz="1200" u="none" cap="none" strike="noStrike">
                <a:solidFill>
                  <a:srgbClr val="475569"/>
                </a:solidFill>
                <a:latin typeface="Inter"/>
                <a:ea typeface="Inter"/>
                <a:cs typeface="Inter"/>
                <a:sym typeface="Inter"/>
              </a:endParaRPr>
            </a:p>
          </p:txBody>
        </p:sp>
      </p:grpSp>
      <p:grpSp>
        <p:nvGrpSpPr>
          <p:cNvPr id="885" name="Google Shape;885;p43"/>
          <p:cNvGrpSpPr/>
          <p:nvPr/>
        </p:nvGrpSpPr>
        <p:grpSpPr>
          <a:xfrm>
            <a:off x="6050756" y="1143000"/>
            <a:ext cx="2664675" cy="3429000"/>
            <a:chOff x="8067675" y="1524000"/>
            <a:chExt cx="3552900" cy="4572000"/>
          </a:xfrm>
        </p:grpSpPr>
        <p:sp>
          <p:nvSpPr>
            <p:cNvPr id="886" name="Google Shape;886;p43"/>
            <p:cNvSpPr/>
            <p:nvPr/>
          </p:nvSpPr>
          <p:spPr>
            <a:xfrm>
              <a:off x="8067675" y="1524000"/>
              <a:ext cx="3552900" cy="4572000"/>
            </a:xfrm>
            <a:prstGeom prst="roundRect">
              <a:avLst>
                <a:gd fmla="val 40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7" name="Google Shape;887;p43"/>
            <p:cNvSpPr/>
            <p:nvPr/>
          </p:nvSpPr>
          <p:spPr>
            <a:xfrm>
              <a:off x="8067675" y="1524000"/>
              <a:ext cx="3552900" cy="762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8" name="Google Shape;888;p43"/>
            <p:cNvSpPr txBox="1"/>
            <p:nvPr/>
          </p:nvSpPr>
          <p:spPr>
            <a:xfrm>
              <a:off x="8353425" y="1809750"/>
              <a:ext cx="2981400" cy="400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8BC249"/>
                </a:solidFill>
                <a:latin typeface="Mate"/>
                <a:ea typeface="Mate"/>
                <a:cs typeface="Mate"/>
                <a:sym typeface="Mate"/>
              </a:endParaRPr>
            </a:p>
            <a:p>
              <a:pPr indent="0" lvl="0" marL="0" marR="0" rtl="0" algn="l">
                <a:lnSpc>
                  <a:spcPct val="100000"/>
                </a:lnSpc>
                <a:spcBef>
                  <a:spcPts val="1400"/>
                </a:spcBef>
                <a:spcAft>
                  <a:spcPts val="0"/>
                </a:spcAft>
                <a:buClr>
                  <a:srgbClr val="000000"/>
                </a:buClr>
                <a:buSzPts val="1400"/>
                <a:buFont typeface="Arial"/>
                <a:buNone/>
              </a:pPr>
              <a:r>
                <a:rPr b="1" i="0" lang="vi" sz="1400" u="none" cap="none" strike="noStrike">
                  <a:solidFill>
                    <a:srgbClr val="1E293B"/>
                  </a:solidFill>
                  <a:latin typeface="Montserrat"/>
                  <a:ea typeface="Montserrat"/>
                  <a:cs typeface="Montserrat"/>
                  <a:sym typeface="Montserrat"/>
                </a:rPr>
                <a:t>Quản trị B.O.M &amp; Quản lý Chi phí số</a:t>
              </a:r>
              <a:endParaRPr b="1" i="0" sz="1400" u="none" cap="none" strike="noStrike">
                <a:solidFill>
                  <a:srgbClr val="1E293B"/>
                </a:solidFill>
                <a:latin typeface="Montserrat"/>
                <a:ea typeface="Montserrat"/>
                <a:cs typeface="Montserrat"/>
                <a:sym typeface="Montserrat"/>
              </a:endParaRPr>
            </a:p>
            <a:p>
              <a:pPr indent="0" lvl="0" marL="0" marR="0" rtl="0" algn="l">
                <a:lnSpc>
                  <a:spcPct val="100000"/>
                </a:lnSpc>
                <a:spcBef>
                  <a:spcPts val="1100"/>
                </a:spcBef>
                <a:spcAft>
                  <a:spcPts val="0"/>
                </a:spcAft>
                <a:buClr>
                  <a:srgbClr val="000000"/>
                </a:buClr>
                <a:buSzPts val="1200"/>
                <a:buFont typeface="Arial"/>
                <a:buNone/>
              </a:pPr>
              <a:r>
                <a:rPr b="0" i="0" lang="vi" sz="1200" u="none" cap="none" strike="noStrike">
                  <a:solidFill>
                    <a:srgbClr val="475569"/>
                  </a:solidFill>
                  <a:latin typeface="Inter"/>
                  <a:ea typeface="Inter"/>
                  <a:cs typeface="Inter"/>
                  <a:sym typeface="Inter"/>
                </a:rPr>
                <a:t>Kiểm soát xuất nguyên liệu dựa trên định mức B.O.M và đồng nhất dữ liệu lỗi (NG) trong cùng 1 file quản lý. Hỗ trợ import/export chi phí bằng file Excel linh hoạt.</a:t>
              </a:r>
              <a:endParaRPr b="0" i="0" sz="1200" u="none" cap="none" strike="noStrike">
                <a:solidFill>
                  <a:srgbClr val="475569"/>
                </a:solidFill>
                <a:latin typeface="Inter"/>
                <a:ea typeface="Inter"/>
                <a:cs typeface="Inter"/>
                <a:sym typeface="Inter"/>
              </a:endParaRPr>
            </a:p>
          </p:txBody>
        </p:sp>
      </p:grpSp>
      <p:pic>
        <p:nvPicPr>
          <p:cNvPr id="889" name="Google Shape;889;p43"/>
          <p:cNvPicPr preferRelativeResize="0"/>
          <p:nvPr/>
        </p:nvPicPr>
        <p:blipFill rotWithShape="1">
          <a:blip r:embed="rId4">
            <a:alphaModFix/>
          </a:blip>
          <a:srcRect b="0" l="0" r="0" t="0"/>
          <a:stretch/>
        </p:blipFill>
        <p:spPr>
          <a:xfrm>
            <a:off x="642882" y="1446728"/>
            <a:ext cx="441999" cy="441999"/>
          </a:xfrm>
          <a:prstGeom prst="rect">
            <a:avLst/>
          </a:prstGeom>
          <a:noFill/>
          <a:ln>
            <a:noFill/>
          </a:ln>
        </p:spPr>
      </p:pic>
      <p:pic>
        <p:nvPicPr>
          <p:cNvPr id="890" name="Google Shape;890;p43"/>
          <p:cNvPicPr preferRelativeResize="0"/>
          <p:nvPr/>
        </p:nvPicPr>
        <p:blipFill rotWithShape="1">
          <a:blip r:embed="rId5">
            <a:alphaModFix/>
          </a:blip>
          <a:srcRect b="0" l="0" r="0" t="0"/>
          <a:stretch/>
        </p:blipFill>
        <p:spPr>
          <a:xfrm>
            <a:off x="3450431" y="1446728"/>
            <a:ext cx="441999" cy="441999"/>
          </a:xfrm>
          <a:prstGeom prst="rect">
            <a:avLst/>
          </a:prstGeom>
          <a:noFill/>
          <a:ln>
            <a:noFill/>
          </a:ln>
        </p:spPr>
      </p:pic>
      <p:pic>
        <p:nvPicPr>
          <p:cNvPr id="891" name="Google Shape;891;p43"/>
          <p:cNvPicPr preferRelativeResize="0"/>
          <p:nvPr/>
        </p:nvPicPr>
        <p:blipFill rotWithShape="1">
          <a:blip r:embed="rId6">
            <a:alphaModFix/>
          </a:blip>
          <a:srcRect b="0" l="0" r="0" t="0"/>
          <a:stretch/>
        </p:blipFill>
        <p:spPr>
          <a:xfrm>
            <a:off x="6265069" y="1446728"/>
            <a:ext cx="421481" cy="421481"/>
          </a:xfrm>
          <a:prstGeom prst="rect">
            <a:avLst/>
          </a:prstGeom>
          <a:noFill/>
          <a:ln>
            <a:noFill/>
          </a:ln>
        </p:spPr>
      </p:pic>
      <p:sp>
        <p:nvSpPr>
          <p:cNvPr id="892" name="Google Shape;892;p43"/>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6" name="Shape 896"/>
        <p:cNvGrpSpPr/>
        <p:nvPr/>
      </p:nvGrpSpPr>
      <p:grpSpPr>
        <a:xfrm>
          <a:off x="0" y="0"/>
          <a:ext cx="0" cy="0"/>
          <a:chOff x="0" y="0"/>
          <a:chExt cx="0" cy="0"/>
        </a:xfrm>
      </p:grpSpPr>
      <p:pic>
        <p:nvPicPr>
          <p:cNvPr id="897" name="Google Shape;897;p44"/>
          <p:cNvPicPr preferRelativeResize="0"/>
          <p:nvPr/>
        </p:nvPicPr>
        <p:blipFill rotWithShape="1">
          <a:blip r:embed="rId3">
            <a:alphaModFix/>
          </a:blip>
          <a:srcRect b="0" l="0" r="0" t="0"/>
          <a:stretch/>
        </p:blipFill>
        <p:spPr>
          <a:xfrm>
            <a:off x="0" y="0"/>
            <a:ext cx="9144000" cy="952500"/>
          </a:xfrm>
          <a:prstGeom prst="rect">
            <a:avLst/>
          </a:prstGeom>
          <a:noFill/>
          <a:ln>
            <a:noFill/>
          </a:ln>
        </p:spPr>
      </p:pic>
      <p:pic>
        <p:nvPicPr>
          <p:cNvPr id="898" name="Google Shape;898;p44"/>
          <p:cNvPicPr preferRelativeResize="0"/>
          <p:nvPr/>
        </p:nvPicPr>
        <p:blipFill rotWithShape="1">
          <a:blip r:embed="rId4">
            <a:alphaModFix/>
          </a:blip>
          <a:srcRect b="0" l="0" r="0" t="0"/>
          <a:stretch/>
        </p:blipFill>
        <p:spPr>
          <a:xfrm>
            <a:off x="0" y="0"/>
            <a:ext cx="9144000" cy="762000"/>
          </a:xfrm>
          <a:prstGeom prst="rect">
            <a:avLst/>
          </a:prstGeom>
          <a:noFill/>
          <a:ln>
            <a:noFill/>
          </a:ln>
        </p:spPr>
      </p:pic>
      <p:sp>
        <p:nvSpPr>
          <p:cNvPr id="899" name="Google Shape;899;p44"/>
          <p:cNvSpPr txBox="1"/>
          <p:nvPr/>
        </p:nvSpPr>
        <p:spPr>
          <a:xfrm>
            <a:off x="571500" y="285750"/>
            <a:ext cx="8001000" cy="515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i="0" lang="vi" sz="1100">
                <a:solidFill>
                  <a:srgbClr val="8BC249"/>
                </a:solidFill>
                <a:latin typeface="Montserrat SemiBold"/>
                <a:ea typeface="Montserrat SemiBold"/>
                <a:cs typeface="Montserrat SemiBold"/>
                <a:sym typeface="Montserrat SemiBold"/>
              </a:rPr>
              <a:t>VIETNAM PRODUCTION </a:t>
            </a:r>
            <a:r>
              <a:rPr lang="vi" sz="1100">
                <a:solidFill>
                  <a:srgbClr val="8BC249"/>
                </a:solidFill>
                <a:latin typeface="Montserrat SemiBold"/>
                <a:ea typeface="Montserrat SemiBold"/>
                <a:cs typeface="Montserrat SemiBold"/>
                <a:sym typeface="Montserrat SemiBold"/>
              </a:rPr>
              <a:t>ENGINEER TEAM</a:t>
            </a:r>
            <a:endParaRPr b="0" i="0" sz="1100">
              <a:solidFill>
                <a:srgbClr val="8BC249"/>
              </a:solidFill>
              <a:latin typeface="Montserrat SemiBold"/>
              <a:ea typeface="Montserrat SemiBold"/>
              <a:cs typeface="Montserrat SemiBold"/>
              <a:sym typeface="Montserrat SemiBold"/>
            </a:endParaRPr>
          </a:p>
          <a:p>
            <a:pPr indent="0" lvl="0" marL="0" rtl="0" algn="l">
              <a:spcBef>
                <a:spcPts val="300"/>
              </a:spcBef>
              <a:spcAft>
                <a:spcPts val="0"/>
              </a:spcAft>
              <a:buNone/>
            </a:pPr>
            <a:r>
              <a:rPr b="1" i="0" lang="vi" sz="2000">
                <a:solidFill>
                  <a:srgbClr val="0F172A"/>
                </a:solidFill>
                <a:latin typeface="Montserrat"/>
                <a:ea typeface="Montserrat"/>
                <a:cs typeface="Montserrat"/>
                <a:sym typeface="Montserrat"/>
              </a:rPr>
              <a:t>SƠ ĐỒ QUY TRÌNH</a:t>
            </a:r>
            <a:endParaRPr b="1" i="0" sz="300">
              <a:solidFill>
                <a:srgbClr val="8BC249"/>
              </a:solidFill>
              <a:latin typeface="Montserrat"/>
              <a:ea typeface="Montserrat"/>
              <a:cs typeface="Montserrat"/>
              <a:sym typeface="Montserrat"/>
            </a:endParaRPr>
          </a:p>
        </p:txBody>
      </p:sp>
      <p:grpSp>
        <p:nvGrpSpPr>
          <p:cNvPr id="900" name="Google Shape;900;p44"/>
          <p:cNvGrpSpPr/>
          <p:nvPr/>
        </p:nvGrpSpPr>
        <p:grpSpPr>
          <a:xfrm>
            <a:off x="2143193" y="1924321"/>
            <a:ext cx="3316460" cy="761998"/>
            <a:chOff x="2143125" y="1876425"/>
            <a:chExt cx="3524400" cy="809775"/>
          </a:xfrm>
        </p:grpSpPr>
        <p:sp>
          <p:nvSpPr>
            <p:cNvPr id="901" name="Google Shape;901;p44"/>
            <p:cNvSpPr/>
            <p:nvPr/>
          </p:nvSpPr>
          <p:spPr>
            <a:xfrm>
              <a:off x="2143125" y="1905000"/>
              <a:ext cx="3524400" cy="781200"/>
            </a:xfrm>
            <a:custGeom>
              <a:rect b="b" l="l" r="r" t="t"/>
              <a:pathLst>
                <a:path extrusionOk="0" h="120000" w="120000">
                  <a:moveTo>
                    <a:pt x="-72973" y="-292683"/>
                  </a:moveTo>
                  <a:lnTo>
                    <a:pt x="-61622" y="-292683"/>
                  </a:lnTo>
                  <a:moveTo>
                    <a:pt x="36000" y="-292683"/>
                  </a:moveTo>
                  <a:lnTo>
                    <a:pt x="47027" y="-292683"/>
                  </a:lnTo>
                  <a:moveTo>
                    <a:pt x="-12973" y="-188780"/>
                  </a:moveTo>
                  <a:lnTo>
                    <a:pt x="-12973" y="-172683"/>
                  </a:lnTo>
                </a:path>
              </a:pathLst>
            </a:custGeom>
            <a:solidFill>
              <a:srgbClr val="000000">
                <a:alpha val="0"/>
              </a:srgbClr>
            </a:solidFill>
            <a:ln cap="flat" cmpd="sng" w="179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44"/>
            <p:cNvSpPr/>
            <p:nvPr/>
          </p:nvSpPr>
          <p:spPr>
            <a:xfrm>
              <a:off x="2447925" y="1876425"/>
              <a:ext cx="57300" cy="57300"/>
            </a:xfrm>
            <a:prstGeom prst="ellipse">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3" name="Google Shape;903;p44"/>
            <p:cNvSpPr/>
            <p:nvPr/>
          </p:nvSpPr>
          <p:spPr>
            <a:xfrm>
              <a:off x="5314950" y="1876425"/>
              <a:ext cx="57300" cy="57300"/>
            </a:xfrm>
            <a:prstGeom prst="ellipse">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04" name="Google Shape;904;p44"/>
          <p:cNvGrpSpPr/>
          <p:nvPr/>
        </p:nvGrpSpPr>
        <p:grpSpPr>
          <a:xfrm>
            <a:off x="428625" y="1333500"/>
            <a:ext cx="1714500" cy="3048000"/>
            <a:chOff x="428625" y="1333500"/>
            <a:chExt cx="1714500" cy="3048000"/>
          </a:xfrm>
        </p:grpSpPr>
        <p:sp>
          <p:nvSpPr>
            <p:cNvPr id="905" name="Google Shape;905;p44"/>
            <p:cNvSpPr/>
            <p:nvPr/>
          </p:nvSpPr>
          <p:spPr>
            <a:xfrm>
              <a:off x="428625" y="1333500"/>
              <a:ext cx="1714500" cy="30480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p44"/>
            <p:cNvSpPr/>
            <p:nvPr/>
          </p:nvSpPr>
          <p:spPr>
            <a:xfrm>
              <a:off x="428625" y="1333500"/>
              <a:ext cx="1714500" cy="381000"/>
            </a:xfrm>
            <a:prstGeom prst="roundRect">
              <a:avLst>
                <a:gd fmla="val 3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7" name="Google Shape;907;p44"/>
            <p:cNvSpPr/>
            <p:nvPr/>
          </p:nvSpPr>
          <p:spPr>
            <a:xfrm>
              <a:off x="428625" y="1571625"/>
              <a:ext cx="1714500" cy="142800"/>
            </a:xfrm>
            <a:prstGeom prst="rect">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8" name="Google Shape;908;p44"/>
            <p:cNvSpPr txBox="1"/>
            <p:nvPr/>
          </p:nvSpPr>
          <p:spPr>
            <a:xfrm>
              <a:off x="428625" y="133350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FFFFFF"/>
                  </a:solidFill>
                  <a:latin typeface="Inter"/>
                  <a:ea typeface="Inter"/>
                  <a:cs typeface="Inter"/>
                  <a:sym typeface="Inter"/>
                </a:rPr>
                <a:t>DỮ LIỆU MASTER</a:t>
              </a:r>
              <a:br>
                <a:rPr b="1" lang="vi" sz="900">
                  <a:solidFill>
                    <a:srgbClr val="FFFFFF"/>
                  </a:solidFill>
                  <a:latin typeface="Inter"/>
                  <a:ea typeface="Inter"/>
                  <a:cs typeface="Inter"/>
                  <a:sym typeface="Inter"/>
                </a:rPr>
              </a:br>
              <a:r>
                <a:rPr b="0" lang="vi" sz="700">
                  <a:solidFill>
                    <a:srgbClr val="FFFFFF"/>
                  </a:solidFill>
                  <a:latin typeface="Inter"/>
                  <a:ea typeface="Inter"/>
                  <a:cs typeface="Inter"/>
                  <a:sym typeface="Inter"/>
                </a:rPr>
                <a:t>생산기준 정보</a:t>
              </a:r>
              <a:endParaRPr b="1" sz="900">
                <a:solidFill>
                  <a:srgbClr val="FFFFFF"/>
                </a:solidFill>
                <a:latin typeface="Inter"/>
                <a:ea typeface="Inter"/>
                <a:cs typeface="Inter"/>
                <a:sym typeface="Inter"/>
              </a:endParaRPr>
            </a:p>
          </p:txBody>
        </p:sp>
        <p:sp>
          <p:nvSpPr>
            <p:cNvPr id="909" name="Google Shape;909;p44"/>
            <p:cNvSpPr txBox="1"/>
            <p:nvPr/>
          </p:nvSpPr>
          <p:spPr>
            <a:xfrm>
              <a:off x="571500" y="1857375"/>
              <a:ext cx="1428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000">
                  <a:solidFill>
                    <a:srgbClr val="16A34A"/>
                  </a:solidFill>
                  <a:latin typeface="Inter"/>
                  <a:ea typeface="Inter"/>
                  <a:cs typeface="Inter"/>
                  <a:sym typeface="Inter"/>
                </a:rPr>
                <a:t>Cơ sở dữ liệu:</a:t>
              </a:r>
              <a:endParaRPr b="1" sz="1000">
                <a:solidFill>
                  <a:srgbClr val="16A34A"/>
                </a:solidFill>
                <a:latin typeface="Inter"/>
                <a:ea typeface="Inter"/>
                <a:cs typeface="Inter"/>
                <a:sym typeface="Inter"/>
              </a:endParaRPr>
            </a:p>
            <a:p>
              <a:pPr indent="0" lvl="0" marL="0" rtl="0" algn="l">
                <a:spcBef>
                  <a:spcPts val="900"/>
                </a:spcBef>
                <a:spcAft>
                  <a:spcPts val="0"/>
                </a:spcAft>
                <a:buNone/>
              </a:pPr>
              <a:r>
                <a:rPr b="0" lang="vi" sz="900">
                  <a:solidFill>
                    <a:srgbClr val="334155"/>
                  </a:solidFill>
                  <a:latin typeface="Inter SemiBold"/>
                  <a:ea typeface="Inter SemiBold"/>
                  <a:cs typeface="Inter SemiBold"/>
                  <a:sym typeface="Inter SemiBold"/>
                </a:rPr>
                <a:t>Đối tác/ sản phẩm</a:t>
              </a:r>
              <a:br>
                <a:rPr lang="vi">
                  <a:latin typeface="Inter"/>
                  <a:ea typeface="Inter"/>
                  <a:cs typeface="Inter"/>
                  <a:sym typeface="Inter"/>
                </a:rPr>
              </a:br>
              <a:r>
                <a:rPr b="0" lang="vi" sz="800">
                  <a:solidFill>
                    <a:srgbClr val="64748B"/>
                  </a:solidFill>
                  <a:latin typeface="Inter"/>
                  <a:ea typeface="Inter"/>
                  <a:cs typeface="Inter"/>
                  <a:sym typeface="Inter"/>
                </a:rPr>
                <a:t>거래선/제품</a:t>
              </a:r>
              <a:endParaRPr>
                <a:latin typeface="Inter"/>
                <a:ea typeface="Inter"/>
                <a:cs typeface="Inter"/>
                <a:sym typeface="Inter"/>
              </a:endParaRPr>
            </a:p>
            <a:p>
              <a:pPr indent="0" lvl="0" marL="0" rtl="0" algn="l">
                <a:spcBef>
                  <a:spcPts val="1125"/>
                </a:spcBef>
                <a:spcAft>
                  <a:spcPts val="0"/>
                </a:spcAft>
                <a:buNone/>
              </a:pPr>
              <a:r>
                <a:rPr b="0" lang="vi" sz="900">
                  <a:solidFill>
                    <a:srgbClr val="334155"/>
                  </a:solidFill>
                  <a:latin typeface="Inter SemiBold"/>
                  <a:ea typeface="Inter SemiBold"/>
                  <a:cs typeface="Inter SemiBold"/>
                  <a:sym typeface="Inter SemiBold"/>
                </a:rPr>
                <a:t>BOM/Công đoạn</a:t>
              </a:r>
              <a:br>
                <a:rPr lang="vi">
                  <a:latin typeface="Inter"/>
                  <a:ea typeface="Inter"/>
                  <a:cs typeface="Inter"/>
                  <a:sym typeface="Inter"/>
                </a:rPr>
              </a:br>
              <a:r>
                <a:rPr b="0" lang="vi" sz="800">
                  <a:solidFill>
                    <a:srgbClr val="64748B"/>
                  </a:solidFill>
                  <a:latin typeface="Inter"/>
                  <a:ea typeface="Inter"/>
                  <a:cs typeface="Inter"/>
                  <a:sym typeface="Inter"/>
                </a:rPr>
                <a:t>BOM/공정</a:t>
              </a:r>
              <a:endParaRPr>
                <a:latin typeface="Inter"/>
                <a:ea typeface="Inter"/>
                <a:cs typeface="Inter"/>
                <a:sym typeface="Inter"/>
              </a:endParaRPr>
            </a:p>
          </p:txBody>
        </p:sp>
      </p:grpSp>
      <p:sp>
        <p:nvSpPr>
          <p:cNvPr id="910" name="Google Shape;910;p44"/>
          <p:cNvSpPr/>
          <p:nvPr/>
        </p:nvSpPr>
        <p:spPr>
          <a:xfrm>
            <a:off x="2381250" y="1333500"/>
            <a:ext cx="2952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1" name="Google Shape;911;p44"/>
          <p:cNvSpPr/>
          <p:nvPr/>
        </p:nvSpPr>
        <p:spPr>
          <a:xfrm>
            <a:off x="2381250" y="1333500"/>
            <a:ext cx="2952900" cy="381000"/>
          </a:xfrm>
          <a:prstGeom prst="roundRect">
            <a:avLst>
              <a:gd fmla="val 3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2" name="Google Shape;912;p44"/>
          <p:cNvSpPr/>
          <p:nvPr/>
        </p:nvSpPr>
        <p:spPr>
          <a:xfrm>
            <a:off x="2381250" y="1571625"/>
            <a:ext cx="2952900" cy="142800"/>
          </a:xfrm>
          <a:prstGeom prst="rect">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3" name="Google Shape;913;p44"/>
          <p:cNvSpPr txBox="1"/>
          <p:nvPr/>
        </p:nvSpPr>
        <p:spPr>
          <a:xfrm>
            <a:off x="2381250" y="1333500"/>
            <a:ext cx="2952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FFFFFF"/>
                </a:solidFill>
                <a:latin typeface="Inter"/>
                <a:ea typeface="Inter"/>
                <a:cs typeface="Inter"/>
                <a:sym typeface="Inter"/>
              </a:rPr>
              <a:t>QUẢN LÝ ĐƠN HÀNG VÀ GIAO HÀNG</a:t>
            </a:r>
            <a:br>
              <a:rPr b="1" lang="vi" sz="900">
                <a:solidFill>
                  <a:srgbClr val="FFFFFF"/>
                </a:solidFill>
                <a:latin typeface="Inter"/>
                <a:ea typeface="Inter"/>
                <a:cs typeface="Inter"/>
                <a:sym typeface="Inter"/>
              </a:rPr>
            </a:br>
            <a:r>
              <a:rPr b="0" lang="vi" sz="700">
                <a:solidFill>
                  <a:srgbClr val="FFFFFF"/>
                </a:solidFill>
                <a:latin typeface="Inter"/>
                <a:ea typeface="Inter"/>
                <a:cs typeface="Inter"/>
                <a:sym typeface="Inter"/>
              </a:rPr>
              <a:t>수주출하 시스템</a:t>
            </a:r>
            <a:endParaRPr b="1" sz="900">
              <a:solidFill>
                <a:srgbClr val="FFFFFF"/>
              </a:solidFill>
              <a:latin typeface="Inter"/>
              <a:ea typeface="Inter"/>
              <a:cs typeface="Inter"/>
              <a:sym typeface="Inter"/>
            </a:endParaRPr>
          </a:p>
        </p:txBody>
      </p:sp>
      <p:sp>
        <p:nvSpPr>
          <p:cNvPr id="914" name="Google Shape;914;p44"/>
          <p:cNvSpPr txBox="1"/>
          <p:nvPr/>
        </p:nvSpPr>
        <p:spPr>
          <a:xfrm>
            <a:off x="2524125" y="1762125"/>
            <a:ext cx="1238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723">
                <a:solidFill>
                  <a:srgbClr val="16A34A"/>
                </a:solidFill>
                <a:latin typeface="Inter"/>
                <a:ea typeface="Inter"/>
                <a:cs typeface="Inter"/>
                <a:sym typeface="Inter"/>
              </a:rPr>
              <a:t>QUẢN LÝ KINH DOANH</a:t>
            </a:r>
            <a:endParaRPr b="1" sz="723">
              <a:solidFill>
                <a:srgbClr val="16A34A"/>
              </a:solidFill>
              <a:latin typeface="Inter"/>
              <a:ea typeface="Inter"/>
              <a:cs typeface="Inter"/>
              <a:sym typeface="Inter"/>
            </a:endParaRPr>
          </a:p>
          <a:p>
            <a:pPr indent="0" lvl="0" marL="0" rtl="0" algn="l">
              <a:spcBef>
                <a:spcPts val="600"/>
              </a:spcBef>
              <a:spcAft>
                <a:spcPts val="0"/>
              </a:spcAft>
              <a:buNone/>
            </a:pPr>
            <a:r>
              <a:rPr lang="vi" sz="723">
                <a:solidFill>
                  <a:srgbClr val="334155"/>
                </a:solidFill>
                <a:latin typeface="Inter"/>
                <a:ea typeface="Inter"/>
                <a:cs typeface="Inter"/>
                <a:sym typeface="Inter"/>
              </a:rPr>
              <a:t>Mạng lưới địa điểm</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Nhận đơn hàng</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Kế hoạch giao hàng</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Doanh thu</a:t>
            </a:r>
            <a:endParaRPr sz="723">
              <a:solidFill>
                <a:srgbClr val="334155"/>
              </a:solidFill>
              <a:latin typeface="Inter"/>
              <a:ea typeface="Inter"/>
              <a:cs typeface="Inter"/>
              <a:sym typeface="Inter"/>
            </a:endParaRPr>
          </a:p>
        </p:txBody>
      </p:sp>
      <p:cxnSp>
        <p:nvCxnSpPr>
          <p:cNvPr id="915" name="Google Shape;915;p44"/>
          <p:cNvCxnSpPr/>
          <p:nvPr/>
        </p:nvCxnSpPr>
        <p:spPr>
          <a:xfrm>
            <a:off x="3857625" y="1809750"/>
            <a:ext cx="0" cy="8574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916" name="Google Shape;916;p44"/>
          <p:cNvSpPr txBox="1"/>
          <p:nvPr/>
        </p:nvSpPr>
        <p:spPr>
          <a:xfrm>
            <a:off x="4000500" y="1762125"/>
            <a:ext cx="1238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723">
                <a:solidFill>
                  <a:srgbClr val="16A34A"/>
                </a:solidFill>
                <a:latin typeface="Inter"/>
                <a:ea typeface="Inter"/>
                <a:cs typeface="Inter"/>
                <a:sym typeface="Inter"/>
              </a:rPr>
              <a:t>QUẢN LÝ SP/ XUẤT HÀNG</a:t>
            </a:r>
            <a:endParaRPr b="1" sz="723">
              <a:solidFill>
                <a:srgbClr val="16A34A"/>
              </a:solidFill>
              <a:latin typeface="Inter"/>
              <a:ea typeface="Inter"/>
              <a:cs typeface="Inter"/>
              <a:sym typeface="Inter"/>
            </a:endParaRPr>
          </a:p>
          <a:p>
            <a:pPr indent="0" lvl="0" marL="0" rtl="0" algn="l">
              <a:spcBef>
                <a:spcPts val="600"/>
              </a:spcBef>
              <a:spcAft>
                <a:spcPts val="0"/>
              </a:spcAft>
              <a:buNone/>
            </a:pPr>
            <a:r>
              <a:rPr lang="vi" sz="723">
                <a:solidFill>
                  <a:srgbClr val="334155"/>
                </a:solidFill>
                <a:latin typeface="Inter"/>
                <a:ea typeface="Inter"/>
                <a:cs typeface="Inter"/>
                <a:sym typeface="Inter"/>
              </a:rPr>
              <a:t>Kết quả xuất hàng</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Thực tế so với KH</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Theo dõi tiến độ</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Quản lý tồn kho</a:t>
            </a:r>
            <a:endParaRPr sz="723">
              <a:solidFill>
                <a:srgbClr val="334155"/>
              </a:solidFill>
              <a:latin typeface="Inter"/>
              <a:ea typeface="Inter"/>
              <a:cs typeface="Inter"/>
              <a:sym typeface="Inter"/>
            </a:endParaRPr>
          </a:p>
        </p:txBody>
      </p:sp>
      <p:sp>
        <p:nvSpPr>
          <p:cNvPr id="917" name="Google Shape;917;p44"/>
          <p:cNvSpPr/>
          <p:nvPr/>
        </p:nvSpPr>
        <p:spPr>
          <a:xfrm>
            <a:off x="2381250" y="2952750"/>
            <a:ext cx="2952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8" name="Google Shape;918;p44"/>
          <p:cNvSpPr/>
          <p:nvPr/>
        </p:nvSpPr>
        <p:spPr>
          <a:xfrm>
            <a:off x="2381250" y="2952750"/>
            <a:ext cx="2952900" cy="381000"/>
          </a:xfrm>
          <a:prstGeom prst="roundRect">
            <a:avLst>
              <a:gd fmla="val 3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9" name="Google Shape;919;p44"/>
          <p:cNvSpPr/>
          <p:nvPr/>
        </p:nvSpPr>
        <p:spPr>
          <a:xfrm>
            <a:off x="2381250" y="3190875"/>
            <a:ext cx="2952900" cy="142800"/>
          </a:xfrm>
          <a:prstGeom prst="rect">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0" name="Google Shape;920;p44"/>
          <p:cNvSpPr txBox="1"/>
          <p:nvPr/>
        </p:nvSpPr>
        <p:spPr>
          <a:xfrm>
            <a:off x="2381250" y="2952750"/>
            <a:ext cx="2952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FFFFFF"/>
                </a:solidFill>
                <a:latin typeface="Inter"/>
                <a:ea typeface="Inter"/>
                <a:cs typeface="Inter"/>
                <a:sym typeface="Inter"/>
              </a:rPr>
              <a:t>KẾ HOẠCH SẢN XUẤT</a:t>
            </a:r>
            <a:br>
              <a:rPr b="1" lang="vi" sz="900">
                <a:solidFill>
                  <a:srgbClr val="FFFFFF"/>
                </a:solidFill>
                <a:latin typeface="Inter"/>
                <a:ea typeface="Inter"/>
                <a:cs typeface="Inter"/>
                <a:sym typeface="Inter"/>
              </a:rPr>
            </a:br>
            <a:r>
              <a:rPr b="0" lang="vi" sz="700">
                <a:solidFill>
                  <a:srgbClr val="FFFFFF"/>
                </a:solidFill>
                <a:latin typeface="Inter"/>
                <a:ea typeface="Inter"/>
                <a:cs typeface="Inter"/>
                <a:sym typeface="Inter"/>
              </a:rPr>
              <a:t>생산계획 시스템</a:t>
            </a:r>
            <a:endParaRPr b="1" sz="900">
              <a:solidFill>
                <a:srgbClr val="FFFFFF"/>
              </a:solidFill>
              <a:latin typeface="Inter"/>
              <a:ea typeface="Inter"/>
              <a:cs typeface="Inter"/>
              <a:sym typeface="Inter"/>
            </a:endParaRPr>
          </a:p>
        </p:txBody>
      </p:sp>
      <p:sp>
        <p:nvSpPr>
          <p:cNvPr id="921" name="Google Shape;921;p44"/>
          <p:cNvSpPr txBox="1"/>
          <p:nvPr/>
        </p:nvSpPr>
        <p:spPr>
          <a:xfrm>
            <a:off x="2524125" y="3381375"/>
            <a:ext cx="1238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723">
                <a:solidFill>
                  <a:srgbClr val="16A34A"/>
                </a:solidFill>
                <a:latin typeface="Inter"/>
                <a:ea typeface="Inter"/>
                <a:cs typeface="Inter"/>
                <a:sym typeface="Inter"/>
              </a:rPr>
              <a:t>KẾ HOẠCH TỔNG THỂ</a:t>
            </a:r>
            <a:endParaRPr b="1" sz="723">
              <a:solidFill>
                <a:srgbClr val="16A34A"/>
              </a:solidFill>
              <a:latin typeface="Inter"/>
              <a:ea typeface="Inter"/>
              <a:cs typeface="Inter"/>
              <a:sym typeface="Inter"/>
            </a:endParaRPr>
          </a:p>
          <a:p>
            <a:pPr indent="0" lvl="0" marL="0" rtl="0" algn="l">
              <a:spcBef>
                <a:spcPts val="600"/>
              </a:spcBef>
              <a:spcAft>
                <a:spcPts val="0"/>
              </a:spcAft>
              <a:buNone/>
            </a:pPr>
            <a:r>
              <a:rPr lang="vi" sz="723">
                <a:solidFill>
                  <a:srgbClr val="334155"/>
                </a:solidFill>
                <a:latin typeface="Inter"/>
                <a:ea typeface="Inter"/>
                <a:cs typeface="Inter"/>
                <a:sym typeface="Inter"/>
              </a:rPr>
              <a:t>Kế hoạch 3 Tháng</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Kế hoạch 1 Tháng</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Kế hoạch 1 Tuần</a:t>
            </a:r>
            <a:endParaRPr sz="723">
              <a:solidFill>
                <a:srgbClr val="334155"/>
              </a:solidFill>
              <a:latin typeface="Inter"/>
              <a:ea typeface="Inter"/>
              <a:cs typeface="Inter"/>
              <a:sym typeface="Inter"/>
            </a:endParaRPr>
          </a:p>
          <a:p>
            <a:pPr indent="0" lvl="0" marL="0" rtl="0" algn="l">
              <a:spcBef>
                <a:spcPts val="225"/>
              </a:spcBef>
              <a:spcAft>
                <a:spcPts val="0"/>
              </a:spcAft>
              <a:buNone/>
            </a:pPr>
            <a:r>
              <a:rPr lang="vi" sz="723">
                <a:solidFill>
                  <a:srgbClr val="334155"/>
                </a:solidFill>
                <a:latin typeface="Inter"/>
                <a:ea typeface="Inter"/>
                <a:cs typeface="Inter"/>
                <a:sym typeface="Inter"/>
              </a:rPr>
              <a:t>Ban hành ngày</a:t>
            </a:r>
            <a:endParaRPr sz="723">
              <a:solidFill>
                <a:srgbClr val="334155"/>
              </a:solidFill>
              <a:latin typeface="Inter"/>
              <a:ea typeface="Inter"/>
              <a:cs typeface="Inter"/>
              <a:sym typeface="Inter"/>
            </a:endParaRPr>
          </a:p>
        </p:txBody>
      </p:sp>
      <p:cxnSp>
        <p:nvCxnSpPr>
          <p:cNvPr id="922" name="Google Shape;922;p44"/>
          <p:cNvCxnSpPr/>
          <p:nvPr/>
        </p:nvCxnSpPr>
        <p:spPr>
          <a:xfrm>
            <a:off x="3857625" y="3429000"/>
            <a:ext cx="0" cy="8574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923" name="Google Shape;923;p44"/>
          <p:cNvSpPr txBox="1"/>
          <p:nvPr/>
        </p:nvSpPr>
        <p:spPr>
          <a:xfrm>
            <a:off x="4000500" y="3381375"/>
            <a:ext cx="1238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786">
                <a:solidFill>
                  <a:srgbClr val="16A34A"/>
                </a:solidFill>
                <a:latin typeface="Inter"/>
                <a:ea typeface="Inter"/>
                <a:cs typeface="Inter"/>
                <a:sym typeface="Inter"/>
              </a:rPr>
              <a:t>ĐẶT MUA NVL</a:t>
            </a:r>
            <a:endParaRPr b="1" sz="786">
              <a:solidFill>
                <a:srgbClr val="16A34A"/>
              </a:solidFill>
              <a:latin typeface="Inter"/>
              <a:ea typeface="Inter"/>
              <a:cs typeface="Inter"/>
              <a:sym typeface="Inter"/>
            </a:endParaRPr>
          </a:p>
          <a:p>
            <a:pPr indent="0" lvl="0" marL="0" rtl="0" algn="l">
              <a:spcBef>
                <a:spcPts val="600"/>
              </a:spcBef>
              <a:spcAft>
                <a:spcPts val="0"/>
              </a:spcAft>
              <a:buNone/>
            </a:pPr>
            <a:r>
              <a:rPr lang="vi" sz="786">
                <a:solidFill>
                  <a:srgbClr val="334155"/>
                </a:solidFill>
                <a:latin typeface="Inter"/>
                <a:ea typeface="Inter"/>
                <a:cs typeface="Inter"/>
                <a:sym typeface="Inter"/>
              </a:rPr>
              <a:t>Dữ liệu tồn kho</a:t>
            </a:r>
            <a:endParaRPr sz="786">
              <a:solidFill>
                <a:srgbClr val="334155"/>
              </a:solidFill>
              <a:latin typeface="Inter"/>
              <a:ea typeface="Inter"/>
              <a:cs typeface="Inter"/>
              <a:sym typeface="Inter"/>
            </a:endParaRPr>
          </a:p>
          <a:p>
            <a:pPr indent="0" lvl="0" marL="0" rtl="0" algn="l">
              <a:spcBef>
                <a:spcPts val="225"/>
              </a:spcBef>
              <a:spcAft>
                <a:spcPts val="0"/>
              </a:spcAft>
              <a:buNone/>
            </a:pPr>
            <a:r>
              <a:rPr lang="vi" sz="786">
                <a:solidFill>
                  <a:srgbClr val="334155"/>
                </a:solidFill>
                <a:latin typeface="Inter"/>
                <a:ea typeface="Inter"/>
                <a:cs typeface="Inter"/>
                <a:sym typeface="Inter"/>
              </a:rPr>
              <a:t>Tính toán order</a:t>
            </a:r>
            <a:endParaRPr sz="786">
              <a:solidFill>
                <a:srgbClr val="334155"/>
              </a:solidFill>
              <a:latin typeface="Inter"/>
              <a:ea typeface="Inter"/>
              <a:cs typeface="Inter"/>
              <a:sym typeface="Inter"/>
            </a:endParaRPr>
          </a:p>
          <a:p>
            <a:pPr indent="0" lvl="0" marL="0" rtl="0" algn="l">
              <a:spcBef>
                <a:spcPts val="225"/>
              </a:spcBef>
              <a:spcAft>
                <a:spcPts val="0"/>
              </a:spcAft>
              <a:buNone/>
            </a:pPr>
            <a:r>
              <a:rPr lang="vi" sz="786">
                <a:solidFill>
                  <a:srgbClr val="334155"/>
                </a:solidFill>
                <a:latin typeface="Inter"/>
                <a:ea typeface="Inter"/>
                <a:cs typeface="Inter"/>
                <a:sym typeface="Inter"/>
              </a:rPr>
              <a:t>Đặt mua NVL</a:t>
            </a:r>
            <a:endParaRPr sz="786">
              <a:solidFill>
                <a:srgbClr val="334155"/>
              </a:solidFill>
              <a:latin typeface="Inter"/>
              <a:ea typeface="Inter"/>
              <a:cs typeface="Inter"/>
              <a:sym typeface="Inter"/>
            </a:endParaRPr>
          </a:p>
          <a:p>
            <a:pPr indent="0" lvl="0" marL="0" rtl="0" algn="l">
              <a:spcBef>
                <a:spcPts val="225"/>
              </a:spcBef>
              <a:spcAft>
                <a:spcPts val="0"/>
              </a:spcAft>
              <a:buNone/>
            </a:pPr>
            <a:r>
              <a:rPr lang="vi" sz="786">
                <a:solidFill>
                  <a:srgbClr val="334155"/>
                </a:solidFill>
                <a:latin typeface="Inter"/>
                <a:ea typeface="Inter"/>
                <a:cs typeface="Inter"/>
                <a:sym typeface="Inter"/>
              </a:rPr>
              <a:t>Quản lý đơn mua</a:t>
            </a:r>
            <a:endParaRPr sz="786">
              <a:solidFill>
                <a:srgbClr val="334155"/>
              </a:solidFill>
              <a:latin typeface="Inter"/>
              <a:ea typeface="Inter"/>
              <a:cs typeface="Inter"/>
              <a:sym typeface="Inter"/>
            </a:endParaRPr>
          </a:p>
        </p:txBody>
      </p:sp>
      <p:sp>
        <p:nvSpPr>
          <p:cNvPr id="924" name="Google Shape;924;p44"/>
          <p:cNvSpPr/>
          <p:nvPr/>
        </p:nvSpPr>
        <p:spPr>
          <a:xfrm>
            <a:off x="5667375" y="1333500"/>
            <a:ext cx="30480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5" name="Google Shape;925;p44"/>
          <p:cNvSpPr/>
          <p:nvPr/>
        </p:nvSpPr>
        <p:spPr>
          <a:xfrm>
            <a:off x="5667375" y="1333500"/>
            <a:ext cx="3048000" cy="381000"/>
          </a:xfrm>
          <a:prstGeom prst="roundRect">
            <a:avLst>
              <a:gd fmla="val 3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p44"/>
          <p:cNvSpPr/>
          <p:nvPr/>
        </p:nvSpPr>
        <p:spPr>
          <a:xfrm>
            <a:off x="5667375" y="1571625"/>
            <a:ext cx="3048000" cy="1428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7" name="Google Shape;927;p44"/>
          <p:cNvSpPr txBox="1"/>
          <p:nvPr/>
        </p:nvSpPr>
        <p:spPr>
          <a:xfrm>
            <a:off x="5667375" y="1333500"/>
            <a:ext cx="3048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900">
                <a:solidFill>
                  <a:srgbClr val="FFFFFF"/>
                </a:solidFill>
                <a:latin typeface="Inter"/>
                <a:ea typeface="Inter"/>
                <a:cs typeface="Inter"/>
                <a:sym typeface="Inter"/>
              </a:rPr>
              <a:t>QUẢN LÝ SẢN XUẤT</a:t>
            </a:r>
            <a:br>
              <a:rPr b="1" lang="vi" sz="900">
                <a:solidFill>
                  <a:srgbClr val="FFFFFF"/>
                </a:solidFill>
                <a:latin typeface="Inter"/>
                <a:ea typeface="Inter"/>
                <a:cs typeface="Inter"/>
                <a:sym typeface="Inter"/>
              </a:rPr>
            </a:br>
            <a:r>
              <a:rPr b="0" lang="vi" sz="700">
                <a:solidFill>
                  <a:srgbClr val="FFFFFF"/>
                </a:solidFill>
                <a:latin typeface="Inter"/>
                <a:ea typeface="Inter"/>
                <a:cs typeface="Inter"/>
                <a:sym typeface="Inter"/>
              </a:rPr>
              <a:t>생산실행 시스템</a:t>
            </a:r>
            <a:endParaRPr b="1" sz="900">
              <a:solidFill>
                <a:srgbClr val="FFFFFF"/>
              </a:solidFill>
              <a:latin typeface="Inter"/>
              <a:ea typeface="Inter"/>
              <a:cs typeface="Inter"/>
              <a:sym typeface="Inter"/>
            </a:endParaRPr>
          </a:p>
        </p:txBody>
      </p:sp>
      <p:grpSp>
        <p:nvGrpSpPr>
          <p:cNvPr id="928" name="Google Shape;928;p44"/>
          <p:cNvGrpSpPr/>
          <p:nvPr/>
        </p:nvGrpSpPr>
        <p:grpSpPr>
          <a:xfrm>
            <a:off x="5810250" y="1857375"/>
            <a:ext cx="2762400" cy="428700"/>
            <a:chOff x="0" y="0"/>
            <a:chExt cx="2762400" cy="428700"/>
          </a:xfrm>
        </p:grpSpPr>
        <p:sp>
          <p:nvSpPr>
            <p:cNvPr id="929" name="Google Shape;929;p44"/>
            <p:cNvSpPr/>
            <p:nvPr/>
          </p:nvSpPr>
          <p:spPr>
            <a:xfrm>
              <a:off x="0" y="0"/>
              <a:ext cx="2762400" cy="428700"/>
            </a:xfrm>
            <a:prstGeom prst="roundRect">
              <a:avLst>
                <a:gd fmla="val 17777" name="adj"/>
              </a:avLst>
            </a:prstGeom>
            <a:solidFill>
              <a:srgbClr val="F0F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44"/>
            <p:cNvSpPr txBox="1"/>
            <p:nvPr/>
          </p:nvSpPr>
          <p:spPr>
            <a:xfrm>
              <a:off x="95250" y="0"/>
              <a:ext cx="2571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850">
                  <a:solidFill>
                    <a:srgbClr val="1E40AF"/>
                  </a:solidFill>
                  <a:latin typeface="Inter"/>
                  <a:ea typeface="Inter"/>
                  <a:cs typeface="Inter"/>
                  <a:sym typeface="Inter"/>
                </a:rPr>
                <a:t>QL TIẾN ĐỘ VÀ KẾT QUẢ SX</a:t>
              </a:r>
              <a:br>
                <a:rPr b="1" lang="vi" sz="850">
                  <a:solidFill>
                    <a:srgbClr val="1E40AF"/>
                  </a:solidFill>
                  <a:latin typeface="Inter"/>
                  <a:ea typeface="Inter"/>
                  <a:cs typeface="Inter"/>
                  <a:sym typeface="Inter"/>
                </a:rPr>
              </a:br>
              <a:r>
                <a:rPr b="0" lang="vi" sz="700">
                  <a:solidFill>
                    <a:srgbClr val="1E40AF"/>
                  </a:solidFill>
                  <a:latin typeface="Inter"/>
                  <a:ea typeface="Inter"/>
                  <a:cs typeface="Inter"/>
                  <a:sym typeface="Inter"/>
                </a:rPr>
                <a:t>생산진도/실적관리</a:t>
              </a:r>
              <a:endParaRPr b="1" sz="850">
                <a:solidFill>
                  <a:srgbClr val="1E40AF"/>
                </a:solidFill>
                <a:latin typeface="Inter"/>
                <a:ea typeface="Inter"/>
                <a:cs typeface="Inter"/>
                <a:sym typeface="Inter"/>
              </a:endParaRPr>
            </a:p>
          </p:txBody>
        </p:sp>
      </p:grpSp>
      <p:grpSp>
        <p:nvGrpSpPr>
          <p:cNvPr id="931" name="Google Shape;931;p44"/>
          <p:cNvGrpSpPr/>
          <p:nvPr/>
        </p:nvGrpSpPr>
        <p:grpSpPr>
          <a:xfrm>
            <a:off x="5810250" y="2381250"/>
            <a:ext cx="2762400" cy="428700"/>
            <a:chOff x="0" y="0"/>
            <a:chExt cx="2762400" cy="428700"/>
          </a:xfrm>
        </p:grpSpPr>
        <p:sp>
          <p:nvSpPr>
            <p:cNvPr id="932" name="Google Shape;932;p44"/>
            <p:cNvSpPr/>
            <p:nvPr/>
          </p:nvSpPr>
          <p:spPr>
            <a:xfrm>
              <a:off x="0" y="0"/>
              <a:ext cx="2762400" cy="428700"/>
            </a:xfrm>
            <a:prstGeom prst="roundRect">
              <a:avLst>
                <a:gd fmla="val 17777" name="adj"/>
              </a:avLst>
            </a:prstGeom>
            <a:solidFill>
              <a:srgbClr val="F0F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3" name="Google Shape;933;p44"/>
            <p:cNvSpPr txBox="1"/>
            <p:nvPr/>
          </p:nvSpPr>
          <p:spPr>
            <a:xfrm>
              <a:off x="95250" y="0"/>
              <a:ext cx="2571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850">
                  <a:solidFill>
                    <a:srgbClr val="1E40AF"/>
                  </a:solidFill>
                  <a:latin typeface="Inter"/>
                  <a:ea typeface="Inter"/>
                  <a:cs typeface="Inter"/>
                  <a:sym typeface="Inter"/>
                </a:rPr>
                <a:t>TỔNG HỢP NG/ PHÂN TÍCH</a:t>
              </a:r>
              <a:br>
                <a:rPr b="1" lang="vi" sz="850">
                  <a:solidFill>
                    <a:srgbClr val="1E40AF"/>
                  </a:solidFill>
                  <a:latin typeface="Inter"/>
                  <a:ea typeface="Inter"/>
                  <a:cs typeface="Inter"/>
                  <a:sym typeface="Inter"/>
                </a:rPr>
              </a:br>
              <a:r>
                <a:rPr b="0" lang="vi" sz="700">
                  <a:solidFill>
                    <a:srgbClr val="1E40AF"/>
                  </a:solidFill>
                  <a:latin typeface="Inter"/>
                  <a:ea typeface="Inter"/>
                  <a:cs typeface="Inter"/>
                  <a:sym typeface="Inter"/>
                </a:rPr>
                <a:t>폐기 집계/ 품질 분석</a:t>
              </a:r>
              <a:endParaRPr b="1" sz="850">
                <a:solidFill>
                  <a:srgbClr val="1E40AF"/>
                </a:solidFill>
                <a:latin typeface="Inter"/>
                <a:ea typeface="Inter"/>
                <a:cs typeface="Inter"/>
                <a:sym typeface="Inter"/>
              </a:endParaRPr>
            </a:p>
          </p:txBody>
        </p:sp>
      </p:grpSp>
      <p:grpSp>
        <p:nvGrpSpPr>
          <p:cNvPr id="934" name="Google Shape;934;p44"/>
          <p:cNvGrpSpPr/>
          <p:nvPr/>
        </p:nvGrpSpPr>
        <p:grpSpPr>
          <a:xfrm>
            <a:off x="5810250" y="2905125"/>
            <a:ext cx="2762400" cy="428700"/>
            <a:chOff x="0" y="0"/>
            <a:chExt cx="2762400" cy="428700"/>
          </a:xfrm>
        </p:grpSpPr>
        <p:sp>
          <p:nvSpPr>
            <p:cNvPr id="935" name="Google Shape;935;p44"/>
            <p:cNvSpPr/>
            <p:nvPr/>
          </p:nvSpPr>
          <p:spPr>
            <a:xfrm>
              <a:off x="0" y="0"/>
              <a:ext cx="2762400" cy="428700"/>
            </a:xfrm>
            <a:prstGeom prst="roundRect">
              <a:avLst>
                <a:gd fmla="val 17777" name="adj"/>
              </a:avLst>
            </a:prstGeom>
            <a:solidFill>
              <a:srgbClr val="F0F7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6" name="Google Shape;936;p44"/>
            <p:cNvSpPr txBox="1"/>
            <p:nvPr/>
          </p:nvSpPr>
          <p:spPr>
            <a:xfrm>
              <a:off x="95250" y="0"/>
              <a:ext cx="2571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850">
                  <a:solidFill>
                    <a:srgbClr val="1E40AF"/>
                  </a:solidFill>
                  <a:latin typeface="Inter"/>
                  <a:ea typeface="Inter"/>
                  <a:cs typeface="Inter"/>
                  <a:sym typeface="Inter"/>
                </a:rPr>
                <a:t>HIỆU SUẤT SẢN XUẤT</a:t>
              </a:r>
              <a:br>
                <a:rPr b="1" lang="vi" sz="850">
                  <a:solidFill>
                    <a:srgbClr val="1E40AF"/>
                  </a:solidFill>
                  <a:latin typeface="Inter"/>
                  <a:ea typeface="Inter"/>
                  <a:cs typeface="Inter"/>
                  <a:sym typeface="Inter"/>
                </a:rPr>
              </a:br>
              <a:r>
                <a:rPr b="0" lang="vi" sz="700">
                  <a:solidFill>
                    <a:srgbClr val="1E40AF"/>
                  </a:solidFill>
                  <a:latin typeface="Inter"/>
                  <a:ea typeface="Inter"/>
                  <a:cs typeface="Inter"/>
                  <a:sym typeface="Inter"/>
                </a:rPr>
                <a:t>생산능력/ 효율 분석</a:t>
              </a:r>
              <a:endParaRPr b="1" sz="850">
                <a:solidFill>
                  <a:srgbClr val="1E40AF"/>
                </a:solidFill>
                <a:latin typeface="Inter"/>
                <a:ea typeface="Inter"/>
                <a:cs typeface="Inter"/>
                <a:sym typeface="Inter"/>
              </a:endParaRPr>
            </a:p>
          </p:txBody>
        </p:sp>
      </p:grpSp>
      <p:grpSp>
        <p:nvGrpSpPr>
          <p:cNvPr id="937" name="Google Shape;937;p44"/>
          <p:cNvGrpSpPr/>
          <p:nvPr/>
        </p:nvGrpSpPr>
        <p:grpSpPr>
          <a:xfrm>
            <a:off x="5810250" y="3762375"/>
            <a:ext cx="2762400" cy="428700"/>
            <a:chOff x="0" y="0"/>
            <a:chExt cx="2762400" cy="428700"/>
          </a:xfrm>
        </p:grpSpPr>
        <p:sp>
          <p:nvSpPr>
            <p:cNvPr id="938" name="Google Shape;938;p44"/>
            <p:cNvSpPr/>
            <p:nvPr/>
          </p:nvSpPr>
          <p:spPr>
            <a:xfrm>
              <a:off x="0" y="0"/>
              <a:ext cx="2762400" cy="428700"/>
            </a:xfrm>
            <a:prstGeom prst="roundRect">
              <a:avLst>
                <a:gd fmla="val 17777"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9" name="Google Shape;939;p44"/>
            <p:cNvSpPr txBox="1"/>
            <p:nvPr/>
          </p:nvSpPr>
          <p:spPr>
            <a:xfrm>
              <a:off x="95250" y="0"/>
              <a:ext cx="2571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850">
                  <a:solidFill>
                    <a:srgbClr val="FFFFFF"/>
                  </a:solidFill>
                  <a:latin typeface="Inter"/>
                  <a:ea typeface="Inter"/>
                  <a:cs typeface="Inter"/>
                  <a:sym typeface="Inter"/>
                </a:rPr>
                <a:t>QUẢN LÝ TỒN KHO/ CÔNG ĐOẠN</a:t>
              </a:r>
              <a:br>
                <a:rPr b="1" lang="vi" sz="850">
                  <a:solidFill>
                    <a:srgbClr val="FFFFFF"/>
                  </a:solidFill>
                  <a:latin typeface="Inter"/>
                  <a:ea typeface="Inter"/>
                  <a:cs typeface="Inter"/>
                  <a:sym typeface="Inter"/>
                </a:rPr>
              </a:br>
              <a:r>
                <a:rPr b="0" lang="vi" sz="700">
                  <a:solidFill>
                    <a:srgbClr val="FFFFFF"/>
                  </a:solidFill>
                  <a:latin typeface="Inter"/>
                  <a:ea typeface="Inter"/>
                  <a:cs typeface="Inter"/>
                  <a:sym typeface="Inter"/>
                </a:rPr>
                <a:t>재공/재고 관리</a:t>
              </a:r>
              <a:endParaRPr b="1" sz="850">
                <a:solidFill>
                  <a:srgbClr val="FFFFFF"/>
                </a:solidFill>
                <a:latin typeface="Inter"/>
                <a:ea typeface="Inter"/>
                <a:cs typeface="Inter"/>
                <a:sym typeface="Inter"/>
              </a:endParaRPr>
            </a:p>
          </p:txBody>
        </p:sp>
      </p:grpSp>
      <p:cxnSp>
        <p:nvCxnSpPr>
          <p:cNvPr id="940" name="Google Shape;940;p44"/>
          <p:cNvCxnSpPr/>
          <p:nvPr/>
        </p:nvCxnSpPr>
        <p:spPr>
          <a:xfrm>
            <a:off x="2137325" y="2044400"/>
            <a:ext cx="241800" cy="0"/>
          </a:xfrm>
          <a:prstGeom prst="straightConnector1">
            <a:avLst/>
          </a:prstGeom>
          <a:noFill/>
          <a:ln cap="flat" cmpd="sng" w="9525">
            <a:solidFill>
              <a:schemeClr val="dk2"/>
            </a:solidFill>
            <a:prstDash val="solid"/>
            <a:round/>
            <a:headEnd len="med" w="med" type="none"/>
            <a:tailEnd len="med" w="med" type="triangle"/>
          </a:ln>
        </p:spPr>
      </p:cxnSp>
      <p:cxnSp>
        <p:nvCxnSpPr>
          <p:cNvPr id="941" name="Google Shape;941;p44"/>
          <p:cNvCxnSpPr/>
          <p:nvPr/>
        </p:nvCxnSpPr>
        <p:spPr>
          <a:xfrm>
            <a:off x="2150600" y="3673925"/>
            <a:ext cx="230100" cy="0"/>
          </a:xfrm>
          <a:prstGeom prst="straightConnector1">
            <a:avLst/>
          </a:prstGeom>
          <a:noFill/>
          <a:ln cap="flat" cmpd="sng" w="9525">
            <a:solidFill>
              <a:schemeClr val="dk2"/>
            </a:solidFill>
            <a:prstDash val="solid"/>
            <a:round/>
            <a:headEnd len="med" w="med" type="none"/>
            <a:tailEnd len="med" w="med" type="triangle"/>
          </a:ln>
        </p:spPr>
      </p:cxnSp>
      <p:cxnSp>
        <p:nvCxnSpPr>
          <p:cNvPr id="942" name="Google Shape;942;p44"/>
          <p:cNvCxnSpPr/>
          <p:nvPr/>
        </p:nvCxnSpPr>
        <p:spPr>
          <a:xfrm rot="10800000">
            <a:off x="2144300" y="2225603"/>
            <a:ext cx="243600" cy="0"/>
          </a:xfrm>
          <a:prstGeom prst="straightConnector1">
            <a:avLst/>
          </a:prstGeom>
          <a:noFill/>
          <a:ln cap="flat" cmpd="sng" w="9525">
            <a:solidFill>
              <a:schemeClr val="dk2"/>
            </a:solidFill>
            <a:prstDash val="solid"/>
            <a:round/>
            <a:headEnd len="med" w="med" type="none"/>
            <a:tailEnd len="med" w="med" type="triangle"/>
          </a:ln>
        </p:spPr>
      </p:cxnSp>
      <p:cxnSp>
        <p:nvCxnSpPr>
          <p:cNvPr id="943" name="Google Shape;943;p44"/>
          <p:cNvCxnSpPr/>
          <p:nvPr/>
        </p:nvCxnSpPr>
        <p:spPr>
          <a:xfrm rot="10800000">
            <a:off x="2146950" y="3835175"/>
            <a:ext cx="236400" cy="0"/>
          </a:xfrm>
          <a:prstGeom prst="straightConnector1">
            <a:avLst/>
          </a:prstGeom>
          <a:noFill/>
          <a:ln cap="flat" cmpd="sng" w="9525">
            <a:solidFill>
              <a:schemeClr val="dk2"/>
            </a:solidFill>
            <a:prstDash val="solid"/>
            <a:round/>
            <a:headEnd len="med" w="med" type="none"/>
            <a:tailEnd len="med" w="med" type="triangle"/>
          </a:ln>
        </p:spPr>
      </p:cxnSp>
      <p:cxnSp>
        <p:nvCxnSpPr>
          <p:cNvPr id="944" name="Google Shape;944;p44"/>
          <p:cNvCxnSpPr/>
          <p:nvPr/>
        </p:nvCxnSpPr>
        <p:spPr>
          <a:xfrm>
            <a:off x="3577000" y="2764300"/>
            <a:ext cx="0" cy="190200"/>
          </a:xfrm>
          <a:prstGeom prst="straightConnector1">
            <a:avLst/>
          </a:prstGeom>
          <a:noFill/>
          <a:ln cap="flat" cmpd="sng" w="9525">
            <a:solidFill>
              <a:schemeClr val="dk2"/>
            </a:solidFill>
            <a:prstDash val="solid"/>
            <a:round/>
            <a:headEnd len="med" w="med" type="none"/>
            <a:tailEnd len="med" w="med" type="triangle"/>
          </a:ln>
        </p:spPr>
      </p:cxnSp>
      <p:cxnSp>
        <p:nvCxnSpPr>
          <p:cNvPr id="945" name="Google Shape;945;p44"/>
          <p:cNvCxnSpPr/>
          <p:nvPr/>
        </p:nvCxnSpPr>
        <p:spPr>
          <a:xfrm rot="10800000">
            <a:off x="4130725" y="2764300"/>
            <a:ext cx="3600" cy="192000"/>
          </a:xfrm>
          <a:prstGeom prst="straightConnector1">
            <a:avLst/>
          </a:prstGeom>
          <a:noFill/>
          <a:ln cap="flat" cmpd="sng" w="9525">
            <a:solidFill>
              <a:schemeClr val="dk2"/>
            </a:solidFill>
            <a:prstDash val="solid"/>
            <a:round/>
            <a:headEnd len="med" w="med" type="none"/>
            <a:tailEnd len="med" w="med" type="triangle"/>
          </a:ln>
        </p:spPr>
      </p:cxnSp>
      <p:cxnSp>
        <p:nvCxnSpPr>
          <p:cNvPr id="946" name="Google Shape;946;p44"/>
          <p:cNvCxnSpPr/>
          <p:nvPr/>
        </p:nvCxnSpPr>
        <p:spPr>
          <a:xfrm>
            <a:off x="5338425" y="3535325"/>
            <a:ext cx="336600" cy="0"/>
          </a:xfrm>
          <a:prstGeom prst="straightConnector1">
            <a:avLst/>
          </a:prstGeom>
          <a:noFill/>
          <a:ln cap="flat" cmpd="sng" w="9525">
            <a:solidFill>
              <a:schemeClr val="dk2"/>
            </a:solidFill>
            <a:prstDash val="solid"/>
            <a:round/>
            <a:headEnd len="med" w="med" type="none"/>
            <a:tailEnd len="med" w="med" type="triangle"/>
          </a:ln>
        </p:spPr>
      </p:cxnSp>
      <p:cxnSp>
        <p:nvCxnSpPr>
          <p:cNvPr id="947" name="Google Shape;947;p44"/>
          <p:cNvCxnSpPr/>
          <p:nvPr/>
        </p:nvCxnSpPr>
        <p:spPr>
          <a:xfrm rot="10800000">
            <a:off x="5338525" y="3876450"/>
            <a:ext cx="336600" cy="0"/>
          </a:xfrm>
          <a:prstGeom prst="straightConnector1">
            <a:avLst/>
          </a:prstGeom>
          <a:noFill/>
          <a:ln cap="flat" cmpd="sng" w="9525">
            <a:solidFill>
              <a:schemeClr val="dk2"/>
            </a:solidFill>
            <a:prstDash val="solid"/>
            <a:round/>
            <a:headEnd len="med" w="med" type="none"/>
            <a:tailEnd len="med" w="med" type="triangle"/>
          </a:ln>
        </p:spPr>
      </p:cxnSp>
      <p:sp>
        <p:nvSpPr>
          <p:cNvPr id="948" name="Google Shape;948;p44"/>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2" name="Shape 952"/>
        <p:cNvGrpSpPr/>
        <p:nvPr/>
      </p:nvGrpSpPr>
      <p:grpSpPr>
        <a:xfrm>
          <a:off x="0" y="0"/>
          <a:ext cx="0" cy="0"/>
          <a:chOff x="0" y="0"/>
          <a:chExt cx="0" cy="0"/>
        </a:xfrm>
      </p:grpSpPr>
      <p:pic>
        <p:nvPicPr>
          <p:cNvPr descr="image.png" id="953" name="Google Shape;953;p4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54" name="Google Shape;954;p45"/>
          <p:cNvSpPr txBox="1"/>
          <p:nvPr/>
        </p:nvSpPr>
        <p:spPr>
          <a:xfrm>
            <a:off x="571500" y="357188"/>
            <a:ext cx="8001000" cy="477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vi" sz="1100">
                <a:solidFill>
                  <a:srgbClr val="8BC249"/>
                </a:solidFill>
                <a:latin typeface="Montserrat SemiBold"/>
                <a:ea typeface="Montserrat SemiBold"/>
                <a:cs typeface="Montserrat SemiBold"/>
                <a:sym typeface="Montserrat SemiBold"/>
              </a:rPr>
              <a:t>VIETNAM PRODUCTION ENGINEER TEAM</a:t>
            </a:r>
            <a:endParaRPr b="0" sz="1100">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2000">
                <a:solidFill>
                  <a:srgbClr val="1E293B"/>
                </a:solidFill>
                <a:latin typeface="Montserrat"/>
                <a:ea typeface="Montserrat"/>
                <a:cs typeface="Montserrat"/>
                <a:sym typeface="Montserrat"/>
              </a:rPr>
              <a:t>NHỮNG KHÓ KHĂN HIỆN TẠI</a:t>
            </a:r>
            <a:endParaRPr b="1" sz="2000">
              <a:solidFill>
                <a:srgbClr val="1E293B"/>
              </a:solidFill>
              <a:latin typeface="Montserrat"/>
              <a:ea typeface="Montserrat"/>
              <a:cs typeface="Montserrat"/>
              <a:sym typeface="Montserrat"/>
            </a:endParaRPr>
          </a:p>
        </p:txBody>
      </p:sp>
      <p:sp>
        <p:nvSpPr>
          <p:cNvPr id="955" name="Google Shape;955;p45"/>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956" name="Google Shape;956;p45"/>
          <p:cNvGrpSpPr/>
          <p:nvPr/>
        </p:nvGrpSpPr>
        <p:grpSpPr>
          <a:xfrm>
            <a:off x="428625" y="1333500"/>
            <a:ext cx="8286825" cy="3333825"/>
            <a:chOff x="428625" y="1333500"/>
            <a:chExt cx="8286825" cy="3333825"/>
          </a:xfrm>
        </p:grpSpPr>
        <p:grpSp>
          <p:nvGrpSpPr>
            <p:cNvPr id="957" name="Google Shape;957;p45"/>
            <p:cNvGrpSpPr/>
            <p:nvPr/>
          </p:nvGrpSpPr>
          <p:grpSpPr>
            <a:xfrm>
              <a:off x="428625" y="1333500"/>
              <a:ext cx="4048200" cy="1571700"/>
              <a:chOff x="428625" y="1333500"/>
              <a:chExt cx="4048200" cy="1571700"/>
            </a:xfrm>
          </p:grpSpPr>
          <p:sp>
            <p:nvSpPr>
              <p:cNvPr id="958" name="Google Shape;958;p45"/>
              <p:cNvSpPr/>
              <p:nvPr/>
            </p:nvSpPr>
            <p:spPr>
              <a:xfrm>
                <a:off x="428625" y="1333500"/>
                <a:ext cx="40482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9" name="Google Shape;959;p45"/>
              <p:cNvSpPr/>
              <p:nvPr/>
            </p:nvSpPr>
            <p:spPr>
              <a:xfrm>
                <a:off x="428625" y="1333500"/>
                <a:ext cx="40482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0" name="Google Shape;960;p45"/>
              <p:cNvSpPr txBox="1"/>
              <p:nvPr/>
            </p:nvSpPr>
            <p:spPr>
              <a:xfrm>
                <a:off x="619125" y="15240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400">
                    <a:solidFill>
                      <a:srgbClr val="1E293B"/>
                    </a:solidFill>
                    <a:latin typeface="Montserrat"/>
                    <a:ea typeface="Montserrat"/>
                    <a:cs typeface="Montserrat"/>
                    <a:sym typeface="Montserrat"/>
                  </a:rPr>
                  <a:t>1. Thiếu hụt kỹ năng vận hành</a:t>
                </a:r>
                <a:endParaRPr b="1" sz="1400">
                  <a:solidFill>
                    <a:srgbClr val="1E293B"/>
                  </a:solidFill>
                  <a:latin typeface="Montserrat"/>
                  <a:ea typeface="Montserrat"/>
                  <a:cs typeface="Montserrat"/>
                  <a:sym typeface="Montserrat"/>
                </a:endParaRPr>
              </a:p>
              <a:p>
                <a:pPr indent="0" lvl="0" marL="0" rtl="0" algn="l">
                  <a:spcBef>
                    <a:spcPts val="900"/>
                  </a:spcBef>
                  <a:spcAft>
                    <a:spcPts val="0"/>
                  </a:spcAft>
                  <a:buNone/>
                </a:pPr>
                <a:r>
                  <a:rPr b="0" lang="vi" sz="1100">
                    <a:solidFill>
                      <a:srgbClr val="475569"/>
                    </a:solidFill>
                    <a:latin typeface="Inter"/>
                    <a:ea typeface="Inter"/>
                    <a:cs typeface="Inter"/>
                    <a:sym typeface="Inter"/>
                  </a:rPr>
                  <a:t>Hệ thống đầy đủ tính năng nhưng người dùng chưa được đào tạo bài bản, dẫn đến lãng phí tài nguyên công nghệ (mới khai thác ~50% công suất).</a:t>
                </a:r>
                <a:endParaRPr b="0" sz="1100">
                  <a:solidFill>
                    <a:srgbClr val="475569"/>
                  </a:solidFill>
                  <a:latin typeface="Inter"/>
                  <a:ea typeface="Inter"/>
                  <a:cs typeface="Inter"/>
                  <a:sym typeface="Inter"/>
                </a:endParaRPr>
              </a:p>
            </p:txBody>
          </p:sp>
        </p:grpSp>
        <p:grpSp>
          <p:nvGrpSpPr>
            <p:cNvPr id="961" name="Google Shape;961;p45"/>
            <p:cNvGrpSpPr/>
            <p:nvPr/>
          </p:nvGrpSpPr>
          <p:grpSpPr>
            <a:xfrm>
              <a:off x="4667250" y="1333500"/>
              <a:ext cx="4048200" cy="1571700"/>
              <a:chOff x="4667250" y="1333500"/>
              <a:chExt cx="4048200" cy="1571700"/>
            </a:xfrm>
          </p:grpSpPr>
          <p:sp>
            <p:nvSpPr>
              <p:cNvPr id="962" name="Google Shape;962;p45"/>
              <p:cNvSpPr/>
              <p:nvPr/>
            </p:nvSpPr>
            <p:spPr>
              <a:xfrm>
                <a:off x="4667250" y="1333500"/>
                <a:ext cx="40482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3" name="Google Shape;963;p45"/>
              <p:cNvSpPr/>
              <p:nvPr/>
            </p:nvSpPr>
            <p:spPr>
              <a:xfrm>
                <a:off x="4667250" y="1333500"/>
                <a:ext cx="40482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45"/>
              <p:cNvSpPr txBox="1"/>
              <p:nvPr/>
            </p:nvSpPr>
            <p:spPr>
              <a:xfrm>
                <a:off x="4857750" y="15240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400">
                    <a:solidFill>
                      <a:srgbClr val="1E293B"/>
                    </a:solidFill>
                    <a:latin typeface="Montserrat"/>
                    <a:ea typeface="Montserrat"/>
                    <a:cs typeface="Montserrat"/>
                    <a:sym typeface="Montserrat"/>
                  </a:rPr>
                  <a:t>2. Hạn chế về báo cáo</a:t>
                </a:r>
                <a:endParaRPr b="1" sz="1400">
                  <a:solidFill>
                    <a:srgbClr val="1E293B"/>
                  </a:solidFill>
                  <a:latin typeface="Montserrat"/>
                  <a:ea typeface="Montserrat"/>
                  <a:cs typeface="Montserrat"/>
                  <a:sym typeface="Montserrat"/>
                </a:endParaRPr>
              </a:p>
              <a:p>
                <a:pPr indent="0" lvl="0" marL="0" rtl="0" algn="l">
                  <a:spcBef>
                    <a:spcPts val="900"/>
                  </a:spcBef>
                  <a:spcAft>
                    <a:spcPts val="0"/>
                  </a:spcAft>
                  <a:buNone/>
                </a:pPr>
                <a:r>
                  <a:rPr b="0" lang="vi" sz="1100">
                    <a:solidFill>
                      <a:srgbClr val="475569"/>
                    </a:solidFill>
                    <a:latin typeface="Inter"/>
                    <a:ea typeface="Inter"/>
                    <a:cs typeface="Inter"/>
                    <a:sym typeface="Inter"/>
                  </a:rPr>
                  <a:t>Thiếu Dashboard nội bộ và phân tích số liệu tập trung. Hệ thống không xuất báo cáo tức thì, phụ thuộc hoàn toàn vào phần mềm thứ 3 (PowerBI).</a:t>
                </a:r>
                <a:endParaRPr b="0" sz="1100">
                  <a:solidFill>
                    <a:srgbClr val="475569"/>
                  </a:solidFill>
                  <a:latin typeface="Inter"/>
                  <a:ea typeface="Inter"/>
                  <a:cs typeface="Inter"/>
                  <a:sym typeface="Inter"/>
                </a:endParaRPr>
              </a:p>
            </p:txBody>
          </p:sp>
        </p:grpSp>
        <p:grpSp>
          <p:nvGrpSpPr>
            <p:cNvPr id="965" name="Google Shape;965;p45"/>
            <p:cNvGrpSpPr/>
            <p:nvPr/>
          </p:nvGrpSpPr>
          <p:grpSpPr>
            <a:xfrm>
              <a:off x="428625" y="3095625"/>
              <a:ext cx="4048200" cy="1571700"/>
              <a:chOff x="428625" y="3095625"/>
              <a:chExt cx="4048200" cy="1571700"/>
            </a:xfrm>
          </p:grpSpPr>
          <p:sp>
            <p:nvSpPr>
              <p:cNvPr id="966" name="Google Shape;966;p45"/>
              <p:cNvSpPr/>
              <p:nvPr/>
            </p:nvSpPr>
            <p:spPr>
              <a:xfrm>
                <a:off x="428625" y="3095625"/>
                <a:ext cx="40482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7" name="Google Shape;967;p45"/>
              <p:cNvSpPr/>
              <p:nvPr/>
            </p:nvSpPr>
            <p:spPr>
              <a:xfrm>
                <a:off x="428625" y="3095625"/>
                <a:ext cx="40482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8" name="Google Shape;968;p45"/>
              <p:cNvSpPr txBox="1"/>
              <p:nvPr/>
            </p:nvSpPr>
            <p:spPr>
              <a:xfrm>
                <a:off x="619125" y="3286125"/>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400">
                    <a:solidFill>
                      <a:srgbClr val="1E293B"/>
                    </a:solidFill>
                    <a:latin typeface="Montserrat"/>
                    <a:ea typeface="Montserrat"/>
                    <a:cs typeface="Montserrat"/>
                    <a:sym typeface="Montserrat"/>
                  </a:rPr>
                  <a:t>3. Mất đồng bộ MES &amp; ERP</a:t>
                </a:r>
                <a:endParaRPr b="1" sz="1400">
                  <a:solidFill>
                    <a:srgbClr val="1E293B"/>
                  </a:solidFill>
                  <a:latin typeface="Montserrat"/>
                  <a:ea typeface="Montserrat"/>
                  <a:cs typeface="Montserrat"/>
                  <a:sym typeface="Montserrat"/>
                </a:endParaRPr>
              </a:p>
              <a:p>
                <a:pPr indent="0" lvl="0" marL="0" rtl="0" algn="l">
                  <a:spcBef>
                    <a:spcPts val="900"/>
                  </a:spcBef>
                  <a:spcAft>
                    <a:spcPts val="0"/>
                  </a:spcAft>
                  <a:buNone/>
                </a:pPr>
                <a:r>
                  <a:rPr b="0" lang="vi" sz="1100">
                    <a:solidFill>
                      <a:srgbClr val="475569"/>
                    </a:solidFill>
                    <a:latin typeface="Inter"/>
                    <a:ea typeface="Inter"/>
                    <a:cs typeface="Inter"/>
                    <a:sym typeface="Inter"/>
                  </a:rPr>
                  <a:t>Dữ liệu tồn kho sản xuất không liên thông với kết quả kinh doanh (Chi phí &amp; Doanh thu) ở tầng ERP. Việc phân tích bị chia cắt, khó tự động hóa.</a:t>
                </a:r>
                <a:endParaRPr b="0" sz="1100">
                  <a:solidFill>
                    <a:srgbClr val="475569"/>
                  </a:solidFill>
                  <a:latin typeface="Inter"/>
                  <a:ea typeface="Inter"/>
                  <a:cs typeface="Inter"/>
                  <a:sym typeface="Inter"/>
                </a:endParaRPr>
              </a:p>
            </p:txBody>
          </p:sp>
        </p:grpSp>
        <p:grpSp>
          <p:nvGrpSpPr>
            <p:cNvPr id="969" name="Google Shape;969;p45"/>
            <p:cNvGrpSpPr/>
            <p:nvPr/>
          </p:nvGrpSpPr>
          <p:grpSpPr>
            <a:xfrm>
              <a:off x="4667250" y="3095625"/>
              <a:ext cx="4048200" cy="1571700"/>
              <a:chOff x="4667250" y="3095625"/>
              <a:chExt cx="4048200" cy="1571700"/>
            </a:xfrm>
          </p:grpSpPr>
          <p:sp>
            <p:nvSpPr>
              <p:cNvPr id="970" name="Google Shape;970;p45"/>
              <p:cNvSpPr/>
              <p:nvPr/>
            </p:nvSpPr>
            <p:spPr>
              <a:xfrm>
                <a:off x="4667250" y="3095625"/>
                <a:ext cx="40482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45"/>
              <p:cNvSpPr/>
              <p:nvPr/>
            </p:nvSpPr>
            <p:spPr>
              <a:xfrm>
                <a:off x="4667250" y="3095625"/>
                <a:ext cx="40482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2" name="Google Shape;972;p45"/>
              <p:cNvSpPr txBox="1"/>
              <p:nvPr/>
            </p:nvSpPr>
            <p:spPr>
              <a:xfrm>
                <a:off x="4857750" y="3286125"/>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400">
                    <a:solidFill>
                      <a:srgbClr val="1E293B"/>
                    </a:solidFill>
                    <a:latin typeface="Montserrat"/>
                    <a:ea typeface="Montserrat"/>
                    <a:cs typeface="Montserrat"/>
                    <a:sym typeface="Montserrat"/>
                  </a:rPr>
                  <a:t>4. Thiếu nhân sự chuyên sâu</a:t>
                </a:r>
                <a:endParaRPr b="1" sz="1400">
                  <a:solidFill>
                    <a:srgbClr val="1E293B"/>
                  </a:solidFill>
                  <a:latin typeface="Montserrat"/>
                  <a:ea typeface="Montserrat"/>
                  <a:cs typeface="Montserrat"/>
                  <a:sym typeface="Montserrat"/>
                </a:endParaRPr>
              </a:p>
              <a:p>
                <a:pPr indent="0" lvl="0" marL="0" rtl="0" algn="l">
                  <a:spcBef>
                    <a:spcPts val="900"/>
                  </a:spcBef>
                  <a:spcAft>
                    <a:spcPts val="0"/>
                  </a:spcAft>
                  <a:buNone/>
                </a:pPr>
                <a:r>
                  <a:rPr b="0" lang="vi" sz="1100">
                    <a:solidFill>
                      <a:srgbClr val="475569"/>
                    </a:solidFill>
                    <a:latin typeface="Inter"/>
                    <a:ea typeface="Inter"/>
                    <a:cs typeface="Inter"/>
                    <a:sym typeface="Inter"/>
                  </a:rPr>
                  <a:t>Thiếu chuyên gia quản trị am hiểu cả MES lẫn ERP để chủ động vận hành và mở rộng tính năng, gây rời rạc giữa các bộ phận.</a:t>
                </a:r>
                <a:endParaRPr b="0" sz="1100">
                  <a:solidFill>
                    <a:srgbClr val="475569"/>
                  </a:solidFill>
                  <a:latin typeface="Inter"/>
                  <a:ea typeface="Inter"/>
                  <a:cs typeface="Inter"/>
                  <a:sym typeface="Inter"/>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pic>
        <p:nvPicPr>
          <p:cNvPr descr="image.png" id="977" name="Google Shape;977;p4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78" name="Google Shape;978;p46"/>
          <p:cNvSpPr txBox="1"/>
          <p:nvPr/>
        </p:nvSpPr>
        <p:spPr>
          <a:xfrm>
            <a:off x="571500" y="357188"/>
            <a:ext cx="8001000" cy="477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vi" sz="1100">
                <a:solidFill>
                  <a:srgbClr val="8BC249"/>
                </a:solidFill>
                <a:latin typeface="Montserrat SemiBold"/>
                <a:ea typeface="Montserrat SemiBold"/>
                <a:cs typeface="Montserrat SemiBold"/>
                <a:sym typeface="Montserrat SemiBold"/>
              </a:rPr>
              <a:t>VIETNAM PRODUCTION ENGINEER TEAM</a:t>
            </a:r>
            <a:endParaRPr sz="1100">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None/>
            </a:pPr>
            <a:r>
              <a:rPr b="1" lang="vi" sz="2000">
                <a:solidFill>
                  <a:srgbClr val="1E293B"/>
                </a:solidFill>
                <a:latin typeface="Montserrat"/>
                <a:ea typeface="Montserrat"/>
                <a:cs typeface="Montserrat"/>
                <a:sym typeface="Montserrat"/>
              </a:rPr>
              <a:t>ĐỀ XUẤT YÊU CẦU ĐỐI VỚI HỆ THỐNG MỚI</a:t>
            </a:r>
            <a:endParaRPr b="1" sz="2000">
              <a:solidFill>
                <a:srgbClr val="1E293B"/>
              </a:solidFill>
              <a:latin typeface="Montserrat"/>
              <a:ea typeface="Montserrat"/>
              <a:cs typeface="Montserrat"/>
              <a:sym typeface="Montserrat"/>
            </a:endParaRPr>
          </a:p>
        </p:txBody>
      </p:sp>
      <p:sp>
        <p:nvSpPr>
          <p:cNvPr id="979" name="Google Shape;979;p46"/>
          <p:cNvSpPr/>
          <p:nvPr/>
        </p:nvSpPr>
        <p:spPr>
          <a:xfrm>
            <a:off x="428625" y="357188"/>
            <a:ext cx="71700" cy="4071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0" name="Google Shape;980;p46"/>
          <p:cNvSpPr txBox="1"/>
          <p:nvPr/>
        </p:nvSpPr>
        <p:spPr>
          <a:xfrm>
            <a:off x="619125" y="1333500"/>
            <a:ext cx="3810000" cy="215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vi" sz="1400">
                <a:solidFill>
                  <a:srgbClr val="C2410C"/>
                </a:solidFill>
                <a:latin typeface="Montserrat"/>
                <a:ea typeface="Montserrat"/>
                <a:cs typeface="Montserrat"/>
                <a:sym typeface="Montserrat"/>
              </a:rPr>
              <a:t>I. CẢI TIẾN KIẾN TRÚC &amp; TỰ ĐỘNG HÓA</a:t>
            </a:r>
            <a:endParaRPr b="1" sz="1400">
              <a:solidFill>
                <a:srgbClr val="C2410C"/>
              </a:solidFill>
              <a:latin typeface="Montserrat"/>
              <a:ea typeface="Montserrat"/>
              <a:cs typeface="Montserrat"/>
              <a:sym typeface="Montserrat"/>
            </a:endParaRPr>
          </a:p>
        </p:txBody>
      </p:sp>
      <p:sp>
        <p:nvSpPr>
          <p:cNvPr id="981" name="Google Shape;981;p46"/>
          <p:cNvSpPr txBox="1"/>
          <p:nvPr/>
        </p:nvSpPr>
        <p:spPr>
          <a:xfrm>
            <a:off x="4714875" y="1333500"/>
            <a:ext cx="3810000" cy="215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vi" sz="1400">
                <a:solidFill>
                  <a:srgbClr val="C2410C"/>
                </a:solidFill>
                <a:latin typeface="Montserrat"/>
                <a:ea typeface="Montserrat"/>
                <a:cs typeface="Montserrat"/>
                <a:sym typeface="Montserrat"/>
              </a:rPr>
              <a:t>II. PHÁT TRIỂN NGUỒN LỰC &amp; VẬN HÀNH</a:t>
            </a:r>
            <a:endParaRPr b="1" sz="1400">
              <a:solidFill>
                <a:srgbClr val="C2410C"/>
              </a:solidFill>
              <a:latin typeface="Montserrat"/>
              <a:ea typeface="Montserrat"/>
              <a:cs typeface="Montserrat"/>
              <a:sym typeface="Montserrat"/>
            </a:endParaRPr>
          </a:p>
        </p:txBody>
      </p:sp>
      <p:grpSp>
        <p:nvGrpSpPr>
          <p:cNvPr id="982" name="Google Shape;982;p46"/>
          <p:cNvGrpSpPr/>
          <p:nvPr/>
        </p:nvGrpSpPr>
        <p:grpSpPr>
          <a:xfrm>
            <a:off x="619125" y="1762125"/>
            <a:ext cx="3952800" cy="1285800"/>
            <a:chOff x="619125" y="1762125"/>
            <a:chExt cx="3952800" cy="1285800"/>
          </a:xfrm>
        </p:grpSpPr>
        <p:sp>
          <p:nvSpPr>
            <p:cNvPr id="983" name="Google Shape;983;p46"/>
            <p:cNvSpPr/>
            <p:nvPr/>
          </p:nvSpPr>
          <p:spPr>
            <a:xfrm>
              <a:off x="619125" y="1762125"/>
              <a:ext cx="3952800" cy="1285800"/>
            </a:xfrm>
            <a:prstGeom prst="roundRect">
              <a:avLst>
                <a:gd fmla="val 5925" name="adj"/>
              </a:avLst>
            </a:prstGeom>
            <a:solidFill>
              <a:srgbClr val="FFF7ED"/>
            </a:solidFill>
            <a:ln cap="flat" cmpd="sng" w="9525">
              <a:solidFill>
                <a:srgbClr val="FED7A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4" name="Google Shape;984;p46"/>
            <p:cNvSpPr txBox="1"/>
            <p:nvPr/>
          </p:nvSpPr>
          <p:spPr>
            <a:xfrm>
              <a:off x="762000" y="1934210"/>
              <a:ext cx="285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vi" sz="1850">
                  <a:solidFill>
                    <a:srgbClr val="EA580C"/>
                  </a:solidFill>
                  <a:latin typeface="Material Icons"/>
                  <a:ea typeface="Material Icons"/>
                  <a:cs typeface="Material Icons"/>
                  <a:sym typeface="Material Icons"/>
                </a:rPr>
                <a:t>sync</a:t>
              </a:r>
              <a:endParaRPr sz="1850">
                <a:solidFill>
                  <a:srgbClr val="EA580C"/>
                </a:solidFill>
                <a:latin typeface="Material Icons"/>
                <a:ea typeface="Material Icons"/>
                <a:cs typeface="Material Icons"/>
                <a:sym typeface="Material Icons"/>
              </a:endParaRPr>
            </a:p>
          </p:txBody>
        </p:sp>
        <p:sp>
          <p:nvSpPr>
            <p:cNvPr id="985" name="Google Shape;985;p46"/>
            <p:cNvSpPr txBox="1"/>
            <p:nvPr/>
          </p:nvSpPr>
          <p:spPr>
            <a:xfrm>
              <a:off x="1095375" y="1857375"/>
              <a:ext cx="3333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100">
                  <a:solidFill>
                    <a:srgbClr val="0F172A"/>
                  </a:solidFill>
                  <a:latin typeface="Inter"/>
                  <a:ea typeface="Inter"/>
                  <a:cs typeface="Inter"/>
                  <a:sym typeface="Inter"/>
                </a:rPr>
                <a:t>Đồng bộ hóa dữ liệu MES - ERP</a:t>
              </a:r>
              <a:endParaRPr b="1" sz="1100">
                <a:solidFill>
                  <a:srgbClr val="0F172A"/>
                </a:solidFill>
                <a:latin typeface="Inter"/>
                <a:ea typeface="Inter"/>
                <a:cs typeface="Inter"/>
                <a:sym typeface="Inter"/>
              </a:endParaRPr>
            </a:p>
            <a:p>
              <a:pPr indent="0" lvl="0" marL="0" rtl="0" algn="l">
                <a:spcBef>
                  <a:spcPts val="450"/>
                </a:spcBef>
                <a:spcAft>
                  <a:spcPts val="0"/>
                </a:spcAft>
                <a:buNone/>
              </a:pPr>
              <a:r>
                <a:rPr b="0" lang="vi" sz="1000">
                  <a:solidFill>
                    <a:srgbClr val="475569"/>
                  </a:solidFill>
                  <a:latin typeface="Inter"/>
                  <a:ea typeface="Inter"/>
                  <a:cs typeface="Inter"/>
                  <a:sym typeface="Inter"/>
                </a:rPr>
                <a:t>Thiết lập dòng chảy dữ liệu tự động, liên kết chặt chẽ giữa Tồn kho sản xuất (Tài sản) với hạch toán kế toán (Chi phí/Doanh thu) để tự động hóa báo cáo hiệu quả kinh doanh.</a:t>
              </a:r>
              <a:endParaRPr b="0" sz="1000">
                <a:solidFill>
                  <a:srgbClr val="475569"/>
                </a:solidFill>
                <a:latin typeface="Inter"/>
                <a:ea typeface="Inter"/>
                <a:cs typeface="Inter"/>
                <a:sym typeface="Inter"/>
              </a:endParaRPr>
            </a:p>
          </p:txBody>
        </p:sp>
      </p:grpSp>
      <p:grpSp>
        <p:nvGrpSpPr>
          <p:cNvPr id="986" name="Google Shape;986;p46"/>
          <p:cNvGrpSpPr/>
          <p:nvPr/>
        </p:nvGrpSpPr>
        <p:grpSpPr>
          <a:xfrm>
            <a:off x="619125" y="3190875"/>
            <a:ext cx="3952800" cy="1285800"/>
            <a:chOff x="619125" y="3190875"/>
            <a:chExt cx="3952800" cy="1285800"/>
          </a:xfrm>
        </p:grpSpPr>
        <p:sp>
          <p:nvSpPr>
            <p:cNvPr id="987" name="Google Shape;987;p46"/>
            <p:cNvSpPr/>
            <p:nvPr/>
          </p:nvSpPr>
          <p:spPr>
            <a:xfrm>
              <a:off x="619125" y="3190875"/>
              <a:ext cx="3952800" cy="1285800"/>
            </a:xfrm>
            <a:prstGeom prst="roundRect">
              <a:avLst>
                <a:gd fmla="val 5925" name="adj"/>
              </a:avLst>
            </a:prstGeom>
            <a:solidFill>
              <a:srgbClr val="FFF7ED"/>
            </a:solidFill>
            <a:ln cap="flat" cmpd="sng" w="9525">
              <a:solidFill>
                <a:srgbClr val="FED7A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8" name="Google Shape;988;p46"/>
            <p:cNvSpPr txBox="1"/>
            <p:nvPr/>
          </p:nvSpPr>
          <p:spPr>
            <a:xfrm>
              <a:off x="762000" y="3362960"/>
              <a:ext cx="285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vi" sz="1850">
                  <a:solidFill>
                    <a:srgbClr val="EA580C"/>
                  </a:solidFill>
                  <a:latin typeface="Material Icons"/>
                  <a:ea typeface="Material Icons"/>
                  <a:cs typeface="Material Icons"/>
                  <a:sym typeface="Material Icons"/>
                </a:rPr>
                <a:t>dashboard</a:t>
              </a:r>
              <a:endParaRPr sz="1850">
                <a:solidFill>
                  <a:srgbClr val="EA580C"/>
                </a:solidFill>
                <a:latin typeface="Material Icons"/>
                <a:ea typeface="Material Icons"/>
                <a:cs typeface="Material Icons"/>
                <a:sym typeface="Material Icons"/>
              </a:endParaRPr>
            </a:p>
          </p:txBody>
        </p:sp>
        <p:sp>
          <p:nvSpPr>
            <p:cNvPr id="989" name="Google Shape;989;p46"/>
            <p:cNvSpPr txBox="1"/>
            <p:nvPr/>
          </p:nvSpPr>
          <p:spPr>
            <a:xfrm>
              <a:off x="1095375" y="3286125"/>
              <a:ext cx="3333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100">
                  <a:solidFill>
                    <a:srgbClr val="0F172A"/>
                  </a:solidFill>
                  <a:latin typeface="Inter"/>
                  <a:ea typeface="Inter"/>
                  <a:cs typeface="Inter"/>
                  <a:sym typeface="Inter"/>
                </a:rPr>
                <a:t>Tích hợp Dashboard báo cáo nội bộ</a:t>
              </a:r>
              <a:endParaRPr b="1" sz="1100">
                <a:solidFill>
                  <a:srgbClr val="0F172A"/>
                </a:solidFill>
                <a:latin typeface="Inter"/>
                <a:ea typeface="Inter"/>
                <a:cs typeface="Inter"/>
                <a:sym typeface="Inter"/>
              </a:endParaRPr>
            </a:p>
            <a:p>
              <a:pPr indent="0" lvl="0" marL="0" rtl="0" algn="l">
                <a:spcBef>
                  <a:spcPts val="450"/>
                </a:spcBef>
                <a:spcAft>
                  <a:spcPts val="0"/>
                </a:spcAft>
                <a:buNone/>
              </a:pPr>
              <a:r>
                <a:rPr b="0" lang="vi" sz="1000">
                  <a:solidFill>
                    <a:srgbClr val="475569"/>
                  </a:solidFill>
                  <a:latin typeface="Inter"/>
                  <a:ea typeface="Inter"/>
                  <a:cs typeface="Inter"/>
                  <a:sym typeface="Inter"/>
                </a:rPr>
                <a:t>Xây dựng phân hệ phân tích dữ liệu trực quan ngay trên phần mềm mới, loại bỏ việc phụ thuộc vào các công cụ trung gian như PowerBI.</a:t>
              </a:r>
              <a:endParaRPr b="0" sz="1000">
                <a:solidFill>
                  <a:srgbClr val="475569"/>
                </a:solidFill>
                <a:latin typeface="Inter"/>
                <a:ea typeface="Inter"/>
                <a:cs typeface="Inter"/>
                <a:sym typeface="Inter"/>
              </a:endParaRPr>
            </a:p>
          </p:txBody>
        </p:sp>
      </p:grpSp>
      <p:grpSp>
        <p:nvGrpSpPr>
          <p:cNvPr id="990" name="Google Shape;990;p46"/>
          <p:cNvGrpSpPr/>
          <p:nvPr/>
        </p:nvGrpSpPr>
        <p:grpSpPr>
          <a:xfrm>
            <a:off x="4714875" y="1762125"/>
            <a:ext cx="3952800" cy="1285800"/>
            <a:chOff x="4714875" y="1762125"/>
            <a:chExt cx="3952800" cy="1285800"/>
          </a:xfrm>
        </p:grpSpPr>
        <p:sp>
          <p:nvSpPr>
            <p:cNvPr id="991" name="Google Shape;991;p46"/>
            <p:cNvSpPr/>
            <p:nvPr/>
          </p:nvSpPr>
          <p:spPr>
            <a:xfrm>
              <a:off x="4714875" y="1762125"/>
              <a:ext cx="3952800" cy="1285800"/>
            </a:xfrm>
            <a:prstGeom prst="roundRect">
              <a:avLst>
                <a:gd fmla="val 5925"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2" name="Google Shape;992;p46"/>
            <p:cNvSpPr txBox="1"/>
            <p:nvPr/>
          </p:nvSpPr>
          <p:spPr>
            <a:xfrm>
              <a:off x="4857750" y="1934210"/>
              <a:ext cx="285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vi" sz="1850">
                  <a:solidFill>
                    <a:srgbClr val="0284C7"/>
                  </a:solidFill>
                  <a:latin typeface="Material Icons"/>
                  <a:ea typeface="Material Icons"/>
                  <a:cs typeface="Material Icons"/>
                  <a:sym typeface="Material Icons"/>
                </a:rPr>
                <a:t>school</a:t>
              </a:r>
              <a:endParaRPr sz="1850">
                <a:solidFill>
                  <a:srgbClr val="0284C7"/>
                </a:solidFill>
                <a:latin typeface="Material Icons"/>
                <a:ea typeface="Material Icons"/>
                <a:cs typeface="Material Icons"/>
                <a:sym typeface="Material Icons"/>
              </a:endParaRPr>
            </a:p>
          </p:txBody>
        </p:sp>
        <p:sp>
          <p:nvSpPr>
            <p:cNvPr id="993" name="Google Shape;993;p46"/>
            <p:cNvSpPr txBox="1"/>
            <p:nvPr/>
          </p:nvSpPr>
          <p:spPr>
            <a:xfrm>
              <a:off x="5191125" y="1857375"/>
              <a:ext cx="3333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100">
                  <a:solidFill>
                    <a:srgbClr val="0F172A"/>
                  </a:solidFill>
                  <a:latin typeface="Inter"/>
                  <a:ea typeface="Inter"/>
                  <a:cs typeface="Inter"/>
                  <a:sym typeface="Inter"/>
                </a:rPr>
                <a:t>Chuẩn hóa đào tạo người dùng</a:t>
              </a:r>
              <a:endParaRPr b="1" sz="1100">
                <a:solidFill>
                  <a:srgbClr val="0F172A"/>
                </a:solidFill>
                <a:latin typeface="Inter"/>
                <a:ea typeface="Inter"/>
                <a:cs typeface="Inter"/>
                <a:sym typeface="Inter"/>
              </a:endParaRPr>
            </a:p>
            <a:p>
              <a:pPr indent="0" lvl="0" marL="0" rtl="0" algn="l">
                <a:spcBef>
                  <a:spcPts val="450"/>
                </a:spcBef>
                <a:spcAft>
                  <a:spcPts val="0"/>
                </a:spcAft>
                <a:buNone/>
              </a:pPr>
              <a:r>
                <a:rPr b="0" lang="vi" sz="1000">
                  <a:solidFill>
                    <a:srgbClr val="475569"/>
                  </a:solidFill>
                  <a:latin typeface="Inter"/>
                  <a:ea typeface="Inter"/>
                  <a:cs typeface="Inter"/>
                  <a:sym typeface="Inter"/>
                </a:rPr>
                <a:t>Xây dựng tài liệu hướng dẫn chuẩn và tổ chức các khóa đào tạo chuyên sâu nhằm nâng cao tỷ lệ làm chủ hệ thống từ 50% lên 100%.</a:t>
              </a:r>
              <a:endParaRPr b="0" sz="1000">
                <a:solidFill>
                  <a:srgbClr val="475569"/>
                </a:solidFill>
                <a:latin typeface="Inter"/>
                <a:ea typeface="Inter"/>
                <a:cs typeface="Inter"/>
                <a:sym typeface="Inter"/>
              </a:endParaRPr>
            </a:p>
          </p:txBody>
        </p:sp>
      </p:grpSp>
      <p:grpSp>
        <p:nvGrpSpPr>
          <p:cNvPr id="994" name="Google Shape;994;p46"/>
          <p:cNvGrpSpPr/>
          <p:nvPr/>
        </p:nvGrpSpPr>
        <p:grpSpPr>
          <a:xfrm>
            <a:off x="4714875" y="3190875"/>
            <a:ext cx="3952800" cy="1285800"/>
            <a:chOff x="4714875" y="3190875"/>
            <a:chExt cx="3952800" cy="1285800"/>
          </a:xfrm>
        </p:grpSpPr>
        <p:sp>
          <p:nvSpPr>
            <p:cNvPr id="995" name="Google Shape;995;p46"/>
            <p:cNvSpPr/>
            <p:nvPr/>
          </p:nvSpPr>
          <p:spPr>
            <a:xfrm>
              <a:off x="4714875" y="3190875"/>
              <a:ext cx="3952800" cy="1285800"/>
            </a:xfrm>
            <a:prstGeom prst="roundRect">
              <a:avLst>
                <a:gd fmla="val 5925"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6" name="Google Shape;996;p46"/>
            <p:cNvSpPr txBox="1"/>
            <p:nvPr/>
          </p:nvSpPr>
          <p:spPr>
            <a:xfrm>
              <a:off x="4857750" y="3362960"/>
              <a:ext cx="285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vi" sz="1850">
                  <a:solidFill>
                    <a:srgbClr val="0284C7"/>
                  </a:solidFill>
                  <a:latin typeface="Material Icons"/>
                  <a:ea typeface="Material Icons"/>
                  <a:cs typeface="Material Icons"/>
                  <a:sym typeface="Material Icons"/>
                </a:rPr>
                <a:t>groups</a:t>
              </a:r>
              <a:endParaRPr sz="1850">
                <a:solidFill>
                  <a:srgbClr val="0284C7"/>
                </a:solidFill>
                <a:latin typeface="Material Icons"/>
                <a:ea typeface="Material Icons"/>
                <a:cs typeface="Material Icons"/>
                <a:sym typeface="Material Icons"/>
              </a:endParaRPr>
            </a:p>
          </p:txBody>
        </p:sp>
        <p:sp>
          <p:nvSpPr>
            <p:cNvPr id="997" name="Google Shape;997;p46"/>
            <p:cNvSpPr txBox="1"/>
            <p:nvPr/>
          </p:nvSpPr>
          <p:spPr>
            <a:xfrm>
              <a:off x="5191125" y="3286125"/>
              <a:ext cx="3333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100">
                  <a:solidFill>
                    <a:srgbClr val="0F172A"/>
                  </a:solidFill>
                  <a:latin typeface="Inter"/>
                  <a:ea typeface="Inter"/>
                  <a:cs typeface="Inter"/>
                  <a:sym typeface="Inter"/>
                </a:rPr>
                <a:t>Kiện toàn đội ngũ Key-User</a:t>
              </a:r>
              <a:endParaRPr b="1" sz="1100">
                <a:solidFill>
                  <a:srgbClr val="0F172A"/>
                </a:solidFill>
                <a:latin typeface="Inter"/>
                <a:ea typeface="Inter"/>
                <a:cs typeface="Inter"/>
                <a:sym typeface="Inter"/>
              </a:endParaRPr>
            </a:p>
            <a:p>
              <a:pPr indent="0" lvl="0" marL="0" rtl="0" algn="l">
                <a:spcBef>
                  <a:spcPts val="450"/>
                </a:spcBef>
                <a:spcAft>
                  <a:spcPts val="0"/>
                </a:spcAft>
                <a:buNone/>
              </a:pPr>
              <a:r>
                <a:rPr b="0" lang="vi" sz="1000">
                  <a:solidFill>
                    <a:srgbClr val="475569"/>
                  </a:solidFill>
                  <a:latin typeface="Inter"/>
                  <a:ea typeface="Inter"/>
                  <a:cs typeface="Inter"/>
                  <a:sym typeface="Inter"/>
                </a:rPr>
                <a:t>Đào tạo nhân sự nòng cốt am hiểu toàn diện luồng MES-ERP để chủ động giám sát hiện trạng và phát triển hệ thống đồng bộ.</a:t>
              </a:r>
              <a:endParaRPr b="0" sz="1000">
                <a:solidFill>
                  <a:srgbClr val="475569"/>
                </a:solidFill>
                <a:latin typeface="Inter"/>
                <a:ea typeface="Inter"/>
                <a:cs typeface="Inter"/>
                <a:sym typeface="Inte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1" name="Shape 1001"/>
        <p:cNvGrpSpPr/>
        <p:nvPr/>
      </p:nvGrpSpPr>
      <p:grpSpPr>
        <a:xfrm>
          <a:off x="0" y="0"/>
          <a:ext cx="0" cy="0"/>
          <a:chOff x="0" y="0"/>
          <a:chExt cx="0" cy="0"/>
        </a:xfrm>
      </p:grpSpPr>
      <p:pic>
        <p:nvPicPr>
          <p:cNvPr descr="image.png" id="1002" name="Google Shape;1002;p4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03" name="Google Shape;1003;p47"/>
          <p:cNvSpPr txBox="1"/>
          <p:nvPr/>
        </p:nvSpPr>
        <p:spPr>
          <a:xfrm>
            <a:off x="571500" y="357188"/>
            <a:ext cx="85512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vi" sz="1000">
                <a:solidFill>
                  <a:srgbClr val="8BC249"/>
                </a:solidFill>
                <a:latin typeface="Montserrat SemiBold"/>
                <a:ea typeface="Montserrat SemiBold"/>
                <a:cs typeface="Montserrat SemiBold"/>
                <a:sym typeface="Montserrat SemiBold"/>
              </a:rPr>
              <a:t>VIETNAM AUTOMATION TEAM</a:t>
            </a:r>
            <a:endParaRPr b="0" i="0" sz="1900" u="none" cap="none" strike="noStrike">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Clr>
                <a:schemeClr val="dk1"/>
              </a:buClr>
              <a:buSzPts val="1100"/>
              <a:buFont typeface="Arial"/>
              <a:buNone/>
            </a:pPr>
            <a:r>
              <a:rPr b="1" lang="vi" sz="2000">
                <a:solidFill>
                  <a:srgbClr val="0F172A"/>
                </a:solidFill>
                <a:latin typeface="Montserrat"/>
                <a:ea typeface="Montserrat"/>
                <a:cs typeface="Montserrat"/>
                <a:sym typeface="Montserrat"/>
              </a:rPr>
              <a:t>SƠ ĐỒ QUY TRÌNH NGHIỆP VỤ </a:t>
            </a:r>
            <a:endParaRPr b="0" i="0" sz="1100" u="none" cap="none" strike="noStrike">
              <a:solidFill>
                <a:srgbClr val="000000"/>
              </a:solidFill>
              <a:latin typeface="Arial"/>
              <a:ea typeface="Arial"/>
              <a:cs typeface="Arial"/>
              <a:sym typeface="Arial"/>
            </a:endParaRPr>
          </a:p>
        </p:txBody>
      </p:sp>
      <p:sp>
        <p:nvSpPr>
          <p:cNvPr id="1004" name="Google Shape;1004;p47"/>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1005" name="Google Shape;1005;p47"/>
          <p:cNvGrpSpPr/>
          <p:nvPr/>
        </p:nvGrpSpPr>
        <p:grpSpPr>
          <a:xfrm>
            <a:off x="381000" y="1047750"/>
            <a:ext cx="5524500" cy="3810000"/>
            <a:chOff x="381000" y="1047750"/>
            <a:chExt cx="5524500" cy="3810000"/>
          </a:xfrm>
        </p:grpSpPr>
        <p:sp>
          <p:nvSpPr>
            <p:cNvPr id="1006" name="Google Shape;1006;p47"/>
            <p:cNvSpPr/>
            <p:nvPr/>
          </p:nvSpPr>
          <p:spPr>
            <a:xfrm>
              <a:off x="381000" y="1047750"/>
              <a:ext cx="5524500" cy="3810000"/>
            </a:xfrm>
            <a:prstGeom prst="roundRect">
              <a:avLst>
                <a:gd fmla="val 3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47"/>
            <p:cNvSpPr/>
            <p:nvPr/>
          </p:nvSpPr>
          <p:spPr>
            <a:xfrm>
              <a:off x="381000" y="1047750"/>
              <a:ext cx="55245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08" name="Google Shape;1008;p47"/>
            <p:cNvGrpSpPr/>
            <p:nvPr/>
          </p:nvGrpSpPr>
          <p:grpSpPr>
            <a:xfrm>
              <a:off x="666750" y="1238250"/>
              <a:ext cx="4953150" cy="666900"/>
              <a:chOff x="666750" y="1238250"/>
              <a:chExt cx="4953150" cy="666900"/>
            </a:xfrm>
          </p:grpSpPr>
          <p:sp>
            <p:nvSpPr>
              <p:cNvPr id="1009" name="Google Shape;1009;p47"/>
              <p:cNvSpPr txBox="1"/>
              <p:nvPr/>
            </p:nvSpPr>
            <p:spPr>
              <a:xfrm>
                <a:off x="666750" y="13685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app_registration</a:t>
                </a:r>
                <a:endParaRPr sz="2400">
                  <a:solidFill>
                    <a:srgbClr val="8BC249"/>
                  </a:solidFill>
                  <a:latin typeface="Material Icons"/>
                  <a:ea typeface="Material Icons"/>
                  <a:cs typeface="Material Icons"/>
                  <a:sym typeface="Material Icons"/>
                </a:endParaRPr>
              </a:p>
            </p:txBody>
          </p:sp>
          <p:sp>
            <p:nvSpPr>
              <p:cNvPr id="1010" name="Google Shape;1010;p47"/>
              <p:cNvSpPr txBox="1"/>
              <p:nvPr/>
            </p:nvSpPr>
            <p:spPr>
              <a:xfrm>
                <a:off x="1143000" y="1238250"/>
                <a:ext cx="4476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200">
                    <a:solidFill>
                      <a:srgbClr val="0F172A"/>
                    </a:solidFill>
                    <a:latin typeface="Inter"/>
                    <a:ea typeface="Inter"/>
                    <a:cs typeface="Inter"/>
                    <a:sym typeface="Inter"/>
                  </a:rPr>
                  <a:t>Đăng ký mã quản lý Spare Part</a:t>
                </a:r>
                <a:endParaRPr b="1" sz="12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64748B"/>
                    </a:solidFill>
                    <a:latin typeface="Inter"/>
                    <a:ea typeface="Inter"/>
                    <a:cs typeface="Inter"/>
                    <a:sym typeface="Inter"/>
                  </a:rPr>
                  <a:t>Khai báo thông tin tạo mã quản lý thiết bị phụ tùng lên hệ thống.</a:t>
                </a:r>
                <a:endParaRPr sz="1000">
                  <a:solidFill>
                    <a:srgbClr val="64748B"/>
                  </a:solidFill>
                  <a:latin typeface="Inter"/>
                  <a:ea typeface="Inter"/>
                  <a:cs typeface="Inter"/>
                  <a:sym typeface="Inter"/>
                </a:endParaRPr>
              </a:p>
            </p:txBody>
          </p:sp>
        </p:grpSp>
        <p:cxnSp>
          <p:nvCxnSpPr>
            <p:cNvPr id="1011" name="Google Shape;1011;p47"/>
            <p:cNvCxnSpPr/>
            <p:nvPr/>
          </p:nvCxnSpPr>
          <p:spPr>
            <a:xfrm>
              <a:off x="666750" y="2047875"/>
              <a:ext cx="49530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1012" name="Google Shape;1012;p47"/>
            <p:cNvGrpSpPr/>
            <p:nvPr/>
          </p:nvGrpSpPr>
          <p:grpSpPr>
            <a:xfrm>
              <a:off x="666750" y="2238375"/>
              <a:ext cx="4953150" cy="666900"/>
              <a:chOff x="666750" y="2238375"/>
              <a:chExt cx="4953150" cy="666900"/>
            </a:xfrm>
          </p:grpSpPr>
          <p:sp>
            <p:nvSpPr>
              <p:cNvPr id="1013" name="Google Shape;1013;p47"/>
              <p:cNvSpPr txBox="1"/>
              <p:nvPr/>
            </p:nvSpPr>
            <p:spPr>
              <a:xfrm>
                <a:off x="666750" y="23686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inventory_2</a:t>
                </a:r>
                <a:endParaRPr sz="2400">
                  <a:solidFill>
                    <a:srgbClr val="8BC249"/>
                  </a:solidFill>
                  <a:latin typeface="Material Icons"/>
                  <a:ea typeface="Material Icons"/>
                  <a:cs typeface="Material Icons"/>
                  <a:sym typeface="Material Icons"/>
                </a:endParaRPr>
              </a:p>
            </p:txBody>
          </p:sp>
          <p:sp>
            <p:nvSpPr>
              <p:cNvPr id="1014" name="Google Shape;1014;p47"/>
              <p:cNvSpPr txBox="1"/>
              <p:nvPr/>
            </p:nvSpPr>
            <p:spPr>
              <a:xfrm>
                <a:off x="1143000" y="2238375"/>
                <a:ext cx="4476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200">
                    <a:solidFill>
                      <a:srgbClr val="0F172A"/>
                    </a:solidFill>
                    <a:latin typeface="Inter"/>
                    <a:ea typeface="Inter"/>
                    <a:cs typeface="Inter"/>
                    <a:sym typeface="Inter"/>
                  </a:rPr>
                  <a:t>Nhập kho thiết bị phụ tùng</a:t>
                </a:r>
                <a:endParaRPr b="1" sz="12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64748B"/>
                    </a:solidFill>
                    <a:latin typeface="Inter"/>
                    <a:ea typeface="Inter"/>
                    <a:cs typeface="Inter"/>
                    <a:sym typeface="Inter"/>
                  </a:rPr>
                  <a:t>Thực hiện nhập kho Spare Part vật lý và đồng bộ số lượng lên CSDL.</a:t>
                </a:r>
                <a:endParaRPr sz="1000">
                  <a:solidFill>
                    <a:srgbClr val="64748B"/>
                  </a:solidFill>
                  <a:latin typeface="Inter"/>
                  <a:ea typeface="Inter"/>
                  <a:cs typeface="Inter"/>
                  <a:sym typeface="Inter"/>
                </a:endParaRPr>
              </a:p>
            </p:txBody>
          </p:sp>
        </p:grpSp>
        <p:cxnSp>
          <p:nvCxnSpPr>
            <p:cNvPr id="1015" name="Google Shape;1015;p47"/>
            <p:cNvCxnSpPr/>
            <p:nvPr/>
          </p:nvCxnSpPr>
          <p:spPr>
            <a:xfrm>
              <a:off x="666750" y="3048000"/>
              <a:ext cx="49530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1016" name="Google Shape;1016;p47"/>
            <p:cNvGrpSpPr/>
            <p:nvPr/>
          </p:nvGrpSpPr>
          <p:grpSpPr>
            <a:xfrm>
              <a:off x="666750" y="3238500"/>
              <a:ext cx="4953150" cy="666900"/>
              <a:chOff x="666750" y="3238500"/>
              <a:chExt cx="4953150" cy="666900"/>
            </a:xfrm>
          </p:grpSpPr>
          <p:sp>
            <p:nvSpPr>
              <p:cNvPr id="1017" name="Google Shape;1017;p47"/>
              <p:cNvSpPr txBox="1"/>
              <p:nvPr/>
            </p:nvSpPr>
            <p:spPr>
              <a:xfrm>
                <a:off x="666750" y="33688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vi" sz="2400">
                    <a:solidFill>
                      <a:srgbClr val="8BC249"/>
                    </a:solidFill>
                    <a:latin typeface="Material Icons"/>
                    <a:ea typeface="Material Icons"/>
                    <a:cs typeface="Material Icons"/>
                    <a:sym typeface="Material Icons"/>
                  </a:rPr>
                  <a:t>outbound</a:t>
                </a:r>
                <a:endParaRPr sz="2400">
                  <a:solidFill>
                    <a:srgbClr val="8BC249"/>
                  </a:solidFill>
                  <a:latin typeface="Material Icons"/>
                  <a:ea typeface="Material Icons"/>
                  <a:cs typeface="Material Icons"/>
                  <a:sym typeface="Material Icons"/>
                </a:endParaRPr>
              </a:p>
            </p:txBody>
          </p:sp>
          <p:sp>
            <p:nvSpPr>
              <p:cNvPr id="1018" name="Google Shape;1018;p47"/>
              <p:cNvSpPr txBox="1"/>
              <p:nvPr/>
            </p:nvSpPr>
            <p:spPr>
              <a:xfrm>
                <a:off x="1143000" y="3238500"/>
                <a:ext cx="4476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200">
                    <a:solidFill>
                      <a:srgbClr val="0F172A"/>
                    </a:solidFill>
                    <a:latin typeface="Inter"/>
                    <a:ea typeface="Inter"/>
                    <a:cs typeface="Inter"/>
                    <a:sym typeface="Inter"/>
                  </a:rPr>
                  <a:t>Xuất kho phục vụ thay thế/sửa chữa</a:t>
                </a:r>
                <a:endParaRPr b="1" sz="1200">
                  <a:solidFill>
                    <a:srgbClr val="0F172A"/>
                  </a:solidFill>
                  <a:latin typeface="Inter"/>
                  <a:ea typeface="Inter"/>
                  <a:cs typeface="Inter"/>
                  <a:sym typeface="Inter"/>
                </a:endParaRPr>
              </a:p>
              <a:p>
                <a:pPr indent="0" lvl="0" marL="0" rtl="0" algn="l">
                  <a:spcBef>
                    <a:spcPts val="300"/>
                  </a:spcBef>
                  <a:spcAft>
                    <a:spcPts val="0"/>
                  </a:spcAft>
                  <a:buNone/>
                </a:pPr>
                <a:r>
                  <a:rPr lang="vi" sz="1000">
                    <a:solidFill>
                      <a:srgbClr val="64748B"/>
                    </a:solidFill>
                    <a:latin typeface="Inter"/>
                    <a:ea typeface="Inter"/>
                    <a:cs typeface="Inter"/>
                    <a:sym typeface="Inter"/>
                  </a:rPr>
                  <a:t>Cập nhật lưu trữ dữ liệu xuất phụ tùng ra các dây chuyền sản xuất.</a:t>
                </a:r>
                <a:endParaRPr sz="1000">
                  <a:solidFill>
                    <a:srgbClr val="64748B"/>
                  </a:solidFill>
                  <a:latin typeface="Inter"/>
                  <a:ea typeface="Inter"/>
                  <a:cs typeface="Inter"/>
                  <a:sym typeface="Inter"/>
                </a:endParaRPr>
              </a:p>
            </p:txBody>
          </p:sp>
        </p:grpSp>
      </p:grpSp>
      <p:grpSp>
        <p:nvGrpSpPr>
          <p:cNvPr id="1019" name="Google Shape;1019;p47"/>
          <p:cNvGrpSpPr/>
          <p:nvPr/>
        </p:nvGrpSpPr>
        <p:grpSpPr>
          <a:xfrm>
            <a:off x="6096000" y="1047750"/>
            <a:ext cx="2667000" cy="3810000"/>
            <a:chOff x="6096000" y="1047750"/>
            <a:chExt cx="2667000" cy="3810000"/>
          </a:xfrm>
        </p:grpSpPr>
        <p:sp>
          <p:nvSpPr>
            <p:cNvPr id="1020" name="Google Shape;1020;p47"/>
            <p:cNvSpPr/>
            <p:nvPr/>
          </p:nvSpPr>
          <p:spPr>
            <a:xfrm>
              <a:off x="6096000" y="1047750"/>
              <a:ext cx="2667000" cy="3810000"/>
            </a:xfrm>
            <a:prstGeom prst="roundRect">
              <a:avLst>
                <a:gd fmla="val 4285"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1" name="Google Shape;1021;p47"/>
            <p:cNvSpPr/>
            <p:nvPr/>
          </p:nvSpPr>
          <p:spPr>
            <a:xfrm>
              <a:off x="6096000" y="1047750"/>
              <a:ext cx="2667000" cy="573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2" name="Google Shape;1022;p47"/>
            <p:cNvSpPr txBox="1"/>
            <p:nvPr/>
          </p:nvSpPr>
          <p:spPr>
            <a:xfrm>
              <a:off x="6286500" y="1238250"/>
              <a:ext cx="2286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vi" sz="1100">
                  <a:solidFill>
                    <a:srgbClr val="0F172A"/>
                  </a:solidFill>
                  <a:latin typeface="Inter"/>
                  <a:ea typeface="Inter"/>
                  <a:cs typeface="Inter"/>
                  <a:sym typeface="Inter"/>
                </a:rPr>
                <a:t>THAO TÁC XUẤT BÁO CÁO</a:t>
              </a:r>
              <a:endParaRPr b="1" sz="1100">
                <a:solidFill>
                  <a:srgbClr val="0F172A"/>
                </a:solidFill>
                <a:latin typeface="Inter"/>
                <a:ea typeface="Inter"/>
                <a:cs typeface="Inter"/>
                <a:sym typeface="Inter"/>
              </a:endParaRPr>
            </a:p>
          </p:txBody>
        </p:sp>
        <p:grpSp>
          <p:nvGrpSpPr>
            <p:cNvPr id="1023" name="Google Shape;1023;p47"/>
            <p:cNvGrpSpPr/>
            <p:nvPr/>
          </p:nvGrpSpPr>
          <p:grpSpPr>
            <a:xfrm>
              <a:off x="6286500" y="1571625"/>
              <a:ext cx="2285850" cy="571500"/>
              <a:chOff x="6286500" y="1571625"/>
              <a:chExt cx="2285850" cy="571500"/>
            </a:xfrm>
          </p:grpSpPr>
          <p:sp>
            <p:nvSpPr>
              <p:cNvPr id="1024" name="Google Shape;1024;p47"/>
              <p:cNvSpPr txBox="1"/>
              <p:nvPr/>
            </p:nvSpPr>
            <p:spPr>
              <a:xfrm>
                <a:off x="6286500" y="1639697"/>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400">
                    <a:solidFill>
                      <a:srgbClr val="0EA5E9"/>
                    </a:solidFill>
                    <a:latin typeface="Material Icons"/>
                    <a:ea typeface="Material Icons"/>
                    <a:cs typeface="Material Icons"/>
                    <a:sym typeface="Material Icons"/>
                  </a:rPr>
                  <a:t>assessment</a:t>
                </a:r>
                <a:endParaRPr sz="1400">
                  <a:solidFill>
                    <a:srgbClr val="0EA5E9"/>
                  </a:solidFill>
                  <a:latin typeface="Material Icons"/>
                  <a:ea typeface="Material Icons"/>
                  <a:cs typeface="Material Icons"/>
                  <a:sym typeface="Material Icons"/>
                </a:endParaRPr>
              </a:p>
            </p:txBody>
          </p:sp>
          <p:sp>
            <p:nvSpPr>
              <p:cNvPr id="1025" name="Google Shape;1025;p47"/>
              <p:cNvSpPr txBox="1"/>
              <p:nvPr/>
            </p:nvSpPr>
            <p:spPr>
              <a:xfrm>
                <a:off x="6572250" y="1571625"/>
                <a:ext cx="20001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950">
                    <a:solidFill>
                      <a:srgbClr val="334155"/>
                    </a:solidFill>
                    <a:latin typeface="Inter"/>
                    <a:ea typeface="Inter"/>
                    <a:cs typeface="Inter"/>
                    <a:sym typeface="Inter"/>
                  </a:rPr>
                  <a:t>Tổng hợp số liệu tồn kho đầu kỳ và cuối kỳ.</a:t>
                </a:r>
                <a:endParaRPr sz="950">
                  <a:solidFill>
                    <a:srgbClr val="334155"/>
                  </a:solidFill>
                  <a:latin typeface="Inter"/>
                  <a:ea typeface="Inter"/>
                  <a:cs typeface="Inter"/>
                  <a:sym typeface="Inter"/>
                </a:endParaRPr>
              </a:p>
            </p:txBody>
          </p:sp>
        </p:grpSp>
        <p:grpSp>
          <p:nvGrpSpPr>
            <p:cNvPr id="1026" name="Google Shape;1026;p47"/>
            <p:cNvGrpSpPr/>
            <p:nvPr/>
          </p:nvGrpSpPr>
          <p:grpSpPr>
            <a:xfrm>
              <a:off x="6286500" y="2238375"/>
              <a:ext cx="2285850" cy="762000"/>
              <a:chOff x="6286500" y="2238375"/>
              <a:chExt cx="2285850" cy="762000"/>
            </a:xfrm>
          </p:grpSpPr>
          <p:sp>
            <p:nvSpPr>
              <p:cNvPr id="1027" name="Google Shape;1027;p47"/>
              <p:cNvSpPr txBox="1"/>
              <p:nvPr/>
            </p:nvSpPr>
            <p:spPr>
              <a:xfrm>
                <a:off x="6286500" y="2306447"/>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400">
                    <a:solidFill>
                      <a:srgbClr val="0EA5E9"/>
                    </a:solidFill>
                    <a:latin typeface="Material Icons"/>
                    <a:ea typeface="Material Icons"/>
                    <a:cs typeface="Material Icons"/>
                    <a:sym typeface="Material Icons"/>
                  </a:rPr>
                  <a:t>build</a:t>
                </a:r>
                <a:endParaRPr sz="1400">
                  <a:solidFill>
                    <a:srgbClr val="0EA5E9"/>
                  </a:solidFill>
                  <a:latin typeface="Material Icons"/>
                  <a:ea typeface="Material Icons"/>
                  <a:cs typeface="Material Icons"/>
                  <a:sym typeface="Material Icons"/>
                </a:endParaRPr>
              </a:p>
            </p:txBody>
          </p:sp>
          <p:sp>
            <p:nvSpPr>
              <p:cNvPr id="1028" name="Google Shape;1028;p47"/>
              <p:cNvSpPr txBox="1"/>
              <p:nvPr/>
            </p:nvSpPr>
            <p:spPr>
              <a:xfrm>
                <a:off x="6572250" y="2238375"/>
                <a:ext cx="20001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950">
                    <a:solidFill>
                      <a:srgbClr val="334155"/>
                    </a:solidFill>
                    <a:latin typeface="Inter"/>
                    <a:ea typeface="Inter"/>
                    <a:cs typeface="Inter"/>
                    <a:sym typeface="Inter"/>
                  </a:rPr>
                  <a:t>Tổng hợp chi phí thay thế, sửa chữa, bảo dưỡng theo từng máy/line.</a:t>
                </a:r>
                <a:endParaRPr sz="950">
                  <a:solidFill>
                    <a:srgbClr val="334155"/>
                  </a:solidFill>
                  <a:latin typeface="Inter"/>
                  <a:ea typeface="Inter"/>
                  <a:cs typeface="Inter"/>
                  <a:sym typeface="Inter"/>
                </a:endParaRPr>
              </a:p>
            </p:txBody>
          </p:sp>
        </p:grpSp>
        <p:grpSp>
          <p:nvGrpSpPr>
            <p:cNvPr id="1029" name="Google Shape;1029;p47"/>
            <p:cNvGrpSpPr/>
            <p:nvPr/>
          </p:nvGrpSpPr>
          <p:grpSpPr>
            <a:xfrm>
              <a:off x="6286500" y="3048000"/>
              <a:ext cx="2285850" cy="666900"/>
              <a:chOff x="6286500" y="3048000"/>
              <a:chExt cx="2285850" cy="666900"/>
            </a:xfrm>
          </p:grpSpPr>
          <p:sp>
            <p:nvSpPr>
              <p:cNvPr id="1030" name="Google Shape;1030;p47"/>
              <p:cNvSpPr txBox="1"/>
              <p:nvPr/>
            </p:nvSpPr>
            <p:spPr>
              <a:xfrm>
                <a:off x="6286500" y="3116072"/>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1400">
                    <a:solidFill>
                      <a:srgbClr val="0EA5E9"/>
                    </a:solidFill>
                    <a:latin typeface="Material Icons"/>
                    <a:ea typeface="Material Icons"/>
                    <a:cs typeface="Material Icons"/>
                    <a:sym typeface="Material Icons"/>
                  </a:rPr>
                  <a:t>history_edu</a:t>
                </a:r>
                <a:endParaRPr sz="1400">
                  <a:solidFill>
                    <a:srgbClr val="0EA5E9"/>
                  </a:solidFill>
                  <a:latin typeface="Material Icons"/>
                  <a:ea typeface="Material Icons"/>
                  <a:cs typeface="Material Icons"/>
                  <a:sym typeface="Material Icons"/>
                </a:endParaRPr>
              </a:p>
            </p:txBody>
          </p:sp>
          <p:sp>
            <p:nvSpPr>
              <p:cNvPr id="1031" name="Google Shape;1031;p47"/>
              <p:cNvSpPr txBox="1"/>
              <p:nvPr/>
            </p:nvSpPr>
            <p:spPr>
              <a:xfrm>
                <a:off x="6572250" y="3048000"/>
                <a:ext cx="20001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950">
                    <a:solidFill>
                      <a:srgbClr val="334155"/>
                    </a:solidFill>
                    <a:latin typeface="Inter"/>
                    <a:ea typeface="Inter"/>
                    <a:cs typeface="Inter"/>
                    <a:sym typeface="Inter"/>
                  </a:rPr>
                  <a:t>Tổng hợp bảng kê chi tiết lịch sử nhập xuất phụ tùng hằng ngày.</a:t>
                </a:r>
                <a:endParaRPr sz="950">
                  <a:solidFill>
                    <a:srgbClr val="334155"/>
                  </a:solidFill>
                  <a:latin typeface="Inter"/>
                  <a:ea typeface="Inter"/>
                  <a:cs typeface="Inter"/>
                  <a:sym typeface="Inter"/>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5" name="Shape 1035"/>
        <p:cNvGrpSpPr/>
        <p:nvPr/>
      </p:nvGrpSpPr>
      <p:grpSpPr>
        <a:xfrm>
          <a:off x="0" y="0"/>
          <a:ext cx="0" cy="0"/>
          <a:chOff x="0" y="0"/>
          <a:chExt cx="0" cy="0"/>
        </a:xfrm>
      </p:grpSpPr>
      <p:pic>
        <p:nvPicPr>
          <p:cNvPr descr="image.png" id="1036" name="Google Shape;1036;p4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37" name="Google Shape;1037;p48"/>
          <p:cNvSpPr txBox="1"/>
          <p:nvPr/>
        </p:nvSpPr>
        <p:spPr>
          <a:xfrm>
            <a:off x="571500" y="357188"/>
            <a:ext cx="8551200" cy="42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vi" sz="1000">
                <a:solidFill>
                  <a:srgbClr val="8BC249"/>
                </a:solidFill>
                <a:latin typeface="Montserrat SemiBold"/>
                <a:ea typeface="Montserrat SemiBold"/>
                <a:cs typeface="Montserrat SemiBold"/>
                <a:sym typeface="Montserrat SemiBold"/>
              </a:rPr>
              <a:t>VIETNAM AUTOMATION TEAM</a:t>
            </a:r>
            <a:endParaRPr b="0" i="0" sz="1900" u="none" cap="none" strike="noStrike">
              <a:solidFill>
                <a:srgbClr val="8BC249"/>
              </a:solidFill>
              <a:latin typeface="Montserrat SemiBold"/>
              <a:ea typeface="Montserrat SemiBold"/>
              <a:cs typeface="Montserrat SemiBold"/>
              <a:sym typeface="Montserrat SemiBold"/>
            </a:endParaRPr>
          </a:p>
          <a:p>
            <a:pPr indent="0" lvl="0" marL="0" rtl="0" algn="l">
              <a:spcBef>
                <a:spcPts val="0"/>
              </a:spcBef>
              <a:spcAft>
                <a:spcPts val="0"/>
              </a:spcAft>
              <a:buClr>
                <a:schemeClr val="dk1"/>
              </a:buClr>
              <a:buSzPts val="1100"/>
              <a:buFont typeface="Arial"/>
              <a:buNone/>
            </a:pPr>
            <a:r>
              <a:rPr b="1" lang="vi" sz="1758">
                <a:solidFill>
                  <a:srgbClr val="0F172A"/>
                </a:solidFill>
                <a:latin typeface="Montserrat"/>
                <a:ea typeface="Montserrat"/>
                <a:cs typeface="Montserrat"/>
                <a:sym typeface="Montserrat"/>
              </a:rPr>
              <a:t>KHÓ KHĂN &amp; HẠN CHẾ HIỆN TẠI</a:t>
            </a:r>
            <a:endParaRPr b="0" i="0" sz="1100" u="none" cap="none" strike="noStrike">
              <a:solidFill>
                <a:srgbClr val="000000"/>
              </a:solidFill>
              <a:latin typeface="Arial"/>
              <a:ea typeface="Arial"/>
              <a:cs typeface="Arial"/>
              <a:sym typeface="Arial"/>
            </a:endParaRPr>
          </a:p>
        </p:txBody>
      </p:sp>
      <p:sp>
        <p:nvSpPr>
          <p:cNvPr id="1038" name="Google Shape;1038;p48"/>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1039" name="Google Shape;1039;p48"/>
          <p:cNvGrpSpPr/>
          <p:nvPr/>
        </p:nvGrpSpPr>
        <p:grpSpPr>
          <a:xfrm>
            <a:off x="428625" y="1333500"/>
            <a:ext cx="8286825" cy="3238500"/>
            <a:chOff x="428625" y="1333500"/>
            <a:chExt cx="8286825" cy="3238500"/>
          </a:xfrm>
        </p:grpSpPr>
        <p:sp>
          <p:nvSpPr>
            <p:cNvPr id="1040" name="Google Shape;1040;p48"/>
            <p:cNvSpPr/>
            <p:nvPr/>
          </p:nvSpPr>
          <p:spPr>
            <a:xfrm>
              <a:off x="428625" y="1333500"/>
              <a:ext cx="40482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48"/>
            <p:cNvSpPr/>
            <p:nvPr/>
          </p:nvSpPr>
          <p:spPr>
            <a:xfrm>
              <a:off x="428625" y="1333500"/>
              <a:ext cx="40482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2" name="Google Shape;1042;p48"/>
            <p:cNvSpPr txBox="1"/>
            <p:nvPr/>
          </p:nvSpPr>
          <p:spPr>
            <a:xfrm>
              <a:off x="714375" y="1665986"/>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2480">
                  <a:solidFill>
                    <a:srgbClr val="EF4444"/>
                  </a:solidFill>
                  <a:latin typeface="Material Icons"/>
                  <a:ea typeface="Material Icons"/>
                  <a:cs typeface="Material Icons"/>
                  <a:sym typeface="Material Icons"/>
                </a:rPr>
                <a:t>error_outline</a:t>
              </a:r>
              <a:endParaRPr sz="2480">
                <a:solidFill>
                  <a:srgbClr val="EF4444"/>
                </a:solidFill>
                <a:latin typeface="Material Icons"/>
                <a:ea typeface="Material Icons"/>
                <a:cs typeface="Material Icons"/>
                <a:sym typeface="Material Icons"/>
              </a:endParaRPr>
            </a:p>
          </p:txBody>
        </p:sp>
        <p:sp>
          <p:nvSpPr>
            <p:cNvPr id="1043" name="Google Shape;1043;p48"/>
            <p:cNvSpPr txBox="1"/>
            <p:nvPr/>
          </p:nvSpPr>
          <p:spPr>
            <a:xfrm>
              <a:off x="714375" y="2095500"/>
              <a:ext cx="34767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275">
                  <a:solidFill>
                    <a:srgbClr val="1E293B"/>
                  </a:solidFill>
                  <a:latin typeface="Montserrat"/>
                  <a:ea typeface="Montserrat"/>
                  <a:cs typeface="Montserrat"/>
                  <a:sym typeface="Montserrat"/>
                </a:rPr>
                <a:t>Lỗ hổng kiểm soát khối lượng xuất kho</a:t>
              </a:r>
              <a:endParaRPr b="1" sz="1275">
                <a:solidFill>
                  <a:srgbClr val="1E293B"/>
                </a:solidFill>
                <a:latin typeface="Montserrat"/>
                <a:ea typeface="Montserrat"/>
                <a:cs typeface="Montserrat"/>
                <a:sym typeface="Montserrat"/>
              </a:endParaRPr>
            </a:p>
          </p:txBody>
        </p:sp>
        <p:sp>
          <p:nvSpPr>
            <p:cNvPr id="1044" name="Google Shape;1044;p48"/>
            <p:cNvSpPr txBox="1"/>
            <p:nvPr/>
          </p:nvSpPr>
          <p:spPr>
            <a:xfrm>
              <a:off x="714375" y="2571750"/>
              <a:ext cx="34767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100">
                  <a:solidFill>
                    <a:srgbClr val="475569"/>
                  </a:solidFill>
                  <a:latin typeface="Inter"/>
                  <a:ea typeface="Inter"/>
                  <a:cs typeface="Inter"/>
                  <a:sym typeface="Inter"/>
                </a:rPr>
                <a:t>Hệ thống hiện tại chưa có cơ chế kiểm tra chặn thắt chặt ranh giới cơ học:</a:t>
              </a:r>
              <a:endParaRPr b="0" sz="1100">
                <a:solidFill>
                  <a:srgbClr val="475569"/>
                </a:solidFill>
                <a:latin typeface="Inter"/>
                <a:ea typeface="Inter"/>
                <a:cs typeface="Inter"/>
                <a:sym typeface="Inter"/>
              </a:endParaRPr>
            </a:p>
            <a:p>
              <a:pPr indent="0" lvl="0" marL="0" rtl="0" algn="l">
                <a:spcBef>
                  <a:spcPts val="750"/>
                </a:spcBef>
                <a:spcAft>
                  <a:spcPts val="0"/>
                </a:spcAft>
                <a:buNone/>
              </a:pPr>
              <a:r>
                <a:rPr b="0" lang="vi" sz="1100">
                  <a:solidFill>
                    <a:srgbClr val="475569"/>
                  </a:solidFill>
                  <a:latin typeface="Inter"/>
                  <a:ea typeface="Inter"/>
                  <a:cs typeface="Inter"/>
                  <a:sym typeface="Inter"/>
                </a:rPr>
                <a:t>Khi nhân viên thao tác xuất kho cho mã Spare Part, nếu số lượng nhập &gt; tồn kho thực tế, phần mềm vẫn chấp nhận lưu thay vì báo lỗi, gây sai lệch nghiêm trọng giữa hệ thống và kho vật lý.</a:t>
              </a:r>
              <a:endParaRPr b="0" sz="1100">
                <a:solidFill>
                  <a:srgbClr val="475569"/>
                </a:solidFill>
                <a:latin typeface="Inter"/>
                <a:ea typeface="Inter"/>
                <a:cs typeface="Inter"/>
                <a:sym typeface="Inter"/>
              </a:endParaRPr>
            </a:p>
          </p:txBody>
        </p:sp>
        <p:sp>
          <p:nvSpPr>
            <p:cNvPr id="1045" name="Google Shape;1045;p48"/>
            <p:cNvSpPr/>
            <p:nvPr/>
          </p:nvSpPr>
          <p:spPr>
            <a:xfrm>
              <a:off x="4667250" y="1333500"/>
              <a:ext cx="40482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6" name="Google Shape;1046;p48"/>
            <p:cNvSpPr/>
            <p:nvPr/>
          </p:nvSpPr>
          <p:spPr>
            <a:xfrm>
              <a:off x="4667250" y="1333500"/>
              <a:ext cx="4048200" cy="573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7" name="Google Shape;1047;p48"/>
            <p:cNvSpPr txBox="1"/>
            <p:nvPr/>
          </p:nvSpPr>
          <p:spPr>
            <a:xfrm>
              <a:off x="4953000" y="1665986"/>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vi" sz="2480">
                  <a:solidFill>
                    <a:srgbClr val="F59E0B"/>
                  </a:solidFill>
                  <a:latin typeface="Material Icons"/>
                  <a:ea typeface="Material Icons"/>
                  <a:cs typeface="Material Icons"/>
                  <a:sym typeface="Material Icons"/>
                </a:rPr>
                <a:t>psychology</a:t>
              </a:r>
              <a:endParaRPr sz="2480">
                <a:solidFill>
                  <a:srgbClr val="F59E0B"/>
                </a:solidFill>
                <a:latin typeface="Material Icons"/>
                <a:ea typeface="Material Icons"/>
                <a:cs typeface="Material Icons"/>
                <a:sym typeface="Material Icons"/>
              </a:endParaRPr>
            </a:p>
          </p:txBody>
        </p:sp>
        <p:sp>
          <p:nvSpPr>
            <p:cNvPr id="1048" name="Google Shape;1048;p48"/>
            <p:cNvSpPr txBox="1"/>
            <p:nvPr/>
          </p:nvSpPr>
          <p:spPr>
            <a:xfrm>
              <a:off x="4953000" y="2095500"/>
              <a:ext cx="34767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vi" sz="1163">
                  <a:solidFill>
                    <a:srgbClr val="1E293B"/>
                  </a:solidFill>
                  <a:latin typeface="Montserrat"/>
                  <a:ea typeface="Montserrat"/>
                  <a:cs typeface="Montserrat"/>
                  <a:sym typeface="Montserrat"/>
                </a:rPr>
                <a:t>Thiếu chức năng hỗ trợ ra quyết định mua</a:t>
              </a:r>
              <a:endParaRPr b="1" sz="1163">
                <a:solidFill>
                  <a:srgbClr val="1E293B"/>
                </a:solidFill>
                <a:latin typeface="Montserrat"/>
                <a:ea typeface="Montserrat"/>
                <a:cs typeface="Montserrat"/>
                <a:sym typeface="Montserrat"/>
              </a:endParaRPr>
            </a:p>
          </p:txBody>
        </p:sp>
        <p:sp>
          <p:nvSpPr>
            <p:cNvPr id="1049" name="Google Shape;1049;p48"/>
            <p:cNvSpPr txBox="1"/>
            <p:nvPr/>
          </p:nvSpPr>
          <p:spPr>
            <a:xfrm>
              <a:off x="4953000" y="2571750"/>
              <a:ext cx="34767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vi" sz="1100">
                  <a:solidFill>
                    <a:srgbClr val="475569"/>
                  </a:solidFill>
                  <a:latin typeface="Inter"/>
                  <a:ea typeface="Inter"/>
                  <a:cs typeface="Inter"/>
                  <a:sym typeface="Inter"/>
                </a:rPr>
                <a:t>Hệ thống hoàn toàn thụ động, thiếu các phân hệ cảnh báo thông minh hoặc gợi ý tự động.</a:t>
              </a:r>
              <a:endParaRPr b="0" sz="1100">
                <a:solidFill>
                  <a:srgbClr val="475569"/>
                </a:solidFill>
                <a:latin typeface="Inter"/>
                <a:ea typeface="Inter"/>
                <a:cs typeface="Inter"/>
                <a:sym typeface="Inter"/>
              </a:endParaRPr>
            </a:p>
            <a:p>
              <a:pPr indent="0" lvl="0" marL="0" rtl="0" algn="l">
                <a:spcBef>
                  <a:spcPts val="750"/>
                </a:spcBef>
                <a:spcAft>
                  <a:spcPts val="0"/>
                </a:spcAft>
                <a:buNone/>
              </a:pPr>
              <a:r>
                <a:rPr b="0" lang="vi" sz="1100">
                  <a:solidFill>
                    <a:srgbClr val="475569"/>
                  </a:solidFill>
                  <a:latin typeface="Inter"/>
                  <a:ea typeface="Inter"/>
                  <a:cs typeface="Inter"/>
                  <a:sym typeface="Inter"/>
                </a:rPr>
                <a:t>Quản lý phải theo dõi thủ công bên ngoài, không có bảng đề xuất danh mục đặt mua dựa trên tồn kho an toàn và tần suất thay thế.</a:t>
              </a:r>
              <a:endParaRPr b="0" sz="1100">
                <a:solidFill>
                  <a:srgbClr val="475569"/>
                </a:solidFill>
                <a:latin typeface="Inter"/>
                <a:ea typeface="Inter"/>
                <a:cs typeface="Inter"/>
                <a:sym typeface="Inte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3" name="Shape 1053"/>
        <p:cNvGrpSpPr/>
        <p:nvPr/>
      </p:nvGrpSpPr>
      <p:grpSpPr>
        <a:xfrm>
          <a:off x="0" y="0"/>
          <a:ext cx="0" cy="0"/>
          <a:chOff x="0" y="0"/>
          <a:chExt cx="0" cy="0"/>
        </a:xfrm>
      </p:grpSpPr>
      <p:pic>
        <p:nvPicPr>
          <p:cNvPr descr="image.png" id="1054" name="Google Shape;1054;p4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55" name="Google Shape;1055;p49"/>
          <p:cNvSpPr txBox="1"/>
          <p:nvPr/>
        </p:nvSpPr>
        <p:spPr>
          <a:xfrm>
            <a:off x="571500" y="357188"/>
            <a:ext cx="8551200" cy="44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vi" sz="1000">
                <a:solidFill>
                  <a:srgbClr val="8BC249"/>
                </a:solidFill>
                <a:latin typeface="Montserrat SemiBold"/>
                <a:ea typeface="Montserrat SemiBold"/>
                <a:cs typeface="Montserrat SemiBold"/>
                <a:sym typeface="Montserrat SemiBold"/>
              </a:rPr>
              <a:t>VIETNAM AUTOMATION TEAM</a:t>
            </a:r>
            <a:endParaRPr b="0" i="0" sz="1900" u="none" cap="none" strike="noStrike">
              <a:solidFill>
                <a:srgbClr val="8BC249"/>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900"/>
              <a:buFont typeface="Arial"/>
              <a:buNone/>
            </a:pPr>
            <a:r>
              <a:rPr b="1" i="0" lang="vi" sz="1900" u="none" cap="none" strike="noStrike">
                <a:solidFill>
                  <a:srgbClr val="0F172A"/>
                </a:solidFill>
                <a:latin typeface="Montserrat"/>
                <a:ea typeface="Montserrat"/>
                <a:cs typeface="Montserrat"/>
                <a:sym typeface="Montserrat"/>
              </a:rPr>
              <a:t>YÊU CẦU ĐỐI VỚI HỆ THỐNG MỚI</a:t>
            </a:r>
            <a:endParaRPr b="0" i="0" sz="1100" u="none" cap="none" strike="noStrike">
              <a:solidFill>
                <a:srgbClr val="000000"/>
              </a:solidFill>
              <a:latin typeface="Arial"/>
              <a:ea typeface="Arial"/>
              <a:cs typeface="Arial"/>
              <a:sym typeface="Arial"/>
            </a:endParaRPr>
          </a:p>
        </p:txBody>
      </p:sp>
      <p:sp>
        <p:nvSpPr>
          <p:cNvPr id="1056" name="Google Shape;1056;p49"/>
          <p:cNvSpPr/>
          <p:nvPr/>
        </p:nvSpPr>
        <p:spPr>
          <a:xfrm>
            <a:off x="428625" y="357188"/>
            <a:ext cx="71700" cy="428700"/>
          </a:xfrm>
          <a:prstGeom prst="rect">
            <a:avLst/>
          </a:prstGeom>
          <a:solidFill>
            <a:srgbClr val="8BC24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1057" name="Google Shape;1057;p49"/>
          <p:cNvGrpSpPr/>
          <p:nvPr/>
        </p:nvGrpSpPr>
        <p:grpSpPr>
          <a:xfrm>
            <a:off x="571500" y="1333500"/>
            <a:ext cx="3905400" cy="3238500"/>
            <a:chOff x="571500" y="1333500"/>
            <a:chExt cx="3905400" cy="3238500"/>
          </a:xfrm>
        </p:grpSpPr>
        <p:sp>
          <p:nvSpPr>
            <p:cNvPr id="1058" name="Google Shape;1058;p49"/>
            <p:cNvSpPr/>
            <p:nvPr/>
          </p:nvSpPr>
          <p:spPr>
            <a:xfrm>
              <a:off x="571500" y="133350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p49"/>
            <p:cNvSpPr/>
            <p:nvPr/>
          </p:nvSpPr>
          <p:spPr>
            <a:xfrm>
              <a:off x="571500" y="1333500"/>
              <a:ext cx="3905400" cy="57300"/>
            </a:xfrm>
            <a:prstGeom prst="roundRect">
              <a:avLst>
                <a:gd fmla="val 50000" name="adj"/>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0" name="Google Shape;1060;p49"/>
            <p:cNvSpPr txBox="1"/>
            <p:nvPr/>
          </p:nvSpPr>
          <p:spPr>
            <a:xfrm>
              <a:off x="809625" y="1619250"/>
              <a:ext cx="3429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3200">
                  <a:solidFill>
                    <a:srgbClr val="0369A1"/>
                  </a:solidFill>
                  <a:latin typeface="Material Icons"/>
                  <a:ea typeface="Material Icons"/>
                  <a:cs typeface="Material Icons"/>
                  <a:sym typeface="Material Icons"/>
                </a:rPr>
                <a:t>gpp_maybe</a:t>
              </a:r>
              <a:endParaRPr sz="3200">
                <a:solidFill>
                  <a:srgbClr val="0369A1"/>
                </a:solidFill>
                <a:latin typeface="Material Icons"/>
                <a:ea typeface="Material Icons"/>
                <a:cs typeface="Material Icons"/>
                <a:sym typeface="Material Icons"/>
              </a:endParaRPr>
            </a:p>
            <a:p>
              <a:pPr indent="0" lvl="0" marL="0" rtl="0" algn="l">
                <a:spcBef>
                  <a:spcPts val="1125"/>
                </a:spcBef>
                <a:spcAft>
                  <a:spcPts val="0"/>
                </a:spcAft>
                <a:buNone/>
              </a:pPr>
              <a:r>
                <a:rPr b="1" lang="vi" sz="1600">
                  <a:solidFill>
                    <a:srgbClr val="0F172A"/>
                  </a:solidFill>
                  <a:latin typeface="Inter"/>
                  <a:ea typeface="Inter"/>
                  <a:cs typeface="Inter"/>
                  <a:sym typeface="Inter"/>
                </a:rPr>
                <a:t>RÀNG BUỘC DỮ LIỆU XUẤT KHO KHẮT KHE</a:t>
              </a:r>
              <a:endParaRPr b="1" sz="1600">
                <a:solidFill>
                  <a:srgbClr val="0F172A"/>
                </a:solidFill>
                <a:latin typeface="Inter"/>
                <a:ea typeface="Inter"/>
                <a:cs typeface="Inter"/>
                <a:sym typeface="Inter"/>
              </a:endParaRPr>
            </a:p>
            <a:p>
              <a:pPr indent="0" lvl="0" marL="0" rtl="0" algn="l">
                <a:spcBef>
                  <a:spcPts val="1125"/>
                </a:spcBef>
                <a:spcAft>
                  <a:spcPts val="0"/>
                </a:spcAft>
                <a:buNone/>
              </a:pPr>
              <a:r>
                <a:rPr lang="vi" sz="1100">
                  <a:solidFill>
                    <a:srgbClr val="475569"/>
                  </a:solidFill>
                  <a:latin typeface="Inter"/>
                  <a:ea typeface="Inter"/>
                  <a:cs typeface="Inter"/>
                  <a:sym typeface="Inter"/>
                </a:rPr>
                <a:t>Thiết lập cơ chế kiểm tra tự động trước khi ghi nhận log dữ liệu. Nếu số lượng phụ tùng yêu cầu xuất lớn hơn số lượng tồn kho thực tế, hệ thống phải chặn thao tác.</a:t>
              </a:r>
              <a:endParaRPr sz="1100">
                <a:solidFill>
                  <a:srgbClr val="475569"/>
                </a:solidFill>
                <a:latin typeface="Inter"/>
                <a:ea typeface="Inter"/>
                <a:cs typeface="Inter"/>
                <a:sym typeface="Inter"/>
              </a:endParaRPr>
            </a:p>
            <a:p>
              <a:pPr indent="0" lvl="0" marL="0" rtl="0" algn="l">
                <a:spcBef>
                  <a:spcPts val="0"/>
                </a:spcBef>
                <a:spcAft>
                  <a:spcPts val="0"/>
                </a:spcAft>
                <a:buNone/>
              </a:pPr>
              <a:r>
                <a:rPr b="0" i="1" lang="vi" sz="1000">
                  <a:solidFill>
                    <a:srgbClr val="0369A1"/>
                  </a:solidFill>
                  <a:highlight>
                    <a:srgbClr val="F0F9FF"/>
                  </a:highlight>
                  <a:latin typeface="Inter SemiBold"/>
                  <a:ea typeface="Inter SemiBold"/>
                  <a:cs typeface="Inter SemiBold"/>
                  <a:sym typeface="Inter SemiBold"/>
                </a:rPr>
                <a:t>Logic: If (Qty_Out &gt; Qty_Stock) ➔ Trả lỗi &amp; Khóa lưu dữ liệu.</a:t>
              </a:r>
              <a:endParaRPr b="0" i="1" sz="1000">
                <a:solidFill>
                  <a:srgbClr val="0369A1"/>
                </a:solidFill>
                <a:highlight>
                  <a:srgbClr val="F0F9FF"/>
                </a:highlight>
                <a:latin typeface="Inter SemiBold"/>
                <a:ea typeface="Inter SemiBold"/>
                <a:cs typeface="Inter SemiBold"/>
                <a:sym typeface="Inter SemiBold"/>
              </a:endParaRPr>
            </a:p>
          </p:txBody>
        </p:sp>
      </p:grpSp>
      <p:grpSp>
        <p:nvGrpSpPr>
          <p:cNvPr id="1061" name="Google Shape;1061;p49"/>
          <p:cNvGrpSpPr/>
          <p:nvPr/>
        </p:nvGrpSpPr>
        <p:grpSpPr>
          <a:xfrm>
            <a:off x="4667250" y="1333500"/>
            <a:ext cx="3905400" cy="3238500"/>
            <a:chOff x="4667250" y="1333500"/>
            <a:chExt cx="3905400" cy="3238500"/>
          </a:xfrm>
        </p:grpSpPr>
        <p:sp>
          <p:nvSpPr>
            <p:cNvPr id="1062" name="Google Shape;1062;p49"/>
            <p:cNvSpPr/>
            <p:nvPr/>
          </p:nvSpPr>
          <p:spPr>
            <a:xfrm>
              <a:off x="4667250" y="133350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3" name="Google Shape;1063;p49"/>
            <p:cNvSpPr/>
            <p:nvPr/>
          </p:nvSpPr>
          <p:spPr>
            <a:xfrm>
              <a:off x="4667250" y="1333500"/>
              <a:ext cx="3905400" cy="57300"/>
            </a:xfrm>
            <a:prstGeom prst="roundRect">
              <a:avLst>
                <a:gd fmla="val 50000" name="adj"/>
              </a:avLst>
            </a:prstGeom>
            <a:solidFill>
              <a:srgbClr val="8BC24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49"/>
            <p:cNvSpPr txBox="1"/>
            <p:nvPr/>
          </p:nvSpPr>
          <p:spPr>
            <a:xfrm>
              <a:off x="4905375" y="1619250"/>
              <a:ext cx="3429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vi" sz="3200">
                  <a:solidFill>
                    <a:srgbClr val="8BC249"/>
                  </a:solidFill>
                  <a:latin typeface="Material Icons"/>
                  <a:ea typeface="Material Icons"/>
                  <a:cs typeface="Material Icons"/>
                  <a:sym typeface="Material Icons"/>
                </a:rPr>
                <a:t>smart_toy</a:t>
              </a:r>
              <a:endParaRPr sz="3200">
                <a:solidFill>
                  <a:srgbClr val="8BC249"/>
                </a:solidFill>
                <a:latin typeface="Material Icons"/>
                <a:ea typeface="Material Icons"/>
                <a:cs typeface="Material Icons"/>
                <a:sym typeface="Material Icons"/>
              </a:endParaRPr>
            </a:p>
            <a:p>
              <a:pPr indent="0" lvl="0" marL="0" rtl="0" algn="l">
                <a:spcBef>
                  <a:spcPts val="1125"/>
                </a:spcBef>
                <a:spcAft>
                  <a:spcPts val="0"/>
                </a:spcAft>
                <a:buNone/>
              </a:pPr>
              <a:r>
                <a:rPr b="1" lang="vi" sz="1600">
                  <a:solidFill>
                    <a:srgbClr val="0F172A"/>
                  </a:solidFill>
                  <a:latin typeface="Inter"/>
                  <a:ea typeface="Inter"/>
                  <a:cs typeface="Inter"/>
                  <a:sym typeface="Inter"/>
                </a:rPr>
                <a:t>TỰ ĐỘNG HÓA ĐỀ XUẤT MUA VẬT TƯ</a:t>
              </a:r>
              <a:endParaRPr b="1" sz="1600">
                <a:solidFill>
                  <a:srgbClr val="0F172A"/>
                </a:solidFill>
                <a:latin typeface="Inter"/>
                <a:ea typeface="Inter"/>
                <a:cs typeface="Inter"/>
                <a:sym typeface="Inter"/>
              </a:endParaRPr>
            </a:p>
            <a:p>
              <a:pPr indent="0" lvl="0" marL="0" rtl="0" algn="l">
                <a:spcBef>
                  <a:spcPts val="1125"/>
                </a:spcBef>
                <a:spcAft>
                  <a:spcPts val="0"/>
                </a:spcAft>
                <a:buNone/>
              </a:pPr>
              <a:r>
                <a:rPr lang="vi" sz="1100">
                  <a:solidFill>
                    <a:srgbClr val="475569"/>
                  </a:solidFill>
                  <a:latin typeface="Inter"/>
                  <a:ea typeface="Inter"/>
                  <a:cs typeface="Inter"/>
                  <a:sym typeface="Inter"/>
                </a:rPr>
                <a:t>Thuật toán thông minh tự động kết xuất bảng đề xuất phụ tùng cần đặt hàng dựa trên Safety Stock và tần suất thay thế thực tế.</a:t>
              </a:r>
              <a:endParaRPr sz="1100">
                <a:solidFill>
                  <a:srgbClr val="475569"/>
                </a:solidFill>
                <a:latin typeface="Inter"/>
                <a:ea typeface="Inter"/>
                <a:cs typeface="Inter"/>
                <a:sym typeface="Inter"/>
              </a:endParaRPr>
            </a:p>
            <a:p>
              <a:pPr indent="0" lvl="0" marL="0" rtl="0" algn="l">
                <a:spcBef>
                  <a:spcPts val="0"/>
                </a:spcBef>
                <a:spcAft>
                  <a:spcPts val="0"/>
                </a:spcAft>
                <a:buNone/>
              </a:pPr>
              <a:r>
                <a:rPr b="0" i="1" lang="vi" sz="1000">
                  <a:solidFill>
                    <a:srgbClr val="4D7C0F"/>
                  </a:solidFill>
                  <a:highlight>
                    <a:srgbClr val="F7FEE7"/>
                  </a:highlight>
                  <a:latin typeface="Inter SemiBold"/>
                  <a:ea typeface="Inter SemiBold"/>
                  <a:cs typeface="Inter SemiBold"/>
                  <a:sym typeface="Inter SemiBold"/>
                </a:rPr>
                <a:t>Tính năng: Gợi ý Order phụ tùng dựa trên Min-Stock &amp; Lead-time.</a:t>
              </a:r>
              <a:endParaRPr b="0" i="1" sz="1000">
                <a:solidFill>
                  <a:srgbClr val="4D7C0F"/>
                </a:solidFill>
                <a:highlight>
                  <a:srgbClr val="F7FEE7"/>
                </a:highlight>
                <a:latin typeface="Inter SemiBold"/>
                <a:ea typeface="Inter SemiBold"/>
                <a:cs typeface="Inter SemiBold"/>
                <a:sym typeface="Inter SemiBold"/>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8" name="Shape 1068"/>
        <p:cNvGrpSpPr/>
        <p:nvPr/>
      </p:nvGrpSpPr>
      <p:grpSpPr>
        <a:xfrm>
          <a:off x="0" y="0"/>
          <a:ext cx="0" cy="0"/>
          <a:chOff x="0" y="0"/>
          <a:chExt cx="0" cy="0"/>
        </a:xfrm>
      </p:grpSpPr>
      <p:pic>
        <p:nvPicPr>
          <p:cNvPr descr="image.png" id="1069" name="Google Shape;1069;p50"/>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