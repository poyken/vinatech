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0" r:id="rId5"/>
    <p:sldId id="258" r:id="rId6"/>
    <p:sldId id="269" r:id="rId7"/>
    <p:sldId id="266" r:id="rId8"/>
    <p:sldId id="272" r:id="rId9"/>
    <p:sldId id="273" r:id="rId10"/>
    <p:sldId id="264" r:id="rId11"/>
    <p:sldId id="271"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63" d="100"/>
          <a:sy n="63" d="100"/>
        </p:scale>
        <p:origin x="72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none"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2024-10-30</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186439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2024-10-30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411109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2024-10-30</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165320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2024-10-30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659808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A7F15D8-96D1-4781-BC50-CA8A088B2FE4}" type="datetime1">
              <a:rPr lang="en-US" smtClean="0"/>
              <a:t>2024-10-30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506838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2024-10-30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539747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2024-10-30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019580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2024-10-30</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2992692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2024-10-30</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07367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2024-10-30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895615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2024-10-30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299276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F6FA2B21-3FCD-4721-B95C-427943F61125}" type="datetime1">
              <a:rPr lang="en-US" smtClean="0"/>
              <a:t>2024-10-30</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10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3542811422"/>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lang="en-US" sz="4800" b="1" i="1" kern="1200" cap="none" spc="-7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700" kern="1200">
          <a:solidFill>
            <a:schemeClr val="tx1"/>
          </a:solidFill>
          <a:latin typeface="+mn-lt"/>
          <a:ea typeface="+mn-ea"/>
          <a:cs typeface="+mn-cs"/>
        </a:defRPr>
      </a:lvl1pPr>
      <a:lvl2pPr marL="45720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500" kern="1200">
          <a:solidFill>
            <a:schemeClr val="tx1"/>
          </a:solidFill>
          <a:latin typeface="+mn-lt"/>
          <a:ea typeface="+mn-ea"/>
          <a:cs typeface="+mn-cs"/>
        </a:defRPr>
      </a:lvl2pPr>
      <a:lvl3pPr marL="73152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3pPr>
      <a:lvl4pPr marL="100584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4pPr>
      <a:lvl5pPr marL="128016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Video 3" descr="Background pattern, arrow&#10;&#10;Description automatically generated with medium confidence">
            <a:extLst>
              <a:ext uri="{FF2B5EF4-FFF2-40B4-BE49-F238E27FC236}">
                <a16:creationId xmlns:a16="http://schemas.microsoft.com/office/drawing/2014/main" id="{0DD25A64-4F51-638C-97E4-0FF53C7ED3C3}"/>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t="284" r="1" b="1"/>
          <a:stretch/>
        </p:blipFill>
        <p:spPr>
          <a:xfrm>
            <a:off x="-1" y="10"/>
            <a:ext cx="12192000" cy="6857988"/>
          </a:xfrm>
          <a:prstGeom prst="rect">
            <a:avLst/>
          </a:prstGeom>
        </p:spPr>
      </p:pic>
      <p:sp>
        <p:nvSpPr>
          <p:cNvPr id="9" name="Rectangle 8">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30074"/>
            <a:ext cx="12192000" cy="2327925"/>
          </a:xfrm>
          <a:prstGeom prst="rect">
            <a:avLst/>
          </a:prstGeom>
          <a:solidFill>
            <a:schemeClr val="bg1">
              <a:alpha val="30000"/>
            </a:schemeClr>
          </a:solidFill>
          <a:ln w="6350" cap="sq" cmpd="sng" algn="ctr">
            <a:noFill/>
            <a:prstDash val="solid"/>
            <a:miter lim="800000"/>
          </a:ln>
          <a:effectLst/>
        </p:spPr>
        <p:txBody>
          <a:bodyPr/>
          <a:lstStyle/>
          <a:p>
            <a:endParaRPr lang="en-US"/>
          </a:p>
        </p:txBody>
      </p:sp>
      <p:sp>
        <p:nvSpPr>
          <p:cNvPr id="11" name="Rectangle 10">
            <a:extLst>
              <a:ext uri="{FF2B5EF4-FFF2-40B4-BE49-F238E27FC236}">
                <a16:creationId xmlns:a16="http://schemas.microsoft.com/office/drawing/2014/main" id="{0B121716-8B64-478F-ABDB-17030AD1B7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 y="4530071"/>
            <a:ext cx="12191999" cy="2327926"/>
          </a:xfrm>
          <a:prstGeom prst="rect">
            <a:avLst/>
          </a:prstGeom>
          <a:solidFill>
            <a:srgbClr val="33BA34">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116" y="4692768"/>
            <a:ext cx="11859768" cy="2002536"/>
          </a:xfrm>
          <a:prstGeom prst="rect">
            <a:avLst/>
          </a:prstGeom>
          <a:noFill/>
          <a:ln w="6350" cap="sq" cmpd="sng" algn="ctr">
            <a:solidFill>
              <a:schemeClr val="tx1"/>
            </a:solidFill>
            <a:prstDash val="solid"/>
            <a:miter lim="800000"/>
          </a:ln>
          <a:effectLst>
            <a:softEdge rad="0"/>
          </a:effectLst>
        </p:spPr>
        <p:txBody>
          <a:bodyPr/>
          <a:lstStyle/>
          <a:p>
            <a:endParaRPr lang="en-US"/>
          </a:p>
        </p:txBody>
      </p:sp>
      <p:sp>
        <p:nvSpPr>
          <p:cNvPr id="2" name="Title 1">
            <a:extLst>
              <a:ext uri="{FF2B5EF4-FFF2-40B4-BE49-F238E27FC236}">
                <a16:creationId xmlns:a16="http://schemas.microsoft.com/office/drawing/2014/main" id="{C9DDF167-DBD7-4C3A-9FC3-59FBDFCE8BCE}"/>
              </a:ext>
            </a:extLst>
          </p:cNvPr>
          <p:cNvSpPr>
            <a:spLocks noGrp="1"/>
          </p:cNvSpPr>
          <p:nvPr>
            <p:ph type="ctrTitle"/>
          </p:nvPr>
        </p:nvSpPr>
        <p:spPr>
          <a:xfrm>
            <a:off x="372723" y="4956811"/>
            <a:ext cx="11439414" cy="897439"/>
          </a:xfrm>
        </p:spPr>
        <p:txBody>
          <a:bodyPr>
            <a:normAutofit fontScale="90000"/>
          </a:bodyPr>
          <a:lstStyle/>
          <a:p>
            <a:r>
              <a:rPr lang="en-US" sz="4400">
                <a:solidFill>
                  <a:schemeClr val="tx1"/>
                </a:solidFill>
              </a:rPr>
              <a:t>Hướng dẫn sử dụng chức năng SBC trên hệ thống Groupware</a:t>
            </a:r>
            <a:endParaRPr lang="en-US" sz="4400" dirty="0">
              <a:solidFill>
                <a:schemeClr val="tx1"/>
              </a:solidFill>
            </a:endParaRPr>
          </a:p>
        </p:txBody>
      </p:sp>
      <p:sp>
        <p:nvSpPr>
          <p:cNvPr id="3" name="Subtitle 2">
            <a:extLst>
              <a:ext uri="{FF2B5EF4-FFF2-40B4-BE49-F238E27FC236}">
                <a16:creationId xmlns:a16="http://schemas.microsoft.com/office/drawing/2014/main" id="{B298A4C9-03F0-4958-8DA7-FF5094EF5AD3}"/>
              </a:ext>
            </a:extLst>
          </p:cNvPr>
          <p:cNvSpPr>
            <a:spLocks noGrp="1"/>
          </p:cNvSpPr>
          <p:nvPr>
            <p:ph type="subTitle" idx="1"/>
          </p:nvPr>
        </p:nvSpPr>
        <p:spPr>
          <a:xfrm>
            <a:off x="764275" y="5783001"/>
            <a:ext cx="10656310" cy="425961"/>
          </a:xfrm>
        </p:spPr>
        <p:txBody>
          <a:bodyPr>
            <a:normAutofit/>
          </a:bodyPr>
          <a:lstStyle/>
          <a:p>
            <a:r>
              <a:rPr lang="en-US">
                <a:solidFill>
                  <a:schemeClr val="tx1"/>
                </a:solidFill>
              </a:rPr>
              <a:t> </a:t>
            </a:r>
            <a:r>
              <a:rPr lang="en-US" dirty="0">
                <a:solidFill>
                  <a:schemeClr val="tx1"/>
                </a:solidFill>
              </a:rPr>
              <a:t>EA Team </a:t>
            </a:r>
            <a:r>
              <a:rPr lang="en-US" dirty="0" err="1">
                <a:solidFill>
                  <a:schemeClr val="tx1"/>
                </a:solidFill>
              </a:rPr>
              <a:t>Việt</a:t>
            </a:r>
            <a:r>
              <a:rPr lang="en-US" dirty="0">
                <a:solidFill>
                  <a:schemeClr val="tx1"/>
                </a:solidFill>
              </a:rPr>
              <a:t> Nam</a:t>
            </a:r>
          </a:p>
        </p:txBody>
      </p:sp>
    </p:spTree>
    <p:extLst>
      <p:ext uri="{BB962C8B-B14F-4D97-AF65-F5344CB8AC3E}">
        <p14:creationId xmlns:p14="http://schemas.microsoft.com/office/powerpoint/2010/main" val="317919359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4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76E92D59-FD1B-47BC-9D02-0F3B959A6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D92AE646-CC19-4A1F-900B-E512D06A7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0" name="Rectangle 39">
            <a:extLst>
              <a:ext uri="{FF2B5EF4-FFF2-40B4-BE49-F238E27FC236}">
                <a16:creationId xmlns:a16="http://schemas.microsoft.com/office/drawing/2014/main" id="{14E4F834-34CB-4787-920F-CD1E1B8BC7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US"/>
          </a:p>
        </p:txBody>
      </p:sp>
      <p:sp>
        <p:nvSpPr>
          <p:cNvPr id="2" name="Title 1">
            <a:extLst>
              <a:ext uri="{FF2B5EF4-FFF2-40B4-BE49-F238E27FC236}">
                <a16:creationId xmlns:a16="http://schemas.microsoft.com/office/drawing/2014/main" id="{8FFA6DE4-2310-439F-895A-6C973CFE6A8D}"/>
              </a:ext>
            </a:extLst>
          </p:cNvPr>
          <p:cNvSpPr>
            <a:spLocks noGrp="1"/>
          </p:cNvSpPr>
          <p:nvPr>
            <p:ph type="title"/>
          </p:nvPr>
        </p:nvSpPr>
        <p:spPr>
          <a:xfrm>
            <a:off x="707830" y="727823"/>
            <a:ext cx="3329150" cy="5402353"/>
          </a:xfrm>
        </p:spPr>
        <p:txBody>
          <a:bodyPr>
            <a:normAutofit/>
          </a:bodyPr>
          <a:lstStyle/>
          <a:p>
            <a:r>
              <a:rPr lang="en-US"/>
              <a:t>1.Đăng nhập hệ thống Groupware</a:t>
            </a:r>
            <a:endParaRPr lang="en-US" dirty="0"/>
          </a:p>
        </p:txBody>
      </p:sp>
      <p:sp>
        <p:nvSpPr>
          <p:cNvPr id="3" name="Content Placeholder 2">
            <a:extLst>
              <a:ext uri="{FF2B5EF4-FFF2-40B4-BE49-F238E27FC236}">
                <a16:creationId xmlns:a16="http://schemas.microsoft.com/office/drawing/2014/main" id="{D41F7103-67B3-4191-BB4A-9FF0DFE9DA07}"/>
              </a:ext>
            </a:extLst>
          </p:cNvPr>
          <p:cNvSpPr>
            <a:spLocks noGrp="1"/>
          </p:cNvSpPr>
          <p:nvPr>
            <p:ph idx="1"/>
          </p:nvPr>
        </p:nvSpPr>
        <p:spPr>
          <a:xfrm>
            <a:off x="4521614" y="727823"/>
            <a:ext cx="6927842" cy="3072900"/>
          </a:xfrm>
        </p:spPr>
        <p:txBody>
          <a:bodyPr>
            <a:normAutofit/>
          </a:bodyPr>
          <a:lstStyle/>
          <a:p>
            <a:r>
              <a:rPr lang="en-US" b="1" dirty="0"/>
              <a:t>I</a:t>
            </a:r>
            <a:r>
              <a:rPr lang="en-US" b="1"/>
              <a:t>. Đăng nhập Groupware</a:t>
            </a:r>
            <a:endParaRPr lang="en-US" b="1" dirty="0"/>
          </a:p>
          <a:p>
            <a:pPr>
              <a:buFontTx/>
              <a:buChar char="-"/>
            </a:pPr>
            <a:r>
              <a:rPr lang="en-US"/>
              <a:t>Có hai cách để bạn đăng nhập vào hệ thống Groupware</a:t>
            </a:r>
          </a:p>
          <a:p>
            <a:pPr marL="0" indent="0">
              <a:buNone/>
            </a:pPr>
            <a:r>
              <a:rPr lang="en-US"/>
              <a:t>     + Bạn có thể truy cập bằng link sau đây: </a:t>
            </a:r>
            <a:r>
              <a:rPr lang="en-US">
                <a:solidFill>
                  <a:srgbClr val="FF0000"/>
                </a:solidFill>
              </a:rPr>
              <a:t>https://gw.vinatech.com/login</a:t>
            </a:r>
            <a:r>
              <a:rPr lang="en-US"/>
              <a:t>.</a:t>
            </a:r>
            <a:endParaRPr lang="en-US" dirty="0"/>
          </a:p>
          <a:p>
            <a:r>
              <a:rPr lang="en-US" b="1"/>
              <a:t>  + Bạn có thể chọn buổi tượng như hình dưới đây:</a:t>
            </a:r>
            <a:endParaRPr lang="en-US" b="1" dirty="0"/>
          </a:p>
          <a:p>
            <a:pPr marL="0" indent="0">
              <a:buNone/>
            </a:pPr>
            <a:r>
              <a:rPr lang="en-US"/>
              <a:t>     + Bạn mở trình duyệt lên và ỏ góc phải màn hình có biểu tượng=&gt; bạn chọn tới icon của công ty có chữ groupware click vào đó</a:t>
            </a:r>
            <a:endParaRPr lang="en-US" dirty="0"/>
          </a:p>
        </p:txBody>
      </p:sp>
      <p:pic>
        <p:nvPicPr>
          <p:cNvPr id="5" name="Picture 4">
            <a:extLst>
              <a:ext uri="{FF2B5EF4-FFF2-40B4-BE49-F238E27FC236}">
                <a16:creationId xmlns:a16="http://schemas.microsoft.com/office/drawing/2014/main" id="{A8A6CD58-D79C-277D-3509-03C77F29C2B2}"/>
              </a:ext>
            </a:extLst>
          </p:cNvPr>
          <p:cNvPicPr>
            <a:picLocks noChangeAspect="1"/>
          </p:cNvPicPr>
          <p:nvPr/>
        </p:nvPicPr>
        <p:blipFill>
          <a:blip r:embed="rId2"/>
          <a:stretch>
            <a:fillRect/>
          </a:stretch>
        </p:blipFill>
        <p:spPr>
          <a:xfrm>
            <a:off x="4612641" y="3139440"/>
            <a:ext cx="7083396" cy="3343656"/>
          </a:xfrm>
          <a:prstGeom prst="rect">
            <a:avLst/>
          </a:prstGeom>
        </p:spPr>
      </p:pic>
    </p:spTree>
    <p:extLst>
      <p:ext uri="{BB962C8B-B14F-4D97-AF65-F5344CB8AC3E}">
        <p14:creationId xmlns:p14="http://schemas.microsoft.com/office/powerpoint/2010/main" val="3109597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6E92D59-FD1B-47BC-9D02-0F3B959A6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92AE646-CC19-4A1F-900B-E512D06A7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14E4F834-34CB-4787-920F-CD1E1B8BC7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US"/>
          </a:p>
        </p:txBody>
      </p:sp>
      <p:sp>
        <p:nvSpPr>
          <p:cNvPr id="2" name="Title 1">
            <a:extLst>
              <a:ext uri="{FF2B5EF4-FFF2-40B4-BE49-F238E27FC236}">
                <a16:creationId xmlns:a16="http://schemas.microsoft.com/office/drawing/2014/main" id="{8FFA6DE4-2310-439F-895A-6C973CFE6A8D}"/>
              </a:ext>
            </a:extLst>
          </p:cNvPr>
          <p:cNvSpPr>
            <a:spLocks noGrp="1"/>
          </p:cNvSpPr>
          <p:nvPr>
            <p:ph type="title"/>
          </p:nvPr>
        </p:nvSpPr>
        <p:spPr>
          <a:xfrm>
            <a:off x="707830" y="727823"/>
            <a:ext cx="3329150" cy="5402353"/>
          </a:xfrm>
        </p:spPr>
        <p:txBody>
          <a:bodyPr>
            <a:normAutofit/>
          </a:bodyPr>
          <a:lstStyle/>
          <a:p>
            <a:r>
              <a:rPr lang="en-US"/>
              <a:t>2.Thông tin đăng nhập vào Groupware</a:t>
            </a:r>
            <a:endParaRPr lang="en-US" dirty="0"/>
          </a:p>
        </p:txBody>
      </p:sp>
      <p:sp>
        <p:nvSpPr>
          <p:cNvPr id="3" name="Content Placeholder 2">
            <a:extLst>
              <a:ext uri="{FF2B5EF4-FFF2-40B4-BE49-F238E27FC236}">
                <a16:creationId xmlns:a16="http://schemas.microsoft.com/office/drawing/2014/main" id="{D41F7103-67B3-4191-BB4A-9FF0DFE9DA07}"/>
              </a:ext>
            </a:extLst>
          </p:cNvPr>
          <p:cNvSpPr>
            <a:spLocks noGrp="1"/>
          </p:cNvSpPr>
          <p:nvPr>
            <p:ph idx="1"/>
          </p:nvPr>
        </p:nvSpPr>
        <p:spPr>
          <a:xfrm>
            <a:off x="4521614" y="727823"/>
            <a:ext cx="6927842" cy="3072900"/>
          </a:xfrm>
        </p:spPr>
        <p:txBody>
          <a:bodyPr>
            <a:normAutofit/>
          </a:bodyPr>
          <a:lstStyle/>
          <a:p>
            <a:r>
              <a:rPr lang="en-US" b="1"/>
              <a:t>2. Thông tin đăng nhập</a:t>
            </a:r>
            <a:endParaRPr lang="en-US" b="1" dirty="0"/>
          </a:p>
          <a:p>
            <a:pPr marL="0" indent="0">
              <a:buNone/>
            </a:pPr>
            <a:r>
              <a:rPr lang="en-US" dirty="0"/>
              <a:t>- </a:t>
            </a:r>
            <a:r>
              <a:rPr lang="en-US" dirty="0" err="1"/>
              <a:t>Bước</a:t>
            </a:r>
            <a:r>
              <a:rPr lang="en-US" dirty="0"/>
              <a:t> 1</a:t>
            </a:r>
            <a:r>
              <a:rPr lang="en-US"/>
              <a:t>: Thông tin tài khoản cũng như mật khẩu của bạn chính là mã nhân viên trên hệ thống ERP, mật khẩu mặc định từ 1 tới 4, trong trường hợp không được bạn liên hệ lại với EA</a:t>
            </a:r>
            <a:endParaRPr lang="en-US" dirty="0"/>
          </a:p>
          <a:p>
            <a:pPr>
              <a:buFontTx/>
              <a:buChar char="-"/>
            </a:pPr>
            <a:r>
              <a:rPr lang="en-US"/>
              <a:t>Bước </a:t>
            </a:r>
            <a:r>
              <a:rPr lang="en-US" dirty="0"/>
              <a:t>2</a:t>
            </a:r>
            <a:r>
              <a:rPr lang="en-US"/>
              <a:t>: Trước khi login, bạn cần chọn Vinatech vina Co.,Ltd. </a:t>
            </a:r>
          </a:p>
          <a:p>
            <a:pPr>
              <a:buFontTx/>
              <a:buChar char="-"/>
            </a:pPr>
            <a:r>
              <a:rPr lang="en-US"/>
              <a:t>Bước 3: khi đã chọn xong, bạn nhập mã nhân viên và mật khẩu nhấn nút login để vào hệ thống. </a:t>
            </a:r>
            <a:endParaRPr lang="en-US" dirty="0"/>
          </a:p>
          <a:p>
            <a:endParaRPr lang="en-US" dirty="0"/>
          </a:p>
        </p:txBody>
      </p:sp>
      <p:pic>
        <p:nvPicPr>
          <p:cNvPr id="6" name="Picture 5">
            <a:extLst>
              <a:ext uri="{FF2B5EF4-FFF2-40B4-BE49-F238E27FC236}">
                <a16:creationId xmlns:a16="http://schemas.microsoft.com/office/drawing/2014/main" id="{AE4062FB-B594-DA1B-F4CD-4DAB58D97270}"/>
              </a:ext>
            </a:extLst>
          </p:cNvPr>
          <p:cNvPicPr>
            <a:picLocks noChangeAspect="1"/>
          </p:cNvPicPr>
          <p:nvPr/>
        </p:nvPicPr>
        <p:blipFill>
          <a:blip r:embed="rId2"/>
          <a:stretch>
            <a:fillRect/>
          </a:stretch>
        </p:blipFill>
        <p:spPr>
          <a:xfrm>
            <a:off x="4726112" y="3312203"/>
            <a:ext cx="7094032" cy="3072899"/>
          </a:xfrm>
          <a:prstGeom prst="rect">
            <a:avLst/>
          </a:prstGeom>
        </p:spPr>
      </p:pic>
    </p:spTree>
    <p:extLst>
      <p:ext uri="{BB962C8B-B14F-4D97-AF65-F5344CB8AC3E}">
        <p14:creationId xmlns:p14="http://schemas.microsoft.com/office/powerpoint/2010/main" val="2850996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8632963-757B-40C2-BB84-FC6107A54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2853AE55-7E35-44B0-89F1-3F52B262AF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39709" y="253548"/>
            <a:ext cx="5612193" cy="6361598"/>
          </a:xfrm>
          <a:prstGeom prst="rect">
            <a:avLst/>
          </a:prstGeom>
          <a:solidFill>
            <a:schemeClr val="bg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BC4BE4D-4B50-4F51-9F85-4B5D60B02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87542"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FA6DE4-2310-439F-895A-6C973CFE6A8D}"/>
              </a:ext>
            </a:extLst>
          </p:cNvPr>
          <p:cNvSpPr>
            <a:spLocks noGrp="1"/>
          </p:cNvSpPr>
          <p:nvPr>
            <p:ph type="title"/>
          </p:nvPr>
        </p:nvSpPr>
        <p:spPr>
          <a:xfrm>
            <a:off x="6846137" y="804073"/>
            <a:ext cx="4602152" cy="1345449"/>
          </a:xfrm>
        </p:spPr>
        <p:txBody>
          <a:bodyPr>
            <a:normAutofit/>
          </a:bodyPr>
          <a:lstStyle/>
          <a:p>
            <a:r>
              <a:rPr lang="en-US" sz="3700"/>
              <a:t>2.Form đăng ký mua</a:t>
            </a:r>
            <a:endParaRPr lang="en-US" sz="3700" dirty="0"/>
          </a:p>
        </p:txBody>
      </p:sp>
      <p:sp>
        <p:nvSpPr>
          <p:cNvPr id="39" name="Content Placeholder 2">
            <a:extLst>
              <a:ext uri="{FF2B5EF4-FFF2-40B4-BE49-F238E27FC236}">
                <a16:creationId xmlns:a16="http://schemas.microsoft.com/office/drawing/2014/main" id="{D41F7103-67B3-4191-BB4A-9FF0DFE9DA07}"/>
              </a:ext>
            </a:extLst>
          </p:cNvPr>
          <p:cNvSpPr>
            <a:spLocks noGrp="1"/>
          </p:cNvSpPr>
          <p:nvPr>
            <p:ph idx="1"/>
          </p:nvPr>
        </p:nvSpPr>
        <p:spPr>
          <a:xfrm>
            <a:off x="6846137" y="2303563"/>
            <a:ext cx="4602152" cy="3715424"/>
          </a:xfrm>
        </p:spPr>
        <p:txBody>
          <a:bodyPr>
            <a:normAutofit lnSpcReduction="10000"/>
          </a:bodyPr>
          <a:lstStyle/>
          <a:p>
            <a:r>
              <a:rPr lang="en-US" b="1"/>
              <a:t>1. Bạn truy cập vào phần menu chọn mục Electronic Document =&gt; Tiếp theo bạn chọn mục Cost =&gt; bạn chọn chức năng “Expense Report Document”</a:t>
            </a:r>
            <a:endParaRPr lang="en-US" b="1" dirty="0"/>
          </a:p>
          <a:p>
            <a:pPr>
              <a:buFontTx/>
              <a:buChar char="-"/>
            </a:pPr>
            <a:r>
              <a:rPr lang="en-US" dirty="0" err="1"/>
              <a:t>Bước</a:t>
            </a:r>
            <a:r>
              <a:rPr lang="en-US" dirty="0"/>
              <a:t> 1: </a:t>
            </a:r>
            <a:r>
              <a:rPr lang="en-US" err="1"/>
              <a:t>Chọn</a:t>
            </a:r>
            <a:r>
              <a:rPr lang="en-US"/>
              <a:t> đường line phê duyệt, ở đây bạn có thể chọn hai kiểu đường line phê duyệt.</a:t>
            </a:r>
          </a:p>
          <a:p>
            <a:pPr marL="0" indent="0">
              <a:buNone/>
            </a:pPr>
            <a:r>
              <a:rPr lang="en-US"/>
              <a:t>  + Một đã được cài đặt trong hệ thống, bạn chỉ cần chọn.</a:t>
            </a:r>
          </a:p>
          <a:p>
            <a:pPr marL="0" indent="0">
              <a:buNone/>
            </a:pPr>
            <a:r>
              <a:rPr lang="en-US"/>
              <a:t>  + Hai bạn có thể tự lựa chọn những ai có thể duyệt form cho bạn.</a:t>
            </a:r>
          </a:p>
          <a:p>
            <a:pPr marL="0" indent="0">
              <a:buNone/>
            </a:pPr>
            <a:r>
              <a:rPr lang="en-US"/>
              <a:t>+ Ngoài ra bạn cũng có thể upload một file hoặc nhiều file cùng một lúc</a:t>
            </a:r>
          </a:p>
          <a:p>
            <a:pPr marL="0" indent="0">
              <a:buNone/>
            </a:pPr>
            <a:endParaRPr lang="en-US" b="1" dirty="0"/>
          </a:p>
        </p:txBody>
      </p:sp>
      <p:pic>
        <p:nvPicPr>
          <p:cNvPr id="5" name="Picture 4">
            <a:extLst>
              <a:ext uri="{FF2B5EF4-FFF2-40B4-BE49-F238E27FC236}">
                <a16:creationId xmlns:a16="http://schemas.microsoft.com/office/drawing/2014/main" id="{5AFCEC16-59D7-6C58-98B5-01FA2FBFB451}"/>
              </a:ext>
            </a:extLst>
          </p:cNvPr>
          <p:cNvPicPr>
            <a:picLocks noChangeAspect="1"/>
          </p:cNvPicPr>
          <p:nvPr/>
        </p:nvPicPr>
        <p:blipFill>
          <a:blip r:embed="rId2"/>
          <a:stretch>
            <a:fillRect/>
          </a:stretch>
        </p:blipFill>
        <p:spPr>
          <a:xfrm>
            <a:off x="56840" y="253548"/>
            <a:ext cx="6091682" cy="2797877"/>
          </a:xfrm>
          <a:prstGeom prst="rect">
            <a:avLst/>
          </a:prstGeom>
        </p:spPr>
      </p:pic>
      <p:pic>
        <p:nvPicPr>
          <p:cNvPr id="8" name="Picture 7">
            <a:extLst>
              <a:ext uri="{FF2B5EF4-FFF2-40B4-BE49-F238E27FC236}">
                <a16:creationId xmlns:a16="http://schemas.microsoft.com/office/drawing/2014/main" id="{92BE7028-D422-B3C1-ACA9-C2211C66C6B8}"/>
              </a:ext>
            </a:extLst>
          </p:cNvPr>
          <p:cNvPicPr>
            <a:picLocks noChangeAspect="1"/>
          </p:cNvPicPr>
          <p:nvPr/>
        </p:nvPicPr>
        <p:blipFill>
          <a:blip r:embed="rId3"/>
          <a:stretch>
            <a:fillRect/>
          </a:stretch>
        </p:blipFill>
        <p:spPr>
          <a:xfrm>
            <a:off x="152434" y="3806576"/>
            <a:ext cx="6091682" cy="2512944"/>
          </a:xfrm>
          <a:prstGeom prst="rect">
            <a:avLst/>
          </a:prstGeom>
        </p:spPr>
      </p:pic>
    </p:spTree>
    <p:extLst>
      <p:ext uri="{BB962C8B-B14F-4D97-AF65-F5344CB8AC3E}">
        <p14:creationId xmlns:p14="http://schemas.microsoft.com/office/powerpoint/2010/main" val="1414725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9">
            <a:extLst>
              <a:ext uri="{FF2B5EF4-FFF2-40B4-BE49-F238E27FC236}">
                <a16:creationId xmlns:a16="http://schemas.microsoft.com/office/drawing/2014/main" id="{282E2A95-1A08-4118-83C6-B1CA5648E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sp>
        <p:nvSpPr>
          <p:cNvPr id="17" name="Rectangle 11">
            <a:extLst>
              <a:ext uri="{FF2B5EF4-FFF2-40B4-BE49-F238E27FC236}">
                <a16:creationId xmlns:a16="http://schemas.microsoft.com/office/drawing/2014/main" id="{68DC0EC7-60EA-4BD3-BC04-D547DE1B28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0122" y="413053"/>
            <a:ext cx="8212114" cy="6064596"/>
          </a:xfrm>
          <a:prstGeom prst="rect">
            <a:avLst/>
          </a:prstGeom>
          <a:noFill/>
          <a:ln w="6350" cap="sq" cmpd="sng" algn="ctr">
            <a:solidFill>
              <a:srgbClr val="404040"/>
            </a:solidFill>
            <a:prstDash val="solid"/>
            <a:miter lim="800000"/>
          </a:ln>
          <a:effectLst/>
        </p:spPr>
        <p:txBody>
          <a:bodyPr/>
          <a:lstStyle/>
          <a:p>
            <a:endParaRPr lang="en-US"/>
          </a:p>
        </p:txBody>
      </p:sp>
      <p:sp>
        <p:nvSpPr>
          <p:cNvPr id="14" name="Rectangle 13">
            <a:extLst>
              <a:ext uri="{FF2B5EF4-FFF2-40B4-BE49-F238E27FC236}">
                <a16:creationId xmlns:a16="http://schemas.microsoft.com/office/drawing/2014/main" id="{2FFEFC7E-85EE-4AC9-A351-FBEB13A1D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20386" y="237744"/>
            <a:ext cx="2926080"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CB2511BB-FC4C-45F3-94EB-661D6806C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56699" y="413053"/>
            <a:ext cx="2616201" cy="6064596"/>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AA97E2-9502-487B-86C7-37C69151E524}"/>
              </a:ext>
            </a:extLst>
          </p:cNvPr>
          <p:cNvSpPr>
            <a:spLocks noGrp="1"/>
          </p:cNvSpPr>
          <p:nvPr>
            <p:ph type="title"/>
          </p:nvPr>
        </p:nvSpPr>
        <p:spPr>
          <a:xfrm>
            <a:off x="9321801" y="612843"/>
            <a:ext cx="2312480" cy="1499738"/>
          </a:xfrm>
        </p:spPr>
        <p:txBody>
          <a:bodyPr anchor="b">
            <a:normAutofit/>
          </a:bodyPr>
          <a:lstStyle/>
          <a:p>
            <a:r>
              <a:rPr lang="en-US" sz="2800"/>
              <a:t>2.Form đăng ký mua</a:t>
            </a:r>
            <a:endParaRPr lang="en-US" sz="2800" dirty="0"/>
          </a:p>
        </p:txBody>
      </p:sp>
      <p:sp>
        <p:nvSpPr>
          <p:cNvPr id="3" name="Content Placeholder 2">
            <a:extLst>
              <a:ext uri="{FF2B5EF4-FFF2-40B4-BE49-F238E27FC236}">
                <a16:creationId xmlns:a16="http://schemas.microsoft.com/office/drawing/2014/main" id="{9D191F4A-7CD3-48F7-B8A7-959531787847}"/>
              </a:ext>
            </a:extLst>
          </p:cNvPr>
          <p:cNvSpPr>
            <a:spLocks noGrp="1"/>
          </p:cNvSpPr>
          <p:nvPr>
            <p:ph idx="1"/>
          </p:nvPr>
        </p:nvSpPr>
        <p:spPr>
          <a:xfrm>
            <a:off x="9321801" y="2149813"/>
            <a:ext cx="2312479" cy="3854197"/>
          </a:xfrm>
        </p:spPr>
        <p:txBody>
          <a:bodyPr>
            <a:normAutofit/>
          </a:bodyPr>
          <a:lstStyle/>
          <a:p>
            <a:pPr>
              <a:lnSpc>
                <a:spcPct val="100000"/>
              </a:lnSpc>
            </a:pPr>
            <a:r>
              <a:rPr lang="en-US" sz="1300" b="1">
                <a:solidFill>
                  <a:schemeClr val="tx1">
                    <a:lumMod val="85000"/>
                    <a:lumOff val="15000"/>
                  </a:schemeClr>
                </a:solidFill>
              </a:rPr>
              <a:t>Tiêu đề</a:t>
            </a:r>
            <a:r>
              <a:rPr lang="en-US" sz="1300">
                <a:solidFill>
                  <a:schemeClr val="tx1">
                    <a:lumMod val="85000"/>
                    <a:lumOff val="15000"/>
                  </a:schemeClr>
                </a:solidFill>
              </a:rPr>
              <a:t>: Bạn cũng có thể đặt tiêu đề cho form đăng ký mua của mình như hình ở bên.</a:t>
            </a:r>
          </a:p>
          <a:p>
            <a:pPr>
              <a:lnSpc>
                <a:spcPct val="100000"/>
              </a:lnSpc>
            </a:pPr>
            <a:r>
              <a:rPr lang="en-US" sz="1300">
                <a:solidFill>
                  <a:schemeClr val="tx1">
                    <a:lumMod val="85000"/>
                    <a:lumOff val="15000"/>
                  </a:schemeClr>
                </a:solidFill>
              </a:rPr>
              <a:t>Ngoài ra trong trường hợp bạn làm hộ ai đó, bạn vẫn có thể đưa tên người đó vào như hình dưới bên cạnh</a:t>
            </a:r>
            <a:endParaRPr lang="en-US" sz="1300" dirty="0">
              <a:solidFill>
                <a:schemeClr val="tx1">
                  <a:lumMod val="85000"/>
                  <a:lumOff val="15000"/>
                </a:schemeClr>
              </a:solidFill>
            </a:endParaRPr>
          </a:p>
        </p:txBody>
      </p:sp>
      <p:pic>
        <p:nvPicPr>
          <p:cNvPr id="6" name="Picture 5">
            <a:extLst>
              <a:ext uri="{FF2B5EF4-FFF2-40B4-BE49-F238E27FC236}">
                <a16:creationId xmlns:a16="http://schemas.microsoft.com/office/drawing/2014/main" id="{3288C01A-6F2A-C555-4B08-BCF1E74A0173}"/>
              </a:ext>
            </a:extLst>
          </p:cNvPr>
          <p:cNvPicPr>
            <a:picLocks noChangeAspect="1"/>
          </p:cNvPicPr>
          <p:nvPr/>
        </p:nvPicPr>
        <p:blipFill>
          <a:blip r:embed="rId2"/>
          <a:stretch>
            <a:fillRect/>
          </a:stretch>
        </p:blipFill>
        <p:spPr>
          <a:xfrm>
            <a:off x="419100" y="526067"/>
            <a:ext cx="8212114" cy="2607549"/>
          </a:xfrm>
          <a:prstGeom prst="rect">
            <a:avLst/>
          </a:prstGeom>
        </p:spPr>
      </p:pic>
      <p:pic>
        <p:nvPicPr>
          <p:cNvPr id="8" name="Picture 7">
            <a:extLst>
              <a:ext uri="{FF2B5EF4-FFF2-40B4-BE49-F238E27FC236}">
                <a16:creationId xmlns:a16="http://schemas.microsoft.com/office/drawing/2014/main" id="{09B4ADA7-96B9-9E6B-6039-26C7713166A5}"/>
              </a:ext>
            </a:extLst>
          </p:cNvPr>
          <p:cNvPicPr>
            <a:picLocks noChangeAspect="1"/>
          </p:cNvPicPr>
          <p:nvPr/>
        </p:nvPicPr>
        <p:blipFill>
          <a:blip r:embed="rId3"/>
          <a:stretch>
            <a:fillRect/>
          </a:stretch>
        </p:blipFill>
        <p:spPr>
          <a:xfrm>
            <a:off x="419100" y="3429000"/>
            <a:ext cx="8212114" cy="2988063"/>
          </a:xfrm>
          <a:prstGeom prst="rect">
            <a:avLst/>
          </a:prstGeom>
        </p:spPr>
      </p:pic>
    </p:spTree>
    <p:extLst>
      <p:ext uri="{BB962C8B-B14F-4D97-AF65-F5344CB8AC3E}">
        <p14:creationId xmlns:p14="http://schemas.microsoft.com/office/powerpoint/2010/main" val="3010030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1F13E-FB38-FE99-4042-33B45D945F58}"/>
              </a:ext>
            </a:extLst>
          </p:cNvPr>
          <p:cNvSpPr>
            <a:spLocks noGrp="1"/>
          </p:cNvSpPr>
          <p:nvPr>
            <p:ph type="title"/>
          </p:nvPr>
        </p:nvSpPr>
        <p:spPr>
          <a:xfrm>
            <a:off x="6579450" y="727627"/>
            <a:ext cx="4957553" cy="1645920"/>
          </a:xfrm>
        </p:spPr>
        <p:txBody>
          <a:bodyPr>
            <a:normAutofit/>
          </a:bodyPr>
          <a:lstStyle/>
          <a:p>
            <a:r>
              <a:rPr lang="en-US"/>
              <a:t>2.Form đăng ký mua</a:t>
            </a:r>
            <a:endParaRPr lang="en-US" dirty="0"/>
          </a:p>
        </p:txBody>
      </p:sp>
      <p:sp>
        <p:nvSpPr>
          <p:cNvPr id="32" name="Rectangle 11">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US"/>
          </a:p>
        </p:txBody>
      </p:sp>
      <p:sp>
        <p:nvSpPr>
          <p:cNvPr id="33" name="Rectangle 13">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US"/>
          </a:p>
        </p:txBody>
      </p:sp>
      <p:sp>
        <p:nvSpPr>
          <p:cNvPr id="34" name="Content Placeholder 8">
            <a:extLst>
              <a:ext uri="{FF2B5EF4-FFF2-40B4-BE49-F238E27FC236}">
                <a16:creationId xmlns:a16="http://schemas.microsoft.com/office/drawing/2014/main" id="{0825DAB4-0A8A-40F6-1DCD-2F323D126DE1}"/>
              </a:ext>
            </a:extLst>
          </p:cNvPr>
          <p:cNvSpPr>
            <a:spLocks noGrp="1"/>
          </p:cNvSpPr>
          <p:nvPr>
            <p:ph idx="1"/>
          </p:nvPr>
        </p:nvSpPr>
        <p:spPr>
          <a:xfrm>
            <a:off x="6579450" y="2373547"/>
            <a:ext cx="4957554" cy="3496120"/>
          </a:xfrm>
        </p:spPr>
        <p:txBody>
          <a:bodyPr>
            <a:normAutofit/>
          </a:bodyPr>
          <a:lstStyle/>
          <a:p>
            <a:r>
              <a:rPr lang="en-US"/>
              <a:t>Ở đây có hai trường hợp:</a:t>
            </a:r>
          </a:p>
          <a:p>
            <a:r>
              <a:rPr lang="en-US"/>
              <a:t>Trường hợp 1: Mua hàng trong nước thì bạn cần nhập VAT, và không cần chọn phần đổi ngoại tệ</a:t>
            </a:r>
          </a:p>
          <a:p>
            <a:r>
              <a:rPr lang="en-US"/>
              <a:t>Trường hợp hai bạn mua hàng nước ngoài cần chuyển đổi ngoại tệ, thì sẽ không cần nhập VAT, lưu ý nó sẽ tính giá trị tiền tệ tại thời điểm bạn đang làm form.</a:t>
            </a:r>
          </a:p>
          <a:p>
            <a:r>
              <a:rPr lang="en-US" b="1" i="1"/>
              <a:t>Note: cả hai trường hợp trên đều phải nhập số tiền của nhà cung cấp.</a:t>
            </a:r>
            <a:endParaRPr lang="en-US" b="1" i="1" dirty="0"/>
          </a:p>
        </p:txBody>
      </p:sp>
      <p:pic>
        <p:nvPicPr>
          <p:cNvPr id="9" name="Picture 8">
            <a:extLst>
              <a:ext uri="{FF2B5EF4-FFF2-40B4-BE49-F238E27FC236}">
                <a16:creationId xmlns:a16="http://schemas.microsoft.com/office/drawing/2014/main" id="{CCA4CAD5-FF0B-BA0A-2E84-55C9A6FAD366}"/>
              </a:ext>
            </a:extLst>
          </p:cNvPr>
          <p:cNvPicPr>
            <a:picLocks noChangeAspect="1"/>
          </p:cNvPicPr>
          <p:nvPr/>
        </p:nvPicPr>
        <p:blipFill>
          <a:blip r:embed="rId2"/>
          <a:stretch>
            <a:fillRect/>
          </a:stretch>
        </p:blipFill>
        <p:spPr>
          <a:xfrm>
            <a:off x="923099" y="4002997"/>
            <a:ext cx="5016635" cy="1866670"/>
          </a:xfrm>
          <a:prstGeom prst="rect">
            <a:avLst/>
          </a:prstGeom>
        </p:spPr>
      </p:pic>
      <p:pic>
        <p:nvPicPr>
          <p:cNvPr id="11" name="Picture 10">
            <a:extLst>
              <a:ext uri="{FF2B5EF4-FFF2-40B4-BE49-F238E27FC236}">
                <a16:creationId xmlns:a16="http://schemas.microsoft.com/office/drawing/2014/main" id="{17C59666-46E0-D8B4-C36A-7934220FCA3E}"/>
              </a:ext>
            </a:extLst>
          </p:cNvPr>
          <p:cNvPicPr>
            <a:picLocks noChangeAspect="1"/>
          </p:cNvPicPr>
          <p:nvPr/>
        </p:nvPicPr>
        <p:blipFill>
          <a:blip r:embed="rId3"/>
          <a:stretch>
            <a:fillRect/>
          </a:stretch>
        </p:blipFill>
        <p:spPr>
          <a:xfrm>
            <a:off x="885216" y="972066"/>
            <a:ext cx="5210784" cy="2802962"/>
          </a:xfrm>
          <a:prstGeom prst="rect">
            <a:avLst/>
          </a:prstGeom>
        </p:spPr>
      </p:pic>
    </p:spTree>
    <p:extLst>
      <p:ext uri="{BB962C8B-B14F-4D97-AF65-F5344CB8AC3E}">
        <p14:creationId xmlns:p14="http://schemas.microsoft.com/office/powerpoint/2010/main" val="2116149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06B6C-224F-442C-AE08-16B00B4002A6}"/>
              </a:ext>
            </a:extLst>
          </p:cNvPr>
          <p:cNvSpPr>
            <a:spLocks noGrp="1"/>
          </p:cNvSpPr>
          <p:nvPr>
            <p:ph type="title"/>
          </p:nvPr>
        </p:nvSpPr>
        <p:spPr>
          <a:xfrm>
            <a:off x="6579450" y="727627"/>
            <a:ext cx="4957553" cy="1645920"/>
          </a:xfrm>
        </p:spPr>
        <p:txBody>
          <a:bodyPr>
            <a:normAutofit/>
          </a:bodyPr>
          <a:lstStyle/>
          <a:p>
            <a:r>
              <a:rPr lang="en-US"/>
              <a:t>2.Form đăng ký mua</a:t>
            </a:r>
            <a:endParaRPr lang="en-US" dirty="0"/>
          </a:p>
        </p:txBody>
      </p:sp>
      <p:sp>
        <p:nvSpPr>
          <p:cNvPr id="10" name="Rectangle 9">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US"/>
          </a:p>
        </p:txBody>
      </p:sp>
      <p:sp>
        <p:nvSpPr>
          <p:cNvPr id="12" name="Rectangle 11">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US"/>
          </a:p>
        </p:txBody>
      </p:sp>
      <p:sp>
        <p:nvSpPr>
          <p:cNvPr id="3" name="Content Placeholder 2">
            <a:extLst>
              <a:ext uri="{FF2B5EF4-FFF2-40B4-BE49-F238E27FC236}">
                <a16:creationId xmlns:a16="http://schemas.microsoft.com/office/drawing/2014/main" id="{7D9A796C-6488-4308-A88B-4A281EA673BB}"/>
              </a:ext>
            </a:extLst>
          </p:cNvPr>
          <p:cNvSpPr>
            <a:spLocks noGrp="1"/>
          </p:cNvSpPr>
          <p:nvPr>
            <p:ph idx="1"/>
          </p:nvPr>
        </p:nvSpPr>
        <p:spPr>
          <a:xfrm>
            <a:off x="6579449" y="2148501"/>
            <a:ext cx="4957554" cy="3496120"/>
          </a:xfrm>
        </p:spPr>
        <p:txBody>
          <a:bodyPr>
            <a:normAutofit/>
          </a:bodyPr>
          <a:lstStyle/>
          <a:p>
            <a:r>
              <a:rPr lang="en-US"/>
              <a:t>Đây là phần bạn miêu tả nội dung. Trong phần này bạn có thể đưa các video vào, hình ảnh, cũng như, các loại font chữ, đồng, thời bạn cũng có thể tạo các bảng , bạn cũng có thể thêm các link vào trực tiếp nội dung.</a:t>
            </a:r>
            <a:endParaRPr lang="en-US" dirty="0"/>
          </a:p>
          <a:p>
            <a:endParaRPr lang="en-US" dirty="0"/>
          </a:p>
        </p:txBody>
      </p:sp>
      <p:pic>
        <p:nvPicPr>
          <p:cNvPr id="6" name="Picture 5">
            <a:extLst>
              <a:ext uri="{FF2B5EF4-FFF2-40B4-BE49-F238E27FC236}">
                <a16:creationId xmlns:a16="http://schemas.microsoft.com/office/drawing/2014/main" id="{C2C33AAB-3EA8-681F-E418-D8A701FAF325}"/>
              </a:ext>
            </a:extLst>
          </p:cNvPr>
          <p:cNvPicPr>
            <a:picLocks noChangeAspect="1"/>
          </p:cNvPicPr>
          <p:nvPr/>
        </p:nvPicPr>
        <p:blipFill>
          <a:blip r:embed="rId2"/>
          <a:stretch>
            <a:fillRect/>
          </a:stretch>
        </p:blipFill>
        <p:spPr>
          <a:xfrm>
            <a:off x="965771" y="942916"/>
            <a:ext cx="4746660" cy="4944175"/>
          </a:xfrm>
          <a:prstGeom prst="rect">
            <a:avLst/>
          </a:prstGeom>
        </p:spPr>
      </p:pic>
    </p:spTree>
    <p:extLst>
      <p:ext uri="{BB962C8B-B14F-4D97-AF65-F5344CB8AC3E}">
        <p14:creationId xmlns:p14="http://schemas.microsoft.com/office/powerpoint/2010/main" val="2138890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6C450-9A12-63E2-A5BB-73709C48C275}"/>
              </a:ext>
            </a:extLst>
          </p:cNvPr>
          <p:cNvSpPr>
            <a:spLocks noGrp="1"/>
          </p:cNvSpPr>
          <p:nvPr>
            <p:ph type="title"/>
          </p:nvPr>
        </p:nvSpPr>
        <p:spPr>
          <a:xfrm>
            <a:off x="6579450" y="727627"/>
            <a:ext cx="4957553" cy="1645920"/>
          </a:xfrm>
        </p:spPr>
        <p:txBody>
          <a:bodyPr>
            <a:normAutofit/>
          </a:bodyPr>
          <a:lstStyle/>
          <a:p>
            <a:r>
              <a:rPr lang="en-US" sz="4400"/>
              <a:t>Yêu cầu trả lời trong form mua bán</a:t>
            </a:r>
          </a:p>
        </p:txBody>
      </p:sp>
      <p:sp>
        <p:nvSpPr>
          <p:cNvPr id="10" name="Rectangle 9">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US"/>
          </a:p>
        </p:txBody>
      </p:sp>
      <p:sp>
        <p:nvSpPr>
          <p:cNvPr id="12" name="Rectangle 11">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US"/>
          </a:p>
        </p:txBody>
      </p:sp>
      <p:sp>
        <p:nvSpPr>
          <p:cNvPr id="3" name="Content Placeholder 2">
            <a:extLst>
              <a:ext uri="{FF2B5EF4-FFF2-40B4-BE49-F238E27FC236}">
                <a16:creationId xmlns:a16="http://schemas.microsoft.com/office/drawing/2014/main" id="{32E1A9D1-237E-6E27-310F-EA76F2B91DD0}"/>
              </a:ext>
            </a:extLst>
          </p:cNvPr>
          <p:cNvSpPr>
            <a:spLocks noGrp="1"/>
          </p:cNvSpPr>
          <p:nvPr>
            <p:ph idx="1"/>
          </p:nvPr>
        </p:nvSpPr>
        <p:spPr>
          <a:xfrm>
            <a:off x="6579450" y="2538919"/>
            <a:ext cx="4957554" cy="3496120"/>
          </a:xfrm>
        </p:spPr>
        <p:txBody>
          <a:bodyPr>
            <a:normAutofit/>
          </a:bodyPr>
          <a:lstStyle/>
          <a:p>
            <a:r>
              <a:rPr lang="en-US"/>
              <a:t>Nếu trong quá trình bạn làm form, người duyệt có câu hỏi yêu cầu bạn trả lời, thì nó sẽ hiển thị như hình trên đây:</a:t>
            </a:r>
            <a:endParaRPr lang="en-US" dirty="0"/>
          </a:p>
          <a:p>
            <a:pPr>
              <a:buFontTx/>
              <a:buChar char="-"/>
            </a:pPr>
            <a:r>
              <a:rPr lang="en-US"/>
              <a:t>Bạn sẽ click vào rồi trả lời cho người approval</a:t>
            </a:r>
            <a:endParaRPr lang="en-US" dirty="0"/>
          </a:p>
          <a:p>
            <a:pPr>
              <a:buFontTx/>
              <a:buChar char="-"/>
            </a:pPr>
            <a:r>
              <a:rPr lang="en-US" dirty="0" err="1"/>
              <a:t>Bước</a:t>
            </a:r>
            <a:r>
              <a:rPr lang="en-US" dirty="0"/>
              <a:t> 2: Click “</a:t>
            </a:r>
            <a:r>
              <a:rPr lang="en-US" dirty="0" err="1"/>
              <a:t>Xác</a:t>
            </a:r>
            <a:r>
              <a:rPr lang="en-US" dirty="0"/>
              <a:t> </a:t>
            </a:r>
            <a:r>
              <a:rPr lang="en-US" dirty="0" err="1"/>
              <a:t>nhận</a:t>
            </a:r>
            <a:r>
              <a:rPr lang="en-US" dirty="0"/>
              <a:t>”</a:t>
            </a:r>
          </a:p>
        </p:txBody>
      </p:sp>
      <p:pic>
        <p:nvPicPr>
          <p:cNvPr id="6" name="Picture 5">
            <a:extLst>
              <a:ext uri="{FF2B5EF4-FFF2-40B4-BE49-F238E27FC236}">
                <a16:creationId xmlns:a16="http://schemas.microsoft.com/office/drawing/2014/main" id="{469E2127-EFDC-8714-CE21-02A75288E174}"/>
              </a:ext>
            </a:extLst>
          </p:cNvPr>
          <p:cNvPicPr>
            <a:picLocks noChangeAspect="1"/>
          </p:cNvPicPr>
          <p:nvPr/>
        </p:nvPicPr>
        <p:blipFill>
          <a:blip r:embed="rId2"/>
          <a:stretch>
            <a:fillRect/>
          </a:stretch>
        </p:blipFill>
        <p:spPr>
          <a:xfrm>
            <a:off x="965771" y="892219"/>
            <a:ext cx="4973963" cy="2190027"/>
          </a:xfrm>
          <a:prstGeom prst="rect">
            <a:avLst/>
          </a:prstGeom>
        </p:spPr>
      </p:pic>
      <p:pic>
        <p:nvPicPr>
          <p:cNvPr id="8" name="Picture 7">
            <a:extLst>
              <a:ext uri="{FF2B5EF4-FFF2-40B4-BE49-F238E27FC236}">
                <a16:creationId xmlns:a16="http://schemas.microsoft.com/office/drawing/2014/main" id="{26F02E4E-05E9-7B2D-4611-99DBF82E871B}"/>
              </a:ext>
            </a:extLst>
          </p:cNvPr>
          <p:cNvPicPr>
            <a:picLocks noChangeAspect="1"/>
          </p:cNvPicPr>
          <p:nvPr/>
        </p:nvPicPr>
        <p:blipFill>
          <a:blip r:embed="rId3"/>
          <a:stretch>
            <a:fillRect/>
          </a:stretch>
        </p:blipFill>
        <p:spPr>
          <a:xfrm>
            <a:off x="965771" y="3667874"/>
            <a:ext cx="4973962" cy="2275129"/>
          </a:xfrm>
          <a:prstGeom prst="rect">
            <a:avLst/>
          </a:prstGeom>
        </p:spPr>
      </p:pic>
    </p:spTree>
    <p:extLst>
      <p:ext uri="{BB962C8B-B14F-4D97-AF65-F5344CB8AC3E}">
        <p14:creationId xmlns:p14="http://schemas.microsoft.com/office/powerpoint/2010/main" val="3051464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4D482-8FA0-C617-70A5-48C77CE11C82}"/>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96EA277-ED1C-4BE1-1485-DC4DDB55AEBE}"/>
              </a:ext>
            </a:extLst>
          </p:cNvPr>
          <p:cNvSpPr>
            <a:spLocks noGrp="1"/>
          </p:cNvSpPr>
          <p:nvPr>
            <p:ph idx="1"/>
          </p:nvPr>
        </p:nvSpPr>
        <p:spPr>
          <a:xfrm>
            <a:off x="375385" y="2646946"/>
            <a:ext cx="11444438" cy="3305797"/>
          </a:xfrm>
        </p:spPr>
        <p:txBody>
          <a:bodyPr>
            <a:normAutofit/>
          </a:bodyPr>
          <a:lstStyle/>
          <a:p>
            <a:pPr marL="0" indent="0" algn="ctr">
              <a:buNone/>
            </a:pPr>
            <a:r>
              <a:rPr lang="en-US" sz="6000" b="1"/>
              <a:t>Phần II: NGƯỜI DUYỆT FORM MUA BÁN</a:t>
            </a:r>
          </a:p>
        </p:txBody>
      </p:sp>
    </p:spTree>
    <p:extLst>
      <p:ext uri="{BB962C8B-B14F-4D97-AF65-F5344CB8AC3E}">
        <p14:creationId xmlns:p14="http://schemas.microsoft.com/office/powerpoint/2010/main" val="16676828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82E2A95-1A08-4118-83C6-B1CA5648E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8DC0EC7-60EA-4BD3-BC04-D547DE1B28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0122" y="413053"/>
            <a:ext cx="8212114" cy="6064596"/>
          </a:xfrm>
          <a:prstGeom prst="rect">
            <a:avLst/>
          </a:prstGeom>
          <a:noFill/>
          <a:ln w="6350" cap="sq" cmpd="sng" algn="ctr">
            <a:solidFill>
              <a:srgbClr val="404040"/>
            </a:solidFill>
            <a:prstDash val="solid"/>
            <a:miter lim="800000"/>
          </a:ln>
          <a:effectLst/>
        </p:spPr>
        <p:txBody>
          <a:bodyPr/>
          <a:lstStyle/>
          <a:p>
            <a:endParaRPr lang="en-US"/>
          </a:p>
        </p:txBody>
      </p:sp>
      <p:sp>
        <p:nvSpPr>
          <p:cNvPr id="14" name="Rectangle 13">
            <a:extLst>
              <a:ext uri="{FF2B5EF4-FFF2-40B4-BE49-F238E27FC236}">
                <a16:creationId xmlns:a16="http://schemas.microsoft.com/office/drawing/2014/main" id="{2FFEFC7E-85EE-4AC9-A351-FBEB13A1D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20386" y="237744"/>
            <a:ext cx="2926080"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CB2511BB-FC4C-45F3-94EB-661D6806C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56699" y="413053"/>
            <a:ext cx="2616201" cy="6064596"/>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8669E6-67A1-46F2-9141-F26298066269}"/>
              </a:ext>
            </a:extLst>
          </p:cNvPr>
          <p:cNvSpPr>
            <a:spLocks noGrp="1"/>
          </p:cNvSpPr>
          <p:nvPr>
            <p:ph type="title"/>
          </p:nvPr>
        </p:nvSpPr>
        <p:spPr>
          <a:xfrm>
            <a:off x="9321801" y="612843"/>
            <a:ext cx="2312480" cy="1499738"/>
          </a:xfrm>
        </p:spPr>
        <p:txBody>
          <a:bodyPr anchor="b">
            <a:normAutofit/>
          </a:bodyPr>
          <a:lstStyle/>
          <a:p>
            <a:r>
              <a:rPr lang="en-US" sz="2800"/>
              <a:t>3.Duyệt form mua bán</a:t>
            </a:r>
            <a:endParaRPr lang="en-US" sz="2800" dirty="0"/>
          </a:p>
        </p:txBody>
      </p:sp>
      <p:sp>
        <p:nvSpPr>
          <p:cNvPr id="3" name="Content Placeholder 2">
            <a:extLst>
              <a:ext uri="{FF2B5EF4-FFF2-40B4-BE49-F238E27FC236}">
                <a16:creationId xmlns:a16="http://schemas.microsoft.com/office/drawing/2014/main" id="{F3A0DB56-F326-4783-86ED-7B7C36F62B18}"/>
              </a:ext>
            </a:extLst>
          </p:cNvPr>
          <p:cNvSpPr>
            <a:spLocks noGrp="1"/>
          </p:cNvSpPr>
          <p:nvPr>
            <p:ph idx="1"/>
          </p:nvPr>
        </p:nvSpPr>
        <p:spPr>
          <a:xfrm>
            <a:off x="9321801" y="2149813"/>
            <a:ext cx="2312479" cy="3854197"/>
          </a:xfrm>
        </p:spPr>
        <p:txBody>
          <a:bodyPr>
            <a:normAutofit fontScale="92500" lnSpcReduction="10000"/>
          </a:bodyPr>
          <a:lstStyle/>
          <a:p>
            <a:r>
              <a:rPr lang="en-US" sz="1400" b="1">
                <a:solidFill>
                  <a:schemeClr val="tx1">
                    <a:lumMod val="85000"/>
                    <a:lumOff val="15000"/>
                  </a:schemeClr>
                </a:solidFill>
              </a:rPr>
              <a:t>Khi bạn có một yêu cầu duyệt form mua bán hoặc một form cần thanh toán,</a:t>
            </a:r>
          </a:p>
          <a:p>
            <a:r>
              <a:rPr lang="en-US" sz="1400" b="1">
                <a:solidFill>
                  <a:schemeClr val="tx1">
                    <a:lumMod val="85000"/>
                    <a:lumOff val="15000"/>
                  </a:schemeClr>
                </a:solidFill>
              </a:rPr>
              <a:t>Bạn cần đăng nhập vào hệ thống rồi chọn tới menu “Electronic Document” =&gt; Approval Documents.</a:t>
            </a:r>
          </a:p>
          <a:p>
            <a:r>
              <a:rPr lang="en-US" sz="1400" b="1">
                <a:solidFill>
                  <a:schemeClr val="tx1">
                    <a:lumMod val="85000"/>
                    <a:lumOff val="15000"/>
                  </a:schemeClr>
                </a:solidFill>
              </a:rPr>
              <a:t>Khi người dùng yêu cầu bạn duyệt, lập tức một email sẽ được gửi tới bạn, bạn có thể click vào đó để vào hệ thống.</a:t>
            </a:r>
          </a:p>
          <a:p>
            <a:r>
              <a:rPr lang="en-US" sz="1400" b="1">
                <a:solidFill>
                  <a:schemeClr val="tx1">
                    <a:lumMod val="85000"/>
                    <a:lumOff val="15000"/>
                  </a:schemeClr>
                </a:solidFill>
              </a:rPr>
              <a:t>Ngoài hai cách trên khi vào hệ thống sẽ có một bảng hiển thị các form chờ bạn ký duyệt</a:t>
            </a:r>
            <a:endParaRPr lang="en-US" sz="1400" dirty="0">
              <a:solidFill>
                <a:schemeClr val="tx1">
                  <a:lumMod val="85000"/>
                  <a:lumOff val="15000"/>
                </a:schemeClr>
              </a:solidFill>
            </a:endParaRPr>
          </a:p>
          <a:p>
            <a:endParaRPr lang="en-US" sz="1400" dirty="0">
              <a:solidFill>
                <a:schemeClr val="tx1">
                  <a:lumMod val="85000"/>
                  <a:lumOff val="15000"/>
                </a:schemeClr>
              </a:solidFill>
            </a:endParaRPr>
          </a:p>
        </p:txBody>
      </p:sp>
      <p:pic>
        <p:nvPicPr>
          <p:cNvPr id="5" name="Picture 4">
            <a:extLst>
              <a:ext uri="{FF2B5EF4-FFF2-40B4-BE49-F238E27FC236}">
                <a16:creationId xmlns:a16="http://schemas.microsoft.com/office/drawing/2014/main" id="{4F82779B-11D0-E0D3-7372-4433126A4961}"/>
              </a:ext>
            </a:extLst>
          </p:cNvPr>
          <p:cNvPicPr>
            <a:picLocks noChangeAspect="1"/>
          </p:cNvPicPr>
          <p:nvPr/>
        </p:nvPicPr>
        <p:blipFill>
          <a:blip r:embed="rId2"/>
          <a:stretch>
            <a:fillRect/>
          </a:stretch>
        </p:blipFill>
        <p:spPr>
          <a:xfrm>
            <a:off x="401145" y="413052"/>
            <a:ext cx="8212113" cy="2824133"/>
          </a:xfrm>
          <a:prstGeom prst="rect">
            <a:avLst/>
          </a:prstGeom>
        </p:spPr>
      </p:pic>
      <p:pic>
        <p:nvPicPr>
          <p:cNvPr id="8" name="Picture 7">
            <a:extLst>
              <a:ext uri="{FF2B5EF4-FFF2-40B4-BE49-F238E27FC236}">
                <a16:creationId xmlns:a16="http://schemas.microsoft.com/office/drawing/2014/main" id="{5DB1E094-E840-583D-0B97-909873892F2B}"/>
              </a:ext>
            </a:extLst>
          </p:cNvPr>
          <p:cNvPicPr>
            <a:picLocks noChangeAspect="1"/>
          </p:cNvPicPr>
          <p:nvPr/>
        </p:nvPicPr>
        <p:blipFill>
          <a:blip r:embed="rId3"/>
          <a:stretch>
            <a:fillRect/>
          </a:stretch>
        </p:blipFill>
        <p:spPr>
          <a:xfrm>
            <a:off x="419100" y="3699641"/>
            <a:ext cx="8212113" cy="2592976"/>
          </a:xfrm>
          <a:prstGeom prst="rect">
            <a:avLst/>
          </a:prstGeom>
        </p:spPr>
      </p:pic>
    </p:spTree>
    <p:extLst>
      <p:ext uri="{BB962C8B-B14F-4D97-AF65-F5344CB8AC3E}">
        <p14:creationId xmlns:p14="http://schemas.microsoft.com/office/powerpoint/2010/main" val="35447902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360CA-3FF4-5014-4136-3809DEB7686D}"/>
              </a:ext>
            </a:extLst>
          </p:cNvPr>
          <p:cNvSpPr>
            <a:spLocks noGrp="1"/>
          </p:cNvSpPr>
          <p:nvPr>
            <p:ph type="title"/>
          </p:nvPr>
        </p:nvSpPr>
        <p:spPr>
          <a:xfrm>
            <a:off x="6579450" y="727627"/>
            <a:ext cx="4957553" cy="1645920"/>
          </a:xfrm>
        </p:spPr>
        <p:txBody>
          <a:bodyPr>
            <a:normAutofit/>
          </a:bodyPr>
          <a:lstStyle/>
          <a:p>
            <a:r>
              <a:rPr lang="en-US" sz="4100"/>
              <a:t>Duyệt form mua bán</a:t>
            </a:r>
          </a:p>
        </p:txBody>
      </p:sp>
      <p:sp>
        <p:nvSpPr>
          <p:cNvPr id="12" name="Rectangle 11">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US"/>
          </a:p>
        </p:txBody>
      </p:sp>
      <p:sp>
        <p:nvSpPr>
          <p:cNvPr id="14" name="Rectangle 13">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US"/>
          </a:p>
        </p:txBody>
      </p:sp>
      <p:sp>
        <p:nvSpPr>
          <p:cNvPr id="9" name="Content Placeholder 8">
            <a:extLst>
              <a:ext uri="{FF2B5EF4-FFF2-40B4-BE49-F238E27FC236}">
                <a16:creationId xmlns:a16="http://schemas.microsoft.com/office/drawing/2014/main" id="{DFE5800C-F857-4F9E-5BBF-52FC72EC8895}"/>
              </a:ext>
            </a:extLst>
          </p:cNvPr>
          <p:cNvSpPr>
            <a:spLocks noGrp="1"/>
          </p:cNvSpPr>
          <p:nvPr>
            <p:ph idx="1"/>
          </p:nvPr>
        </p:nvSpPr>
        <p:spPr>
          <a:xfrm>
            <a:off x="6579450" y="2538919"/>
            <a:ext cx="4957554" cy="3496120"/>
          </a:xfrm>
        </p:spPr>
        <p:txBody>
          <a:bodyPr>
            <a:normAutofit/>
          </a:bodyPr>
          <a:lstStyle/>
          <a:p>
            <a:r>
              <a:rPr lang="en-US"/>
              <a:t>Khi bạn nhận được form yêu cầu duyệt bạn có 3 trường hợp:</a:t>
            </a:r>
            <a:endParaRPr lang="en-US" dirty="0"/>
          </a:p>
          <a:p>
            <a:pPr>
              <a:buFontTx/>
              <a:buChar char="-"/>
            </a:pPr>
            <a:r>
              <a:rPr lang="en-US"/>
              <a:t>Trường hợp 1: Bạn duyệt cho người dùng bán nhấn nút bên trái</a:t>
            </a:r>
            <a:endParaRPr lang="en-US" dirty="0"/>
          </a:p>
          <a:p>
            <a:pPr>
              <a:buFontTx/>
              <a:buChar char="-"/>
            </a:pPr>
            <a:r>
              <a:rPr lang="en-US"/>
              <a:t>Trường hợp 2: Bạn reject form, không đồng ý bạn nhấn nút đỏ ở giữa.</a:t>
            </a:r>
          </a:p>
          <a:p>
            <a:pPr>
              <a:buFontTx/>
              <a:buChar char="-"/>
            </a:pPr>
            <a:r>
              <a:rPr lang="en-US"/>
              <a:t>Trường hợp 3 bạn có câu hỏi với người làm form, bạn nhập câu hỏi vào rồi, nhấn nút ở bên phải gửi đi, bạn chọn người cần hỏi</a:t>
            </a:r>
            <a:endParaRPr lang="en-US" dirty="0"/>
          </a:p>
        </p:txBody>
      </p:sp>
      <p:pic>
        <p:nvPicPr>
          <p:cNvPr id="4" name="Picture 3">
            <a:extLst>
              <a:ext uri="{FF2B5EF4-FFF2-40B4-BE49-F238E27FC236}">
                <a16:creationId xmlns:a16="http://schemas.microsoft.com/office/drawing/2014/main" id="{88E801A5-53D8-E851-4AD9-3112982B2C7B}"/>
              </a:ext>
            </a:extLst>
          </p:cNvPr>
          <p:cNvPicPr>
            <a:picLocks noChangeAspect="1"/>
          </p:cNvPicPr>
          <p:nvPr/>
        </p:nvPicPr>
        <p:blipFill>
          <a:blip r:embed="rId2"/>
          <a:stretch>
            <a:fillRect/>
          </a:stretch>
        </p:blipFill>
        <p:spPr>
          <a:xfrm>
            <a:off x="885217" y="873407"/>
            <a:ext cx="5054516" cy="2174594"/>
          </a:xfrm>
          <a:prstGeom prst="rect">
            <a:avLst/>
          </a:prstGeom>
        </p:spPr>
      </p:pic>
      <p:pic>
        <p:nvPicPr>
          <p:cNvPr id="7" name="Picture 6">
            <a:extLst>
              <a:ext uri="{FF2B5EF4-FFF2-40B4-BE49-F238E27FC236}">
                <a16:creationId xmlns:a16="http://schemas.microsoft.com/office/drawing/2014/main" id="{F53166C6-63D7-875A-1648-D4D49DB912AD}"/>
              </a:ext>
            </a:extLst>
          </p:cNvPr>
          <p:cNvPicPr>
            <a:picLocks noChangeAspect="1"/>
          </p:cNvPicPr>
          <p:nvPr/>
        </p:nvPicPr>
        <p:blipFill>
          <a:blip r:embed="rId3"/>
          <a:stretch>
            <a:fillRect/>
          </a:stretch>
        </p:blipFill>
        <p:spPr>
          <a:xfrm>
            <a:off x="885216" y="3573517"/>
            <a:ext cx="5054517" cy="2391004"/>
          </a:xfrm>
          <a:prstGeom prst="rect">
            <a:avLst/>
          </a:prstGeom>
        </p:spPr>
      </p:pic>
    </p:spTree>
    <p:extLst>
      <p:ext uri="{BB962C8B-B14F-4D97-AF65-F5344CB8AC3E}">
        <p14:creationId xmlns:p14="http://schemas.microsoft.com/office/powerpoint/2010/main" val="3028970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A82C4D5-F48D-7707-F1E6-7BE4AA31F7CE}"/>
              </a:ext>
            </a:extLst>
          </p:cNvPr>
          <p:cNvSpPr>
            <a:spLocks noGrp="1"/>
          </p:cNvSpPr>
          <p:nvPr>
            <p:ph type="title"/>
          </p:nvPr>
        </p:nvSpPr>
        <p:spPr>
          <a:xfrm>
            <a:off x="657546" y="642594"/>
            <a:ext cx="10972800" cy="5470530"/>
          </a:xfrm>
        </p:spPr>
        <p:txBody>
          <a:bodyPr/>
          <a:lstStyle/>
          <a:p>
            <a:endParaRPr lang="en-US"/>
          </a:p>
        </p:txBody>
      </p:sp>
      <p:pic>
        <p:nvPicPr>
          <p:cNvPr id="1026" name="Picture 2" descr="Thank You For Listening Handwritten Lettering. Template for Banner, Flier, Poster, Print, Sticker or Web Product. Vector Illustration, Objects Isolated on White Background.">
            <a:extLst>
              <a:ext uri="{FF2B5EF4-FFF2-40B4-BE49-F238E27FC236}">
                <a16:creationId xmlns:a16="http://schemas.microsoft.com/office/drawing/2014/main" id="{FA15E2DE-5E9A-7305-FB73-4502B79FDC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546" y="642594"/>
            <a:ext cx="10972800" cy="5470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58428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AnalogousFromLightSeedRightStep">
      <a:dk1>
        <a:srgbClr val="000000"/>
      </a:dk1>
      <a:lt1>
        <a:srgbClr val="FFFFFF"/>
      </a:lt1>
      <a:dk2>
        <a:srgbClr val="242E41"/>
      </a:dk2>
      <a:lt2>
        <a:srgbClr val="E8E2E8"/>
      </a:lt2>
      <a:accent1>
        <a:srgbClr val="33BA34"/>
      </a:accent1>
      <a:accent2>
        <a:srgbClr val="38B66D"/>
      </a:accent2>
      <a:accent3>
        <a:srgbClr val="3EB3A0"/>
      </a:accent3>
      <a:accent4>
        <a:srgbClr val="29ACDA"/>
      </a:accent4>
      <a:accent5>
        <a:srgbClr val="7199EC"/>
      </a:accent5>
      <a:accent6>
        <a:srgbClr val="5F51E7"/>
      </a:accent6>
      <a:hlink>
        <a:srgbClr val="AE69AE"/>
      </a:hlink>
      <a:folHlink>
        <a:srgbClr val="7F7F7F"/>
      </a:folHlink>
    </a:clrScheme>
    <a:fontScheme name="Savon">
      <a:majorFont>
        <a:latin typeface="Goudy Old Style"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oudy Old Style"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docProps/app.xml><?xml version="1.0" encoding="utf-8"?>
<Properties xmlns="http://schemas.openxmlformats.org/officeDocument/2006/extended-properties" xmlns:vt="http://schemas.openxmlformats.org/officeDocument/2006/docPropsVTypes">
  <TotalTime>3226</TotalTime>
  <Words>749</Words>
  <Application>Microsoft Office PowerPoint</Application>
  <PresentationFormat>Widescreen</PresentationFormat>
  <Paragraphs>44</Paragraphs>
  <Slides>12</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Garamond</vt:lpstr>
      <vt:lpstr>Goudy Old Style</vt:lpstr>
      <vt:lpstr>SavonVTI</vt:lpstr>
      <vt:lpstr>Hướng dẫn sử dụng chức năng SBC trên hệ thống Groupware</vt:lpstr>
      <vt:lpstr>1.Đăng nhập hệ thống Groupware</vt:lpstr>
      <vt:lpstr>2.Thông tin đăng nhập vào Groupware</vt:lpstr>
      <vt:lpstr>2.Form đăng ký mua</vt:lpstr>
      <vt:lpstr>2.Form đăng ký mua</vt:lpstr>
      <vt:lpstr>2.Form đăng ký mua</vt:lpstr>
      <vt:lpstr>2.Form đăng ký mua</vt:lpstr>
      <vt:lpstr>Yêu cầu trả lời trong form mua bán</vt:lpstr>
      <vt:lpstr>PowerPoint Presentation</vt:lpstr>
      <vt:lpstr>3.Duyệt form mua bán</vt:lpstr>
      <vt:lpstr>Duyệt form mua bán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 guide function evaluate contract in CMS</dc:title>
  <dc:creator>Nha Nguyễn</dc:creator>
  <cp:lastModifiedBy>Vina Tech06</cp:lastModifiedBy>
  <cp:revision>56</cp:revision>
  <dcterms:created xsi:type="dcterms:W3CDTF">2022-04-13T01:56:23Z</dcterms:created>
  <dcterms:modified xsi:type="dcterms:W3CDTF">2024-10-30T06:43:40Z</dcterms:modified>
</cp:coreProperties>
</file>