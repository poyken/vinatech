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58" r:id="rId6"/>
    <p:sldId id="261" r:id="rId7"/>
    <p:sldId id="268" r:id="rId8"/>
    <p:sldId id="264" r:id="rId9"/>
    <p:sldId id="266" r:id="rId10"/>
    <p:sldId id="270" r:id="rId11"/>
    <p:sldId id="272" r:id="rId12"/>
    <p:sldId id="265" r:id="rId13"/>
    <p:sldId id="273" r:id="rId14"/>
    <p:sldId id="263"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1" d="100"/>
          <a:sy n="111"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2024-11-08</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2024-11-08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2024-11-08</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2024-11-08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2024-11-08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2024-11-08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2024-11-08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2024-11-08</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2024-11-08</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2024-11-08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2024-11-08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2024-11-08</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w.vinatech.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1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956811"/>
            <a:ext cx="11439414" cy="897439"/>
          </a:xfrm>
        </p:spPr>
        <p:txBody>
          <a:bodyPr>
            <a:normAutofit/>
          </a:bodyPr>
          <a:lstStyle/>
          <a:p>
            <a:r>
              <a:rPr lang="en-US" sz="4400">
                <a:solidFill>
                  <a:schemeClr val="tx1"/>
                </a:solidFill>
              </a:rPr>
              <a:t>Hướng dẫn yêu cầu thanh toán trên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5783001"/>
            <a:ext cx="10656310" cy="425961"/>
          </a:xfrm>
        </p:spPr>
        <p:txBody>
          <a:bodyPr>
            <a:normAutofit/>
          </a:bodyPr>
          <a:lstStyle/>
          <a:p>
            <a:r>
              <a:rPr lang="en-US" dirty="0">
                <a:solidFill>
                  <a:schemeClr val="tx1"/>
                </a:solidFill>
              </a:rPr>
              <a:t>Developer by EA Team </a:t>
            </a:r>
            <a:r>
              <a:rPr lang="en-US" dirty="0" err="1">
                <a:solidFill>
                  <a:schemeClr val="tx1"/>
                </a:solidFill>
              </a:rPr>
              <a:t>VietNam</a:t>
            </a:r>
            <a:endParaRPr lang="en-US" dirty="0">
              <a:solidFill>
                <a:schemeClr val="tx1"/>
              </a:solidFill>
            </a:endParaRP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Form yêu cầu thanh toán</a:t>
            </a:r>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3" y="727823"/>
            <a:ext cx="7184431" cy="4620554"/>
          </a:xfrm>
        </p:spPr>
        <p:txBody>
          <a:bodyPr>
            <a:normAutofit/>
          </a:bodyPr>
          <a:lstStyle/>
          <a:p>
            <a:r>
              <a:rPr lang="en-US" b="1" dirty="0"/>
              <a:t>I. Purpose</a:t>
            </a:r>
          </a:p>
          <a:p>
            <a:pPr marL="0" indent="0">
              <a:buNone/>
            </a:pPr>
            <a:r>
              <a:rPr lang="en-US"/>
              <a:t>- Đăng nhập vào hệ thống bằng mã nhân viên và mật khẩu từ ERP với link dưới đây: </a:t>
            </a:r>
            <a:r>
              <a:rPr lang="en-US">
                <a:hlinkClick r:id="rId2"/>
              </a:rPr>
              <a:t>https://gw.vinatech.com/</a:t>
            </a:r>
            <a:endParaRPr lang="en-US" dirty="0"/>
          </a:p>
          <a:p>
            <a:r>
              <a:rPr lang="en-US"/>
              <a:t>Hoặc bạn có thể truy cập thống qua biểu tượng dưới đây:</a:t>
            </a:r>
            <a:endParaRPr lang="en-US" dirty="0"/>
          </a:p>
          <a:p>
            <a:pPr marL="0" indent="0">
              <a:buNone/>
            </a:pPr>
            <a:endParaRPr lang="en-US" dirty="0"/>
          </a:p>
        </p:txBody>
      </p:sp>
      <p:pic>
        <p:nvPicPr>
          <p:cNvPr id="6" name="Picture 5">
            <a:extLst>
              <a:ext uri="{FF2B5EF4-FFF2-40B4-BE49-F238E27FC236}">
                <a16:creationId xmlns:a16="http://schemas.microsoft.com/office/drawing/2014/main" id="{DACD84B1-B59C-2D35-9DBA-E7FD41801BE3}"/>
              </a:ext>
            </a:extLst>
          </p:cNvPr>
          <p:cNvPicPr>
            <a:picLocks noChangeAspect="1"/>
          </p:cNvPicPr>
          <p:nvPr/>
        </p:nvPicPr>
        <p:blipFill>
          <a:blip r:embed="rId3"/>
          <a:stretch>
            <a:fillRect/>
          </a:stretch>
        </p:blipFill>
        <p:spPr>
          <a:xfrm>
            <a:off x="4736538" y="2188435"/>
            <a:ext cx="6969506" cy="4108848"/>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Form yêu cầu thanh toán.</a:t>
            </a:r>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893943"/>
          </a:xfrm>
        </p:spPr>
        <p:txBody>
          <a:bodyPr>
            <a:normAutofit/>
          </a:bodyPr>
          <a:lstStyle/>
          <a:p>
            <a:r>
              <a:rPr lang="en-US"/>
              <a:t>Sau khi bạn truy cập vào hệ thống Groupware, một giao diện như ở dưới hiện ra và bạn có thể dùng mã nhân viên và mật khẩu để đăng nhập vào</a:t>
            </a:r>
            <a:endParaRPr lang="en-US" dirty="0"/>
          </a:p>
          <a:p>
            <a:endParaRPr lang="en-US" dirty="0"/>
          </a:p>
        </p:txBody>
      </p:sp>
      <p:pic>
        <p:nvPicPr>
          <p:cNvPr id="5" name="Picture 4">
            <a:extLst>
              <a:ext uri="{FF2B5EF4-FFF2-40B4-BE49-F238E27FC236}">
                <a16:creationId xmlns:a16="http://schemas.microsoft.com/office/drawing/2014/main" id="{60435649-5F18-B84C-13F9-54B6335D9475}"/>
              </a:ext>
            </a:extLst>
          </p:cNvPr>
          <p:cNvPicPr>
            <a:picLocks noChangeAspect="1"/>
          </p:cNvPicPr>
          <p:nvPr/>
        </p:nvPicPr>
        <p:blipFill>
          <a:blip r:embed="rId2"/>
          <a:stretch>
            <a:fillRect/>
          </a:stretch>
        </p:blipFill>
        <p:spPr>
          <a:xfrm>
            <a:off x="4521614" y="1457864"/>
            <a:ext cx="7175805" cy="4672312"/>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846137" y="804073"/>
            <a:ext cx="4602152" cy="1345449"/>
          </a:xfrm>
        </p:spPr>
        <p:txBody>
          <a:bodyPr>
            <a:normAutofit/>
          </a:bodyPr>
          <a:lstStyle/>
          <a:p>
            <a:r>
              <a:rPr lang="en-US" sz="3700"/>
              <a:t>Form yêu cầu thanh toán</a:t>
            </a:r>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846137" y="2303563"/>
            <a:ext cx="4602152" cy="3715424"/>
          </a:xfrm>
        </p:spPr>
        <p:txBody>
          <a:bodyPr>
            <a:normAutofit/>
          </a:bodyPr>
          <a:lstStyle/>
          <a:p>
            <a:r>
              <a:rPr lang="en-US" b="1"/>
              <a:t>Khi bạn đăng nhập thành công trên menu chính bạn chọn “Electronic Document” =&gt; “Cost” =&gt; “Dusbursenment Document”</a:t>
            </a:r>
          </a:p>
          <a:p>
            <a:r>
              <a:rPr lang="en-US" b="1"/>
              <a:t>Vui lòng xem hình bên cạnh</a:t>
            </a:r>
            <a:endParaRPr lang="en-US" b="1" dirty="0"/>
          </a:p>
        </p:txBody>
      </p:sp>
      <p:pic>
        <p:nvPicPr>
          <p:cNvPr id="4" name="Picture 3">
            <a:extLst>
              <a:ext uri="{FF2B5EF4-FFF2-40B4-BE49-F238E27FC236}">
                <a16:creationId xmlns:a16="http://schemas.microsoft.com/office/drawing/2014/main" id="{4D3EB063-2915-BE23-9C04-C6BBF44ED210}"/>
              </a:ext>
            </a:extLst>
          </p:cNvPr>
          <p:cNvPicPr>
            <a:picLocks noChangeAspect="1"/>
          </p:cNvPicPr>
          <p:nvPr/>
        </p:nvPicPr>
        <p:blipFill>
          <a:blip r:embed="rId2"/>
          <a:stretch>
            <a:fillRect/>
          </a:stretch>
        </p:blipFill>
        <p:spPr>
          <a:xfrm>
            <a:off x="78658" y="239554"/>
            <a:ext cx="6150639" cy="2729787"/>
          </a:xfrm>
          <a:prstGeom prst="rect">
            <a:avLst/>
          </a:prstGeom>
        </p:spPr>
      </p:pic>
      <p:pic>
        <p:nvPicPr>
          <p:cNvPr id="7" name="Picture 6">
            <a:extLst>
              <a:ext uri="{FF2B5EF4-FFF2-40B4-BE49-F238E27FC236}">
                <a16:creationId xmlns:a16="http://schemas.microsoft.com/office/drawing/2014/main" id="{8FF117CE-CC21-0BCD-FB2D-26C18111BB06}"/>
              </a:ext>
            </a:extLst>
          </p:cNvPr>
          <p:cNvPicPr>
            <a:picLocks noChangeAspect="1"/>
          </p:cNvPicPr>
          <p:nvPr/>
        </p:nvPicPr>
        <p:blipFill>
          <a:blip r:embed="rId3"/>
          <a:stretch>
            <a:fillRect/>
          </a:stretch>
        </p:blipFill>
        <p:spPr>
          <a:xfrm>
            <a:off x="24985" y="3548777"/>
            <a:ext cx="6314724" cy="3055675"/>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1499738"/>
          </a:xfrm>
        </p:spPr>
        <p:txBody>
          <a:bodyPr anchor="b">
            <a:normAutofit/>
          </a:bodyPr>
          <a:lstStyle/>
          <a:p>
            <a:r>
              <a:rPr lang="en-US" sz="2800"/>
              <a:t>Form yêu cầu thanh toán.</a:t>
            </a:r>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2149813"/>
            <a:ext cx="2312479" cy="3854197"/>
          </a:xfrm>
        </p:spPr>
        <p:txBody>
          <a:bodyPr>
            <a:normAutofit/>
          </a:bodyPr>
          <a:lstStyle/>
          <a:p>
            <a:pPr>
              <a:lnSpc>
                <a:spcPct val="100000"/>
              </a:lnSpc>
            </a:pPr>
            <a:r>
              <a:rPr lang="en-US" sz="1300" b="1">
                <a:solidFill>
                  <a:schemeClr val="tx1">
                    <a:lumMod val="85000"/>
                    <a:lumOff val="15000"/>
                  </a:schemeClr>
                </a:solidFill>
              </a:rPr>
              <a:t>Trong form yêu cầu thanh toán, đầu tiên bạn cần chọn đường line phê duyệt cho form của bạn như hình đầu tiền bên phải</a:t>
            </a:r>
            <a:r>
              <a:rPr lang="en-US" sz="1300">
                <a:solidFill>
                  <a:schemeClr val="tx1">
                    <a:lumMod val="85000"/>
                    <a:lumOff val="15000"/>
                  </a:schemeClr>
                </a:solidFill>
              </a:rPr>
              <a:t>.</a:t>
            </a:r>
          </a:p>
          <a:p>
            <a:pPr>
              <a:lnSpc>
                <a:spcPct val="100000"/>
              </a:lnSpc>
            </a:pPr>
            <a:endParaRPr lang="en-US" sz="1300">
              <a:solidFill>
                <a:schemeClr val="tx1">
                  <a:lumMod val="85000"/>
                  <a:lumOff val="15000"/>
                </a:schemeClr>
              </a:solidFill>
            </a:endParaRPr>
          </a:p>
          <a:p>
            <a:pPr marL="0" indent="0">
              <a:lnSpc>
                <a:spcPct val="100000"/>
              </a:lnSpc>
              <a:buNone/>
            </a:pPr>
            <a:endParaRPr lang="en-US" sz="1300" dirty="0">
              <a:solidFill>
                <a:schemeClr val="tx1">
                  <a:lumMod val="85000"/>
                  <a:lumOff val="15000"/>
                </a:schemeClr>
              </a:solidFill>
            </a:endParaRPr>
          </a:p>
        </p:txBody>
      </p:sp>
      <p:pic>
        <p:nvPicPr>
          <p:cNvPr id="6" name="Picture 5">
            <a:extLst>
              <a:ext uri="{FF2B5EF4-FFF2-40B4-BE49-F238E27FC236}">
                <a16:creationId xmlns:a16="http://schemas.microsoft.com/office/drawing/2014/main" id="{DFEB9FC7-7021-B417-F60F-95661C8E6CE8}"/>
              </a:ext>
            </a:extLst>
          </p:cNvPr>
          <p:cNvPicPr>
            <a:picLocks noChangeAspect="1"/>
          </p:cNvPicPr>
          <p:nvPr/>
        </p:nvPicPr>
        <p:blipFill>
          <a:blip r:embed="rId2"/>
          <a:stretch>
            <a:fillRect/>
          </a:stretch>
        </p:blipFill>
        <p:spPr>
          <a:xfrm>
            <a:off x="419100" y="413052"/>
            <a:ext cx="8203136" cy="2792263"/>
          </a:xfrm>
          <a:prstGeom prst="rect">
            <a:avLst/>
          </a:prstGeom>
        </p:spPr>
      </p:pic>
      <p:pic>
        <p:nvPicPr>
          <p:cNvPr id="8" name="Picture 7">
            <a:extLst>
              <a:ext uri="{FF2B5EF4-FFF2-40B4-BE49-F238E27FC236}">
                <a16:creationId xmlns:a16="http://schemas.microsoft.com/office/drawing/2014/main" id="{9DA7B38A-EFFA-2B77-F080-6BFB4AB792CC}"/>
              </a:ext>
            </a:extLst>
          </p:cNvPr>
          <p:cNvPicPr>
            <a:picLocks noChangeAspect="1"/>
          </p:cNvPicPr>
          <p:nvPr/>
        </p:nvPicPr>
        <p:blipFill>
          <a:blip r:embed="rId3"/>
          <a:stretch>
            <a:fillRect/>
          </a:stretch>
        </p:blipFill>
        <p:spPr>
          <a:xfrm>
            <a:off x="410122" y="3804249"/>
            <a:ext cx="8203137" cy="2640698"/>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63179BE3-711A-4AA9-AE10-39EDB0D33625}"/>
              </a:ext>
            </a:extLst>
          </p:cNvPr>
          <p:cNvSpPr>
            <a:spLocks noGrp="1"/>
          </p:cNvSpPr>
          <p:nvPr>
            <p:ph type="title"/>
          </p:nvPr>
        </p:nvSpPr>
        <p:spPr>
          <a:xfrm>
            <a:off x="707830" y="727823"/>
            <a:ext cx="3329150" cy="5402353"/>
          </a:xfrm>
        </p:spPr>
        <p:txBody>
          <a:bodyPr>
            <a:normAutofit/>
          </a:bodyPr>
          <a:lstStyle/>
          <a:p>
            <a:r>
              <a:rPr lang="en-US"/>
              <a:t>Form yêu cầu thanh toán</a:t>
            </a:r>
            <a:endParaRPr lang="en-US" dirty="0"/>
          </a:p>
        </p:txBody>
      </p:sp>
      <p:sp>
        <p:nvSpPr>
          <p:cNvPr id="3" name="Content Placeholder 2">
            <a:extLst>
              <a:ext uri="{FF2B5EF4-FFF2-40B4-BE49-F238E27FC236}">
                <a16:creationId xmlns:a16="http://schemas.microsoft.com/office/drawing/2014/main" id="{50EFAC1F-7383-4474-BDDA-CABE5EB48B00}"/>
              </a:ext>
            </a:extLst>
          </p:cNvPr>
          <p:cNvSpPr>
            <a:spLocks noGrp="1"/>
          </p:cNvSpPr>
          <p:nvPr>
            <p:ph idx="1"/>
          </p:nvPr>
        </p:nvSpPr>
        <p:spPr>
          <a:xfrm>
            <a:off x="4362352" y="727823"/>
            <a:ext cx="7087104" cy="3072900"/>
          </a:xfrm>
        </p:spPr>
        <p:txBody>
          <a:bodyPr>
            <a:normAutofit/>
          </a:bodyPr>
          <a:lstStyle/>
          <a:p>
            <a:r>
              <a:rPr lang="en-US"/>
              <a:t>Sau khi bạn chọn xong đường line phê duyệt, bạn cần đặt tên cho form yêu cầu phê duyệt</a:t>
            </a:r>
            <a:endParaRPr lang="en-US" dirty="0"/>
          </a:p>
          <a:p>
            <a:r>
              <a:rPr lang="en-US"/>
              <a:t>Ngoài ra bạn cũng có thể đính kèm các file đính kèm liên quan</a:t>
            </a:r>
            <a:endParaRPr lang="en-US" dirty="0"/>
          </a:p>
          <a:p>
            <a:pPr>
              <a:buFontTx/>
              <a:buChar char="-"/>
            </a:pPr>
            <a:r>
              <a:rPr lang="en-US"/>
              <a:t>Trong trường hợp bạn đăng ký giúp người khác, bạn có thể chọn tên người yêu cầu bạn đăng ký hộ</a:t>
            </a:r>
            <a:endParaRPr lang="en-US" dirty="0"/>
          </a:p>
        </p:txBody>
      </p:sp>
      <p:pic>
        <p:nvPicPr>
          <p:cNvPr id="6" name="Picture 5">
            <a:extLst>
              <a:ext uri="{FF2B5EF4-FFF2-40B4-BE49-F238E27FC236}">
                <a16:creationId xmlns:a16="http://schemas.microsoft.com/office/drawing/2014/main" id="{9879544A-F3EA-F700-7602-1A01CA84A8F4}"/>
              </a:ext>
            </a:extLst>
          </p:cNvPr>
          <p:cNvPicPr>
            <a:picLocks noChangeAspect="1"/>
          </p:cNvPicPr>
          <p:nvPr/>
        </p:nvPicPr>
        <p:blipFill>
          <a:blip r:embed="rId2"/>
          <a:stretch>
            <a:fillRect/>
          </a:stretch>
        </p:blipFill>
        <p:spPr>
          <a:xfrm>
            <a:off x="4463845" y="2487560"/>
            <a:ext cx="7356299" cy="3995535"/>
          </a:xfrm>
          <a:prstGeom prst="rect">
            <a:avLst/>
          </a:prstGeom>
        </p:spPr>
      </p:pic>
    </p:spTree>
    <p:extLst>
      <p:ext uri="{BB962C8B-B14F-4D97-AF65-F5344CB8AC3E}">
        <p14:creationId xmlns:p14="http://schemas.microsoft.com/office/powerpoint/2010/main" val="49105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8CEEC-F1D4-9CC3-E4B1-45278DBBEE79}"/>
              </a:ext>
            </a:extLst>
          </p:cNvPr>
          <p:cNvSpPr>
            <a:spLocks noGrp="1"/>
          </p:cNvSpPr>
          <p:nvPr>
            <p:ph type="title"/>
          </p:nvPr>
        </p:nvSpPr>
        <p:spPr>
          <a:xfrm>
            <a:off x="6579450" y="727627"/>
            <a:ext cx="4957553" cy="1645920"/>
          </a:xfrm>
        </p:spPr>
        <p:txBody>
          <a:bodyPr>
            <a:normAutofit/>
          </a:bodyPr>
          <a:lstStyle/>
          <a:p>
            <a:r>
              <a:rPr lang="en-US"/>
              <a:t>Form yêu cầu thanh toán</a:t>
            </a:r>
            <a:endParaRPr lang="en-US" dirty="0"/>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3E59B3E9-57A1-08CA-0C3F-1DAE2950AF09}"/>
              </a:ext>
            </a:extLst>
          </p:cNvPr>
          <p:cNvSpPr>
            <a:spLocks noGrp="1"/>
          </p:cNvSpPr>
          <p:nvPr>
            <p:ph idx="1"/>
          </p:nvPr>
        </p:nvSpPr>
        <p:spPr>
          <a:xfrm>
            <a:off x="6579450" y="2538919"/>
            <a:ext cx="4957554" cy="3496120"/>
          </a:xfrm>
        </p:spPr>
        <p:txBody>
          <a:bodyPr>
            <a:normAutofit/>
          </a:bodyPr>
          <a:lstStyle/>
          <a:p>
            <a:r>
              <a:rPr lang="en-US"/>
              <a:t>- Với nút số 1 bạn có thể chọn form yêu cầu mua đã được duyệt.</a:t>
            </a:r>
          </a:p>
          <a:p>
            <a:r>
              <a:rPr lang="en-US"/>
              <a:t>Với nút số 2 bạn có thể chọn nữa thêm mới vendor cần thanh toán. Mà không nhất thiết phải có form yêu cầu mua.</a:t>
            </a:r>
            <a:endParaRPr lang="en-US" dirty="0"/>
          </a:p>
        </p:txBody>
      </p:sp>
      <p:pic>
        <p:nvPicPr>
          <p:cNvPr id="6" name="Picture 5">
            <a:extLst>
              <a:ext uri="{FF2B5EF4-FFF2-40B4-BE49-F238E27FC236}">
                <a16:creationId xmlns:a16="http://schemas.microsoft.com/office/drawing/2014/main" id="{22404BD6-BA39-EB86-E13E-13C86C741BE9}"/>
              </a:ext>
            </a:extLst>
          </p:cNvPr>
          <p:cNvPicPr>
            <a:picLocks noChangeAspect="1"/>
          </p:cNvPicPr>
          <p:nvPr/>
        </p:nvPicPr>
        <p:blipFill>
          <a:blip r:embed="rId2"/>
          <a:stretch>
            <a:fillRect/>
          </a:stretch>
        </p:blipFill>
        <p:spPr>
          <a:xfrm>
            <a:off x="816077" y="727628"/>
            <a:ext cx="5211097" cy="5261678"/>
          </a:xfrm>
          <a:prstGeom prst="rect">
            <a:avLst/>
          </a:prstGeom>
        </p:spPr>
      </p:pic>
    </p:spTree>
    <p:extLst>
      <p:ext uri="{BB962C8B-B14F-4D97-AF65-F5344CB8AC3E}">
        <p14:creationId xmlns:p14="http://schemas.microsoft.com/office/powerpoint/2010/main" val="270191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8669E6-67A1-46F2-9141-F26298066269}"/>
              </a:ext>
            </a:extLst>
          </p:cNvPr>
          <p:cNvSpPr>
            <a:spLocks noGrp="1"/>
          </p:cNvSpPr>
          <p:nvPr>
            <p:ph type="title"/>
          </p:nvPr>
        </p:nvSpPr>
        <p:spPr>
          <a:xfrm>
            <a:off x="9321801" y="612843"/>
            <a:ext cx="2312480" cy="1499738"/>
          </a:xfrm>
        </p:spPr>
        <p:txBody>
          <a:bodyPr anchor="b">
            <a:normAutofit/>
          </a:bodyPr>
          <a:lstStyle/>
          <a:p>
            <a:r>
              <a:rPr lang="en-US" sz="2800"/>
              <a:t>Form yêu cầu thanh toán.</a:t>
            </a:r>
            <a:endParaRPr lang="en-US" sz="2800" dirty="0"/>
          </a:p>
        </p:txBody>
      </p:sp>
      <p:sp>
        <p:nvSpPr>
          <p:cNvPr id="3" name="Content Placeholder 2">
            <a:extLst>
              <a:ext uri="{FF2B5EF4-FFF2-40B4-BE49-F238E27FC236}">
                <a16:creationId xmlns:a16="http://schemas.microsoft.com/office/drawing/2014/main" id="{F3A0DB56-F326-4783-86ED-7B7C36F62B18}"/>
              </a:ext>
            </a:extLst>
          </p:cNvPr>
          <p:cNvSpPr>
            <a:spLocks noGrp="1"/>
          </p:cNvSpPr>
          <p:nvPr>
            <p:ph idx="1"/>
          </p:nvPr>
        </p:nvSpPr>
        <p:spPr>
          <a:xfrm>
            <a:off x="9321801" y="2149813"/>
            <a:ext cx="2312479" cy="3854197"/>
          </a:xfrm>
        </p:spPr>
        <p:txBody>
          <a:bodyPr>
            <a:normAutofit lnSpcReduction="10000"/>
          </a:bodyPr>
          <a:lstStyle/>
          <a:p>
            <a:r>
              <a:rPr lang="en-US" sz="1400" b="1">
                <a:solidFill>
                  <a:schemeClr val="tx1">
                    <a:lumMod val="85000"/>
                    <a:lumOff val="15000"/>
                  </a:schemeClr>
                </a:solidFill>
              </a:rPr>
              <a:t>Nếu bạn chọn “Liên kế tài liệu”, sẽ có một màn hình mới hiện thị một màn hình như bên trái, bạn có thể lựa chọn form bạn đã duyệt, để atteached vào form yêu cầu mua.</a:t>
            </a:r>
          </a:p>
          <a:p>
            <a:r>
              <a:rPr lang="en-US" sz="1400" b="1">
                <a:solidFill>
                  <a:schemeClr val="tx1">
                    <a:lumMod val="85000"/>
                    <a:lumOff val="15000"/>
                  </a:schemeClr>
                </a:solidFill>
              </a:rPr>
              <a:t>- Hộp thoại mở lên bạn chọn trong combox sau đó rồi ấn kiểm tra, lập tức một màn hình mới tự hiện ra, các form yêu cầu mua đã được duyệt, bạn có thể chọn một, hoặc nhiều form</a:t>
            </a:r>
            <a:endParaRPr lang="en-US" sz="1400">
              <a:solidFill>
                <a:schemeClr val="tx1">
                  <a:lumMod val="85000"/>
                  <a:lumOff val="15000"/>
                </a:schemeClr>
              </a:solidFill>
            </a:endParaRPr>
          </a:p>
          <a:p>
            <a:endParaRPr lang="en-US" sz="1400">
              <a:solidFill>
                <a:schemeClr val="tx1">
                  <a:lumMod val="85000"/>
                  <a:lumOff val="15000"/>
                </a:schemeClr>
              </a:solidFill>
            </a:endParaRPr>
          </a:p>
        </p:txBody>
      </p:sp>
      <p:pic>
        <p:nvPicPr>
          <p:cNvPr id="6" name="Picture 5">
            <a:extLst>
              <a:ext uri="{FF2B5EF4-FFF2-40B4-BE49-F238E27FC236}">
                <a16:creationId xmlns:a16="http://schemas.microsoft.com/office/drawing/2014/main" id="{E3EC75C9-AB12-52BC-B213-2FA3E37C008A}"/>
              </a:ext>
            </a:extLst>
          </p:cNvPr>
          <p:cNvPicPr>
            <a:picLocks noChangeAspect="1"/>
          </p:cNvPicPr>
          <p:nvPr/>
        </p:nvPicPr>
        <p:blipFill>
          <a:blip r:embed="rId2"/>
          <a:stretch>
            <a:fillRect/>
          </a:stretch>
        </p:blipFill>
        <p:spPr>
          <a:xfrm>
            <a:off x="419100" y="413053"/>
            <a:ext cx="8203136" cy="2566121"/>
          </a:xfrm>
          <a:prstGeom prst="rect">
            <a:avLst/>
          </a:prstGeom>
        </p:spPr>
      </p:pic>
      <p:pic>
        <p:nvPicPr>
          <p:cNvPr id="11" name="Picture 10">
            <a:extLst>
              <a:ext uri="{FF2B5EF4-FFF2-40B4-BE49-F238E27FC236}">
                <a16:creationId xmlns:a16="http://schemas.microsoft.com/office/drawing/2014/main" id="{0FF25968-A3C4-7630-A8D7-355202642FA7}"/>
              </a:ext>
            </a:extLst>
          </p:cNvPr>
          <p:cNvPicPr>
            <a:picLocks noChangeAspect="1"/>
          </p:cNvPicPr>
          <p:nvPr/>
        </p:nvPicPr>
        <p:blipFill>
          <a:blip r:embed="rId3"/>
          <a:stretch>
            <a:fillRect/>
          </a:stretch>
        </p:blipFill>
        <p:spPr>
          <a:xfrm>
            <a:off x="410122" y="3588774"/>
            <a:ext cx="8203136" cy="2888875"/>
          </a:xfrm>
          <a:prstGeom prst="rect">
            <a:avLst/>
          </a:prstGeom>
        </p:spPr>
      </p:pic>
    </p:spTree>
    <p:extLst>
      <p:ext uri="{BB962C8B-B14F-4D97-AF65-F5344CB8AC3E}">
        <p14:creationId xmlns:p14="http://schemas.microsoft.com/office/powerpoint/2010/main" val="3544790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06B6C-224F-442C-AE08-16B00B4002A6}"/>
              </a:ext>
            </a:extLst>
          </p:cNvPr>
          <p:cNvSpPr>
            <a:spLocks noGrp="1"/>
          </p:cNvSpPr>
          <p:nvPr>
            <p:ph type="title"/>
          </p:nvPr>
        </p:nvSpPr>
        <p:spPr>
          <a:xfrm>
            <a:off x="6579450" y="727627"/>
            <a:ext cx="4957553" cy="1645920"/>
          </a:xfrm>
        </p:spPr>
        <p:txBody>
          <a:bodyPr>
            <a:normAutofit/>
          </a:bodyPr>
          <a:lstStyle/>
          <a:p>
            <a:r>
              <a:rPr lang="en-US"/>
              <a:t>Form yêu cầu thanh toán.</a:t>
            </a:r>
            <a:endParaRPr lang="en-US" dirty="0"/>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7D9A796C-6488-4308-A88B-4A281EA673BB}"/>
              </a:ext>
            </a:extLst>
          </p:cNvPr>
          <p:cNvSpPr>
            <a:spLocks noGrp="1"/>
          </p:cNvSpPr>
          <p:nvPr>
            <p:ph idx="1"/>
          </p:nvPr>
        </p:nvSpPr>
        <p:spPr>
          <a:xfrm>
            <a:off x="6579450" y="2538919"/>
            <a:ext cx="4957554" cy="3496120"/>
          </a:xfrm>
        </p:spPr>
        <p:txBody>
          <a:bodyPr>
            <a:normAutofit/>
          </a:bodyPr>
          <a:lstStyle/>
          <a:p>
            <a:r>
              <a:rPr lang="en-US"/>
              <a:t>Bạn cần phải click vào “Tín dụng” để chọn một tài khoản thanh toán, nếu bạn mua hàng ở Việt nam, thì bạn cần chọn tài khoản thanh toán ở Việt Nam, nếu bạn chọn mua hàng ở nước ngoài thì tài khoản thanh toán sẽ là đồng USD.</a:t>
            </a:r>
          </a:p>
          <a:p>
            <a:r>
              <a:rPr lang="en-US"/>
              <a:t>Các hình ảnh bên trái là tài khoản USD</a:t>
            </a:r>
            <a:endParaRPr lang="en-US" dirty="0"/>
          </a:p>
          <a:p>
            <a:endParaRPr lang="en-US" dirty="0"/>
          </a:p>
        </p:txBody>
      </p:sp>
      <p:pic>
        <p:nvPicPr>
          <p:cNvPr id="6" name="Picture 5">
            <a:extLst>
              <a:ext uri="{FF2B5EF4-FFF2-40B4-BE49-F238E27FC236}">
                <a16:creationId xmlns:a16="http://schemas.microsoft.com/office/drawing/2014/main" id="{A4C33C00-6010-FC57-90C3-DB847E4A63BF}"/>
              </a:ext>
            </a:extLst>
          </p:cNvPr>
          <p:cNvPicPr>
            <a:picLocks noChangeAspect="1"/>
          </p:cNvPicPr>
          <p:nvPr/>
        </p:nvPicPr>
        <p:blipFill>
          <a:blip r:embed="rId2"/>
          <a:stretch>
            <a:fillRect/>
          </a:stretch>
        </p:blipFill>
        <p:spPr>
          <a:xfrm>
            <a:off x="950154" y="903242"/>
            <a:ext cx="4989580" cy="1977981"/>
          </a:xfrm>
          <a:prstGeom prst="rect">
            <a:avLst/>
          </a:prstGeom>
        </p:spPr>
      </p:pic>
      <p:pic>
        <p:nvPicPr>
          <p:cNvPr id="8" name="Picture 7">
            <a:extLst>
              <a:ext uri="{FF2B5EF4-FFF2-40B4-BE49-F238E27FC236}">
                <a16:creationId xmlns:a16="http://schemas.microsoft.com/office/drawing/2014/main" id="{61F4C0CF-1F3C-8684-4CBA-8ABFBAD0817B}"/>
              </a:ext>
            </a:extLst>
          </p:cNvPr>
          <p:cNvPicPr>
            <a:picLocks noChangeAspect="1"/>
          </p:cNvPicPr>
          <p:nvPr/>
        </p:nvPicPr>
        <p:blipFill>
          <a:blip r:embed="rId3"/>
          <a:stretch>
            <a:fillRect/>
          </a:stretch>
        </p:blipFill>
        <p:spPr>
          <a:xfrm>
            <a:off x="885217" y="3648973"/>
            <a:ext cx="5054517" cy="2430389"/>
          </a:xfrm>
          <a:prstGeom prst="rect">
            <a:avLst/>
          </a:prstGeom>
        </p:spPr>
      </p:pic>
    </p:spTree>
    <p:extLst>
      <p:ext uri="{BB962C8B-B14F-4D97-AF65-F5344CB8AC3E}">
        <p14:creationId xmlns:p14="http://schemas.microsoft.com/office/powerpoint/2010/main" val="2138890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69DC-EE86-5F32-6A17-E9BCFBA91D42}"/>
              </a:ext>
            </a:extLst>
          </p:cNvPr>
          <p:cNvSpPr>
            <a:spLocks noGrp="1"/>
          </p:cNvSpPr>
          <p:nvPr>
            <p:ph type="title"/>
          </p:nvPr>
        </p:nvSpPr>
        <p:spPr>
          <a:xfrm>
            <a:off x="6579450" y="727627"/>
            <a:ext cx="4957553" cy="1645920"/>
          </a:xfrm>
        </p:spPr>
        <p:txBody>
          <a:bodyPr>
            <a:normAutofit/>
          </a:bodyPr>
          <a:lstStyle/>
          <a:p>
            <a:r>
              <a:rPr lang="en-US"/>
              <a:t>Form yêu cầu thanh toán.</a:t>
            </a:r>
            <a:endParaRPr lang="en-US" dirty="0"/>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C8BF1C2B-9DC4-CD65-7CD1-32CE7DA5D3EF}"/>
              </a:ext>
            </a:extLst>
          </p:cNvPr>
          <p:cNvSpPr>
            <a:spLocks noGrp="1"/>
          </p:cNvSpPr>
          <p:nvPr>
            <p:ph idx="1"/>
          </p:nvPr>
        </p:nvSpPr>
        <p:spPr>
          <a:xfrm>
            <a:off x="6579450" y="2538919"/>
            <a:ext cx="4957554" cy="3496120"/>
          </a:xfrm>
        </p:spPr>
        <p:txBody>
          <a:bodyPr>
            <a:normAutofit/>
          </a:bodyPr>
          <a:lstStyle/>
          <a:p>
            <a:r>
              <a:rPr lang="en-US"/>
              <a:t>Ngoài ra bạn cũng phải chọn mã tài khoản cho loại hàng mà bạn muốn thanh toán như hình bên trái, bạn cần phải tìm.</a:t>
            </a:r>
          </a:p>
          <a:p>
            <a:r>
              <a:rPr lang="en-US"/>
              <a:t>Khi bạn click vào button “Bản ghi nợ” một cửa số mới hiện ra, ở đây có tất cả các mã tài khoản theo từng loại hàng mà bạn cần thanh toán.</a:t>
            </a:r>
            <a:endParaRPr lang="en-US" dirty="0"/>
          </a:p>
        </p:txBody>
      </p:sp>
      <p:pic>
        <p:nvPicPr>
          <p:cNvPr id="6" name="Picture 5">
            <a:extLst>
              <a:ext uri="{FF2B5EF4-FFF2-40B4-BE49-F238E27FC236}">
                <a16:creationId xmlns:a16="http://schemas.microsoft.com/office/drawing/2014/main" id="{E5313E75-3D07-AC36-9CED-2B6112FD84D8}"/>
              </a:ext>
            </a:extLst>
          </p:cNvPr>
          <p:cNvPicPr>
            <a:picLocks noChangeAspect="1"/>
          </p:cNvPicPr>
          <p:nvPr/>
        </p:nvPicPr>
        <p:blipFill>
          <a:blip r:embed="rId2"/>
          <a:stretch>
            <a:fillRect/>
          </a:stretch>
        </p:blipFill>
        <p:spPr>
          <a:xfrm>
            <a:off x="885217" y="762258"/>
            <a:ext cx="5054518" cy="2492219"/>
          </a:xfrm>
          <a:prstGeom prst="rect">
            <a:avLst/>
          </a:prstGeom>
        </p:spPr>
      </p:pic>
      <p:pic>
        <p:nvPicPr>
          <p:cNvPr id="8" name="Picture 7">
            <a:extLst>
              <a:ext uri="{FF2B5EF4-FFF2-40B4-BE49-F238E27FC236}">
                <a16:creationId xmlns:a16="http://schemas.microsoft.com/office/drawing/2014/main" id="{B1D4705F-E5B0-4B30-353A-C22B49B72C3D}"/>
              </a:ext>
            </a:extLst>
          </p:cNvPr>
          <p:cNvPicPr>
            <a:picLocks noChangeAspect="1"/>
          </p:cNvPicPr>
          <p:nvPr/>
        </p:nvPicPr>
        <p:blipFill>
          <a:blip r:embed="rId3"/>
          <a:stretch>
            <a:fillRect/>
          </a:stretch>
        </p:blipFill>
        <p:spPr>
          <a:xfrm>
            <a:off x="885216" y="3736258"/>
            <a:ext cx="5054517" cy="2229522"/>
          </a:xfrm>
          <a:prstGeom prst="rect">
            <a:avLst/>
          </a:prstGeom>
        </p:spPr>
      </p:pic>
    </p:spTree>
    <p:extLst>
      <p:ext uri="{BB962C8B-B14F-4D97-AF65-F5344CB8AC3E}">
        <p14:creationId xmlns:p14="http://schemas.microsoft.com/office/powerpoint/2010/main" val="3311903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A0FB-C688-E95A-CF03-54CA4A042BF7}"/>
              </a:ext>
            </a:extLst>
          </p:cNvPr>
          <p:cNvSpPr>
            <a:spLocks noGrp="1"/>
          </p:cNvSpPr>
          <p:nvPr>
            <p:ph type="title"/>
          </p:nvPr>
        </p:nvSpPr>
        <p:spPr>
          <a:xfrm>
            <a:off x="6579450" y="727627"/>
            <a:ext cx="4957553" cy="1645920"/>
          </a:xfrm>
        </p:spPr>
        <p:txBody>
          <a:bodyPr>
            <a:normAutofit/>
          </a:bodyPr>
          <a:lstStyle/>
          <a:p>
            <a:r>
              <a:rPr lang="en-US" sz="4400"/>
              <a:t>Form yêu cầu thanh toán.</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256DC364-A910-8F99-926A-93D4B6E5728F}"/>
              </a:ext>
            </a:extLst>
          </p:cNvPr>
          <p:cNvSpPr>
            <a:spLocks noGrp="1"/>
          </p:cNvSpPr>
          <p:nvPr>
            <p:ph idx="1"/>
          </p:nvPr>
        </p:nvSpPr>
        <p:spPr>
          <a:xfrm>
            <a:off x="6579450" y="2538919"/>
            <a:ext cx="4957554" cy="3496120"/>
          </a:xfrm>
        </p:spPr>
        <p:txBody>
          <a:bodyPr>
            <a:normAutofit/>
          </a:bodyPr>
          <a:lstStyle/>
          <a:p>
            <a:r>
              <a:rPr lang="en-US"/>
              <a:t>Ở hình ảnh bên trái số 1 là loại hóa đơn bạn cần chọn</a:t>
            </a:r>
          </a:p>
          <a:p>
            <a:r>
              <a:rPr lang="en-US"/>
              <a:t>Ở hình số là mục chi phí này sẽ được tính cho phòng ban nào.</a:t>
            </a:r>
            <a:endParaRPr lang="en-US" dirty="0"/>
          </a:p>
        </p:txBody>
      </p:sp>
      <p:pic>
        <p:nvPicPr>
          <p:cNvPr id="6" name="Picture 5">
            <a:extLst>
              <a:ext uri="{FF2B5EF4-FFF2-40B4-BE49-F238E27FC236}">
                <a16:creationId xmlns:a16="http://schemas.microsoft.com/office/drawing/2014/main" id="{3B7D6D0F-1227-EBC7-1F18-DFD5E7CC710D}"/>
              </a:ext>
            </a:extLst>
          </p:cNvPr>
          <p:cNvPicPr>
            <a:picLocks noChangeAspect="1"/>
          </p:cNvPicPr>
          <p:nvPr/>
        </p:nvPicPr>
        <p:blipFill>
          <a:blip r:embed="rId2"/>
          <a:stretch>
            <a:fillRect/>
          </a:stretch>
        </p:blipFill>
        <p:spPr>
          <a:xfrm>
            <a:off x="885217" y="965200"/>
            <a:ext cx="5054517" cy="2184400"/>
          </a:xfrm>
          <a:prstGeom prst="rect">
            <a:avLst/>
          </a:prstGeom>
        </p:spPr>
      </p:pic>
      <p:pic>
        <p:nvPicPr>
          <p:cNvPr id="8" name="Picture 7">
            <a:extLst>
              <a:ext uri="{FF2B5EF4-FFF2-40B4-BE49-F238E27FC236}">
                <a16:creationId xmlns:a16="http://schemas.microsoft.com/office/drawing/2014/main" id="{E77335AD-FB38-0833-D7E0-DD48E20CF7BF}"/>
              </a:ext>
            </a:extLst>
          </p:cNvPr>
          <p:cNvPicPr>
            <a:picLocks noChangeAspect="1"/>
          </p:cNvPicPr>
          <p:nvPr/>
        </p:nvPicPr>
        <p:blipFill>
          <a:blip r:embed="rId3"/>
          <a:stretch>
            <a:fillRect/>
          </a:stretch>
        </p:blipFill>
        <p:spPr>
          <a:xfrm>
            <a:off x="885216" y="3883742"/>
            <a:ext cx="2210275" cy="2105563"/>
          </a:xfrm>
          <a:prstGeom prst="rect">
            <a:avLst/>
          </a:prstGeom>
        </p:spPr>
      </p:pic>
      <p:pic>
        <p:nvPicPr>
          <p:cNvPr id="11" name="Picture 10">
            <a:extLst>
              <a:ext uri="{FF2B5EF4-FFF2-40B4-BE49-F238E27FC236}">
                <a16:creationId xmlns:a16="http://schemas.microsoft.com/office/drawing/2014/main" id="{841C79AC-1CCF-8386-F215-23951E211567}"/>
              </a:ext>
            </a:extLst>
          </p:cNvPr>
          <p:cNvPicPr>
            <a:picLocks noChangeAspect="1"/>
          </p:cNvPicPr>
          <p:nvPr/>
        </p:nvPicPr>
        <p:blipFill>
          <a:blip r:embed="rId4"/>
          <a:stretch>
            <a:fillRect/>
          </a:stretch>
        </p:blipFill>
        <p:spPr>
          <a:xfrm>
            <a:off x="3251872" y="3883742"/>
            <a:ext cx="2687862" cy="2034586"/>
          </a:xfrm>
          <a:prstGeom prst="rect">
            <a:avLst/>
          </a:prstGeom>
        </p:spPr>
      </p:pic>
    </p:spTree>
    <p:extLst>
      <p:ext uri="{BB962C8B-B14F-4D97-AF65-F5344CB8AC3E}">
        <p14:creationId xmlns:p14="http://schemas.microsoft.com/office/powerpoint/2010/main" val="674669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330BAA-5225-44EA-8A5B-60F9BB9CA54A}"/>
              </a:ext>
            </a:extLst>
          </p:cNvPr>
          <p:cNvSpPr>
            <a:spLocks noGrp="1"/>
          </p:cNvSpPr>
          <p:nvPr>
            <p:ph type="title"/>
          </p:nvPr>
        </p:nvSpPr>
        <p:spPr>
          <a:xfrm>
            <a:off x="9321801" y="612843"/>
            <a:ext cx="2312480" cy="1499738"/>
          </a:xfrm>
        </p:spPr>
        <p:txBody>
          <a:bodyPr anchor="b">
            <a:normAutofit/>
          </a:bodyPr>
          <a:lstStyle/>
          <a:p>
            <a:r>
              <a:rPr lang="en-US" sz="2800"/>
              <a:t>Form yêu cầu thanh toán</a:t>
            </a:r>
          </a:p>
        </p:txBody>
      </p:sp>
      <p:sp>
        <p:nvSpPr>
          <p:cNvPr id="3" name="Content Placeholder 2">
            <a:extLst>
              <a:ext uri="{FF2B5EF4-FFF2-40B4-BE49-F238E27FC236}">
                <a16:creationId xmlns:a16="http://schemas.microsoft.com/office/drawing/2014/main" id="{BED48772-39EF-4F25-A323-5B8A08027BE2}"/>
              </a:ext>
            </a:extLst>
          </p:cNvPr>
          <p:cNvSpPr>
            <a:spLocks noGrp="1"/>
          </p:cNvSpPr>
          <p:nvPr>
            <p:ph idx="1"/>
          </p:nvPr>
        </p:nvSpPr>
        <p:spPr>
          <a:xfrm>
            <a:off x="9321801" y="2149813"/>
            <a:ext cx="2312479" cy="3854197"/>
          </a:xfrm>
        </p:spPr>
        <p:txBody>
          <a:bodyPr>
            <a:normAutofit/>
          </a:bodyPr>
          <a:lstStyle/>
          <a:p>
            <a:r>
              <a:rPr lang="en-US" sz="1400">
                <a:solidFill>
                  <a:schemeClr val="tx1">
                    <a:lumMod val="85000"/>
                    <a:lumOff val="15000"/>
                  </a:schemeClr>
                </a:solidFill>
              </a:rPr>
              <a:t>Số 1 là các loại thanh toán, đã được fix sẵn ngày trong tháng để thanh toán.</a:t>
            </a:r>
          </a:p>
          <a:p>
            <a:r>
              <a:rPr lang="en-US" sz="1400">
                <a:solidFill>
                  <a:schemeClr val="tx1">
                    <a:lumMod val="85000"/>
                    <a:lumOff val="15000"/>
                  </a:schemeClr>
                </a:solidFill>
              </a:rPr>
              <a:t>Số 2 trong trường hợp bạn cần thanh toán vào ngày khác bạn có thể chọn</a:t>
            </a:r>
          </a:p>
          <a:p>
            <a:r>
              <a:rPr lang="en-US" sz="1400">
                <a:solidFill>
                  <a:schemeClr val="tx1">
                    <a:lumMod val="85000"/>
                    <a:lumOff val="15000"/>
                  </a:schemeClr>
                </a:solidFill>
              </a:rPr>
              <a:t>Note: ở mục số hai còn phục thuộc vào trường hợp kế toán có đồng ý ngày thanh toán của bạn không.</a:t>
            </a:r>
          </a:p>
          <a:p>
            <a:endParaRPr lang="en-US" sz="1400">
              <a:solidFill>
                <a:schemeClr val="tx1">
                  <a:lumMod val="85000"/>
                  <a:lumOff val="15000"/>
                </a:schemeClr>
              </a:solidFill>
            </a:endParaRPr>
          </a:p>
        </p:txBody>
      </p:sp>
      <p:pic>
        <p:nvPicPr>
          <p:cNvPr id="6" name="Picture 5">
            <a:extLst>
              <a:ext uri="{FF2B5EF4-FFF2-40B4-BE49-F238E27FC236}">
                <a16:creationId xmlns:a16="http://schemas.microsoft.com/office/drawing/2014/main" id="{439223CE-71F6-1ACA-9736-2DB6592D360D}"/>
              </a:ext>
            </a:extLst>
          </p:cNvPr>
          <p:cNvPicPr>
            <a:picLocks noChangeAspect="1"/>
          </p:cNvPicPr>
          <p:nvPr/>
        </p:nvPicPr>
        <p:blipFill>
          <a:blip r:embed="rId2"/>
          <a:stretch>
            <a:fillRect/>
          </a:stretch>
        </p:blipFill>
        <p:spPr>
          <a:xfrm>
            <a:off x="408625" y="413053"/>
            <a:ext cx="8203136" cy="2134190"/>
          </a:xfrm>
          <a:prstGeom prst="rect">
            <a:avLst/>
          </a:prstGeom>
        </p:spPr>
      </p:pic>
      <p:pic>
        <p:nvPicPr>
          <p:cNvPr id="8" name="Picture 7">
            <a:extLst>
              <a:ext uri="{FF2B5EF4-FFF2-40B4-BE49-F238E27FC236}">
                <a16:creationId xmlns:a16="http://schemas.microsoft.com/office/drawing/2014/main" id="{B8BE2DC9-A09B-212F-86AC-58618AF9A8A2}"/>
              </a:ext>
            </a:extLst>
          </p:cNvPr>
          <p:cNvPicPr>
            <a:picLocks noChangeAspect="1"/>
          </p:cNvPicPr>
          <p:nvPr/>
        </p:nvPicPr>
        <p:blipFill>
          <a:blip r:embed="rId3"/>
          <a:stretch>
            <a:fillRect/>
          </a:stretch>
        </p:blipFill>
        <p:spPr>
          <a:xfrm>
            <a:off x="493440" y="2646948"/>
            <a:ext cx="3396208" cy="1778404"/>
          </a:xfrm>
          <a:prstGeom prst="rect">
            <a:avLst/>
          </a:prstGeom>
        </p:spPr>
      </p:pic>
      <p:sp>
        <p:nvSpPr>
          <p:cNvPr id="9" name="Arrow: Right 8">
            <a:extLst>
              <a:ext uri="{FF2B5EF4-FFF2-40B4-BE49-F238E27FC236}">
                <a16:creationId xmlns:a16="http://schemas.microsoft.com/office/drawing/2014/main" id="{542CD912-E52C-A570-D6A1-A1BCC3A685A2}"/>
              </a:ext>
            </a:extLst>
          </p:cNvPr>
          <p:cNvSpPr/>
          <p:nvPr/>
        </p:nvSpPr>
        <p:spPr>
          <a:xfrm>
            <a:off x="3978965" y="3644292"/>
            <a:ext cx="1121846" cy="4326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BA5CE065-C097-8B09-3623-80B64BF859B5}"/>
              </a:ext>
            </a:extLst>
          </p:cNvPr>
          <p:cNvPicPr>
            <a:picLocks noChangeAspect="1"/>
          </p:cNvPicPr>
          <p:nvPr/>
        </p:nvPicPr>
        <p:blipFill>
          <a:blip r:embed="rId4"/>
          <a:stretch>
            <a:fillRect/>
          </a:stretch>
        </p:blipFill>
        <p:spPr>
          <a:xfrm>
            <a:off x="5163419" y="2615447"/>
            <a:ext cx="3396208" cy="1809905"/>
          </a:xfrm>
          <a:prstGeom prst="rect">
            <a:avLst/>
          </a:prstGeom>
        </p:spPr>
      </p:pic>
      <p:pic>
        <p:nvPicPr>
          <p:cNvPr id="17" name="Picture 16">
            <a:extLst>
              <a:ext uri="{FF2B5EF4-FFF2-40B4-BE49-F238E27FC236}">
                <a16:creationId xmlns:a16="http://schemas.microsoft.com/office/drawing/2014/main" id="{BCBE383D-B7BF-F922-7B8B-E2CB0BA7B508}"/>
              </a:ext>
            </a:extLst>
          </p:cNvPr>
          <p:cNvPicPr>
            <a:picLocks noChangeAspect="1"/>
          </p:cNvPicPr>
          <p:nvPr/>
        </p:nvPicPr>
        <p:blipFill>
          <a:blip r:embed="rId5"/>
          <a:stretch>
            <a:fillRect/>
          </a:stretch>
        </p:blipFill>
        <p:spPr>
          <a:xfrm>
            <a:off x="408626" y="4838405"/>
            <a:ext cx="8203136" cy="1578658"/>
          </a:xfrm>
          <a:prstGeom prst="rect">
            <a:avLst/>
          </a:prstGeom>
        </p:spPr>
      </p:pic>
    </p:spTree>
    <p:extLst>
      <p:ext uri="{BB962C8B-B14F-4D97-AF65-F5344CB8AC3E}">
        <p14:creationId xmlns:p14="http://schemas.microsoft.com/office/powerpoint/2010/main" val="515842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9547A-4978-8EF5-D3DC-03BA10188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FB247-69A8-3674-4DD9-185179E2E8EE}"/>
              </a:ext>
            </a:extLst>
          </p:cNvPr>
          <p:cNvSpPr>
            <a:spLocks noGrp="1"/>
          </p:cNvSpPr>
          <p:nvPr>
            <p:ph type="title"/>
          </p:nvPr>
        </p:nvSpPr>
        <p:spPr>
          <a:xfrm>
            <a:off x="9321801" y="612843"/>
            <a:ext cx="2312480" cy="1499738"/>
          </a:xfrm>
        </p:spPr>
        <p:txBody>
          <a:bodyPr anchor="b">
            <a:normAutofit/>
          </a:bodyPr>
          <a:lstStyle/>
          <a:p>
            <a:r>
              <a:rPr lang="en-US" sz="2800"/>
              <a:t>Form yêu cầu thanh toán</a:t>
            </a:r>
          </a:p>
        </p:txBody>
      </p:sp>
      <p:sp>
        <p:nvSpPr>
          <p:cNvPr id="3" name="Content Placeholder 2">
            <a:extLst>
              <a:ext uri="{FF2B5EF4-FFF2-40B4-BE49-F238E27FC236}">
                <a16:creationId xmlns:a16="http://schemas.microsoft.com/office/drawing/2014/main" id="{ED0A2E8D-ACEF-63F7-AA2B-A048ED2BDEB6}"/>
              </a:ext>
            </a:extLst>
          </p:cNvPr>
          <p:cNvSpPr>
            <a:spLocks noGrp="1"/>
          </p:cNvSpPr>
          <p:nvPr>
            <p:ph idx="1"/>
          </p:nvPr>
        </p:nvSpPr>
        <p:spPr>
          <a:xfrm>
            <a:off x="9321801" y="2149813"/>
            <a:ext cx="2312479" cy="3854197"/>
          </a:xfrm>
        </p:spPr>
        <p:txBody>
          <a:bodyPr>
            <a:normAutofit/>
          </a:bodyPr>
          <a:lstStyle/>
          <a:p>
            <a:r>
              <a:rPr lang="en-US" sz="1400">
                <a:solidFill>
                  <a:schemeClr val="tx1">
                    <a:lumMod val="85000"/>
                    <a:lumOff val="15000"/>
                  </a:schemeClr>
                </a:solidFill>
              </a:rPr>
              <a:t>Số 1 là các loại thanh toán, đã được fix sẵn ngày trong tháng để thanh toán.</a:t>
            </a:r>
          </a:p>
          <a:p>
            <a:r>
              <a:rPr lang="en-US" sz="1400">
                <a:solidFill>
                  <a:schemeClr val="tx1">
                    <a:lumMod val="85000"/>
                    <a:lumOff val="15000"/>
                  </a:schemeClr>
                </a:solidFill>
              </a:rPr>
              <a:t>Số 2 trong trường hợp bạn cần thanh toán vào ngày khác bạn có thể chọn</a:t>
            </a:r>
          </a:p>
          <a:p>
            <a:r>
              <a:rPr lang="en-US" sz="1400">
                <a:solidFill>
                  <a:schemeClr val="tx1">
                    <a:lumMod val="85000"/>
                    <a:lumOff val="15000"/>
                  </a:schemeClr>
                </a:solidFill>
              </a:rPr>
              <a:t>Note: ở mục số hai còn phục thuộc vào trường hợp kế toán có đồng ý ngày thanh toán của bạn không.</a:t>
            </a:r>
          </a:p>
          <a:p>
            <a:endParaRPr lang="en-US" sz="1400">
              <a:solidFill>
                <a:schemeClr val="tx1">
                  <a:lumMod val="85000"/>
                  <a:lumOff val="15000"/>
                </a:schemeClr>
              </a:solidFill>
            </a:endParaRPr>
          </a:p>
        </p:txBody>
      </p:sp>
    </p:spTree>
    <p:extLst>
      <p:ext uri="{BB962C8B-B14F-4D97-AF65-F5344CB8AC3E}">
        <p14:creationId xmlns:p14="http://schemas.microsoft.com/office/powerpoint/2010/main" val="4225314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25AE-D948-4482-BDA5-8B1EFE59EF08}"/>
              </a:ext>
            </a:extLst>
          </p:cNvPr>
          <p:cNvSpPr>
            <a:spLocks noGrp="1"/>
          </p:cNvSpPr>
          <p:nvPr>
            <p:ph type="title"/>
          </p:nvPr>
        </p:nvSpPr>
        <p:spPr/>
        <p:txBody>
          <a:bodyPr/>
          <a:lstStyle/>
          <a:p>
            <a:r>
              <a:rPr lang="en-US" dirty="0"/>
              <a:t>List evaluate and form Evaluate</a:t>
            </a:r>
          </a:p>
        </p:txBody>
      </p:sp>
      <p:sp>
        <p:nvSpPr>
          <p:cNvPr id="3" name="Content Placeholder 2">
            <a:extLst>
              <a:ext uri="{FF2B5EF4-FFF2-40B4-BE49-F238E27FC236}">
                <a16:creationId xmlns:a16="http://schemas.microsoft.com/office/drawing/2014/main" id="{4E8257BC-74F4-4CCF-A2D3-3DAA04BE911D}"/>
              </a:ext>
            </a:extLst>
          </p:cNvPr>
          <p:cNvSpPr>
            <a:spLocks noGrp="1"/>
          </p:cNvSpPr>
          <p:nvPr>
            <p:ph idx="1"/>
          </p:nvPr>
        </p:nvSpPr>
        <p:spPr/>
        <p:txBody>
          <a:bodyPr/>
          <a:lstStyle/>
          <a:p>
            <a:pPr marL="0" indent="0">
              <a:buNone/>
            </a:pPr>
            <a:r>
              <a:rPr lang="en-US" dirty="0"/>
              <a:t>-Step 3: Click button “Submit” to save information.</a:t>
            </a:r>
          </a:p>
          <a:p>
            <a:pPr marL="0" indent="0">
              <a:buNone/>
            </a:pPr>
            <a:r>
              <a:rPr lang="en-US" dirty="0"/>
              <a:t>- Step 4: Click confirm to confirm information and not change data.</a:t>
            </a:r>
          </a:p>
        </p:txBody>
      </p:sp>
    </p:spTree>
    <p:extLst>
      <p:ext uri="{BB962C8B-B14F-4D97-AF65-F5344CB8AC3E}">
        <p14:creationId xmlns:p14="http://schemas.microsoft.com/office/powerpoint/2010/main" val="4018568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4D1CF-44FB-F0BA-EC18-9AD0DA6C9D9B}"/>
              </a:ext>
            </a:extLst>
          </p:cNvPr>
          <p:cNvSpPr>
            <a:spLocks noGrp="1"/>
          </p:cNvSpPr>
          <p:nvPr>
            <p:ph type="title"/>
          </p:nvPr>
        </p:nvSpPr>
        <p:spPr>
          <a:xfrm>
            <a:off x="1066800" y="642594"/>
            <a:ext cx="10058400" cy="1371600"/>
          </a:xfrm>
        </p:spPr>
        <p:txBody>
          <a:bodyPr/>
          <a:lstStyle/>
          <a:p>
            <a:r>
              <a:rPr lang="en-US" dirty="0"/>
              <a:t>Update Status Transfer of HR</a:t>
            </a:r>
          </a:p>
        </p:txBody>
      </p:sp>
      <p:sp>
        <p:nvSpPr>
          <p:cNvPr id="3" name="Content Placeholder 2">
            <a:extLst>
              <a:ext uri="{FF2B5EF4-FFF2-40B4-BE49-F238E27FC236}">
                <a16:creationId xmlns:a16="http://schemas.microsoft.com/office/drawing/2014/main" id="{19F603E0-0F7E-C271-4BE6-24E271C79120}"/>
              </a:ext>
            </a:extLst>
          </p:cNvPr>
          <p:cNvSpPr>
            <a:spLocks noGrp="1"/>
          </p:cNvSpPr>
          <p:nvPr>
            <p:ph idx="1"/>
          </p:nvPr>
        </p:nvSpPr>
        <p:spPr>
          <a:xfrm>
            <a:off x="1066800" y="2103120"/>
            <a:ext cx="10058400" cy="3849624"/>
          </a:xfrm>
        </p:spPr>
        <p:txBody>
          <a:bodyPr/>
          <a:lstStyle/>
          <a:p>
            <a:r>
              <a:rPr lang="en-US" dirty="0"/>
              <a:t>Purpose: Only HR click Transfer in this page then Head Quarter Leader will see information to evaluate.</a:t>
            </a:r>
          </a:p>
        </p:txBody>
      </p:sp>
    </p:spTree>
    <p:extLst>
      <p:ext uri="{BB962C8B-B14F-4D97-AF65-F5344CB8AC3E}">
        <p14:creationId xmlns:p14="http://schemas.microsoft.com/office/powerpoint/2010/main" val="40747146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5048</TotalTime>
  <Words>731</Words>
  <Application>Microsoft Office PowerPoint</Application>
  <PresentationFormat>Widescreen</PresentationFormat>
  <Paragraphs>45</Paragraphs>
  <Slides>15</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Garamond</vt:lpstr>
      <vt:lpstr>Goudy Old Style</vt:lpstr>
      <vt:lpstr>SavonVTI</vt:lpstr>
      <vt:lpstr>Hướng dẫn yêu cầu thanh toán trên Groupware.</vt:lpstr>
      <vt:lpstr>Form yêu cầu thanh toán</vt:lpstr>
      <vt:lpstr>Form yêu cầu thanh toán.</vt:lpstr>
      <vt:lpstr>Form yêu cầu thanh toán</vt:lpstr>
      <vt:lpstr>Form yêu cầu thanh toán.</vt:lpstr>
      <vt:lpstr>Form yêu cầu thanh toán</vt:lpstr>
      <vt:lpstr>Form yêu cầu thanh toán</vt:lpstr>
      <vt:lpstr>Form yêu cầu thanh toán.</vt:lpstr>
      <vt:lpstr>Form yêu cầu thanh toán.</vt:lpstr>
      <vt:lpstr>Form yêu cầu thanh toán.</vt:lpstr>
      <vt:lpstr>Form yêu cầu thanh toán.</vt:lpstr>
      <vt:lpstr>Form yêu cầu thanh toán</vt:lpstr>
      <vt:lpstr>Form yêu cầu thanh toán</vt:lpstr>
      <vt:lpstr>List evaluate and form Evaluate</vt:lpstr>
      <vt:lpstr>Update Status Transfer of HR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Vina Tech06</cp:lastModifiedBy>
  <cp:revision>48</cp:revision>
  <dcterms:created xsi:type="dcterms:W3CDTF">2022-04-13T01:56:23Z</dcterms:created>
  <dcterms:modified xsi:type="dcterms:W3CDTF">2024-11-08T09:38:01Z</dcterms:modified>
</cp:coreProperties>
</file>