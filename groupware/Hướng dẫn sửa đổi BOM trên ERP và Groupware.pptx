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74" r:id="rId6"/>
    <p:sldId id="258" r:id="rId7"/>
    <p:sldId id="269"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7" d="100"/>
          <a:sy n="97" d="100"/>
        </p:scale>
        <p:origin x="108"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2025-03-25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86439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2025-03-25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411109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2025-03-25</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5320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2025-03-25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59808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2025-03-25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506838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2025-03-25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539747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2025-03-25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019580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2025-03-25</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992692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2025-03-25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07367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2025-03-25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895615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2025-03-25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299276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2025-03-25</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54281142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lang="en-US" sz="4800" b="1" i="1" kern="1200" cap="none" spc="-7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700" kern="1200">
          <a:solidFill>
            <a:schemeClr val="tx1"/>
          </a:solidFill>
          <a:latin typeface="+mn-lt"/>
          <a:ea typeface="+mn-ea"/>
          <a:cs typeface="+mn-cs"/>
        </a:defRPr>
      </a:lvl1pPr>
      <a:lvl2pPr marL="45720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500" kern="1200">
          <a:solidFill>
            <a:schemeClr val="tx1"/>
          </a:solidFill>
          <a:latin typeface="+mn-lt"/>
          <a:ea typeface="+mn-ea"/>
          <a:cs typeface="+mn-cs"/>
        </a:defRPr>
      </a:lvl2pPr>
      <a:lvl3pPr marL="73152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3pPr>
      <a:lvl4pPr marL="100584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4pPr>
      <a:lvl5pPr marL="128016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Video 3" descr="Background pattern, arrow&#10;&#10;Description automatically generated with medium confidence">
            <a:extLst>
              <a:ext uri="{FF2B5EF4-FFF2-40B4-BE49-F238E27FC236}">
                <a16:creationId xmlns:a16="http://schemas.microsoft.com/office/drawing/2014/main" id="{0DD25A64-4F51-638C-97E4-0FF53C7ED3C3}"/>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4" y="0"/>
            <a:ext cx="12192000" cy="6857988"/>
          </a:xfrm>
          <a:prstGeom prst="rect">
            <a:avLst/>
          </a:prstGeom>
        </p:spPr>
      </p:pic>
      <p:sp>
        <p:nvSpPr>
          <p:cNvPr id="9" name="Rectangle 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30074"/>
            <a:ext cx="12192000" cy="2327925"/>
          </a:xfrm>
          <a:prstGeom prst="rect">
            <a:avLst/>
          </a:prstGeom>
          <a:solidFill>
            <a:schemeClr val="bg1">
              <a:alpha val="30000"/>
            </a:schemeClr>
          </a:solidFill>
          <a:ln w="6350" cap="sq" cmpd="sng" algn="ctr">
            <a:noFill/>
            <a:prstDash val="solid"/>
            <a:miter lim="800000"/>
          </a:ln>
          <a:effectLst/>
        </p:spPr>
        <p:txBody>
          <a:bodyPr/>
          <a:lstStyle/>
          <a:p>
            <a:endParaRPr lang="en-US"/>
          </a:p>
        </p:txBody>
      </p:sp>
      <p:sp>
        <p:nvSpPr>
          <p:cNvPr id="11" name="Rectangle 10">
            <a:extLst>
              <a:ext uri="{FF2B5EF4-FFF2-40B4-BE49-F238E27FC236}">
                <a16:creationId xmlns:a16="http://schemas.microsoft.com/office/drawing/2014/main" id="{0B121716-8B64-478F-ABDB-17030AD1B7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 y="4530071"/>
            <a:ext cx="12191999" cy="2327926"/>
          </a:xfrm>
          <a:prstGeom prst="rect">
            <a:avLst/>
          </a:prstGeom>
          <a:solidFill>
            <a:srgbClr val="33BA3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116" y="4692768"/>
            <a:ext cx="11859768" cy="2002536"/>
          </a:xfrm>
          <a:prstGeom prst="rect">
            <a:avLst/>
          </a:prstGeom>
          <a:noFill/>
          <a:ln w="6350" cap="sq" cmpd="sng" algn="ctr">
            <a:solidFill>
              <a:schemeClr val="tx1"/>
            </a:solidFill>
            <a:prstDash val="solid"/>
            <a:miter lim="800000"/>
          </a:ln>
          <a:effectLst>
            <a:softEdge rad="0"/>
          </a:effectLst>
        </p:spPr>
        <p:txBody>
          <a:bodyPr/>
          <a:lstStyle/>
          <a:p>
            <a:endParaRPr lang="en-US"/>
          </a:p>
        </p:txBody>
      </p:sp>
      <p:sp>
        <p:nvSpPr>
          <p:cNvPr id="2" name="Title 1">
            <a:extLst>
              <a:ext uri="{FF2B5EF4-FFF2-40B4-BE49-F238E27FC236}">
                <a16:creationId xmlns:a16="http://schemas.microsoft.com/office/drawing/2014/main" id="{C9DDF167-DBD7-4C3A-9FC3-59FBDFCE8BCE}"/>
              </a:ext>
            </a:extLst>
          </p:cNvPr>
          <p:cNvSpPr>
            <a:spLocks noGrp="1"/>
          </p:cNvSpPr>
          <p:nvPr>
            <p:ph type="ctrTitle"/>
          </p:nvPr>
        </p:nvSpPr>
        <p:spPr>
          <a:xfrm>
            <a:off x="372723" y="4814744"/>
            <a:ext cx="11439414" cy="897439"/>
          </a:xfrm>
        </p:spPr>
        <p:txBody>
          <a:bodyPr>
            <a:normAutofit fontScale="90000"/>
          </a:bodyPr>
          <a:lstStyle/>
          <a:p>
            <a:r>
              <a:rPr lang="en-US" sz="4400">
                <a:solidFill>
                  <a:schemeClr val="tx1"/>
                </a:solidFill>
              </a:rPr>
              <a:t>Hướng dẫn sử dụng chức năng tạo Ebom trên hệ thống ERP và sửa Bom trên hệ thống Groupware</a:t>
            </a:r>
            <a:endParaRPr lang="en-US" sz="4400" dirty="0">
              <a:solidFill>
                <a:schemeClr val="tx1"/>
              </a:solidFill>
            </a:endParaRPr>
          </a:p>
        </p:txBody>
      </p:sp>
      <p:sp>
        <p:nvSpPr>
          <p:cNvPr id="3" name="Subtitle 2">
            <a:extLst>
              <a:ext uri="{FF2B5EF4-FFF2-40B4-BE49-F238E27FC236}">
                <a16:creationId xmlns:a16="http://schemas.microsoft.com/office/drawing/2014/main" id="{B298A4C9-03F0-4958-8DA7-FF5094EF5AD3}"/>
              </a:ext>
            </a:extLst>
          </p:cNvPr>
          <p:cNvSpPr>
            <a:spLocks noGrp="1"/>
          </p:cNvSpPr>
          <p:nvPr>
            <p:ph type="subTitle" idx="1"/>
          </p:nvPr>
        </p:nvSpPr>
        <p:spPr>
          <a:xfrm>
            <a:off x="764275" y="6016944"/>
            <a:ext cx="10656310" cy="425961"/>
          </a:xfrm>
        </p:spPr>
        <p:txBody>
          <a:bodyPr>
            <a:normAutofit/>
          </a:bodyPr>
          <a:lstStyle/>
          <a:p>
            <a:r>
              <a:rPr lang="en-US">
                <a:solidFill>
                  <a:schemeClr val="tx1"/>
                </a:solidFill>
              </a:rPr>
              <a:t> </a:t>
            </a:r>
            <a:r>
              <a:rPr lang="en-US" dirty="0">
                <a:solidFill>
                  <a:schemeClr val="tx1"/>
                </a:solidFill>
              </a:rPr>
              <a:t>EA Team </a:t>
            </a:r>
            <a:r>
              <a:rPr lang="en-US" dirty="0" err="1">
                <a:solidFill>
                  <a:schemeClr val="tx1"/>
                </a:solidFill>
              </a:rPr>
              <a:t>Việt</a:t>
            </a:r>
            <a:r>
              <a:rPr lang="en-US" dirty="0">
                <a:solidFill>
                  <a:schemeClr val="tx1"/>
                </a:solidFill>
              </a:rPr>
              <a:t> Nam</a:t>
            </a:r>
          </a:p>
        </p:txBody>
      </p:sp>
    </p:spTree>
    <p:extLst>
      <p:ext uri="{BB962C8B-B14F-4D97-AF65-F5344CB8AC3E}">
        <p14:creationId xmlns:p14="http://schemas.microsoft.com/office/powerpoint/2010/main" val="317919359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4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707830" y="727823"/>
            <a:ext cx="3329150" cy="5402353"/>
          </a:xfrm>
        </p:spPr>
        <p:txBody>
          <a:bodyPr>
            <a:normAutofit/>
          </a:bodyPr>
          <a:lstStyle/>
          <a:p>
            <a:r>
              <a:rPr lang="en-US"/>
              <a:t>1.Đăng nhập hệ thống ERP</a:t>
            </a:r>
            <a:endParaRPr lang="en-US" dirty="0"/>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4" y="727823"/>
            <a:ext cx="6927842" cy="3072900"/>
          </a:xfrm>
        </p:spPr>
        <p:txBody>
          <a:bodyPr>
            <a:normAutofit/>
          </a:bodyPr>
          <a:lstStyle/>
          <a:p>
            <a:r>
              <a:rPr lang="en-US" b="1" dirty="0"/>
              <a:t>I</a:t>
            </a:r>
            <a:r>
              <a:rPr lang="en-US" b="1"/>
              <a:t>. Đăng nhập hệ thống ERP.</a:t>
            </a:r>
          </a:p>
          <a:p>
            <a:r>
              <a:rPr lang="en-US" b="1"/>
              <a:t>- Để có thể them mới được mã code BOM, trước tiên bạn cần đăng nhập vào hệ thống ERP như dưới đây:</a:t>
            </a:r>
          </a:p>
          <a:p>
            <a:r>
              <a:rPr lang="en-US" b="1"/>
              <a:t>Thông tin tài khoản là mã nhân viên của bạn và mật khẩu</a:t>
            </a:r>
            <a:endParaRPr lang="en-US" b="1" dirty="0"/>
          </a:p>
        </p:txBody>
      </p:sp>
      <p:pic>
        <p:nvPicPr>
          <p:cNvPr id="6" name="Picture 5">
            <a:extLst>
              <a:ext uri="{FF2B5EF4-FFF2-40B4-BE49-F238E27FC236}">
                <a16:creationId xmlns:a16="http://schemas.microsoft.com/office/drawing/2014/main" id="{6BB702DF-D1B5-4391-FF0C-2D108E794F84}"/>
              </a:ext>
            </a:extLst>
          </p:cNvPr>
          <p:cNvPicPr>
            <a:picLocks noChangeAspect="1"/>
          </p:cNvPicPr>
          <p:nvPr/>
        </p:nvPicPr>
        <p:blipFill>
          <a:blip r:embed="rId2"/>
          <a:stretch>
            <a:fillRect/>
          </a:stretch>
        </p:blipFill>
        <p:spPr>
          <a:xfrm>
            <a:off x="4743724" y="2998837"/>
            <a:ext cx="6940428" cy="3405993"/>
          </a:xfrm>
          <a:prstGeom prst="rect">
            <a:avLst/>
          </a:prstGeom>
        </p:spPr>
      </p:pic>
    </p:spTree>
    <p:extLst>
      <p:ext uri="{BB962C8B-B14F-4D97-AF65-F5344CB8AC3E}">
        <p14:creationId xmlns:p14="http://schemas.microsoft.com/office/powerpoint/2010/main" val="3109597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507847" y="727824"/>
            <a:ext cx="3984311" cy="4521602"/>
          </a:xfrm>
        </p:spPr>
        <p:txBody>
          <a:bodyPr>
            <a:normAutofit/>
          </a:bodyPr>
          <a:lstStyle/>
          <a:p>
            <a:r>
              <a:rPr lang="en-US"/>
              <a:t>Tìm kiếm menu EBOM trên ERP</a:t>
            </a:r>
            <a:endParaRPr lang="en-US" dirty="0"/>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4" y="727823"/>
            <a:ext cx="6927842" cy="3072900"/>
          </a:xfrm>
        </p:spPr>
        <p:txBody>
          <a:bodyPr>
            <a:normAutofit/>
          </a:bodyPr>
          <a:lstStyle/>
          <a:p>
            <a:r>
              <a:rPr lang="en-US" b="1"/>
              <a:t>Sau khi bạn đăng nhập thành công ở bên góc phải màn hình có biểu tượng tìm kiếm bạn click vào đó và gõ chữ EBOM, sau đó chức năng sẽ hiển thị cho bạn, như các hình dưới đây.</a:t>
            </a:r>
            <a:endParaRPr lang="en-US" dirty="0"/>
          </a:p>
        </p:txBody>
      </p:sp>
      <p:pic>
        <p:nvPicPr>
          <p:cNvPr id="8" name="Picture 7">
            <a:extLst>
              <a:ext uri="{FF2B5EF4-FFF2-40B4-BE49-F238E27FC236}">
                <a16:creationId xmlns:a16="http://schemas.microsoft.com/office/drawing/2014/main" id="{58246896-3456-8526-A9B4-E6745CD73002}"/>
              </a:ext>
            </a:extLst>
          </p:cNvPr>
          <p:cNvPicPr>
            <a:picLocks noChangeAspect="1"/>
          </p:cNvPicPr>
          <p:nvPr/>
        </p:nvPicPr>
        <p:blipFill>
          <a:blip r:embed="rId2"/>
          <a:stretch>
            <a:fillRect/>
          </a:stretch>
        </p:blipFill>
        <p:spPr>
          <a:xfrm>
            <a:off x="4726855" y="1771043"/>
            <a:ext cx="6957297" cy="4521602"/>
          </a:xfrm>
          <a:prstGeom prst="rect">
            <a:avLst/>
          </a:prstGeom>
        </p:spPr>
      </p:pic>
    </p:spTree>
    <p:extLst>
      <p:ext uri="{BB962C8B-B14F-4D97-AF65-F5344CB8AC3E}">
        <p14:creationId xmlns:p14="http://schemas.microsoft.com/office/powerpoint/2010/main" val="2850996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6487542" y="427534"/>
            <a:ext cx="4795211" cy="552782"/>
          </a:xfrm>
        </p:spPr>
        <p:txBody>
          <a:bodyPr>
            <a:normAutofit fontScale="90000"/>
          </a:bodyPr>
          <a:lstStyle/>
          <a:p>
            <a:r>
              <a:rPr lang="en-US" sz="3700"/>
              <a:t>Giao diện khi truy cập</a:t>
            </a:r>
            <a:endParaRPr lang="en-US" sz="3700" dirty="0"/>
          </a:p>
        </p:txBody>
      </p:sp>
      <p:sp>
        <p:nvSpPr>
          <p:cNvPr id="39" name="Content Placeholder 2">
            <a:extLst>
              <a:ext uri="{FF2B5EF4-FFF2-40B4-BE49-F238E27FC236}">
                <a16:creationId xmlns:a16="http://schemas.microsoft.com/office/drawing/2014/main" id="{D41F7103-67B3-4191-BB4A-9FF0DFE9DA07}"/>
              </a:ext>
            </a:extLst>
          </p:cNvPr>
          <p:cNvSpPr>
            <a:spLocks noGrp="1"/>
          </p:cNvSpPr>
          <p:nvPr>
            <p:ph idx="1"/>
          </p:nvPr>
        </p:nvSpPr>
        <p:spPr>
          <a:xfrm>
            <a:off x="6680599" y="980316"/>
            <a:ext cx="5019788" cy="5292665"/>
          </a:xfrm>
        </p:spPr>
        <p:txBody>
          <a:bodyPr>
            <a:normAutofit/>
          </a:bodyPr>
          <a:lstStyle/>
          <a:p>
            <a:r>
              <a:rPr lang="en-US" b="1"/>
              <a:t>Sau khi bạn tìm kiếm trên thanh công cụ, bạn nhấn enter thì một giao diện sẽ hiện ra như hình ở bên trái</a:t>
            </a:r>
            <a:endParaRPr lang="en-US"/>
          </a:p>
          <a:p>
            <a:pPr marL="0" indent="0">
              <a:buNone/>
            </a:pPr>
            <a:r>
              <a:rPr lang="en-US" b="1"/>
              <a:t>1. Bạn cần nữa chọn một  mã code đã được đăng ký</a:t>
            </a:r>
          </a:p>
          <a:p>
            <a:pPr marL="0" indent="0">
              <a:buNone/>
            </a:pPr>
            <a:r>
              <a:rPr lang="en-US" b="1"/>
              <a:t>2. Sau đó bạn nhấn vào tìm kiếm</a:t>
            </a:r>
          </a:p>
          <a:p>
            <a:pPr marL="0" indent="0">
              <a:buNone/>
            </a:pPr>
            <a:r>
              <a:rPr lang="en-US" b="1"/>
              <a:t>3. Nhập phiên bản của BOM</a:t>
            </a:r>
          </a:p>
          <a:p>
            <a:pPr marL="0" indent="0">
              <a:buNone/>
            </a:pPr>
            <a:r>
              <a:rPr lang="en-US" b="1"/>
              <a:t>4. Thêm các dòng dữ liệu</a:t>
            </a:r>
          </a:p>
          <a:p>
            <a:pPr marL="0" indent="0">
              <a:buNone/>
            </a:pPr>
            <a:r>
              <a:rPr lang="en-US" b="1"/>
              <a:t>5. Chọn mã nguyên vật liệu</a:t>
            </a:r>
          </a:p>
          <a:p>
            <a:pPr marL="0" indent="0">
              <a:buNone/>
            </a:pPr>
            <a:r>
              <a:rPr lang="en-US" b="1"/>
              <a:t>6. Chọn số lượng nguyên vật liệu</a:t>
            </a:r>
          </a:p>
          <a:p>
            <a:pPr marL="0" indent="0">
              <a:buNone/>
            </a:pPr>
            <a:r>
              <a:rPr lang="en-US" b="1"/>
              <a:t>7. Lưu lại</a:t>
            </a:r>
          </a:p>
          <a:p>
            <a:pPr marL="0" indent="0">
              <a:buNone/>
            </a:pPr>
            <a:endParaRPr lang="en-US" b="1"/>
          </a:p>
        </p:txBody>
      </p:sp>
      <p:pic>
        <p:nvPicPr>
          <p:cNvPr id="4" name="Picture 3">
            <a:extLst>
              <a:ext uri="{FF2B5EF4-FFF2-40B4-BE49-F238E27FC236}">
                <a16:creationId xmlns:a16="http://schemas.microsoft.com/office/drawing/2014/main" id="{9789EA17-5409-FE0C-615A-15CE4408E569}"/>
              </a:ext>
            </a:extLst>
          </p:cNvPr>
          <p:cNvPicPr>
            <a:picLocks noChangeAspect="1"/>
          </p:cNvPicPr>
          <p:nvPr/>
        </p:nvPicPr>
        <p:blipFill>
          <a:blip r:embed="rId2"/>
          <a:stretch>
            <a:fillRect/>
          </a:stretch>
        </p:blipFill>
        <p:spPr>
          <a:xfrm>
            <a:off x="79066" y="407588"/>
            <a:ext cx="6243884" cy="6207557"/>
          </a:xfrm>
          <a:prstGeom prst="rect">
            <a:avLst/>
          </a:prstGeom>
        </p:spPr>
      </p:pic>
    </p:spTree>
    <p:extLst>
      <p:ext uri="{BB962C8B-B14F-4D97-AF65-F5344CB8AC3E}">
        <p14:creationId xmlns:p14="http://schemas.microsoft.com/office/powerpoint/2010/main" val="1414725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88D88-F08F-3A10-BA4E-93F1C6B91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27C15-A046-94B1-134F-1A01DD406B5E}"/>
              </a:ext>
            </a:extLst>
          </p:cNvPr>
          <p:cNvSpPr>
            <a:spLocks noGrp="1"/>
          </p:cNvSpPr>
          <p:nvPr>
            <p:ph type="title"/>
          </p:nvPr>
        </p:nvSpPr>
        <p:spPr>
          <a:xfrm>
            <a:off x="6579450" y="727627"/>
            <a:ext cx="4957553" cy="1645920"/>
          </a:xfrm>
        </p:spPr>
        <p:txBody>
          <a:bodyPr>
            <a:normAutofit/>
          </a:bodyPr>
          <a:lstStyle/>
          <a:p>
            <a:r>
              <a:rPr lang="en-US" sz="4400"/>
              <a:t>Thay đổi cập nhật lại thông tin BOM.</a:t>
            </a:r>
          </a:p>
        </p:txBody>
      </p:sp>
      <p:sp>
        <p:nvSpPr>
          <p:cNvPr id="3" name="Content Placeholder 2">
            <a:extLst>
              <a:ext uri="{FF2B5EF4-FFF2-40B4-BE49-F238E27FC236}">
                <a16:creationId xmlns:a16="http://schemas.microsoft.com/office/drawing/2014/main" id="{041FAF7B-AF7E-7F04-9099-659FCBDA6222}"/>
              </a:ext>
            </a:extLst>
          </p:cNvPr>
          <p:cNvSpPr>
            <a:spLocks noGrp="1"/>
          </p:cNvSpPr>
          <p:nvPr>
            <p:ph idx="1"/>
          </p:nvPr>
        </p:nvSpPr>
        <p:spPr>
          <a:xfrm>
            <a:off x="6579450" y="2538919"/>
            <a:ext cx="4957554" cy="3496120"/>
          </a:xfrm>
        </p:spPr>
        <p:txBody>
          <a:bodyPr>
            <a:normAutofit/>
          </a:bodyPr>
          <a:lstStyle/>
          <a:p>
            <a:r>
              <a:rPr lang="en-US"/>
              <a:t>1. Tìm kiếm mã code của thành phẩm bán thành phẩm, hoặc của nvl</a:t>
            </a:r>
          </a:p>
          <a:p>
            <a:r>
              <a:rPr lang="en-US"/>
              <a:t>2.Nhấn tìm kiếm để ra các thông tin cần thay đổi</a:t>
            </a:r>
          </a:p>
          <a:p>
            <a:r>
              <a:rPr lang="en-US"/>
              <a:t>3. bạn nhấn vào nút số 3 để thay đổi phiên bản</a:t>
            </a:r>
          </a:p>
          <a:p>
            <a:r>
              <a:rPr lang="en-US"/>
              <a:t>4. Sau khi xong hết thông tin bạn có thể cập nhật lại</a:t>
            </a:r>
            <a:endParaRPr lang="en-US" dirty="0"/>
          </a:p>
        </p:txBody>
      </p:sp>
      <p:pic>
        <p:nvPicPr>
          <p:cNvPr id="5" name="Picture 4">
            <a:extLst>
              <a:ext uri="{FF2B5EF4-FFF2-40B4-BE49-F238E27FC236}">
                <a16:creationId xmlns:a16="http://schemas.microsoft.com/office/drawing/2014/main" id="{A7898E28-E413-EDE8-ADEF-0E881CEB1F77}"/>
              </a:ext>
            </a:extLst>
          </p:cNvPr>
          <p:cNvPicPr>
            <a:picLocks noChangeAspect="1"/>
          </p:cNvPicPr>
          <p:nvPr/>
        </p:nvPicPr>
        <p:blipFill>
          <a:blip r:embed="rId2"/>
          <a:stretch>
            <a:fillRect/>
          </a:stretch>
        </p:blipFill>
        <p:spPr>
          <a:xfrm>
            <a:off x="403123" y="473177"/>
            <a:ext cx="6261628" cy="5976783"/>
          </a:xfrm>
          <a:prstGeom prst="rect">
            <a:avLst/>
          </a:prstGeom>
        </p:spPr>
      </p:pic>
    </p:spTree>
    <p:extLst>
      <p:ext uri="{BB962C8B-B14F-4D97-AF65-F5344CB8AC3E}">
        <p14:creationId xmlns:p14="http://schemas.microsoft.com/office/powerpoint/2010/main" val="2648808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7" name="Rectangle 11">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122" y="413053"/>
            <a:ext cx="8212114" cy="6064596"/>
          </a:xfrm>
          <a:prstGeom prst="rect">
            <a:avLst/>
          </a:prstGeom>
          <a:noFill/>
          <a:ln w="6350" cap="sq" cmpd="sng" algn="ctr">
            <a:solidFill>
              <a:srgbClr val="404040"/>
            </a:solidFill>
            <a:prstDash val="solid"/>
            <a:miter lim="800000"/>
          </a:ln>
          <a:effectLst/>
        </p:spPr>
        <p:txBody>
          <a:bodyPr/>
          <a:lstStyle/>
          <a:p>
            <a:endParaRPr lang="en-US"/>
          </a:p>
        </p:txBody>
      </p:sp>
      <p:sp>
        <p:nvSpPr>
          <p:cNvPr id="14" name="Rectangle 13">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0386" y="237744"/>
            <a:ext cx="2926080"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56699"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AA97E2-9502-487B-86C7-37C69151E524}"/>
              </a:ext>
            </a:extLst>
          </p:cNvPr>
          <p:cNvSpPr>
            <a:spLocks noGrp="1"/>
          </p:cNvSpPr>
          <p:nvPr>
            <p:ph type="title"/>
          </p:nvPr>
        </p:nvSpPr>
        <p:spPr>
          <a:xfrm>
            <a:off x="9321801" y="612843"/>
            <a:ext cx="2312480" cy="1499738"/>
          </a:xfrm>
        </p:spPr>
        <p:txBody>
          <a:bodyPr anchor="b">
            <a:normAutofit fontScale="90000"/>
          </a:bodyPr>
          <a:lstStyle/>
          <a:p>
            <a:r>
              <a:rPr lang="en-US" sz="2800"/>
              <a:t>2.Xác nhận các thông tin đã đăng ký BOM trên Groupware</a:t>
            </a:r>
            <a:endParaRPr lang="en-US" sz="2800" dirty="0"/>
          </a:p>
        </p:txBody>
      </p:sp>
      <p:sp>
        <p:nvSpPr>
          <p:cNvPr id="3" name="Content Placeholder 2">
            <a:extLst>
              <a:ext uri="{FF2B5EF4-FFF2-40B4-BE49-F238E27FC236}">
                <a16:creationId xmlns:a16="http://schemas.microsoft.com/office/drawing/2014/main" id="{9D191F4A-7CD3-48F7-B8A7-959531787847}"/>
              </a:ext>
            </a:extLst>
          </p:cNvPr>
          <p:cNvSpPr>
            <a:spLocks noGrp="1"/>
          </p:cNvSpPr>
          <p:nvPr>
            <p:ph idx="1"/>
          </p:nvPr>
        </p:nvSpPr>
        <p:spPr>
          <a:xfrm>
            <a:off x="9321801" y="2149813"/>
            <a:ext cx="2312479" cy="4172328"/>
          </a:xfrm>
        </p:spPr>
        <p:txBody>
          <a:bodyPr>
            <a:normAutofit/>
          </a:bodyPr>
          <a:lstStyle/>
          <a:p>
            <a:pPr>
              <a:lnSpc>
                <a:spcPct val="100000"/>
              </a:lnSpc>
            </a:pPr>
            <a:r>
              <a:rPr lang="en-US" sz="1300" b="1">
                <a:solidFill>
                  <a:schemeClr val="tx1">
                    <a:lumMod val="85000"/>
                    <a:lumOff val="15000"/>
                  </a:schemeClr>
                </a:solidFill>
              </a:rPr>
              <a:t>Sau khi bạn đã đăng ký các loại nguyên vật liệu BOM xong bạn có thể xuống Groupware system, vào chức năng “Electronic Document =&gt; Production/Development =&gt; BOM Addition And update document”</a:t>
            </a:r>
          </a:p>
          <a:p>
            <a:pPr>
              <a:lnSpc>
                <a:spcPct val="100000"/>
              </a:lnSpc>
            </a:pPr>
            <a:r>
              <a:rPr lang="en-US" sz="1300" b="1">
                <a:solidFill>
                  <a:schemeClr val="tx1">
                    <a:lumMod val="85000"/>
                    <a:lumOff val="15000"/>
                  </a:schemeClr>
                </a:solidFill>
              </a:rPr>
              <a:t>1. Chọn line phê duyệt.</a:t>
            </a:r>
          </a:p>
          <a:p>
            <a:pPr>
              <a:lnSpc>
                <a:spcPct val="100000"/>
              </a:lnSpc>
            </a:pPr>
            <a:r>
              <a:rPr lang="en-US" sz="1300" b="1">
                <a:solidFill>
                  <a:schemeClr val="tx1">
                    <a:lumMod val="85000"/>
                    <a:lumOff val="15000"/>
                  </a:schemeClr>
                </a:solidFill>
              </a:rPr>
              <a:t>2. Đặt tên cho form của bạn.</a:t>
            </a:r>
          </a:p>
          <a:p>
            <a:pPr>
              <a:lnSpc>
                <a:spcPct val="100000"/>
              </a:lnSpc>
            </a:pPr>
            <a:r>
              <a:rPr lang="en-US" sz="1300" b="1">
                <a:solidFill>
                  <a:schemeClr val="tx1">
                    <a:lumMod val="85000"/>
                    <a:lumOff val="15000"/>
                  </a:schemeClr>
                </a:solidFill>
              </a:rPr>
              <a:t>3. đính kèm file nếu có.</a:t>
            </a:r>
          </a:p>
          <a:p>
            <a:pPr>
              <a:lnSpc>
                <a:spcPct val="100000"/>
              </a:lnSpc>
            </a:pPr>
            <a:r>
              <a:rPr lang="en-US" sz="1300" b="1">
                <a:solidFill>
                  <a:schemeClr val="tx1">
                    <a:lumMod val="85000"/>
                    <a:lumOff val="15000"/>
                  </a:schemeClr>
                </a:solidFill>
              </a:rPr>
              <a:t>4. Thêm mục hay tìm kiếm code, nếu có code sẽ tự sinh ra các mã đi kèm theo.</a:t>
            </a:r>
          </a:p>
          <a:p>
            <a:pPr>
              <a:lnSpc>
                <a:spcPct val="100000"/>
              </a:lnSpc>
            </a:pPr>
            <a:r>
              <a:rPr lang="en-US" sz="1300" b="1">
                <a:solidFill>
                  <a:schemeClr val="tx1">
                    <a:lumMod val="85000"/>
                    <a:lumOff val="15000"/>
                  </a:schemeClr>
                </a:solidFill>
              </a:rPr>
              <a:t>5. Tương tự như mục 4</a:t>
            </a:r>
          </a:p>
          <a:p>
            <a:pPr>
              <a:lnSpc>
                <a:spcPct val="100000"/>
              </a:lnSpc>
            </a:pPr>
            <a:r>
              <a:rPr lang="en-US" sz="1400"/>
              <a:t>6. Ghi chú hoặc giải thích</a:t>
            </a:r>
          </a:p>
          <a:p>
            <a:pPr>
              <a:lnSpc>
                <a:spcPct val="100000"/>
              </a:lnSpc>
            </a:pPr>
            <a:endParaRPr lang="en-US" sz="1300" dirty="0">
              <a:solidFill>
                <a:schemeClr val="tx1">
                  <a:lumMod val="85000"/>
                  <a:lumOff val="15000"/>
                </a:schemeClr>
              </a:solidFill>
            </a:endParaRPr>
          </a:p>
        </p:txBody>
      </p:sp>
      <p:pic>
        <p:nvPicPr>
          <p:cNvPr id="5" name="Picture 4">
            <a:extLst>
              <a:ext uri="{FF2B5EF4-FFF2-40B4-BE49-F238E27FC236}">
                <a16:creationId xmlns:a16="http://schemas.microsoft.com/office/drawing/2014/main" id="{8C910A16-421D-67B0-B65D-BD4D4BFF6A3C}"/>
              </a:ext>
            </a:extLst>
          </p:cNvPr>
          <p:cNvPicPr>
            <a:picLocks noChangeAspect="1"/>
          </p:cNvPicPr>
          <p:nvPr/>
        </p:nvPicPr>
        <p:blipFill>
          <a:blip r:embed="rId2"/>
          <a:stretch>
            <a:fillRect/>
          </a:stretch>
        </p:blipFill>
        <p:spPr>
          <a:xfrm>
            <a:off x="557719" y="521110"/>
            <a:ext cx="7907551" cy="5801031"/>
          </a:xfrm>
          <a:prstGeom prst="rect">
            <a:avLst/>
          </a:prstGeom>
        </p:spPr>
      </p:pic>
    </p:spTree>
    <p:extLst>
      <p:ext uri="{BB962C8B-B14F-4D97-AF65-F5344CB8AC3E}">
        <p14:creationId xmlns:p14="http://schemas.microsoft.com/office/powerpoint/2010/main" val="3010030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1F13E-FB38-FE99-4042-33B45D945F58}"/>
              </a:ext>
            </a:extLst>
          </p:cNvPr>
          <p:cNvSpPr>
            <a:spLocks noGrp="1"/>
          </p:cNvSpPr>
          <p:nvPr>
            <p:ph type="title"/>
          </p:nvPr>
        </p:nvSpPr>
        <p:spPr>
          <a:xfrm>
            <a:off x="6579450" y="727627"/>
            <a:ext cx="4957553" cy="1645920"/>
          </a:xfrm>
        </p:spPr>
        <p:txBody>
          <a:bodyPr>
            <a:normAutofit/>
          </a:bodyPr>
          <a:lstStyle/>
          <a:p>
            <a:r>
              <a:rPr lang="en-US"/>
              <a:t>Kiểm tra lại BOM trên MES.</a:t>
            </a:r>
            <a:endParaRPr lang="en-US" dirty="0"/>
          </a:p>
        </p:txBody>
      </p:sp>
      <p:sp>
        <p:nvSpPr>
          <p:cNvPr id="32" name="Rectangle 11">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33" name="Rectangle 13">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4" name="Content Placeholder 8">
            <a:extLst>
              <a:ext uri="{FF2B5EF4-FFF2-40B4-BE49-F238E27FC236}">
                <a16:creationId xmlns:a16="http://schemas.microsoft.com/office/drawing/2014/main" id="{0825DAB4-0A8A-40F6-1DCD-2F323D126DE1}"/>
              </a:ext>
            </a:extLst>
          </p:cNvPr>
          <p:cNvSpPr>
            <a:spLocks noGrp="1"/>
          </p:cNvSpPr>
          <p:nvPr>
            <p:ph idx="1"/>
          </p:nvPr>
        </p:nvSpPr>
        <p:spPr>
          <a:xfrm>
            <a:off x="6579450" y="2373547"/>
            <a:ext cx="4957554" cy="3496120"/>
          </a:xfrm>
        </p:spPr>
        <p:txBody>
          <a:bodyPr>
            <a:normAutofit/>
          </a:bodyPr>
          <a:lstStyle/>
          <a:p>
            <a:r>
              <a:rPr lang="en-US"/>
              <a:t>Sau khi hoàn tất các thao tác tạo code, tạo BOM, bạn có thể kiể tra nó trên MES, bằng màn hình A310, nếu bạn làm PO thì bạn có thể xem trên màn hình B310, bạn muốn xem lại code thì bạn có thể xem màn hình A230</a:t>
            </a:r>
          </a:p>
        </p:txBody>
      </p:sp>
      <p:pic>
        <p:nvPicPr>
          <p:cNvPr id="4" name="Picture 3">
            <a:extLst>
              <a:ext uri="{FF2B5EF4-FFF2-40B4-BE49-F238E27FC236}">
                <a16:creationId xmlns:a16="http://schemas.microsoft.com/office/drawing/2014/main" id="{3E35B72C-1DCE-F51A-CFAB-2D17B9306706}"/>
              </a:ext>
            </a:extLst>
          </p:cNvPr>
          <p:cNvPicPr>
            <a:picLocks noChangeAspect="1"/>
          </p:cNvPicPr>
          <p:nvPr/>
        </p:nvPicPr>
        <p:blipFill>
          <a:blip r:embed="rId2"/>
          <a:stretch>
            <a:fillRect/>
          </a:stretch>
        </p:blipFill>
        <p:spPr>
          <a:xfrm>
            <a:off x="885216" y="988333"/>
            <a:ext cx="4984642" cy="4881334"/>
          </a:xfrm>
          <a:prstGeom prst="rect">
            <a:avLst/>
          </a:prstGeom>
        </p:spPr>
      </p:pic>
    </p:spTree>
    <p:extLst>
      <p:ext uri="{BB962C8B-B14F-4D97-AF65-F5344CB8AC3E}">
        <p14:creationId xmlns:p14="http://schemas.microsoft.com/office/powerpoint/2010/main" val="2116149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A82C4D5-F48D-7707-F1E6-7BE4AA31F7CE}"/>
              </a:ext>
            </a:extLst>
          </p:cNvPr>
          <p:cNvSpPr>
            <a:spLocks noGrp="1"/>
          </p:cNvSpPr>
          <p:nvPr>
            <p:ph type="title"/>
          </p:nvPr>
        </p:nvSpPr>
        <p:spPr>
          <a:xfrm>
            <a:off x="657546" y="642594"/>
            <a:ext cx="10972800" cy="5470530"/>
          </a:xfrm>
        </p:spPr>
        <p:txBody>
          <a:bodyPr/>
          <a:lstStyle/>
          <a:p>
            <a:endParaRPr lang="en-US"/>
          </a:p>
        </p:txBody>
      </p:sp>
      <p:pic>
        <p:nvPicPr>
          <p:cNvPr id="1026" name="Picture 2" descr="Thank You For Listening Handwritten Lettering. Template for Banner, Flier, Poster, Print, Sticker or Web Product. Vector Illustration, Objects Isolated on White Background.">
            <a:extLst>
              <a:ext uri="{FF2B5EF4-FFF2-40B4-BE49-F238E27FC236}">
                <a16:creationId xmlns:a16="http://schemas.microsoft.com/office/drawing/2014/main" id="{FA15E2DE-5E9A-7305-FB73-4502B79FD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546" y="642594"/>
            <a:ext cx="10972800" cy="5470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8428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AnalogousFromLightSeedRightStep">
      <a:dk1>
        <a:srgbClr val="000000"/>
      </a:dk1>
      <a:lt1>
        <a:srgbClr val="FFFFFF"/>
      </a:lt1>
      <a:dk2>
        <a:srgbClr val="242E41"/>
      </a:dk2>
      <a:lt2>
        <a:srgbClr val="E8E2E8"/>
      </a:lt2>
      <a:accent1>
        <a:srgbClr val="33BA34"/>
      </a:accent1>
      <a:accent2>
        <a:srgbClr val="38B66D"/>
      </a:accent2>
      <a:accent3>
        <a:srgbClr val="3EB3A0"/>
      </a:accent3>
      <a:accent4>
        <a:srgbClr val="29ACDA"/>
      </a:accent4>
      <a:accent5>
        <a:srgbClr val="7199EC"/>
      </a:accent5>
      <a:accent6>
        <a:srgbClr val="5F51E7"/>
      </a:accent6>
      <a:hlink>
        <a:srgbClr val="AE69AE"/>
      </a:hlink>
      <a:folHlink>
        <a:srgbClr val="7F7F7F"/>
      </a:folHlink>
    </a:clrScheme>
    <a:fontScheme name="Savon">
      <a:maj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otalTime>5405</TotalTime>
  <Words>447</Words>
  <Application>Microsoft Office PowerPoint</Application>
  <PresentationFormat>Widescreen</PresentationFormat>
  <Paragraphs>32</Paragraphs>
  <Slides>8</Slides>
  <Notes>0</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Garamond</vt:lpstr>
      <vt:lpstr>Goudy Old Style</vt:lpstr>
      <vt:lpstr>SavonVTI</vt:lpstr>
      <vt:lpstr>Hướng dẫn sử dụng chức năng tạo Ebom trên hệ thống ERP và sửa Bom trên hệ thống Groupware</vt:lpstr>
      <vt:lpstr>1.Đăng nhập hệ thống ERP</vt:lpstr>
      <vt:lpstr>Tìm kiếm menu EBOM trên ERP</vt:lpstr>
      <vt:lpstr>Giao diện khi truy cập</vt:lpstr>
      <vt:lpstr>Thay đổi cập nhật lại thông tin BOM.</vt:lpstr>
      <vt:lpstr>2.Xác nhận các thông tin đã đăng ký BOM trên Groupware</vt:lpstr>
      <vt:lpstr>Kiểm tra lại BOM trên MES.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guide function evaluate contract in CMS</dc:title>
  <dc:creator>Nha Nguyễn</dc:creator>
  <cp:lastModifiedBy>Nha Nguyen</cp:lastModifiedBy>
  <cp:revision>151</cp:revision>
  <dcterms:created xsi:type="dcterms:W3CDTF">2022-04-13T01:56:23Z</dcterms:created>
  <dcterms:modified xsi:type="dcterms:W3CDTF">2025-03-25T07:00:25Z</dcterms:modified>
</cp:coreProperties>
</file>