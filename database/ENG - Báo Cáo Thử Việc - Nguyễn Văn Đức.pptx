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Be Vietnam Pro SemiBold"/>
      <p:regular r:id="rId19"/>
      <p:bold r:id="rId20"/>
      <p:italic r:id="rId21"/>
      <p:boldItalic r:id="rId22"/>
    </p:embeddedFont>
    <p:embeddedFont>
      <p:font typeface="Be Vietnam Pro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VietnamProSemiBold-bold.fntdata"/><Relationship Id="rId11" Type="http://schemas.openxmlformats.org/officeDocument/2006/relationships/slide" Target="slides/slide6.xml"/><Relationship Id="rId22" Type="http://schemas.openxmlformats.org/officeDocument/2006/relationships/font" Target="fonts/BeVietnamProSemiBold-boldItalic.fntdata"/><Relationship Id="rId10" Type="http://schemas.openxmlformats.org/officeDocument/2006/relationships/slide" Target="slides/slide5.xml"/><Relationship Id="rId21" Type="http://schemas.openxmlformats.org/officeDocument/2006/relationships/font" Target="fonts/BeVietnamProSemiBold-italic.fntdata"/><Relationship Id="rId13" Type="http://schemas.openxmlformats.org/officeDocument/2006/relationships/slide" Target="slides/slide8.xml"/><Relationship Id="rId24" Type="http://schemas.openxmlformats.org/officeDocument/2006/relationships/font" Target="fonts/BeVietnamPro-boldItalic.fntdata"/><Relationship Id="rId12" Type="http://schemas.openxmlformats.org/officeDocument/2006/relationships/slide" Target="slides/slide7.xml"/><Relationship Id="rId23" Type="http://schemas.openxmlformats.org/officeDocument/2006/relationships/font" Target="fonts/BeVietnam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BeVietnamProSemiBold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8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6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30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23.png"/><Relationship Id="rId8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5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5" Type="http://schemas.openxmlformats.org/officeDocument/2006/relationships/image" Target="../media/image13.png"/><Relationship Id="rId6" Type="http://schemas.openxmlformats.org/officeDocument/2006/relationships/image" Target="../media/image25.png"/><Relationship Id="rId7" Type="http://schemas.openxmlformats.org/officeDocument/2006/relationships/image" Target="../media/image37.png"/><Relationship Id="rId8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6.png"/><Relationship Id="rId6" Type="http://schemas.openxmlformats.org/officeDocument/2006/relationships/image" Target="../media/image33.png"/><Relationship Id="rId7" Type="http://schemas.openxmlformats.org/officeDocument/2006/relationships/image" Target="../media/image31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3"/>
          <p:cNvGrpSpPr/>
          <p:nvPr/>
        </p:nvGrpSpPr>
        <p:grpSpPr>
          <a:xfrm>
            <a:off x="571500" y="1409700"/>
            <a:ext cx="11049150" cy="2733675"/>
            <a:chOff x="571500" y="1409700"/>
            <a:chExt cx="11049150" cy="2733675"/>
          </a:xfrm>
        </p:grpSpPr>
        <p:sp>
          <p:nvSpPr>
            <p:cNvPr id="87" name="Google Shape;87;p13"/>
            <p:cNvSpPr/>
            <p:nvPr/>
          </p:nvSpPr>
          <p:spPr>
            <a:xfrm>
              <a:off x="571500" y="2000088"/>
              <a:ext cx="114300" cy="14289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857250" y="1409700"/>
              <a:ext cx="10763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84CC16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PROBATIONARY PERIOD FINAL REPORT</a:t>
              </a:r>
              <a:endParaRPr b="1" sz="1800">
                <a:solidFill>
                  <a:srgbClr val="84CC16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857250" y="1857375"/>
              <a:ext cx="10763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rgbClr val="FFFFFF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PROBATIONARY EMPLOYEE</a:t>
              </a:r>
              <a:endParaRPr b="1" sz="520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rgbClr val="84CC16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IT / MES SUPPORT</a:t>
              </a:r>
              <a:endParaRPr b="1" sz="5200">
                <a:solidFill>
                  <a:srgbClr val="84CC16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857250" y="3762375"/>
              <a:ext cx="10763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94A3B8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Enterprise Application (EA) Team</a:t>
              </a:r>
              <a:endParaRPr b="0" sz="22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857250" y="4953000"/>
            <a:ext cx="3429000" cy="952500"/>
            <a:chOff x="857250" y="4953000"/>
            <a:chExt cx="3429000" cy="952500"/>
          </a:xfrm>
        </p:grpSpPr>
        <p:sp>
          <p:nvSpPr>
            <p:cNvPr id="92" name="Google Shape;92;p13"/>
            <p:cNvSpPr/>
            <p:nvPr/>
          </p:nvSpPr>
          <p:spPr>
            <a:xfrm>
              <a:off x="857250" y="4953000"/>
              <a:ext cx="3429000" cy="9525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1047750" y="5048250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PRESENTER</a:t>
              </a:r>
              <a:endParaRPr b="0" sz="11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Nguyễn Văn Đức</a:t>
              </a:r>
              <a:endParaRPr b="1" sz="200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4476750" y="4953000"/>
            <a:ext cx="4000500" cy="952500"/>
            <a:chOff x="4476750" y="4953000"/>
            <a:chExt cx="4000500" cy="952500"/>
          </a:xfrm>
        </p:grpSpPr>
        <p:sp>
          <p:nvSpPr>
            <p:cNvPr id="95" name="Google Shape;95;p13"/>
            <p:cNvSpPr/>
            <p:nvPr/>
          </p:nvSpPr>
          <p:spPr>
            <a:xfrm>
              <a:off x="4476750" y="4953000"/>
              <a:ext cx="4000500" cy="9525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4667250" y="5048250"/>
              <a:ext cx="361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EVALUATORS</a:t>
              </a:r>
              <a:endParaRPr b="0" sz="11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Mr. Jang, Mr. Phi &amp; EA Team</a:t>
              </a:r>
              <a:endParaRPr b="1" sz="200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4298"/>
            <a:ext cx="3555950" cy="2482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484298"/>
            <a:ext cx="3555950" cy="2482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1" y="2484298"/>
            <a:ext cx="3556099" cy="24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15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PRESENTATION CONTENT</a:t>
            </a:r>
            <a:endParaRPr b="1" sz="3150">
              <a:solidFill>
                <a:srgbClr val="FFFFFF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5050" y="2882237"/>
            <a:ext cx="2965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66775" y="327886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Actual Work Done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17725" y="3802512"/>
            <a:ext cx="2965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Detailed workload and results of assigned tasks.</a:t>
            </a:r>
            <a:endParaRPr sz="1500">
              <a:solidFill>
                <a:srgbClr val="94A3B8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1500" y="2882237"/>
            <a:ext cx="2965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4613225" y="327886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Performance Evaluation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564175" y="3802500"/>
            <a:ext cx="3062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Analysis of advantages, challenges, and lessons learned.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7950" y="2882237"/>
            <a:ext cx="296554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8359675" y="327886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Future Plans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310625" y="3802500"/>
            <a:ext cx="3211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Commitment to contribution, development roadmap for the next 6 months.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71662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MES &amp; NAIS SYSTEM SUPPORT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1871662"/>
            <a:ext cx="560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Resolution</a:t>
            </a:r>
            <a:r>
              <a:rPr b="0" i="0" lang="en-US" sz="1950" u="none" cap="none" strike="noStrike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 Issue Production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881187"/>
            <a:ext cx="53149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04875" y="2328862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Supported users in resolving daily MES/NAIS errors.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04875" y="2709862"/>
            <a:ext cx="5000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Deep Research: Conducted in-depth research on business flows &amp; Stored Procedures.</a:t>
            </a:r>
            <a:endParaRPr sz="1500">
              <a:solidFill>
                <a:srgbClr val="CBD5E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CBD5E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841175" y="3447787"/>
            <a:ext cx="50007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On-site Troubleshooting: </a:t>
            </a: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Troubleshoot</a:t>
            </a: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issues directly on the production floor: Sorting machine errors, display screen errors.</a:t>
            </a:r>
            <a:endParaRPr sz="1500">
              <a:solidFill>
                <a:srgbClr val="CBD5E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04875" y="4448362"/>
            <a:ext cx="50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System Stability: Ensured stable system operation, preventing production line interruptions.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28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09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7800" y="34477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4836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1662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SOFTWARE DEVELOPMENT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881187"/>
            <a:ext cx="53149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6286500" y="1871662"/>
            <a:ext cx="560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Internal Tools &amp; Research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619875" y="2328862"/>
            <a:ext cx="5000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Successfully researched and built the "</a:t>
            </a:r>
            <a:r>
              <a:rPr lang="en-US" sz="1500">
                <a:solidFill>
                  <a:srgbClr val="84CC1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Excel to Database Import Module</a:t>
            </a: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" tool.</a:t>
            </a:r>
            <a:endParaRPr sz="1500">
              <a:solidFill>
                <a:srgbClr val="CBD5E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CBD5E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6619875" y="2976562"/>
            <a:ext cx="50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Feature Deployment: Deployed additional screens on the MES system for other departments.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619875" y="3624262"/>
            <a:ext cx="50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Team Collaboration: Supported other team members in software design.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619913" y="4271962"/>
            <a:ext cx="50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System Study: Studied existing company software such as ANDON, Meeting room booking system.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328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9765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6242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34018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4137"/>
            <a:ext cx="355595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624137"/>
            <a:ext cx="355595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624137"/>
            <a:ext cx="3556099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NETWORK INFRASTRUCTURE MANAGEMENT (3 SITES)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19412"/>
            <a:ext cx="2965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866775" y="3452800"/>
            <a:ext cx="3167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Network Troubleshooting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66775" y="3910012"/>
            <a:ext cx="2965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Troubleshoot</a:t>
            </a: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internet errors and signal attenuation at </a:t>
            </a:r>
            <a:r>
              <a:rPr lang="en-US" sz="1500">
                <a:solidFill>
                  <a:srgbClr val="84CC1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BG1, BG2, and Bac Ninh</a:t>
            </a: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</a:t>
            </a:r>
            <a:endParaRPr sz="1500">
              <a:solidFill>
                <a:srgbClr val="94A3B8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919412"/>
            <a:ext cx="2965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4613225" y="345281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Wi-Fi Configuration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613225" y="3910012"/>
            <a:ext cx="2965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Deployed</a:t>
            </a:r>
            <a:r>
              <a:rPr b="0" i="0" lang="en-US" sz="150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b="0" i="0" lang="en-US" sz="1500" u="none" cap="none" strike="noStrike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WPA2-Enterprise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, </a:t>
            </a: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managed SSIDs for production and office use.</a:t>
            </a:r>
            <a:endParaRPr sz="1500">
              <a:solidFill>
                <a:srgbClr val="94A3B8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919412"/>
            <a:ext cx="296554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359675" y="345281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Physical Deployment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359675" y="3910012"/>
            <a:ext cx="2965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Installed</a:t>
            </a:r>
            <a:r>
              <a:rPr b="0" i="0" lang="en-US" sz="150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b="0" i="0" lang="en-US" sz="1500" u="none" cap="none" strike="noStrike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Cat6</a:t>
            </a:r>
            <a:r>
              <a:rPr lang="en-US" sz="150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 and </a:t>
            </a:r>
            <a:r>
              <a:rPr b="0" i="0" lang="en-US" sz="1500" u="none" cap="none" strike="noStrike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</a:t>
            </a:r>
            <a:r>
              <a:rPr b="0" i="0" lang="en-US" sz="1500" u="none" cap="none" strike="noStrike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cables for factory equipment across all 3 facilities.</a:t>
            </a:r>
            <a:endParaRPr sz="1500">
              <a:solidFill>
                <a:srgbClr val="94A3B8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71662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IT HELPDESK &amp; SYSTEM ADMIN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1871662"/>
            <a:ext cx="560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User Technical Support</a:t>
            </a:r>
            <a:endParaRPr/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881187"/>
            <a:ext cx="53149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904875" y="2328862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Installed specialized software (</a:t>
            </a:r>
            <a:r>
              <a:rPr lang="en-US" sz="1500">
                <a:solidFill>
                  <a:srgbClr val="84CC1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NAIS, ECM</a:t>
            </a: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…).</a:t>
            </a:r>
            <a:endParaRPr sz="1500">
              <a:solidFill>
                <a:srgbClr val="CBD5E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904875" y="2709862"/>
            <a:ext cx="5000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Hardware Setup: Set up new kiosks, laptops for new employees, and network connections for other factory equipment.</a:t>
            </a:r>
            <a:endParaRPr sz="1500">
              <a:solidFill>
                <a:srgbClr val="CBD5E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904875" y="3677937"/>
            <a:ext cx="50007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System Administration: Managed email accounts, configured user permissions, and updated Admin passwords.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04875" y="4644812"/>
            <a:ext cx="50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Constant Support: Provided continuous technical support for issues arising on the factory floor.</a:t>
            </a:r>
            <a:endParaRPr/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28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09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779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4481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571500" y="232886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4CC1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PART </a:t>
            </a:r>
            <a:r>
              <a:rPr b="1" i="0" lang="en-US" sz="1500" u="none" cap="none" strike="noStrike">
                <a:solidFill>
                  <a:srgbClr val="84CC1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02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295275" y="2633662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E6EDF3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PERFORMANCE EVALUATION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524500" y="3881437"/>
            <a:ext cx="1143000" cy="571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571500" y="422433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Analysis of achieved values and challenges to overcome.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4137"/>
            <a:ext cx="355595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624137"/>
            <a:ext cx="355595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624137"/>
            <a:ext cx="3556099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ADVANTAGES &amp; PERSONAL GROWTH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8" name="Google Shape;20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19412"/>
            <a:ext cx="2965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866775" y="345281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Modern Environment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66775" y="3910012"/>
            <a:ext cx="2965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Gained access to high-tech production lines, materializing MES knowledge into practice.</a:t>
            </a:r>
            <a:endParaRPr sz="1500">
              <a:solidFill>
                <a:srgbClr val="94A3B8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descr="image.png" id="211" name="Google Shape;21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919412"/>
            <a:ext cx="2965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4613225" y="345281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Hybrid Skills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4387513" y="3910000"/>
            <a:ext cx="3445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Improved flexible troubleshooting mindset for both network hardware and software coding/Database.</a:t>
            </a:r>
            <a:endParaRPr/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919412"/>
            <a:ext cx="296554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8359675" y="345281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Team Support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359675" y="3910012"/>
            <a:ext cx="2965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Received dedicated guidance from EA Team seniors for quick integration.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4137"/>
            <a:ext cx="355595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624137"/>
            <a:ext cx="355595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624137"/>
            <a:ext cx="3556099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CHALLENGES &amp; DIFFICULTIES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19412"/>
            <a:ext cx="2965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866775" y="345281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Complex System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866775" y="3910000"/>
            <a:ext cx="3199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MES has multiple nested modules, requiring significant time for code tracing and thorough resolution.</a:t>
            </a:r>
            <a:endParaRPr/>
          </a:p>
        </p:txBody>
      </p:sp>
      <p:pic>
        <p:nvPicPr>
          <p:cNvPr descr="image.png" id="230" name="Google Shape;23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919412"/>
            <a:ext cx="2965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4613225" y="345281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Time Pressure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4613225" y="3910012"/>
            <a:ext cx="2965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Issues on the production line require immediate fixing to prevent production downtime.</a:t>
            </a:r>
            <a:endParaRPr/>
          </a:p>
        </p:txBody>
      </p:sp>
      <p:pic>
        <p:nvPicPr>
          <p:cNvPr descr="image.png" id="233" name="Google Shape;23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919412"/>
            <a:ext cx="296554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8359675" y="345281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Continuous Relocation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8359675" y="3910012"/>
            <a:ext cx="2965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Multi-site support (BG1, BG2, Bac Ninh) demands excellent time management skills.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71662"/>
            <a:ext cx="5334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SHORT-TERM PLAN (1-3 MONTHS)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571500" y="1871662"/>
            <a:ext cx="560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Core Objectives</a:t>
            </a:r>
            <a:endParaRPr/>
          </a:p>
        </p:txBody>
      </p:sp>
      <p:pic>
        <p:nvPicPr>
          <p:cNvPr descr="image.png" id="245" name="Google Shape;2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881187"/>
            <a:ext cx="53149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904875" y="2328862"/>
            <a:ext cx="50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Become a full-time employee, fully master MES Support &amp; </a:t>
            </a: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Help Desk</a:t>
            </a: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tasks.</a:t>
            </a:r>
            <a:endParaRPr sz="1500">
              <a:solidFill>
                <a:srgbClr val="CBD5E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904875" y="2976562"/>
            <a:ext cx="50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Screen Deployment: Deploy new MES screen: </a:t>
            </a:r>
            <a:r>
              <a:rPr lang="en-US" sz="1500">
                <a:solidFill>
                  <a:srgbClr val="84CC1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C486 - Sorting Error Excel.</a:t>
            </a:r>
            <a:endParaRPr>
              <a:solidFill>
                <a:srgbClr val="84CC16"/>
              </a:solidFill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904875" y="3624262"/>
            <a:ext cx="50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Database Configuration: Modify </a:t>
            </a:r>
            <a:r>
              <a:rPr lang="en-US" sz="1500">
                <a:solidFill>
                  <a:srgbClr val="84CC16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Stored Procedures</a:t>
            </a:r>
            <a:r>
              <a:rPr lang="en-US" sz="1500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&amp; configure Database for new product models.</a:t>
            </a:r>
            <a:endParaRPr/>
          </a:p>
        </p:txBody>
      </p:sp>
      <p:pic>
        <p:nvPicPr>
          <p:cNvPr descr="image.png" id="249" name="Google Shape;24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28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765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2426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1737"/>
            <a:ext cx="35559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471737"/>
            <a:ext cx="35559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71737"/>
            <a:ext cx="3556099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MID-TERM PLAN (3-6 MONTHS)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67012"/>
            <a:ext cx="2965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866775" y="330041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Independent Operation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866775" y="3757612"/>
            <a:ext cx="2965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Capable of independently handling the entire MES Ticket lifecycle from creation to closure.</a:t>
            </a:r>
            <a:endParaRPr/>
          </a:p>
        </p:txBody>
      </p:sp>
      <p:pic>
        <p:nvPicPr>
          <p:cNvPr descr="image.png" id="265" name="Google Shape;26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767012"/>
            <a:ext cx="2965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4613225" y="3300400"/>
            <a:ext cx="326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Deep Project Involvement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4613225" y="3757612"/>
            <a:ext cx="2965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Make key contributions to important internal software projects like ANDON and BI Production Plan.</a:t>
            </a:r>
            <a:endParaRPr/>
          </a:p>
        </p:txBody>
      </p:sp>
      <p:pic>
        <p:nvPicPr>
          <p:cNvPr descr="image.png" id="268" name="Google Shape;26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767012"/>
            <a:ext cx="296554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8359675" y="3300412"/>
            <a:ext cx="311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Automation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8359675" y="3757612"/>
            <a:ext cx="2965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Develop automation tools for daily IT tasks to increase overall team efficiency.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457950"/>
            <a:ext cx="11049000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81262"/>
            <a:ext cx="5334000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PROPOSALS &amp; Q&amp;A</a:t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866775" y="2814637"/>
            <a:ext cx="498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84CC16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Improvement Recommendations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153150" y="2481262"/>
            <a:ext cx="5600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THANK YOU!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6286500" y="3195637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 look forward to receiving feedback from Mr. Jang, Mr.Phi and the Team.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D1117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IMAGE SOURCES</a:t>
            </a:r>
            <a:endParaRPr/>
          </a:p>
        </p:txBody>
      </p:sp>
      <p:sp>
        <p:nvSpPr>
          <p:cNvPr id="289" name="Google Shape;289;p25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71500" y="230713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71500" y="309190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71500" y="387667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3" name="Google Shape;29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7133"/>
            <a:ext cx="14823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/>
          <p:nvPr/>
        </p:nvSpPr>
        <p:spPr>
          <a:xfrm>
            <a:off x="571500" y="30823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71500" y="30823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6" name="Google Shape;29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91904"/>
            <a:ext cx="14823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9" name="Google Shape;29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76675"/>
            <a:ext cx="14823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/>
          <p:nvPr/>
        </p:nvSpPr>
        <p:spPr>
          <a:xfrm>
            <a:off x="571500" y="46519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71500" y="46519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2" name="Google Shape;30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61445"/>
            <a:ext cx="148232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565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1666875" y="24500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https://cdn.dribbble.com/userupload/46183675/file/0a64adaf19e5c45ae7d528ca142b23ea.png?format=webp&amp;resize=400x300&amp;vertical=center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666875" y="26957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dribbble.com</a:t>
            </a:r>
            <a:endParaRPr/>
          </a:p>
        </p:txBody>
      </p:sp>
      <p:pic>
        <p:nvPicPr>
          <p:cNvPr descr="image.png" id="306" name="Google Shape;3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41327"/>
            <a:ext cx="181927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1666875" y="323477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https://i.sstatic.net/Jl9Al.png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1666875" y="34804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stackoverflow.com</a:t>
            </a:r>
            <a:endParaRPr/>
          </a:p>
        </p:txBody>
      </p:sp>
      <p:pic>
        <p:nvPicPr>
          <p:cNvPr descr="image.png" id="309" name="Google Shape;30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26098"/>
            <a:ext cx="122872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1666875" y="401955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https://blog-cdn.anydesk.com/posts/019b9c45-edf2-7ef1-9994-21586ed98507/Wake-on-LAN%20header.png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666875" y="426526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anydesk.com</a:t>
            </a:r>
            <a:endParaRPr/>
          </a:p>
        </p:txBody>
      </p:sp>
      <p:pic>
        <p:nvPicPr>
          <p:cNvPr descr="image.png" id="312" name="Google Shape;31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10869"/>
            <a:ext cx="1676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1666875" y="480432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https://img.freepik.com/free-photo/dynamic-data-visualization-3d_23-2151904311.jpg?semt=ais_hybrid&amp;w=740&amp;q=80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1666875" y="505003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www.freepik.com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