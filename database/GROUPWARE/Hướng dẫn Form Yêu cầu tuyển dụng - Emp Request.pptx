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74" r:id="rId5"/>
    <p:sldId id="258" r:id="rId6"/>
    <p:sldId id="281" r:id="rId7"/>
    <p:sldId id="283" r:id="rId8"/>
    <p:sldId id="28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43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0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32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0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3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47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80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8/11/2025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9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736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1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7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1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i="1" kern="1200" cap="none" spc="-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Background pattern, arrow&#10;&#10;Description automatically generated with medium confidence">
            <a:extLst>
              <a:ext uri="{FF2B5EF4-FFF2-40B4-BE49-F238E27FC236}">
                <a16:creationId xmlns:a16="http://schemas.microsoft.com/office/drawing/2014/main" id="{0DD25A64-4F51-638C-97E4-0FF53C7ED3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-4" y="0"/>
            <a:ext cx="12192000" cy="68579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alpha val="30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121716-8B64-478F-ABDB-17030AD1B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solidFill>
            <a:srgbClr val="33BA3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DF167-DBD7-4C3A-9FC3-59FBDFCE8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23" y="4814744"/>
            <a:ext cx="11439414" cy="897439"/>
          </a:xfrm>
        </p:spPr>
        <p:txBody>
          <a:bodyPr>
            <a:normAutofit/>
          </a:bodyPr>
          <a:lstStyle/>
          <a:p>
            <a:r>
              <a:rPr lang="en-US" sz="4400" dirty="0" err="1">
                <a:solidFill>
                  <a:schemeClr val="tx1"/>
                </a:solidFill>
              </a:rPr>
              <a:t>Hướng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dẫn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sử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dụng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chức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 err="1">
                <a:solidFill>
                  <a:schemeClr val="tx1"/>
                </a:solidFill>
              </a:rPr>
              <a:t>năng</a:t>
            </a:r>
            <a:r>
              <a:rPr lang="en-US" sz="4400" dirty="0">
                <a:solidFill>
                  <a:schemeClr val="tx1"/>
                </a:solidFill>
              </a:rPr>
              <a:t> Emp Request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8A4C9-03F0-4958-8DA7-FF5094EF5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275" y="6016944"/>
            <a:ext cx="10656310" cy="42596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EA Team </a:t>
            </a:r>
            <a:r>
              <a:rPr lang="en-US" dirty="0" err="1">
                <a:solidFill>
                  <a:schemeClr val="tx1"/>
                </a:solidFill>
              </a:rPr>
              <a:t>Việt</a:t>
            </a:r>
            <a:r>
              <a:rPr lang="en-US" dirty="0">
                <a:solidFill>
                  <a:schemeClr val="tx1"/>
                </a:solidFill>
              </a:rPr>
              <a:t> Nam</a:t>
            </a:r>
          </a:p>
        </p:txBody>
      </p:sp>
    </p:spTree>
    <p:extLst>
      <p:ext uri="{BB962C8B-B14F-4D97-AF65-F5344CB8AC3E}">
        <p14:creationId xmlns:p14="http://schemas.microsoft.com/office/powerpoint/2010/main" val="3179193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6E92D59-FD1B-47BC-9D02-0F3B959A6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2AE646-CC19-4A1F-900B-E512D06A7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E4F834-34CB-4787-920F-CD1E1B8BC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6DE4-2310-439F-895A-6C973CFE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830" y="727823"/>
            <a:ext cx="3329150" cy="5402353"/>
          </a:xfrm>
        </p:spPr>
        <p:txBody>
          <a:bodyPr>
            <a:normAutofit/>
          </a:bodyPr>
          <a:lstStyle/>
          <a:p>
            <a:r>
              <a:rPr lang="en-US"/>
              <a:t>1.Đăng nhập hệ thống Groupware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7103-67B3-4191-BB4A-9FF0DFE9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614" y="727823"/>
            <a:ext cx="6927842" cy="2392449"/>
          </a:xfrm>
        </p:spPr>
        <p:txBody>
          <a:bodyPr>
            <a:normAutofit/>
          </a:bodyPr>
          <a:lstStyle/>
          <a:p>
            <a:r>
              <a:rPr lang="en-US" b="1"/>
              <a:t>I. Đăng nhập Groupware</a:t>
            </a:r>
          </a:p>
          <a:p>
            <a:pPr>
              <a:buFontTx/>
              <a:buChar char="-"/>
            </a:pPr>
            <a:r>
              <a:rPr lang="en-US"/>
              <a:t>Có hai cách để bạn đăng nhập vào hệ thống Groupware</a:t>
            </a:r>
          </a:p>
          <a:p>
            <a:pPr marL="0" indent="0">
              <a:buNone/>
            </a:pPr>
            <a:r>
              <a:rPr lang="en-US"/>
              <a:t>     + Bạn có thể truy cập bằng link sau đây: </a:t>
            </a:r>
            <a:r>
              <a:rPr lang="en-US">
                <a:solidFill>
                  <a:srgbClr val="FF0000"/>
                </a:solidFill>
              </a:rPr>
              <a:t>https://gw.vinatech.com/login</a:t>
            </a:r>
            <a:r>
              <a:rPr lang="en-US"/>
              <a:t>.</a:t>
            </a:r>
          </a:p>
          <a:p>
            <a:r>
              <a:rPr lang="en-US" b="1"/>
              <a:t>  + Bạn có thể chọn buổi tượng như hình dưới đây:</a:t>
            </a:r>
          </a:p>
          <a:p>
            <a:pPr marL="0" indent="0">
              <a:buNone/>
            </a:pPr>
            <a:r>
              <a:rPr lang="en-US"/>
              <a:t>     + Bạn mở trình duyệt lên và ỏ góc phải màn hình có biểu tượng=&gt; bạn chọn tới icon của công ty có chữ groupware click vào đó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7EDE9C-76B1-068A-B40D-1248AFC7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641" y="3139440"/>
            <a:ext cx="7083396" cy="334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97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6E92D59-FD1B-47BC-9D02-0F3B959A6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2AE646-CC19-4A1F-900B-E512D06A7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E4F834-34CB-4787-920F-CD1E1B8BC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A6DE4-2310-439F-895A-6C973CFE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7" y="727824"/>
            <a:ext cx="3984311" cy="4521602"/>
          </a:xfrm>
        </p:spPr>
        <p:txBody>
          <a:bodyPr>
            <a:normAutofit/>
          </a:bodyPr>
          <a:lstStyle/>
          <a:p>
            <a:r>
              <a:rPr lang="en-US"/>
              <a:t>2.Thông tin đăng nhập vào Groupware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7103-67B3-4191-BB4A-9FF0DFE9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614" y="727823"/>
            <a:ext cx="6927842" cy="2590412"/>
          </a:xfrm>
        </p:spPr>
        <p:txBody>
          <a:bodyPr>
            <a:normAutofit/>
          </a:bodyPr>
          <a:lstStyle/>
          <a:p>
            <a:r>
              <a:rPr lang="en-US" b="1"/>
              <a:t>2. Thông tin đăng nhập</a:t>
            </a:r>
          </a:p>
          <a:p>
            <a:pPr marL="0" indent="0">
              <a:buNone/>
            </a:pPr>
            <a:r>
              <a:rPr lang="en-US"/>
              <a:t>- Bước 1: Thông tin tài khoản cũng như mật khẩu của bạn chính là mã nhân viên trên hệ thống ERP, mật khẩu mặc định từ 1 tới 4, trong trường hợp không được bạn liên hệ lại với EA</a:t>
            </a:r>
          </a:p>
          <a:p>
            <a:pPr>
              <a:buFontTx/>
              <a:buChar char="-"/>
            </a:pPr>
            <a:r>
              <a:rPr lang="en-US"/>
              <a:t>Bước 2: Trước khi login, bạn cần chọn Vinatech vina Co.,Ltd. </a:t>
            </a:r>
          </a:p>
          <a:p>
            <a:pPr>
              <a:buFontTx/>
              <a:buChar char="-"/>
            </a:pPr>
            <a:r>
              <a:rPr lang="en-US"/>
              <a:t>Bước 3: khi đã chọn xong, bạn nhập mã nhân viên và mật khẩu nhấn nút login để vào hệ thống.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C378E-E898-C745-8CF0-21C6C02E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12" y="3312203"/>
            <a:ext cx="7094032" cy="307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96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8D88-F08F-3A10-BA4E-93F1C6B9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7C15-A046-94B1-134F-1A01DD40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58686"/>
            <a:ext cx="4957553" cy="877055"/>
          </a:xfrm>
        </p:spPr>
        <p:txBody>
          <a:bodyPr>
            <a:normAutofit/>
          </a:bodyPr>
          <a:lstStyle/>
          <a:p>
            <a:r>
              <a:rPr lang="en-US" sz="4400" dirty="0"/>
              <a:t>Emp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FAF7B-AF7E-7F04-9099-659FCBDA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658471"/>
            <a:ext cx="5617085" cy="3049791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Mục</a:t>
            </a:r>
            <a:r>
              <a:rPr lang="en-US" sz="2000" b="1" dirty="0"/>
              <a:t> </a:t>
            </a:r>
            <a:r>
              <a:rPr lang="en-US" sz="2000" b="1" dirty="0" err="1"/>
              <a:t>đích</a:t>
            </a:r>
            <a:r>
              <a:rPr lang="en-US" sz="2000" dirty="0"/>
              <a:t>: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phê</a:t>
            </a:r>
            <a:r>
              <a:rPr lang="en-US" sz="2000" dirty="0"/>
              <a:t> </a:t>
            </a:r>
            <a:r>
              <a:rPr lang="en-US" sz="2000" dirty="0" err="1"/>
              <a:t>duyệt</a:t>
            </a:r>
            <a:r>
              <a:rPr lang="en-US" sz="2000" dirty="0"/>
              <a:t> </a:t>
            </a:r>
            <a:r>
              <a:rPr lang="en-US" sz="2000" dirty="0" err="1"/>
              <a:t>yêu</a:t>
            </a:r>
            <a:r>
              <a:rPr lang="en-US" sz="2000" dirty="0"/>
              <a:t> </a:t>
            </a:r>
            <a:r>
              <a:rPr lang="en-US" sz="2000" dirty="0" err="1"/>
              <a:t>cầu</a:t>
            </a:r>
            <a:r>
              <a:rPr lang="en-US" sz="2000" dirty="0"/>
              <a:t> </a:t>
            </a:r>
            <a:r>
              <a:rPr lang="en-US" sz="2000" dirty="0" err="1"/>
              <a:t>tuyển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phòng</a:t>
            </a:r>
            <a:r>
              <a:rPr lang="en-US" sz="2000" dirty="0"/>
              <a:t> ban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Vào</a:t>
            </a:r>
            <a:r>
              <a:rPr lang="en-US" dirty="0"/>
              <a:t> menu Electronic Document =&gt;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Human Sources =&gt;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Emp Request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9B5B77-58A1-00AE-7880-54C7EABCF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33" y="422825"/>
            <a:ext cx="5717508" cy="600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80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122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56699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97E2-9502-487B-86C7-37C69151E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8559" y="512947"/>
            <a:ext cx="2312480" cy="1472555"/>
          </a:xfrm>
        </p:spPr>
        <p:txBody>
          <a:bodyPr anchor="b">
            <a:noAutofit/>
          </a:bodyPr>
          <a:lstStyle/>
          <a:p>
            <a:r>
              <a:rPr lang="en-US" sz="3200" dirty="0" err="1"/>
              <a:t>Bước</a:t>
            </a:r>
            <a:r>
              <a:rPr lang="en-US" sz="3200" dirty="0"/>
              <a:t> 1: </a:t>
            </a: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người</a:t>
            </a:r>
            <a:r>
              <a:rPr lang="en-US" sz="3200" dirty="0"/>
              <a:t> </a:t>
            </a:r>
            <a:r>
              <a:rPr lang="en-US" sz="3200" dirty="0" err="1"/>
              <a:t>phê</a:t>
            </a:r>
            <a:r>
              <a:rPr lang="en-US" sz="3200" dirty="0"/>
              <a:t> </a:t>
            </a:r>
            <a:r>
              <a:rPr lang="en-US" sz="3200" dirty="0" err="1"/>
              <a:t>duyệt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91F4A-7CD3-48F7-B8A7-959531787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4682" y="2223247"/>
            <a:ext cx="2465293" cy="40988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Tại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giao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diện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chọn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dòng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mặc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định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là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Team Leader =&gt; Group Leader.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cũng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thêm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người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vào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form,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hoặc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thêm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người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CC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vào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form</a:t>
            </a: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Cuối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cùng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chọn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Áp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dụng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dòng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C9978D-0B2D-6809-C1A8-182FCF4C9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32" y="3182470"/>
            <a:ext cx="7799293" cy="32624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A69BF5-A2F3-77D5-B1E7-9E7B5E2A3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28" y="449174"/>
            <a:ext cx="7799293" cy="2697176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003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C464-E309-43FB-E3E3-02555CA6E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C3C3-04B9-539E-9BC8-76BB34C5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26" y="512948"/>
            <a:ext cx="11119014" cy="607640"/>
          </a:xfrm>
        </p:spPr>
        <p:txBody>
          <a:bodyPr anchor="b">
            <a:noAutofit/>
          </a:bodyPr>
          <a:lstStyle/>
          <a:p>
            <a:r>
              <a:rPr lang="en-US" sz="3200" dirty="0" err="1"/>
              <a:t>Bước</a:t>
            </a:r>
            <a:r>
              <a:rPr lang="en-US" sz="3200" dirty="0"/>
              <a:t> 2: Điền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trường</a:t>
            </a:r>
            <a:r>
              <a:rPr lang="en-US" sz="3200" dirty="0"/>
              <a:t> </a:t>
            </a:r>
            <a:r>
              <a:rPr lang="en-US" sz="3200" dirty="0" err="1"/>
              <a:t>cần</a:t>
            </a:r>
            <a:r>
              <a:rPr lang="en-US" sz="3200" dirty="0"/>
              <a:t> </a:t>
            </a:r>
            <a:r>
              <a:rPr lang="en-US" sz="3200" dirty="0" err="1"/>
              <a:t>thiết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E84E7-EB56-DEBC-1644-937ABA89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26" y="1131515"/>
            <a:ext cx="11187949" cy="276813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 –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Phân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loại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tuyển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dụng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Tuyển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dụng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thay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thế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Tuyển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dụng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mới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hoặc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Tuyển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dụng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bổ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sung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 –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Phân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loại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nhân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viên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Nhân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viên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chính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thức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Thử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việc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Công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nhân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vụ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–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Số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lượng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tuyển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dụng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 –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Ngày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đến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yêu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cầu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 – Kinh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nghiệm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6 –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Trình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độ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học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vấn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 – Chuyên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ngành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liên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quan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 –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Giới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tính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ưu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tiên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69FD02-73DB-80D4-253A-C52B56E78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7" y="4075545"/>
            <a:ext cx="11349317" cy="226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8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81FE9-69CA-1DBD-784D-A80D8BE5A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9B9E-83B3-11D9-EB5B-347A41D2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26" y="512948"/>
            <a:ext cx="11119014" cy="607640"/>
          </a:xfrm>
        </p:spPr>
        <p:txBody>
          <a:bodyPr anchor="b">
            <a:noAutofit/>
          </a:bodyPr>
          <a:lstStyle/>
          <a:p>
            <a:r>
              <a:rPr lang="en-US" sz="3200" dirty="0" err="1"/>
              <a:t>Bước</a:t>
            </a:r>
            <a:r>
              <a:rPr lang="en-US" sz="3200" dirty="0"/>
              <a:t> 3: Hoàn </a:t>
            </a:r>
            <a:r>
              <a:rPr lang="en-US" sz="3200" dirty="0" err="1"/>
              <a:t>thiện</a:t>
            </a:r>
            <a:r>
              <a:rPr lang="en-US" sz="3200" dirty="0"/>
              <a:t> </a:t>
            </a:r>
            <a:r>
              <a:rPr lang="en-US" sz="3200" dirty="0" err="1"/>
              <a:t>nội</a:t>
            </a:r>
            <a:r>
              <a:rPr lang="en-US" sz="3200" dirty="0"/>
              <a:t> dung chi </a:t>
            </a:r>
            <a:r>
              <a:rPr lang="en-US" sz="3200" dirty="0" err="1"/>
              <a:t>tiết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Gửi</a:t>
            </a:r>
            <a:r>
              <a:rPr lang="en-US" sz="3200" dirty="0"/>
              <a:t> </a:t>
            </a:r>
            <a:r>
              <a:rPr lang="en-US" sz="3200" dirty="0" err="1"/>
              <a:t>đi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ADCC2-B96E-9118-C3C0-8DC2B2998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026" y="1131515"/>
            <a:ext cx="11187949" cy="21854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Hoàn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thiện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phần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Nội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dung chi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tiết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hoặc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yêu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cầu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thêm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nếu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có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Ấn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nút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gửi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hoàn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tất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yêu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cầu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4BEC6-38B7-7197-53ED-F22F308C3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5" y="2922494"/>
            <a:ext cx="11187948" cy="351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51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EE86-0CB6-C60C-651F-21845683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AD5C-F8D1-D9A5-AF2C-83B5CAFF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18" y="430307"/>
            <a:ext cx="3191435" cy="842681"/>
          </a:xfrm>
        </p:spPr>
        <p:txBody>
          <a:bodyPr anchor="b">
            <a:noAutofit/>
          </a:bodyPr>
          <a:lstStyle/>
          <a:p>
            <a:r>
              <a:rPr lang="en-US" sz="3200" dirty="0" err="1"/>
              <a:t>Hủy</a:t>
            </a:r>
            <a:r>
              <a:rPr lang="en-US" sz="3200" dirty="0"/>
              <a:t> </a:t>
            </a:r>
            <a:r>
              <a:rPr lang="en-US" sz="3200" dirty="0" err="1"/>
              <a:t>đơn</a:t>
            </a:r>
            <a:r>
              <a:rPr lang="en-US" sz="3200" dirty="0"/>
              <a:t> </a:t>
            </a:r>
            <a:r>
              <a:rPr lang="en-US" sz="3200" dirty="0" err="1"/>
              <a:t>đăng</a:t>
            </a:r>
            <a:r>
              <a:rPr lang="en-US" sz="3200" dirty="0"/>
              <a:t> </a:t>
            </a:r>
            <a:r>
              <a:rPr lang="en-US" sz="3200" dirty="0" err="1"/>
              <a:t>ký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EAA5B-5FB0-E696-37D3-B150DD5C2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6118" y="1416424"/>
            <a:ext cx="3083857" cy="490571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Trường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hợp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muốn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rút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lại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chỉnh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sửa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Bấm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chọn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đăng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ký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Lưu ý: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Chỉ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được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trong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trường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hợp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chưa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được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xong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Sau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khi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hủy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phê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duyệt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sẽ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chuyển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sang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mục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lưu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trữ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tạm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thời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Temporary Storage.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Bạn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thể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truy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cập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vào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đó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để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chỉnh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sửa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xóa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8A5EA3-2C6C-4A2B-5B8A-9186F6CFA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7" y="430306"/>
            <a:ext cx="8210222" cy="576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31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82C4D5-F48D-7707-F1E6-7BE4AA31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46" y="642594"/>
            <a:ext cx="10972800" cy="5470530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Thank You For Listening Handwritten Lettering. Template for Banner, Flier, Poster, Print, Sticker or Web Product. Vector Illustration, Objects Isolated on White Background.">
            <a:extLst>
              <a:ext uri="{FF2B5EF4-FFF2-40B4-BE49-F238E27FC236}">
                <a16:creationId xmlns:a16="http://schemas.microsoft.com/office/drawing/2014/main" id="{FA15E2DE-5E9A-7305-FB73-4502B79FD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46" y="642594"/>
            <a:ext cx="10972800" cy="547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8428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LightSeedRightStep">
      <a:dk1>
        <a:srgbClr val="000000"/>
      </a:dk1>
      <a:lt1>
        <a:srgbClr val="FFFFFF"/>
      </a:lt1>
      <a:dk2>
        <a:srgbClr val="242E41"/>
      </a:dk2>
      <a:lt2>
        <a:srgbClr val="E8E2E8"/>
      </a:lt2>
      <a:accent1>
        <a:srgbClr val="33BA34"/>
      </a:accent1>
      <a:accent2>
        <a:srgbClr val="38B66D"/>
      </a:accent2>
      <a:accent3>
        <a:srgbClr val="3EB3A0"/>
      </a:accent3>
      <a:accent4>
        <a:srgbClr val="29ACDA"/>
      </a:accent4>
      <a:accent5>
        <a:srgbClr val="7199EC"/>
      </a:accent5>
      <a:accent6>
        <a:srgbClr val="5F51E7"/>
      </a:accent6>
      <a:hlink>
        <a:srgbClr val="AE69AE"/>
      </a:hlink>
      <a:folHlink>
        <a:srgbClr val="7F7F7F"/>
      </a:folHlink>
    </a:clrScheme>
    <a:fontScheme name="Savon">
      <a:maj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9083</TotalTime>
  <Words>466</Words>
  <Application>Microsoft Office PowerPoint</Application>
  <PresentationFormat>Widescreen</PresentationFormat>
  <Paragraphs>40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Garamond</vt:lpstr>
      <vt:lpstr>Goudy Old Style</vt:lpstr>
      <vt:lpstr>SavonVTI</vt:lpstr>
      <vt:lpstr>Hướng dẫn sử dụng chức năng Emp Request</vt:lpstr>
      <vt:lpstr>1.Đăng nhập hệ thống Groupware</vt:lpstr>
      <vt:lpstr>2.Thông tin đăng nhập vào Groupware</vt:lpstr>
      <vt:lpstr>Emp Request</vt:lpstr>
      <vt:lpstr>Bước 1: Chọn người phê duyệt</vt:lpstr>
      <vt:lpstr>Bước 2: Điền các trường cần thiết</vt:lpstr>
      <vt:lpstr>Bước 3: Hoàn thiện nội dung chi tiết và Gửi đi</vt:lpstr>
      <vt:lpstr>Hủy đơn đăng ký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 function evaluate contract in CMS</dc:title>
  <dc:creator>Nha Nguyễn</dc:creator>
  <cp:lastModifiedBy>DI JAN</cp:lastModifiedBy>
  <cp:revision>192</cp:revision>
  <dcterms:created xsi:type="dcterms:W3CDTF">2022-04-13T01:56:23Z</dcterms:created>
  <dcterms:modified xsi:type="dcterms:W3CDTF">2025-08-11T07:14:16Z</dcterms:modified>
</cp:coreProperties>
</file>