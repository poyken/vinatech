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notesMasterIdLst>
    <p:notesMasterId r:id="rId15"/>
  </p:notesMasterIdLst>
  <p:sldIdLst>
    <p:sldId id="256" r:id="rId2"/>
    <p:sldId id="295" r:id="rId3"/>
    <p:sldId id="308" r:id="rId4"/>
    <p:sldId id="299" r:id="rId5"/>
    <p:sldId id="303" r:id="rId6"/>
    <p:sldId id="304" r:id="rId7"/>
    <p:sldId id="305" r:id="rId8"/>
    <p:sldId id="297" r:id="rId9"/>
    <p:sldId id="300" r:id="rId10"/>
    <p:sldId id="301" r:id="rId11"/>
    <p:sldId id="302" r:id="rId12"/>
    <p:sldId id="306" r:id="rId13"/>
    <p:sldId id="30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9E6"/>
    <a:srgbClr val="FF99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0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0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65420-464B-43DC-AAFB-989FC49D2D99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6C847-AE22-46BF-9DC4-44830D123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33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4701464"/>
            <a:ext cx="8952782" cy="1204036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952500"/>
            <a:ext cx="8952781" cy="3748824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64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14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18211"/>
            <a:ext cx="8412190" cy="394438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908858"/>
            <a:ext cx="8412192" cy="676102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22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1" y="2260121"/>
            <a:ext cx="4350026" cy="36568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574" y="2260120"/>
            <a:ext cx="4350025" cy="36568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66788"/>
            <a:ext cx="10059988" cy="10517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018581"/>
            <a:ext cx="4350027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774756"/>
            <a:ext cx="4350027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6572" y="2018581"/>
            <a:ext cx="4350028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6572" y="2774756"/>
            <a:ext cx="4350028" cy="31507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657975" y="2625552"/>
            <a:ext cx="42386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403684" y="2625552"/>
            <a:ext cx="42417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07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3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9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6484"/>
            <a:ext cx="3932237" cy="212251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2026"/>
            <a:ext cx="5143500" cy="456565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4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7185"/>
            <a:ext cx="3932237" cy="212181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7702" y="1307186"/>
            <a:ext cx="5038898" cy="45983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53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6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8334" y="952499"/>
            <a:ext cx="2051165" cy="4953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952499"/>
            <a:ext cx="8235834" cy="49530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71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262188"/>
            <a:ext cx="9601200" cy="364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5DBDDF98-C922-483F-97E9-3E76B0201B42}" type="datetimeFigureOut">
              <a:rPr lang="en-US" smtClean="0"/>
              <a:pPr/>
              <a:t>3/22/2025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810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0" r:id="rId6"/>
    <p:sldLayoutId id="2147483766" r:id="rId7"/>
    <p:sldLayoutId id="2147483767" r:id="rId8"/>
    <p:sldLayoutId id="2147483768" r:id="rId9"/>
    <p:sldLayoutId id="2147483769" r:id="rId10"/>
    <p:sldLayoutId id="214748377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7E26772-EAFC-10BB-4659-99BF2A8A1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AEFA6A-E623-CF1A-3DDF-C38D3A7E2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3335" y="952194"/>
            <a:ext cx="4140682" cy="495844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269A5-FF2D-F7BE-4BD5-86E842FEF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1" y="1564640"/>
            <a:ext cx="3803350" cy="3023052"/>
          </a:xfrm>
        </p:spPr>
        <p:txBody>
          <a:bodyPr anchor="ctr">
            <a:normAutofit/>
          </a:bodyPr>
          <a:lstStyle/>
          <a:p>
            <a:r>
              <a:rPr lang="en-US" sz="3600" dirty="0" err="1"/>
              <a:t>Hướng</a:t>
            </a:r>
            <a:r>
              <a:rPr lang="en-US" sz="3600" dirty="0"/>
              <a:t> </a:t>
            </a:r>
            <a:r>
              <a:rPr lang="en-US" sz="3600" dirty="0" err="1"/>
              <a:t>dẫn</a:t>
            </a:r>
            <a:r>
              <a:rPr lang="en-US" sz="3600" dirty="0"/>
              <a:t> Chung </a:t>
            </a:r>
            <a:r>
              <a:rPr lang="en-US" sz="3600" dirty="0" err="1"/>
              <a:t>về</a:t>
            </a:r>
            <a:r>
              <a:rPr lang="en-US" sz="3600" dirty="0"/>
              <a:t> NAIS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A3248-AB51-3CD4-D600-621571EF0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4587692"/>
            <a:ext cx="3119010" cy="1013687"/>
          </a:xfrm>
        </p:spPr>
        <p:txBody>
          <a:bodyPr anchor="b">
            <a:normAutofit/>
          </a:bodyPr>
          <a:lstStyle/>
          <a:p>
            <a:r>
              <a:rPr lang="en-US" dirty="0"/>
              <a:t>Created by EA Vietnam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F20321-16A0-BC34-9658-EBA43B121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310" y="951418"/>
            <a:ext cx="5822282" cy="312663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335EF4A-C5DB-21B4-D51C-A6919B6DB1E4}"/>
              </a:ext>
            </a:extLst>
          </p:cNvPr>
          <p:cNvSpPr txBox="1">
            <a:spLocks/>
          </p:cNvSpPr>
          <p:nvPr/>
        </p:nvSpPr>
        <p:spPr>
          <a:xfrm>
            <a:off x="5449163" y="4530541"/>
            <a:ext cx="6468575" cy="187497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3200" kern="1200" cap="all" spc="5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5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3A93C-D28A-E0BF-AF3F-552390AFC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BAC76-BE41-F9ED-8F19-83A296505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I. </a:t>
            </a:r>
            <a:r>
              <a:rPr lang="en-US" b="1" dirty="0" err="1"/>
              <a:t>Những</a:t>
            </a:r>
            <a:r>
              <a:rPr lang="en-US" b="1" dirty="0"/>
              <a:t> </a:t>
            </a:r>
            <a:r>
              <a:rPr lang="en-US" b="1" dirty="0" err="1"/>
              <a:t>điều</a:t>
            </a:r>
            <a:r>
              <a:rPr lang="en-US" b="1" dirty="0"/>
              <a:t> </a:t>
            </a:r>
            <a:r>
              <a:rPr lang="en-US" b="1" dirty="0" err="1"/>
              <a:t>cơ</a:t>
            </a:r>
            <a:r>
              <a:rPr lang="en-US" b="1" dirty="0"/>
              <a:t> </a:t>
            </a:r>
            <a:r>
              <a:rPr lang="en-US" b="1" dirty="0" err="1"/>
              <a:t>bản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3F786C-3B25-B140-032E-2FFBE95A2284}"/>
              </a:ext>
            </a:extLst>
          </p:cNvPr>
          <p:cNvSpPr txBox="1"/>
          <p:nvPr/>
        </p:nvSpPr>
        <p:spPr>
          <a:xfrm>
            <a:off x="603504" y="855720"/>
            <a:ext cx="9426320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http://mes.hycap.co.kr:9952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127EE4-B2D4-7648-0C63-525AE9AB01BD}"/>
              </a:ext>
            </a:extLst>
          </p:cNvPr>
          <p:cNvSpPr txBox="1"/>
          <p:nvPr/>
        </p:nvSpPr>
        <p:spPr>
          <a:xfrm>
            <a:off x="603504" y="1570095"/>
            <a:ext cx="9426320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FCE058-E840-484D-D4C5-DC1A8D307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554" y="2141594"/>
            <a:ext cx="3336152" cy="45107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A217EB-F503-553C-BBA5-7B2BED283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338" y="3749344"/>
            <a:ext cx="4009524" cy="1295238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0B9D3A4F-453B-8C06-6B0D-00B36C10A53F}"/>
              </a:ext>
            </a:extLst>
          </p:cNvPr>
          <p:cNvSpPr/>
          <p:nvPr/>
        </p:nvSpPr>
        <p:spPr>
          <a:xfrm>
            <a:off x="5076825" y="4073113"/>
            <a:ext cx="1019175" cy="647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541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D622F-9952-4531-08D1-416F04860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47ECF-484E-683C-92AB-37BEBD108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I. </a:t>
            </a:r>
            <a:r>
              <a:rPr lang="en-US" b="1" dirty="0" err="1"/>
              <a:t>Những</a:t>
            </a:r>
            <a:r>
              <a:rPr lang="en-US" b="1" dirty="0"/>
              <a:t> </a:t>
            </a:r>
            <a:r>
              <a:rPr lang="en-US" b="1" dirty="0" err="1"/>
              <a:t>điều</a:t>
            </a:r>
            <a:r>
              <a:rPr lang="en-US" b="1" dirty="0"/>
              <a:t> </a:t>
            </a:r>
            <a:r>
              <a:rPr lang="en-US" b="1" dirty="0" err="1"/>
              <a:t>cơ</a:t>
            </a:r>
            <a:r>
              <a:rPr lang="en-US" b="1" dirty="0"/>
              <a:t> </a:t>
            </a:r>
            <a:r>
              <a:rPr lang="en-US" b="1" dirty="0" err="1"/>
              <a:t>bản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D4F0DC-7293-0333-51C5-ABE7A63B8DC4}"/>
              </a:ext>
            </a:extLst>
          </p:cNvPr>
          <p:cNvSpPr txBox="1"/>
          <p:nvPr/>
        </p:nvSpPr>
        <p:spPr>
          <a:xfrm>
            <a:off x="603504" y="855720"/>
            <a:ext cx="9426320" cy="3412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QC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HN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Hà Nam</a:t>
            </a:r>
          </a:p>
        </p:txBody>
      </p:sp>
    </p:spTree>
    <p:extLst>
      <p:ext uri="{BB962C8B-B14F-4D97-AF65-F5344CB8AC3E}">
        <p14:creationId xmlns:p14="http://schemas.microsoft.com/office/powerpoint/2010/main" val="769585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93E04-9C90-0B9C-C48F-EB4EF9172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1D506-3104-36B6-FA2C-77343E1BF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I. </a:t>
            </a:r>
            <a:r>
              <a:rPr lang="en-US" b="1" dirty="0" err="1"/>
              <a:t>Những</a:t>
            </a:r>
            <a:r>
              <a:rPr lang="en-US" b="1" dirty="0"/>
              <a:t> </a:t>
            </a:r>
            <a:r>
              <a:rPr lang="en-US" b="1" dirty="0" err="1"/>
              <a:t>điều</a:t>
            </a:r>
            <a:r>
              <a:rPr lang="en-US" b="1" dirty="0"/>
              <a:t> </a:t>
            </a:r>
            <a:r>
              <a:rPr lang="en-US" b="1" dirty="0" err="1"/>
              <a:t>cơ</a:t>
            </a:r>
            <a:r>
              <a:rPr lang="en-US" b="1" dirty="0"/>
              <a:t> </a:t>
            </a:r>
            <a:r>
              <a:rPr lang="en-US" b="1" dirty="0" err="1"/>
              <a:t>bản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1B886F-41CC-8958-16E3-D2E0A9F4FBE6}"/>
              </a:ext>
            </a:extLst>
          </p:cNvPr>
          <p:cNvSpPr txBox="1"/>
          <p:nvPr/>
        </p:nvSpPr>
        <p:spPr>
          <a:xfrm>
            <a:off x="603504" y="855720"/>
            <a:ext cx="9426320" cy="919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D6B147-F30E-0162-8321-87EFA4661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5" y="1775459"/>
            <a:ext cx="10984992" cy="460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210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C881-F06F-0F5F-AA1B-A456EA10B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88FD9-0C14-9FBE-BEE9-0AB93775A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I. </a:t>
            </a:r>
            <a:r>
              <a:rPr lang="en-US" b="1" dirty="0" err="1"/>
              <a:t>Những</a:t>
            </a:r>
            <a:r>
              <a:rPr lang="en-US" b="1" dirty="0"/>
              <a:t> </a:t>
            </a:r>
            <a:r>
              <a:rPr lang="en-US" b="1" dirty="0" err="1"/>
              <a:t>điều</a:t>
            </a:r>
            <a:r>
              <a:rPr lang="en-US" b="1" dirty="0"/>
              <a:t> </a:t>
            </a:r>
            <a:r>
              <a:rPr lang="en-US" b="1" dirty="0" err="1"/>
              <a:t>cơ</a:t>
            </a:r>
            <a:r>
              <a:rPr lang="en-US" b="1" dirty="0"/>
              <a:t> </a:t>
            </a:r>
            <a:r>
              <a:rPr lang="en-US" b="1" dirty="0" err="1"/>
              <a:t>bản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C69AD1-9A18-A5F6-C65F-1EC4D33C5F81}"/>
              </a:ext>
            </a:extLst>
          </p:cNvPr>
          <p:cNvSpPr txBox="1"/>
          <p:nvPr/>
        </p:nvSpPr>
        <p:spPr>
          <a:xfrm>
            <a:off x="587377" y="579761"/>
            <a:ext cx="3349371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àng Hóa – Nhà Xe Minh Quốc Kon Tum">
            <a:extLst>
              <a:ext uri="{FF2B5EF4-FFF2-40B4-BE49-F238E27FC236}">
                <a16:creationId xmlns:a16="http://schemas.microsoft.com/office/drawing/2014/main" id="{494D7472-A50C-61EF-288B-5D8B34C28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658" y="1562101"/>
            <a:ext cx="2515561" cy="138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iểm kê phát hiện thừa, thiếu hàng hóa, NVL, CCDC, thành phẩm thì kế toán  xử lý như thế nào?. Hóa Đơn Điện Tử - eHoaDon Online: Hóa Đơn Điện Tử Tốt">
            <a:extLst>
              <a:ext uri="{FF2B5EF4-FFF2-40B4-BE49-F238E27FC236}">
                <a16:creationId xmlns:a16="http://schemas.microsoft.com/office/drawing/2014/main" id="{2A6CDC62-FE45-A48C-0D91-8E54C1F9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986" y="1400175"/>
            <a:ext cx="2775763" cy="1547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09FFCD5E-A0B8-4E07-DB1F-4B411A23480E}"/>
              </a:ext>
            </a:extLst>
          </p:cNvPr>
          <p:cNvSpPr/>
          <p:nvPr/>
        </p:nvSpPr>
        <p:spPr>
          <a:xfrm>
            <a:off x="3017485" y="1795175"/>
            <a:ext cx="1238250" cy="919739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QC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C5B949C-86FB-CAAE-BB41-8D989BC259BF}"/>
              </a:ext>
            </a:extLst>
          </p:cNvPr>
          <p:cNvSpPr/>
          <p:nvPr/>
        </p:nvSpPr>
        <p:spPr>
          <a:xfrm>
            <a:off x="7401092" y="1795175"/>
            <a:ext cx="1238250" cy="919739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4C56D1-56DD-F89D-5E82-155F2FF11CA6}"/>
              </a:ext>
            </a:extLst>
          </p:cNvPr>
          <p:cNvSpPr/>
          <p:nvPr/>
        </p:nvSpPr>
        <p:spPr>
          <a:xfrm>
            <a:off x="9005283" y="1690689"/>
            <a:ext cx="1809750" cy="1024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cực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3EE1D9-EF97-6497-9FBF-915D7D356DA0}"/>
              </a:ext>
            </a:extLst>
          </p:cNvPr>
          <p:cNvSpPr/>
          <p:nvPr/>
        </p:nvSpPr>
        <p:spPr>
          <a:xfrm>
            <a:off x="4850991" y="3824636"/>
            <a:ext cx="1809750" cy="1024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LINE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5E969963-6234-EFE9-EC41-FB30F0E7806F}"/>
              </a:ext>
            </a:extLst>
          </p:cNvPr>
          <p:cNvSpPr/>
          <p:nvPr/>
        </p:nvSpPr>
        <p:spPr>
          <a:xfrm rot="4022899">
            <a:off x="8080662" y="1983918"/>
            <a:ext cx="409575" cy="3355328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D4395-A442-090F-26C6-23D81D2ACA70}"/>
              </a:ext>
            </a:extLst>
          </p:cNvPr>
          <p:cNvSpPr/>
          <p:nvPr/>
        </p:nvSpPr>
        <p:spPr>
          <a:xfrm>
            <a:off x="2262063" y="5547705"/>
            <a:ext cx="1809750" cy="1024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5512D6-E03C-83B1-ECAD-52C022A60C11}"/>
              </a:ext>
            </a:extLst>
          </p:cNvPr>
          <p:cNvSpPr/>
          <p:nvPr/>
        </p:nvSpPr>
        <p:spPr>
          <a:xfrm>
            <a:off x="7500333" y="5547705"/>
            <a:ext cx="1809750" cy="102422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Thành </a:t>
            </a:r>
            <a:r>
              <a:rPr lang="en-US" dirty="0" err="1"/>
              <a:t>phẩm</a:t>
            </a:r>
            <a:endParaRPr lang="en-US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623F0F1-2483-BFF5-789B-29712CF30FCB}"/>
              </a:ext>
            </a:extLst>
          </p:cNvPr>
          <p:cNvSpPr/>
          <p:nvPr/>
        </p:nvSpPr>
        <p:spPr>
          <a:xfrm>
            <a:off x="4505326" y="5824065"/>
            <a:ext cx="2600324" cy="471504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2853BD8-937C-FAB8-AFA7-7CF59B29B787}"/>
              </a:ext>
            </a:extLst>
          </p:cNvPr>
          <p:cNvSpPr/>
          <p:nvPr/>
        </p:nvSpPr>
        <p:spPr>
          <a:xfrm rot="2274570">
            <a:off x="6565169" y="4791732"/>
            <a:ext cx="1017622" cy="78562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QC</a:t>
            </a:r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61A8712A-5904-FE01-0353-870AC893A327}"/>
              </a:ext>
            </a:extLst>
          </p:cNvPr>
          <p:cNvSpPr/>
          <p:nvPr/>
        </p:nvSpPr>
        <p:spPr>
          <a:xfrm rot="19175346">
            <a:off x="3964065" y="4776238"/>
            <a:ext cx="1025329" cy="847725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D88B8F-01E2-EA17-C52A-FFB690189BCF}"/>
              </a:ext>
            </a:extLst>
          </p:cNvPr>
          <p:cNvSpPr txBox="1"/>
          <p:nvPr/>
        </p:nvSpPr>
        <p:spPr>
          <a:xfrm>
            <a:off x="1241790" y="1255860"/>
            <a:ext cx="1775695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B1D9B8-C9F8-1133-F350-0A6C185771CF}"/>
              </a:ext>
            </a:extLst>
          </p:cNvPr>
          <p:cNvSpPr txBox="1"/>
          <p:nvPr/>
        </p:nvSpPr>
        <p:spPr>
          <a:xfrm>
            <a:off x="5143667" y="884537"/>
            <a:ext cx="1287519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Kho NVL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34F8D08C-944A-B8ED-EE9A-49585C1BC3A1}"/>
              </a:ext>
            </a:extLst>
          </p:cNvPr>
          <p:cNvSpPr/>
          <p:nvPr/>
        </p:nvSpPr>
        <p:spPr>
          <a:xfrm>
            <a:off x="5199131" y="3033364"/>
            <a:ext cx="1113470" cy="748061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QC</a:t>
            </a:r>
          </a:p>
        </p:txBody>
      </p:sp>
    </p:spTree>
    <p:extLst>
      <p:ext uri="{BB962C8B-B14F-4D97-AF65-F5344CB8AC3E}">
        <p14:creationId xmlns:p14="http://schemas.microsoft.com/office/powerpoint/2010/main" val="3714969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DA256-E452-DB6D-EB4D-2B3631B74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8F72D-83D8-7629-1370-9F15E9845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II. Các </a:t>
            </a:r>
            <a:r>
              <a:rPr lang="en-US" b="1" dirty="0" err="1"/>
              <a:t>Màn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Quản </a:t>
            </a:r>
            <a:r>
              <a:rPr lang="en-US" b="1" dirty="0" err="1"/>
              <a:t>lý</a:t>
            </a:r>
            <a:r>
              <a:rPr lang="en-US" b="1" dirty="0"/>
              <a:t> - Z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DC1B2B-67C4-0B76-C6DB-6B7A33C320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616343"/>
              </p:ext>
            </p:extLst>
          </p:nvPr>
        </p:nvGraphicFramePr>
        <p:xfrm>
          <a:off x="868489" y="2200387"/>
          <a:ext cx="10455021" cy="3638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0359">
                  <a:extLst>
                    <a:ext uri="{9D8B030D-6E8A-4147-A177-3AD203B41FA5}">
                      <a16:colId xmlns:a16="http://schemas.microsoft.com/office/drawing/2014/main" val="3972686430"/>
                    </a:ext>
                  </a:extLst>
                </a:gridCol>
                <a:gridCol w="7714662">
                  <a:extLst>
                    <a:ext uri="{9D8B030D-6E8A-4147-A177-3AD203B41FA5}">
                      <a16:colId xmlns:a16="http://schemas.microsoft.com/office/drawing/2014/main" val="1287137069"/>
                    </a:ext>
                  </a:extLst>
                </a:gridCol>
              </a:tblGrid>
              <a:tr h="933931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Màn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Chức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năng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887801"/>
                  </a:ext>
                </a:extLst>
              </a:tr>
              <a:tr h="6947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Z410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Quản </a:t>
                      </a:r>
                      <a:r>
                        <a:rPr lang="en-US" dirty="0" err="1"/>
                        <a:t>lý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người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dùng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Thêm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sửa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xóa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và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quyền</a:t>
                      </a:r>
                      <a:r>
                        <a:rPr lang="en-US" dirty="0"/>
                        <a:t> user)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9920"/>
                  </a:ext>
                </a:extLst>
              </a:tr>
              <a:tr h="10048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Z220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Quyền </a:t>
                      </a:r>
                      <a:r>
                        <a:rPr lang="en-US" dirty="0" err="1"/>
                        <a:t>hạn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mỗi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nhóm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Phân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quyền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các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nhóm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được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truy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cập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vào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những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màn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hình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nào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tính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năng</a:t>
                      </a:r>
                      <a:r>
                        <a:rPr lang="en-US" dirty="0"/>
                        <a:t> ở </a:t>
                      </a:r>
                      <a:r>
                        <a:rPr lang="en-US" dirty="0" err="1"/>
                        <a:t>mỗi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màn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hình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2276530"/>
                  </a:ext>
                </a:extLst>
              </a:tr>
              <a:tr h="10048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Z330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Quản </a:t>
                      </a:r>
                      <a:r>
                        <a:rPr lang="en-US" dirty="0" err="1"/>
                        <a:t>lý</a:t>
                      </a:r>
                      <a:r>
                        <a:rPr lang="en-US" dirty="0"/>
                        <a:t> menu </a:t>
                      </a:r>
                      <a:r>
                        <a:rPr lang="en-US" dirty="0" err="1"/>
                        <a:t>theo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từng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nhà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cung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cấp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Đưa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màn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hình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từ</a:t>
                      </a:r>
                      <a:r>
                        <a:rPr lang="en-US" dirty="0"/>
                        <a:t> dev mode </a:t>
                      </a:r>
                      <a:r>
                        <a:rPr lang="en-US" dirty="0" err="1"/>
                        <a:t>ra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thống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chính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sử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dụng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9875979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35D9678C-5D58-9243-916E-2A23E3AC6E96}"/>
              </a:ext>
            </a:extLst>
          </p:cNvPr>
          <p:cNvSpPr txBox="1">
            <a:spLocks/>
          </p:cNvSpPr>
          <p:nvPr/>
        </p:nvSpPr>
        <p:spPr>
          <a:xfrm>
            <a:off x="868489" y="1348666"/>
            <a:ext cx="11256264" cy="6484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kern="1200" cap="all" spc="5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/>
              <a:t>Các </a:t>
            </a:r>
            <a:r>
              <a:rPr lang="en-US" sz="2000" b="1" dirty="0" err="1"/>
              <a:t>màn</a:t>
            </a:r>
            <a:r>
              <a:rPr lang="en-US" sz="2000" b="1" dirty="0"/>
              <a:t> </a:t>
            </a:r>
            <a:r>
              <a:rPr lang="en-US" sz="2000" b="1" dirty="0" err="1"/>
              <a:t>hình</a:t>
            </a:r>
            <a:r>
              <a:rPr lang="en-US" sz="2000" b="1" dirty="0"/>
              <a:t> </a:t>
            </a:r>
            <a:r>
              <a:rPr lang="en-US" sz="2000" b="1" dirty="0" err="1"/>
              <a:t>chính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630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EFFC0-FA07-6F56-0FC5-2E4292EFE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AEFE5-75F1-F9A2-888D-C9C34A863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III. Các </a:t>
            </a:r>
            <a:r>
              <a:rPr lang="en-US" b="1" dirty="0" err="1"/>
              <a:t>Màn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cấu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chung</a:t>
            </a:r>
            <a:r>
              <a:rPr lang="en-US" b="1" dirty="0"/>
              <a:t>- 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3F6221-75C3-0992-77E1-92A447ABF2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80971"/>
              </p:ext>
            </p:extLst>
          </p:nvPr>
        </p:nvGraphicFramePr>
        <p:xfrm>
          <a:off x="504825" y="1384019"/>
          <a:ext cx="11172825" cy="4624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8502">
                  <a:extLst>
                    <a:ext uri="{9D8B030D-6E8A-4147-A177-3AD203B41FA5}">
                      <a16:colId xmlns:a16="http://schemas.microsoft.com/office/drawing/2014/main" val="3972686430"/>
                    </a:ext>
                  </a:extLst>
                </a:gridCol>
                <a:gridCol w="8244323">
                  <a:extLst>
                    <a:ext uri="{9D8B030D-6E8A-4147-A177-3AD203B41FA5}">
                      <a16:colId xmlns:a16="http://schemas.microsoft.com/office/drawing/2014/main" val="1287137069"/>
                    </a:ext>
                  </a:extLst>
                </a:gridCol>
              </a:tblGrid>
              <a:tr h="683835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Màn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Chức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năng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887801"/>
                  </a:ext>
                </a:extLst>
              </a:tr>
              <a:tr h="5087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A230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Thông tin </a:t>
                      </a:r>
                      <a:r>
                        <a:rPr lang="en-US" dirty="0" err="1"/>
                        <a:t>các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loại</a:t>
                      </a:r>
                      <a:r>
                        <a:rPr lang="en-US" dirty="0"/>
                        <a:t> NVL (</a:t>
                      </a:r>
                      <a:r>
                        <a:rPr lang="en-US" dirty="0" err="1"/>
                        <a:t>Hiện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tại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đã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đóng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chức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năng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thêm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sửa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xóa</a:t>
                      </a:r>
                      <a:r>
                        <a:rPr lang="en-US" dirty="0"/>
                        <a:t>; </a:t>
                      </a:r>
                      <a:r>
                        <a:rPr lang="en-US" dirty="0" err="1"/>
                        <a:t>chuyển</a:t>
                      </a:r>
                      <a:r>
                        <a:rPr lang="en-US" dirty="0"/>
                        <a:t> sang </a:t>
                      </a:r>
                      <a:r>
                        <a:rPr lang="en-US" dirty="0" err="1"/>
                        <a:t>đăng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ký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trên</a:t>
                      </a:r>
                      <a:r>
                        <a:rPr lang="en-US" dirty="0"/>
                        <a:t> Groupware)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9920"/>
                  </a:ext>
                </a:extLst>
              </a:tr>
              <a:tr h="5087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Thông tin </a:t>
                      </a:r>
                      <a:r>
                        <a:rPr lang="en-US" dirty="0" err="1"/>
                        <a:t>loại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vật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liệu</a:t>
                      </a:r>
                      <a:r>
                        <a:rPr lang="en-US" dirty="0"/>
                        <a:t>: </a:t>
                      </a:r>
                    </a:p>
                    <a:p>
                      <a:pPr algn="ctr"/>
                      <a:r>
                        <a:rPr lang="en-US" b="1" dirty="0"/>
                        <a:t>FERT</a:t>
                      </a:r>
                      <a:r>
                        <a:rPr lang="en-US" dirty="0"/>
                        <a:t> – Thành </a:t>
                      </a:r>
                      <a:r>
                        <a:rPr lang="en-US" dirty="0" err="1"/>
                        <a:t>phẩm</a:t>
                      </a:r>
                      <a:r>
                        <a:rPr lang="en-US" dirty="0"/>
                        <a:t>, </a:t>
                      </a:r>
                      <a:r>
                        <a:rPr lang="en-US" b="1" dirty="0"/>
                        <a:t>HALB</a:t>
                      </a:r>
                      <a:r>
                        <a:rPr lang="en-US" dirty="0"/>
                        <a:t> – Bán </a:t>
                      </a:r>
                      <a:r>
                        <a:rPr lang="en-US" dirty="0" err="1"/>
                        <a:t>thành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phẩm</a:t>
                      </a:r>
                      <a:r>
                        <a:rPr lang="en-US" dirty="0"/>
                        <a:t>,</a:t>
                      </a:r>
                    </a:p>
                    <a:p>
                      <a:pPr algn="ctr"/>
                      <a:r>
                        <a:rPr lang="en-US" b="1" dirty="0"/>
                        <a:t>MDL</a:t>
                      </a:r>
                      <a:r>
                        <a:rPr lang="en-US" dirty="0"/>
                        <a:t> – Module, </a:t>
                      </a:r>
                      <a:r>
                        <a:rPr lang="en-US" b="1" dirty="0"/>
                        <a:t>HAWA</a:t>
                      </a:r>
                      <a:r>
                        <a:rPr lang="en-US" dirty="0"/>
                        <a:t> – </a:t>
                      </a:r>
                      <a:r>
                        <a:rPr lang="en-US" dirty="0" err="1"/>
                        <a:t>Hàng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hóa</a:t>
                      </a:r>
                      <a:r>
                        <a:rPr lang="en-US" dirty="0"/>
                        <a:t>, </a:t>
                      </a:r>
                    </a:p>
                    <a:p>
                      <a:pPr algn="ctr"/>
                      <a:r>
                        <a:rPr lang="en-US" b="1" dirty="0"/>
                        <a:t>EROH</a:t>
                      </a:r>
                      <a:r>
                        <a:rPr lang="en-US" dirty="0"/>
                        <a:t> – Nguyên </a:t>
                      </a:r>
                      <a:r>
                        <a:rPr lang="en-US" dirty="0" err="1"/>
                        <a:t>liệu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điện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cực</a:t>
                      </a:r>
                      <a:r>
                        <a:rPr lang="en-US" dirty="0"/>
                        <a:t>, </a:t>
                      </a:r>
                      <a:r>
                        <a:rPr lang="en-US" b="1" dirty="0"/>
                        <a:t>HIBE -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Vật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liệu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tiêu</a:t>
                      </a:r>
                      <a:r>
                        <a:rPr lang="en-US" dirty="0"/>
                        <a:t> hao, </a:t>
                      </a:r>
                      <a:r>
                        <a:rPr lang="en-US" b="1" dirty="0"/>
                        <a:t>ROH</a:t>
                      </a:r>
                      <a:r>
                        <a:rPr lang="en-US" dirty="0"/>
                        <a:t> – Nguyên </a:t>
                      </a:r>
                      <a:r>
                        <a:rPr lang="en-US" dirty="0" err="1"/>
                        <a:t>liệu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thô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127707"/>
                  </a:ext>
                </a:extLst>
              </a:tr>
              <a:tr h="5087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A410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Thông tin chi </a:t>
                      </a:r>
                      <a:r>
                        <a:rPr lang="en-US" dirty="0" err="1"/>
                        <a:t>tiết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các</a:t>
                      </a:r>
                      <a:r>
                        <a:rPr lang="en-US" dirty="0"/>
                        <a:t> NVL </a:t>
                      </a:r>
                      <a:r>
                        <a:rPr lang="en-US" dirty="0" err="1"/>
                        <a:t>loại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thành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phẩm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bán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thành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phẩm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và</a:t>
                      </a:r>
                      <a:r>
                        <a:rPr lang="en-US" dirty="0"/>
                        <a:t> module (</a:t>
                      </a:r>
                      <a:r>
                        <a:rPr lang="en-US" dirty="0" err="1"/>
                        <a:t>Có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số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5346736"/>
                  </a:ext>
                </a:extLst>
              </a:tr>
              <a:tr h="7357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A310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Thông tin BOM (</a:t>
                      </a:r>
                      <a:r>
                        <a:rPr lang="en-US" dirty="0" err="1"/>
                        <a:t>Hiện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tại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đã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đóng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chức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năng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thêm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sửa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xóa</a:t>
                      </a:r>
                      <a:r>
                        <a:rPr lang="en-US" dirty="0"/>
                        <a:t>; </a:t>
                      </a:r>
                      <a:r>
                        <a:rPr lang="en-US" dirty="0" err="1"/>
                        <a:t>chuyển</a:t>
                      </a:r>
                      <a:r>
                        <a:rPr lang="en-US" dirty="0"/>
                        <a:t> sang </a:t>
                      </a:r>
                      <a:r>
                        <a:rPr lang="en-US" dirty="0" err="1"/>
                        <a:t>đăng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ký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trên</a:t>
                      </a:r>
                      <a:r>
                        <a:rPr lang="en-US" dirty="0"/>
                        <a:t> Groupware)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2276530"/>
                  </a:ext>
                </a:extLst>
              </a:tr>
              <a:tr h="7357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A460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Thông tin </a:t>
                      </a:r>
                      <a:r>
                        <a:rPr lang="en-US" dirty="0" err="1"/>
                        <a:t>tem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theo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từng</a:t>
                      </a:r>
                      <a:r>
                        <a:rPr lang="en-US" dirty="0"/>
                        <a:t>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9875979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0717B407-DBBF-63AE-120A-F29EC820716F}"/>
              </a:ext>
            </a:extLst>
          </p:cNvPr>
          <p:cNvSpPr txBox="1">
            <a:spLocks/>
          </p:cNvSpPr>
          <p:nvPr/>
        </p:nvSpPr>
        <p:spPr>
          <a:xfrm>
            <a:off x="868489" y="694970"/>
            <a:ext cx="11256264" cy="6484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kern="1200" cap="all" spc="5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/>
              <a:t>Các </a:t>
            </a:r>
            <a:r>
              <a:rPr lang="en-US" sz="2000" b="1" dirty="0" err="1"/>
              <a:t>màn</a:t>
            </a:r>
            <a:r>
              <a:rPr lang="en-US" sz="2000" b="1" dirty="0"/>
              <a:t> </a:t>
            </a:r>
            <a:r>
              <a:rPr lang="en-US" sz="2000" b="1" dirty="0" err="1"/>
              <a:t>hình</a:t>
            </a:r>
            <a:r>
              <a:rPr lang="en-US" sz="2000" b="1" dirty="0"/>
              <a:t> </a:t>
            </a:r>
            <a:r>
              <a:rPr lang="en-US" sz="2000" b="1" dirty="0" err="1"/>
              <a:t>chính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225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235FF-955F-0A8D-BFDB-3CE3A0CBA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5E121-DD74-9EA5-C78F-30E93D98B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IV. Các </a:t>
            </a:r>
            <a:r>
              <a:rPr lang="en-US" b="1" dirty="0" err="1"/>
              <a:t>Màn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của</a:t>
            </a:r>
            <a:r>
              <a:rPr lang="en-US" b="1" dirty="0"/>
              <a:t> QC - C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92E185F-56F2-D882-9C78-8A39A82EDF02}"/>
              </a:ext>
            </a:extLst>
          </p:cNvPr>
          <p:cNvSpPr txBox="1">
            <a:spLocks/>
          </p:cNvSpPr>
          <p:nvPr/>
        </p:nvSpPr>
        <p:spPr>
          <a:xfrm>
            <a:off x="603504" y="624766"/>
            <a:ext cx="11256264" cy="6484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kern="1200" cap="all" spc="5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/>
              <a:t>Quy </a:t>
            </a:r>
            <a:r>
              <a:rPr lang="en-US" sz="2000" b="1" dirty="0" err="1"/>
              <a:t>trình</a:t>
            </a:r>
            <a:r>
              <a:rPr lang="en-US" sz="2000" b="1" dirty="0"/>
              <a:t> </a:t>
            </a:r>
            <a:r>
              <a:rPr lang="en-US" sz="2000" b="1" dirty="0" err="1"/>
              <a:t>chung</a:t>
            </a:r>
            <a:r>
              <a:rPr lang="en-US" sz="2000" b="1" dirty="0"/>
              <a:t> PQC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D945FC-80F7-C839-592A-A30694437608}"/>
              </a:ext>
            </a:extLst>
          </p:cNvPr>
          <p:cNvSpPr/>
          <p:nvPr/>
        </p:nvSpPr>
        <p:spPr>
          <a:xfrm>
            <a:off x="477520" y="1164590"/>
            <a:ext cx="11256264" cy="2626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128FC6-C3C2-D39E-596B-67280687084E}"/>
              </a:ext>
            </a:extLst>
          </p:cNvPr>
          <p:cNvSpPr/>
          <p:nvPr/>
        </p:nvSpPr>
        <p:spPr>
          <a:xfrm>
            <a:off x="477520" y="3945255"/>
            <a:ext cx="11256264" cy="2626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9CAA18-FDB8-33BA-1555-600926D70C4A}"/>
              </a:ext>
            </a:extLst>
          </p:cNvPr>
          <p:cNvSpPr/>
          <p:nvPr/>
        </p:nvSpPr>
        <p:spPr>
          <a:xfrm>
            <a:off x="1897634" y="2221230"/>
            <a:ext cx="2631440" cy="11379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C141</a:t>
            </a:r>
            <a:br>
              <a:rPr lang="en-US" dirty="0"/>
            </a:b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PQC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CA86AD-C7CB-F8F5-7432-984ED4233055}"/>
              </a:ext>
            </a:extLst>
          </p:cNvPr>
          <p:cNvSpPr/>
          <p:nvPr/>
        </p:nvSpPr>
        <p:spPr>
          <a:xfrm>
            <a:off x="6486652" y="2241550"/>
            <a:ext cx="3470150" cy="11379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C143</a:t>
            </a:r>
            <a:br>
              <a:rPr lang="en-US" dirty="0"/>
            </a:br>
            <a:r>
              <a:rPr lang="en-US" dirty="0"/>
              <a:t>Các </a:t>
            </a:r>
            <a:r>
              <a:rPr lang="en-US" dirty="0" err="1"/>
              <a:t>hạng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(PQC)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6B2F71-C25C-89FF-3C67-CFA99EAC9666}"/>
              </a:ext>
            </a:extLst>
          </p:cNvPr>
          <p:cNvSpPr txBox="1"/>
          <p:nvPr/>
        </p:nvSpPr>
        <p:spPr>
          <a:xfrm>
            <a:off x="1036320" y="1669415"/>
            <a:ext cx="263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ban </a:t>
            </a:r>
            <a:r>
              <a:rPr lang="en-US" dirty="0" err="1"/>
              <a:t>đầu</a:t>
            </a:r>
            <a:endParaRPr lang="en-US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3058D561-63CE-0A7C-5F57-526E15C04A0E}"/>
              </a:ext>
            </a:extLst>
          </p:cNvPr>
          <p:cNvSpPr/>
          <p:nvPr/>
        </p:nvSpPr>
        <p:spPr>
          <a:xfrm>
            <a:off x="4919726" y="2515870"/>
            <a:ext cx="1176274" cy="589280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0605C44-2A2D-C4B4-BFD7-670011EE6036}"/>
              </a:ext>
            </a:extLst>
          </p:cNvPr>
          <p:cNvSpPr/>
          <p:nvPr/>
        </p:nvSpPr>
        <p:spPr>
          <a:xfrm>
            <a:off x="4192143" y="4860290"/>
            <a:ext cx="2631440" cy="11379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C443</a:t>
            </a:r>
          </a:p>
          <a:p>
            <a:pPr algn="ctr"/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 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3D90F7-CD82-310E-CA38-6267B2D57ECF}"/>
              </a:ext>
            </a:extLst>
          </p:cNvPr>
          <p:cNvSpPr txBox="1"/>
          <p:nvPr/>
        </p:nvSpPr>
        <p:spPr>
          <a:xfrm>
            <a:off x="1036320" y="4330774"/>
            <a:ext cx="263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469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C11BD-4072-A61A-00AC-6C1746A6B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5E885-8937-8CC7-0C79-596507458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IV. Các </a:t>
            </a:r>
            <a:r>
              <a:rPr lang="en-US" b="1" dirty="0" err="1"/>
              <a:t>Màn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của</a:t>
            </a:r>
            <a:r>
              <a:rPr lang="en-US" b="1" dirty="0"/>
              <a:t> QC - C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BA5F493-10CD-D572-A209-250AF5DE9256}"/>
              </a:ext>
            </a:extLst>
          </p:cNvPr>
          <p:cNvSpPr txBox="1">
            <a:spLocks/>
          </p:cNvSpPr>
          <p:nvPr/>
        </p:nvSpPr>
        <p:spPr>
          <a:xfrm>
            <a:off x="603504" y="624766"/>
            <a:ext cx="11256264" cy="6484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kern="1200" cap="all" spc="5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/>
              <a:t>Quy </a:t>
            </a:r>
            <a:r>
              <a:rPr lang="en-US" sz="2000" b="1" dirty="0" err="1"/>
              <a:t>trình</a:t>
            </a:r>
            <a:r>
              <a:rPr lang="en-US" sz="2000" b="1" dirty="0"/>
              <a:t> </a:t>
            </a:r>
            <a:r>
              <a:rPr lang="en-US" sz="2000" b="1" dirty="0" err="1"/>
              <a:t>chung</a:t>
            </a:r>
            <a:r>
              <a:rPr lang="en-US" sz="2000" b="1" dirty="0"/>
              <a:t> OQC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58E96B-7D3F-8E42-9940-AD8FF6565149}"/>
              </a:ext>
            </a:extLst>
          </p:cNvPr>
          <p:cNvSpPr/>
          <p:nvPr/>
        </p:nvSpPr>
        <p:spPr>
          <a:xfrm>
            <a:off x="477520" y="1164590"/>
            <a:ext cx="11256264" cy="2626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392240-C686-7A8E-E175-6F5E2A035C6B}"/>
              </a:ext>
            </a:extLst>
          </p:cNvPr>
          <p:cNvSpPr/>
          <p:nvPr/>
        </p:nvSpPr>
        <p:spPr>
          <a:xfrm>
            <a:off x="477520" y="3945255"/>
            <a:ext cx="11256264" cy="2626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A7A5F16-470B-EF6A-0B20-4D995D8112AF}"/>
              </a:ext>
            </a:extLst>
          </p:cNvPr>
          <p:cNvSpPr/>
          <p:nvPr/>
        </p:nvSpPr>
        <p:spPr>
          <a:xfrm>
            <a:off x="1897634" y="2221230"/>
            <a:ext cx="2631440" cy="11379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C121</a:t>
            </a:r>
            <a:br>
              <a:rPr lang="en-US" dirty="0"/>
            </a:b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IQC </a:t>
            </a:r>
            <a:r>
              <a:rPr lang="en-US" dirty="0" err="1"/>
              <a:t>và</a:t>
            </a:r>
            <a:r>
              <a:rPr lang="en-US" dirty="0"/>
              <a:t> OQC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C772DF2-1324-562E-E11A-149464AF50F4}"/>
              </a:ext>
            </a:extLst>
          </p:cNvPr>
          <p:cNvSpPr/>
          <p:nvPr/>
        </p:nvSpPr>
        <p:spPr>
          <a:xfrm>
            <a:off x="6486652" y="2241550"/>
            <a:ext cx="3470150" cy="11379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C151</a:t>
            </a:r>
            <a:br>
              <a:rPr lang="en-US" dirty="0"/>
            </a:b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hạng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(OQC)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8D35D5-D5C4-2EF1-68CE-6419B06CF5F8}"/>
              </a:ext>
            </a:extLst>
          </p:cNvPr>
          <p:cNvSpPr txBox="1"/>
          <p:nvPr/>
        </p:nvSpPr>
        <p:spPr>
          <a:xfrm>
            <a:off x="1036320" y="1669415"/>
            <a:ext cx="263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ban </a:t>
            </a:r>
            <a:r>
              <a:rPr lang="en-US" dirty="0" err="1"/>
              <a:t>đầu</a:t>
            </a:r>
            <a:endParaRPr lang="en-US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DFCC20A-4115-B97F-6775-DD264C0609FA}"/>
              </a:ext>
            </a:extLst>
          </p:cNvPr>
          <p:cNvSpPr/>
          <p:nvPr/>
        </p:nvSpPr>
        <p:spPr>
          <a:xfrm>
            <a:off x="4919726" y="2515870"/>
            <a:ext cx="1176274" cy="589280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2C2E854-8A87-DD4D-2E6B-CDD16C98DC11}"/>
              </a:ext>
            </a:extLst>
          </p:cNvPr>
          <p:cNvSpPr/>
          <p:nvPr/>
        </p:nvSpPr>
        <p:spPr>
          <a:xfrm>
            <a:off x="608584" y="5022215"/>
            <a:ext cx="2631440" cy="11379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C512</a:t>
            </a:r>
            <a:br>
              <a:rPr lang="en-US" dirty="0"/>
            </a:b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Lot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18DAFC-CDF2-CC36-BF51-48C891146D3F}"/>
              </a:ext>
            </a:extLst>
          </p:cNvPr>
          <p:cNvSpPr txBox="1"/>
          <p:nvPr/>
        </p:nvSpPr>
        <p:spPr>
          <a:xfrm>
            <a:off x="1036320" y="4114403"/>
            <a:ext cx="748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Sau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barcode (do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4E5AB0C-877F-77B0-7BB8-7C157EF0F0BD}"/>
              </a:ext>
            </a:extLst>
          </p:cNvPr>
          <p:cNvSpPr/>
          <p:nvPr/>
        </p:nvSpPr>
        <p:spPr>
          <a:xfrm>
            <a:off x="4477005" y="5022215"/>
            <a:ext cx="2631440" cy="11379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C530</a:t>
            </a:r>
            <a:br>
              <a:rPr lang="en-US" dirty="0"/>
            </a:b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mẫu</a:t>
            </a:r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A4E4E88-0191-CF2D-83EC-700EB3A93FC1}"/>
              </a:ext>
            </a:extLst>
          </p:cNvPr>
          <p:cNvSpPr/>
          <p:nvPr/>
        </p:nvSpPr>
        <p:spPr>
          <a:xfrm>
            <a:off x="8345426" y="5022215"/>
            <a:ext cx="3222752" cy="11379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C540</a:t>
            </a:r>
            <a:br>
              <a:rPr lang="en-US" dirty="0"/>
            </a:b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suất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từ</a:t>
            </a:r>
            <a:r>
              <a:rPr lang="en-US" dirty="0"/>
              <a:t> C530)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4BEC1D8-1987-E6F2-8054-7F4D678562E4}"/>
              </a:ext>
            </a:extLst>
          </p:cNvPr>
          <p:cNvSpPr/>
          <p:nvPr/>
        </p:nvSpPr>
        <p:spPr>
          <a:xfrm>
            <a:off x="3270377" y="5296535"/>
            <a:ext cx="1176274" cy="589280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AB36A01-809F-B71F-807F-1EDB864402CB}"/>
              </a:ext>
            </a:extLst>
          </p:cNvPr>
          <p:cNvSpPr/>
          <p:nvPr/>
        </p:nvSpPr>
        <p:spPr>
          <a:xfrm>
            <a:off x="7138798" y="5296535"/>
            <a:ext cx="1176274" cy="589280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6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0A59D-CE67-75DA-ED03-E163587D3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1036C-F3EE-0067-CAE3-39A1395F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V. Các </a:t>
            </a:r>
            <a:r>
              <a:rPr lang="en-US" b="1" dirty="0" err="1"/>
              <a:t>Màn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của</a:t>
            </a:r>
            <a:r>
              <a:rPr lang="en-US" b="1" dirty="0"/>
              <a:t> </a:t>
            </a:r>
            <a:r>
              <a:rPr lang="en-US" b="1" dirty="0" err="1"/>
              <a:t>sản</a:t>
            </a:r>
            <a:r>
              <a:rPr lang="en-US" b="1" dirty="0"/>
              <a:t> </a:t>
            </a:r>
            <a:r>
              <a:rPr lang="en-US" b="1" dirty="0" err="1"/>
              <a:t>xuất</a:t>
            </a:r>
            <a:r>
              <a:rPr lang="en-US" b="1" dirty="0"/>
              <a:t> - B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FFD6AD3-BA3E-9F73-18A6-4298F65AE122}"/>
              </a:ext>
            </a:extLst>
          </p:cNvPr>
          <p:cNvSpPr txBox="1">
            <a:spLocks/>
          </p:cNvSpPr>
          <p:nvPr/>
        </p:nvSpPr>
        <p:spPr>
          <a:xfrm>
            <a:off x="755904" y="777166"/>
            <a:ext cx="11256264" cy="6484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kern="1200" cap="all" spc="5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/>
              <a:t>Các </a:t>
            </a:r>
            <a:r>
              <a:rPr lang="en-US" sz="2000" b="1" dirty="0" err="1"/>
              <a:t>màn</a:t>
            </a:r>
            <a:r>
              <a:rPr lang="en-US" sz="2000" b="1" dirty="0"/>
              <a:t> </a:t>
            </a:r>
            <a:r>
              <a:rPr lang="en-US" sz="2000" b="1" dirty="0" err="1"/>
              <a:t>hình</a:t>
            </a:r>
            <a:r>
              <a:rPr lang="en-US" sz="2000" b="1" dirty="0"/>
              <a:t> </a:t>
            </a:r>
            <a:r>
              <a:rPr lang="en-US" sz="2000" b="1" dirty="0" err="1"/>
              <a:t>thiết</a:t>
            </a:r>
            <a:r>
              <a:rPr lang="en-US" sz="2000" b="1" dirty="0"/>
              <a:t> </a:t>
            </a:r>
            <a:r>
              <a:rPr lang="en-US" sz="2000" b="1" dirty="0" err="1"/>
              <a:t>lập</a:t>
            </a:r>
            <a:endParaRPr lang="en-US" sz="2000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176E0C-FA70-D28B-9219-268FECBD0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288834"/>
              </p:ext>
            </p:extLst>
          </p:nvPr>
        </p:nvGraphicFramePr>
        <p:xfrm>
          <a:off x="755903" y="1577975"/>
          <a:ext cx="10455021" cy="4013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0359">
                  <a:extLst>
                    <a:ext uri="{9D8B030D-6E8A-4147-A177-3AD203B41FA5}">
                      <a16:colId xmlns:a16="http://schemas.microsoft.com/office/drawing/2014/main" val="3972686430"/>
                    </a:ext>
                  </a:extLst>
                </a:gridCol>
                <a:gridCol w="7714662">
                  <a:extLst>
                    <a:ext uri="{9D8B030D-6E8A-4147-A177-3AD203B41FA5}">
                      <a16:colId xmlns:a16="http://schemas.microsoft.com/office/drawing/2014/main" val="1287137069"/>
                    </a:ext>
                  </a:extLst>
                </a:gridCol>
              </a:tblGrid>
              <a:tr h="594902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Màn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Chức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năng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887801"/>
                  </a:ext>
                </a:extLst>
              </a:tr>
              <a:tr h="4425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Thông tin 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9920"/>
                  </a:ext>
                </a:extLst>
              </a:tr>
              <a:tr h="4425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Thông tin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đoạn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2276530"/>
                  </a:ext>
                </a:extLst>
              </a:tr>
              <a:tr h="4425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Thông tin </a:t>
                      </a:r>
                      <a:r>
                        <a:rPr lang="en-US" dirty="0" err="1"/>
                        <a:t>cấu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trúc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đoạn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trong</a:t>
                      </a:r>
                      <a:r>
                        <a:rPr lang="en-US" dirty="0"/>
                        <a:t> line (</a:t>
                      </a:r>
                      <a:r>
                        <a:rPr lang="en-US" dirty="0" err="1"/>
                        <a:t>Cấu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hình</a:t>
                      </a:r>
                      <a:r>
                        <a:rPr lang="en-US" dirty="0"/>
                        <a:t> line </a:t>
                      </a:r>
                      <a:r>
                        <a:rPr lang="en-US" dirty="0" err="1"/>
                        <a:t>sử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dụng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9875979"/>
                  </a:ext>
                </a:extLst>
              </a:tr>
              <a:tr h="4425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Thông tin Route (</a:t>
                      </a:r>
                      <a:r>
                        <a:rPr lang="en-US" dirty="0" err="1"/>
                        <a:t>các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đoạn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sản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xuất</a:t>
                      </a:r>
                      <a:r>
                        <a:rPr lang="en-US" dirty="0"/>
                        <a:t> con </a:t>
                      </a:r>
                      <a:r>
                        <a:rPr lang="en-US" dirty="0" err="1"/>
                        <a:t>hàng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861575"/>
                  </a:ext>
                </a:extLst>
              </a:tr>
              <a:tr h="4425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Thông tin </a:t>
                      </a:r>
                      <a:r>
                        <a:rPr lang="en-US" dirty="0" err="1"/>
                        <a:t>thiết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bị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5393410"/>
                  </a:ext>
                </a:extLst>
              </a:tr>
              <a:tr h="4425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Thông tin </a:t>
                      </a:r>
                      <a:r>
                        <a:rPr lang="en-US" dirty="0" err="1"/>
                        <a:t>thiết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bị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sản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xuất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3619412"/>
                  </a:ext>
                </a:extLst>
              </a:tr>
              <a:tr h="76283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Thông tin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sản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xuất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thông</a:t>
                      </a:r>
                      <a:r>
                        <a:rPr lang="en-US" dirty="0"/>
                        <a:t> tin </a:t>
                      </a:r>
                      <a:r>
                        <a:rPr lang="en-US" dirty="0" err="1"/>
                        <a:t>tất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cả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và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thiết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lập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nhập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liệu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và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nhân</a:t>
                      </a:r>
                      <a:r>
                        <a:rPr lang="en-US" dirty="0"/>
                        <a:t> QC)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434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4988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65282-AE45-D7DC-F8B2-D91DC4ECE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E0BC2-8099-FF0F-5166-4F38396F5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V. Các </a:t>
            </a:r>
            <a:r>
              <a:rPr lang="en-US" b="1" dirty="0" err="1"/>
              <a:t>Màn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của</a:t>
            </a:r>
            <a:r>
              <a:rPr lang="en-US" b="1" dirty="0"/>
              <a:t> </a:t>
            </a:r>
            <a:r>
              <a:rPr lang="en-US" b="1" dirty="0" err="1"/>
              <a:t>sản</a:t>
            </a:r>
            <a:r>
              <a:rPr lang="en-US" b="1" dirty="0"/>
              <a:t> </a:t>
            </a:r>
            <a:r>
              <a:rPr lang="en-US" b="1" dirty="0" err="1"/>
              <a:t>xuất</a:t>
            </a:r>
            <a:r>
              <a:rPr lang="en-US" b="1" dirty="0"/>
              <a:t> - B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C9D8F62-8E6A-C854-B4D3-4576FAACADF2}"/>
              </a:ext>
            </a:extLst>
          </p:cNvPr>
          <p:cNvSpPr txBox="1">
            <a:spLocks/>
          </p:cNvSpPr>
          <p:nvPr/>
        </p:nvSpPr>
        <p:spPr>
          <a:xfrm>
            <a:off x="755904" y="777166"/>
            <a:ext cx="11256264" cy="6484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kern="1200" cap="all" spc="5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/>
              <a:t>Các </a:t>
            </a:r>
            <a:r>
              <a:rPr lang="en-US" sz="2000" b="1" dirty="0" err="1"/>
              <a:t>màn</a:t>
            </a:r>
            <a:r>
              <a:rPr lang="en-US" sz="2000" b="1" dirty="0"/>
              <a:t> </a:t>
            </a:r>
            <a:r>
              <a:rPr lang="en-US" sz="2000" b="1" dirty="0" err="1"/>
              <a:t>hình</a:t>
            </a:r>
            <a:r>
              <a:rPr lang="en-US" sz="2000" b="1" dirty="0"/>
              <a:t> </a:t>
            </a:r>
            <a:r>
              <a:rPr lang="en-US" sz="2000" b="1" dirty="0" err="1"/>
              <a:t>sản</a:t>
            </a:r>
            <a:r>
              <a:rPr lang="en-US" sz="2000" b="1" dirty="0"/>
              <a:t> </a:t>
            </a:r>
            <a:r>
              <a:rPr lang="en-US" sz="2000" b="1" dirty="0" err="1"/>
              <a:t>xuất</a:t>
            </a:r>
            <a:endParaRPr lang="en-US" sz="20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506BCF6-597D-8ED6-ADBE-7FE93EFE414E}"/>
              </a:ext>
            </a:extLst>
          </p:cNvPr>
          <p:cNvSpPr/>
          <p:nvPr/>
        </p:nvSpPr>
        <p:spPr>
          <a:xfrm>
            <a:off x="603503" y="1714499"/>
            <a:ext cx="3028951" cy="92392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B310:</a:t>
            </a:r>
          </a:p>
          <a:p>
            <a:pPr algn="ctr"/>
            <a:r>
              <a:rPr lang="en-US" dirty="0" err="1"/>
              <a:t>Tạo</a:t>
            </a:r>
            <a:r>
              <a:rPr lang="en-US" dirty="0"/>
              <a:t> PO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1EDAAA9-A6F6-7A67-6065-09C2CB92B46E}"/>
              </a:ext>
            </a:extLst>
          </p:cNvPr>
          <p:cNvSpPr/>
          <p:nvPr/>
        </p:nvSpPr>
        <p:spPr>
          <a:xfrm>
            <a:off x="4581524" y="1714499"/>
            <a:ext cx="3028951" cy="92392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B450:</a:t>
            </a:r>
          </a:p>
          <a:p>
            <a:pPr algn="ctr"/>
            <a:r>
              <a:rPr lang="en-US" dirty="0" err="1"/>
              <a:t>Tạo</a:t>
            </a:r>
            <a:r>
              <a:rPr lang="en-US" dirty="0"/>
              <a:t> Lot </a:t>
            </a:r>
            <a:r>
              <a:rPr lang="en-US" dirty="0" err="1"/>
              <a:t>theo</a:t>
            </a:r>
            <a:r>
              <a:rPr lang="en-US" dirty="0"/>
              <a:t> PO (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0BEE8B-369B-04BE-CCFC-3A87DDA42969}"/>
              </a:ext>
            </a:extLst>
          </p:cNvPr>
          <p:cNvSpPr/>
          <p:nvPr/>
        </p:nvSpPr>
        <p:spPr>
          <a:xfrm>
            <a:off x="4581524" y="3139197"/>
            <a:ext cx="3028951" cy="115252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B540:</a:t>
            </a:r>
          </a:p>
          <a:p>
            <a:pPr algn="ctr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thẻ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(Theo </a:t>
            </a:r>
            <a:r>
              <a:rPr lang="en-US" dirty="0" err="1"/>
              <a:t>dõi</a:t>
            </a:r>
            <a:r>
              <a:rPr lang="en-US" dirty="0"/>
              <a:t> con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F015DAE-AAB0-8654-A7C3-3A7D0FFDB63A}"/>
              </a:ext>
            </a:extLst>
          </p:cNvPr>
          <p:cNvSpPr/>
          <p:nvPr/>
        </p:nvSpPr>
        <p:spPr>
          <a:xfrm>
            <a:off x="603504" y="3152774"/>
            <a:ext cx="3028951" cy="115252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B597:</a:t>
            </a:r>
          </a:p>
          <a:p>
            <a:pPr algn="ctr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,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EAFE0E-D0E2-4D2B-22B6-AEEB20B6384C}"/>
              </a:ext>
            </a:extLst>
          </p:cNvPr>
          <p:cNvSpPr/>
          <p:nvPr/>
        </p:nvSpPr>
        <p:spPr>
          <a:xfrm>
            <a:off x="8559544" y="3152773"/>
            <a:ext cx="3028951" cy="115252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B530:</a:t>
            </a:r>
          </a:p>
          <a:p>
            <a:pPr algn="ctr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(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4DF34CA-9D8B-61CA-5878-E47B53351DB2}"/>
              </a:ext>
            </a:extLst>
          </p:cNvPr>
          <p:cNvSpPr/>
          <p:nvPr/>
        </p:nvSpPr>
        <p:spPr>
          <a:xfrm>
            <a:off x="4581524" y="4928309"/>
            <a:ext cx="3028951" cy="115252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B523:</a:t>
            </a:r>
          </a:p>
          <a:p>
            <a:pPr algn="ctr"/>
            <a:r>
              <a:rPr lang="en-US" dirty="0" err="1"/>
              <a:t>Gộp</a:t>
            </a:r>
            <a:r>
              <a:rPr lang="en-US" dirty="0"/>
              <a:t> box, chia box </a:t>
            </a:r>
            <a:r>
              <a:rPr lang="en-US" dirty="0" err="1"/>
              <a:t>và</a:t>
            </a:r>
            <a:r>
              <a:rPr lang="en-US" dirty="0"/>
              <a:t> in </a:t>
            </a:r>
            <a:r>
              <a:rPr lang="en-US" dirty="0" err="1"/>
              <a:t>tem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gói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50EF8A-AF72-AC04-32EF-9F66464A4856}"/>
              </a:ext>
            </a:extLst>
          </p:cNvPr>
          <p:cNvSpPr/>
          <p:nvPr/>
        </p:nvSpPr>
        <p:spPr>
          <a:xfrm>
            <a:off x="8559543" y="4928308"/>
            <a:ext cx="3028951" cy="115252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B781: Báo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lượng</a:t>
            </a:r>
            <a:endParaRPr lang="en-US" dirty="0"/>
          </a:p>
          <a:p>
            <a:pPr algn="ctr"/>
            <a:r>
              <a:rPr lang="en-US" dirty="0"/>
              <a:t>B782: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lỗi</a:t>
            </a:r>
            <a:endParaRPr lang="en-US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8F929F2-6147-9ECB-828D-F2CB8BA80E5E}"/>
              </a:ext>
            </a:extLst>
          </p:cNvPr>
          <p:cNvSpPr/>
          <p:nvPr/>
        </p:nvSpPr>
        <p:spPr>
          <a:xfrm>
            <a:off x="3749801" y="1977883"/>
            <a:ext cx="714375" cy="397156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3705681D-9C0F-7064-AD10-371E1686F2F0}"/>
              </a:ext>
            </a:extLst>
          </p:cNvPr>
          <p:cNvSpPr/>
          <p:nvPr/>
        </p:nvSpPr>
        <p:spPr>
          <a:xfrm>
            <a:off x="3749800" y="3530457"/>
            <a:ext cx="714375" cy="397156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76E2B18-BBCD-A088-B4EB-085FCFF5902B}"/>
              </a:ext>
            </a:extLst>
          </p:cNvPr>
          <p:cNvSpPr/>
          <p:nvPr/>
        </p:nvSpPr>
        <p:spPr>
          <a:xfrm rot="10800000">
            <a:off x="7727822" y="3550217"/>
            <a:ext cx="714375" cy="397156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473F02D1-7274-2901-AD60-D47FD440788B}"/>
              </a:ext>
            </a:extLst>
          </p:cNvPr>
          <p:cNvSpPr/>
          <p:nvPr/>
        </p:nvSpPr>
        <p:spPr>
          <a:xfrm>
            <a:off x="5919786" y="2669735"/>
            <a:ext cx="352425" cy="438150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CE594507-C9D5-7D0B-58CC-1E9379FBC0C3}"/>
              </a:ext>
            </a:extLst>
          </p:cNvPr>
          <p:cNvSpPr/>
          <p:nvPr/>
        </p:nvSpPr>
        <p:spPr>
          <a:xfrm>
            <a:off x="5919786" y="4390940"/>
            <a:ext cx="352425" cy="438150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26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2DE45-78B6-50C7-CD47-0CE36774F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1DBB0-FCDB-5762-96D6-156BA905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VI. Các </a:t>
            </a:r>
            <a:r>
              <a:rPr lang="en-US" b="1" dirty="0" err="1"/>
              <a:t>Màn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Khác</a:t>
            </a: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66DBF1-2513-E492-4A7C-87BB7C0D6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679085"/>
              </p:ext>
            </p:extLst>
          </p:nvPr>
        </p:nvGraphicFramePr>
        <p:xfrm>
          <a:off x="755903" y="1577975"/>
          <a:ext cx="10455021" cy="2365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0359">
                  <a:extLst>
                    <a:ext uri="{9D8B030D-6E8A-4147-A177-3AD203B41FA5}">
                      <a16:colId xmlns:a16="http://schemas.microsoft.com/office/drawing/2014/main" val="3972686430"/>
                    </a:ext>
                  </a:extLst>
                </a:gridCol>
                <a:gridCol w="7714662">
                  <a:extLst>
                    <a:ext uri="{9D8B030D-6E8A-4147-A177-3AD203B41FA5}">
                      <a16:colId xmlns:a16="http://schemas.microsoft.com/office/drawing/2014/main" val="1287137069"/>
                    </a:ext>
                  </a:extLst>
                </a:gridCol>
              </a:tblGrid>
              <a:tr h="594902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Màn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Chức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năng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887801"/>
                  </a:ext>
                </a:extLst>
              </a:tr>
              <a:tr h="4425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FG00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Thành </a:t>
                      </a:r>
                      <a:r>
                        <a:rPr lang="en-US" dirty="0" err="1"/>
                        <a:t>phẩm</a:t>
                      </a:r>
                      <a:r>
                        <a:rPr lang="en-US" dirty="0"/>
                        <a:t> Bắc Giang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9920"/>
                  </a:ext>
                </a:extLst>
              </a:tr>
              <a:tr h="4425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FG01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Thành </a:t>
                      </a:r>
                      <a:r>
                        <a:rPr lang="en-US" dirty="0" err="1"/>
                        <a:t>phẩm</a:t>
                      </a:r>
                      <a:r>
                        <a:rPr lang="en-US" dirty="0"/>
                        <a:t> Bắc Ninh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2276530"/>
                  </a:ext>
                </a:extLst>
              </a:tr>
              <a:tr h="4425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HN00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Thành </a:t>
                      </a:r>
                      <a:r>
                        <a:rPr lang="en-US" dirty="0" err="1"/>
                        <a:t>phẩm</a:t>
                      </a:r>
                      <a:r>
                        <a:rPr lang="en-US" dirty="0"/>
                        <a:t> Hà Nam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9875979"/>
                  </a:ext>
                </a:extLst>
              </a:tr>
              <a:tr h="4425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FG02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Tồn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kho</a:t>
                      </a:r>
                      <a:r>
                        <a:rPr lang="en-US" dirty="0"/>
                        <a:t> Bắc Ninh </a:t>
                      </a:r>
                      <a:r>
                        <a:rPr lang="en-US" dirty="0" err="1"/>
                        <a:t>và</a:t>
                      </a:r>
                      <a:r>
                        <a:rPr lang="en-US" dirty="0"/>
                        <a:t> Bắc Giang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1601599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186BAD5D-57EC-CB83-14CB-4024E3762B7B}"/>
              </a:ext>
            </a:extLst>
          </p:cNvPr>
          <p:cNvSpPr txBox="1">
            <a:spLocks/>
          </p:cNvSpPr>
          <p:nvPr/>
        </p:nvSpPr>
        <p:spPr>
          <a:xfrm>
            <a:off x="755904" y="777166"/>
            <a:ext cx="11256264" cy="6484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kern="1200" cap="all" spc="5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err="1"/>
              <a:t>màn</a:t>
            </a:r>
            <a:r>
              <a:rPr lang="en-US" sz="2000" b="1" dirty="0"/>
              <a:t> </a:t>
            </a:r>
            <a:r>
              <a:rPr lang="en-US" sz="2000" b="1" dirty="0" err="1"/>
              <a:t>hình</a:t>
            </a:r>
            <a:r>
              <a:rPr lang="en-US" sz="2000" b="1" dirty="0"/>
              <a:t> </a:t>
            </a:r>
            <a:r>
              <a:rPr lang="en-US" sz="2000" b="1" dirty="0" err="1"/>
              <a:t>thành</a:t>
            </a:r>
            <a:r>
              <a:rPr lang="en-US" sz="2000" b="1" dirty="0"/>
              <a:t> </a:t>
            </a:r>
            <a:r>
              <a:rPr lang="en-US" sz="2000" b="1" dirty="0" err="1"/>
              <a:t>phẩm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511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9DD27-E78C-6384-5B12-27934E5D4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EDDC2-EDF2-0396-FDFB-C7731A280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300+ Thanks For Watching Images Stock Photos, Pictures &amp; Royalty-Free  Images - iStock">
            <a:extLst>
              <a:ext uri="{FF2B5EF4-FFF2-40B4-BE49-F238E27FC236}">
                <a16:creationId xmlns:a16="http://schemas.microsoft.com/office/drawing/2014/main" id="{C1B25161-7C6E-CB0D-7AE8-3E6CB1DA4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842963"/>
            <a:ext cx="9601200" cy="5062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0134366"/>
      </p:ext>
    </p:extLst>
  </p:cSld>
  <p:clrMapOvr>
    <a:masterClrMapping/>
  </p:clrMapOvr>
</p:sld>
</file>

<file path=ppt/theme/theme1.xml><?xml version="1.0" encoding="utf-8"?>
<a:theme xmlns:a="http://schemas.openxmlformats.org/drawingml/2006/main" name="PoiseVTI">
  <a:themeElements>
    <a:clrScheme name="Poise">
      <a:dk1>
        <a:sysClr val="windowText" lastClr="000000"/>
      </a:dk1>
      <a:lt1>
        <a:sysClr val="window" lastClr="FFFFFF"/>
      </a:lt1>
      <a:dk2>
        <a:srgbClr val="403739"/>
      </a:dk2>
      <a:lt2>
        <a:srgbClr val="F4E9E6"/>
      </a:lt2>
      <a:accent1>
        <a:srgbClr val="B18083"/>
      </a:accent1>
      <a:accent2>
        <a:srgbClr val="C17A69"/>
      </a:accent2>
      <a:accent3>
        <a:srgbClr val="CE9573"/>
      </a:accent3>
      <a:accent4>
        <a:srgbClr val="82907A"/>
      </a:accent4>
      <a:accent5>
        <a:srgbClr val="9A9966"/>
      </a:accent5>
      <a:accent6>
        <a:srgbClr val="AB9955"/>
      </a:accent6>
      <a:hlink>
        <a:srgbClr val="A97979"/>
      </a:hlink>
      <a:folHlink>
        <a:srgbClr val="BB7563"/>
      </a:folHlink>
    </a:clrScheme>
    <a:fontScheme name="Goudy Univers">
      <a:majorFont>
        <a:latin typeface="Goudy Old Style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iseVTI" id="{9843863B-6720-4231-BFE7-E604B355382A}" vid="{6C5B2780-C73E-445D-98DA-9D2BCD7897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2528</TotalTime>
  <Words>739</Words>
  <Application>Microsoft Office PowerPoint</Application>
  <PresentationFormat>Widescreen</PresentationFormat>
  <Paragraphs>118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Goudy Old Style</vt:lpstr>
      <vt:lpstr>Times New Roman</vt:lpstr>
      <vt:lpstr>Univers Light</vt:lpstr>
      <vt:lpstr>PoiseVTI</vt:lpstr>
      <vt:lpstr>Hướng dẫn Chung về NAIS SYSTEM</vt:lpstr>
      <vt:lpstr>I. Những điều cơ bản</vt:lpstr>
      <vt:lpstr>I. Những điều cơ bản</vt:lpstr>
      <vt:lpstr>I. Những điều cơ bản</vt:lpstr>
      <vt:lpstr>I. Những điều cơ bản</vt:lpstr>
      <vt:lpstr>II. Các Màn Hình Quản lý - Z</vt:lpstr>
      <vt:lpstr>III. Các Màn Hình cấu hình chung- A</vt:lpstr>
      <vt:lpstr>IV. Các Màn Hình của QC - C</vt:lpstr>
      <vt:lpstr>IV. Các Màn Hình của QC - C</vt:lpstr>
      <vt:lpstr>V. Các Màn Hình của sản xuất - B</vt:lpstr>
      <vt:lpstr>V. Các Màn Hình của sản xuất - B</vt:lpstr>
      <vt:lpstr>VI. Các Màn Hình Khác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Tech13 Vina</dc:creator>
  <cp:lastModifiedBy>DI JAN</cp:lastModifiedBy>
  <cp:revision>33</cp:revision>
  <dcterms:created xsi:type="dcterms:W3CDTF">2024-11-11T07:28:55Z</dcterms:created>
  <dcterms:modified xsi:type="dcterms:W3CDTF">2025-03-22T01:10:25Z</dcterms:modified>
</cp:coreProperties>
</file>